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6c69055d942d5" /><Relationship Type="http://schemas.openxmlformats.org/officeDocument/2006/relationships/extended-properties" Target="/docProps/app.xml" Id="R5ec68d61d4ae4c34" /><Relationship Type="http://schemas.openxmlformats.org/officeDocument/2006/relationships/officeDocument" Target="/ppt/presentation.xml" Id="R2783ba4d227747bd" /></Relationships>
</file>

<file path=ppt/presentation.xml><?xml version="1.0" encoding="utf-8"?>
<p:presentation xmlns:p="http://schemas.openxmlformats.org/presentationml/2006/main">
  <p:sldMasterIdLst>
    <p:sldMasterId xmlns:r="http://schemas.openxmlformats.org/officeDocument/2006/relationships" id="2147483648" r:id="R03790ddd5ca6422c"/>
  </p:sldMasterIdLst>
  <p:notesMasterIdLst>
    <p:notesMasterId xmlns:r="http://schemas.openxmlformats.org/officeDocument/2006/relationships" r:id="R6cedb11ff1784653"/>
  </p:notesMasterIdLst>
  <p:sldIdLst>
    <p:sldId xmlns:r="http://schemas.openxmlformats.org/officeDocument/2006/relationships" id="256" r:id="R8b01a95575bb41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82bedeee7c444b" /><Relationship Type="http://schemas.openxmlformats.org/officeDocument/2006/relationships/slideMaster" Target="/ppt/slideMasters/slideMaster1.xml" Id="R03790ddd5ca6422c" /><Relationship Type="http://schemas.openxmlformats.org/officeDocument/2006/relationships/notesMaster" Target="/ppt/notesMasters/notesMaster1.xml" Id="R6cedb11ff1784653" /><Relationship Type="http://schemas.openxmlformats.org/officeDocument/2006/relationships/presProps" Target="/ppt/presProps.xml" Id="Rb15eb774596d4e90" /><Relationship Type="http://schemas.openxmlformats.org/officeDocument/2006/relationships/tableStyles" Target="/ppt/tableStyles.xml" Id="R7004e8e6192a4deb" /><Relationship Type="http://schemas.openxmlformats.org/officeDocument/2006/relationships/slide" Target="/ppt/slides/slide1.xml" Id="R8b01a95575bb41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301d43c6da45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1dc4e495d74155" /><Relationship Type="http://schemas.openxmlformats.org/officeDocument/2006/relationships/notesMaster" Target="/ppt/notesMasters/notesMaster1.xml" Id="Rac11f466595f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Combined from the two user-supplied slides 1000238342.jpg and 1000238343.jpg. The first describes manual visual detection, measurement and reporting, manual NDT cladding and thickness verification, physical access challenges and automation opportunities. It identifies missed-defect risk, inspection effort, lead time, low traceability and the need for systems suited to aerospace. The second shows operator-to-operator measurement variation for an identical rivet pull-in defect and expected benefits of automated inspection. The original operator chart is cropped as source evidence; its readings are -190, +20, -140, -200, +50, 0, -190, -70, +20 micrometres. The range is +50 minus -200 = 250 micrometres. The source annotation of high variance plus/minus 250 micrometres is not repeated because a range is neither a variance nor a plus/minus bound. No automated measurement accuracy or repeatability performance has been supplied, so repeatability, better access and traceability are targets and depend on sensor qualification, calibration, system integration and robot reach. Targeted NDT uses blend-out regions detected by the vision system. The one equipment photograph is a crop of the original NDT sensor setup. This slide describes the broader inspection context, not benefits delivered by path planning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2ec9b555894d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b04413ce8544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13944fb12e4a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7861b1ce5843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552b1f2e3f4f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f0920c8d8d42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327374-B361-4041-824C-55CE2C5526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A45459-1F52-48B8-A0BC-8EA35EDCB7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818CAF-3B76-4B21-8FE6-801C5BDCE1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F1E790-B1EF-461E-A044-BFA18B1832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1EB374-0D8A-4712-9C58-8888BDA151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8E2F6D-42F7-4C60-8754-31898D3DF6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61BBBB-EBEB-42A6-BA29-8C9EFA8F89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1464CD-E33F-467B-B0FB-F7B9ED4511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614D19-DCB2-48D4-A4F4-CEADA87B64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4AD48E-6616-41BC-A7D2-20D81D071F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2569ea97574ba6" /><Relationship Type="http://schemas.openxmlformats.org/officeDocument/2006/relationships/slideLayout" Target="/ppt/slideLayouts/slideLayout1.xml" Id="Rc220048c11c14c18" /><Relationship Type="http://schemas.openxmlformats.org/officeDocument/2006/relationships/slideLayout" Target="/ppt/slideLayouts/slideLayout2.xml" Id="Rb4c7a794071a4b82" /><Relationship Type="http://schemas.openxmlformats.org/officeDocument/2006/relationships/slideLayout" Target="/ppt/slideLayouts/slideLayout3.xml" Id="R8cd44b0dd0c24a8f" /><Relationship Type="http://schemas.openxmlformats.org/officeDocument/2006/relationships/slideLayout" Target="/ppt/slideLayouts/slideLayout4.xml" Id="R53ca554e11c84210" /><Relationship Type="http://schemas.openxmlformats.org/officeDocument/2006/relationships/slideLayout" Target="/ppt/slideLayouts/slideLayout5.xml" Id="R7d04dc52679f49b5" /><Relationship Type="http://schemas.openxmlformats.org/officeDocument/2006/relationships/slideLayout" Target="/ppt/slideLayouts/slideLayout6.xml" Id="R10d0af86ec0d4e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20048c11c14c18"/>
    <p:sldLayoutId xmlns:r="http://schemas.openxmlformats.org/officeDocument/2006/relationships" id="2147483650" r:id="Rb4c7a794071a4b82"/>
    <p:sldLayoutId xmlns:r="http://schemas.openxmlformats.org/officeDocument/2006/relationships" id="2147483651" r:id="R8cd44b0dd0c24a8f"/>
    <p:sldLayoutId xmlns:r="http://schemas.openxmlformats.org/officeDocument/2006/relationships" id="2147483652" r:id="R53ca554e11c84210"/>
    <p:sldLayoutId xmlns:r="http://schemas.openxmlformats.org/officeDocument/2006/relationships" id="2147483653" r:id="R7d04dc52679f49b5"/>
    <p:sldLayoutId xmlns:r="http://schemas.openxmlformats.org/officeDocument/2006/relationships" id="2147483654" r:id="R10d0af86ec0d4e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418e905783473a" /><Relationship Type="http://schemas.openxmlformats.org/officeDocument/2006/relationships/image" Target="/ppt/media/image.png" Id="R0cc1149ffdd64f2e" /><Relationship Type="http://schemas.openxmlformats.org/officeDocument/2006/relationships/image" Target="/ppt/media/image2.png" Id="R3bec022595cd4643" /><Relationship Type="http://schemas.openxmlformats.org/officeDocument/2006/relationships/notesSlide" Target="/ppt/notesSlides/notesSlide1.xml" Id="R4654f6e5d575446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B7F40A-ED4B-40CD-A3F1-3046BEEBF9AC}"/>
              </a:ext>
            </a:extLst>
          </p:cNvPr>
          <p:cNvSpPr>
            <a:spLocks xmlns:a="http://schemas.openxmlformats.org/drawingml/2006/main" noGrp="1"/>
          </p:cNvSpPr>
          <p:nvPr/>
        </p:nvSpPr>
        <p:spPr>
          <a:xfrm xmlns:a="http://schemas.openxmlformats.org/drawingml/2006/main">
            <a:off x="457200" y="2667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243B"/>
                </a:solidFill>
                <a:latin typeface="Aptos"/>
                <a:ea typeface="Aptos"/>
                <a:cs typeface="Aptos"/>
              </a:defRPr>
            </a:defPPr>
          </a:lstStyle>
          <a:p xmlns:a="http://schemas.openxmlformats.org/drawingml/2006/main">
            <a:pPr>
              <a:defRPr sz="2850" b="1">
                <a:solidFill>
                  <a:srgbClr val="10243B"/>
                </a:solidFill>
                <a:latin typeface="Aptos"/>
                <a:ea typeface="Aptos"/>
                <a:cs typeface="Aptos"/>
              </a:defRPr>
            </a:pPr>
            <a:r>
              <a:rPr sz="2850" b="1">
                <a:solidFill>
                  <a:srgbClr val="10243B"/>
                </a:solidFill>
                <a:latin typeface="Aptos"/>
                <a:ea typeface="Aptos"/>
                <a:cs typeface="Aptos"/>
              </a:rPr>
              <a:t>Primer Skin Inspection</a:t>
            </a:r>
          </a:p>
        </p:txBody>
      </p:sp>
      <p:sp>
        <p:nvSpPr>
          <p:cNvPr id="2" name="">
            <a:extLst xmlns:a="http://schemas.openxmlformats.org/drawingml/2006/main">
              <a:ext uri="{FF2B5EF4-FFF2-40B4-BE49-F238E27FC236}">
                <a16:creationId xmlns:a16="http://schemas.microsoft.com/office/drawing/2014/main" id="{2862F445-98D8-4A03-81FB-3171CF5F10E5}"/>
              </a:ext>
            </a:extLst>
          </p:cNvPr>
          <p:cNvSpPr>
            <a:spLocks xmlns:a="http://schemas.openxmlformats.org/drawingml/2006/main" noGrp="1"/>
          </p:cNvSpPr>
          <p:nvPr/>
        </p:nvSpPr>
        <p:spPr>
          <a:xfrm xmlns:a="http://schemas.openxmlformats.org/drawingml/2006/main">
            <a:off x="457200" y="76200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08F98"/>
                </a:solidFill>
                <a:latin typeface="Aptos"/>
                <a:ea typeface="Aptos"/>
                <a:cs typeface="Aptos"/>
              </a:defRPr>
            </a:defPPr>
          </a:lstStyle>
          <a:p xmlns:a="http://schemas.openxmlformats.org/drawingml/2006/main">
            <a:pPr>
              <a:defRPr sz="2250" b="0">
                <a:solidFill>
                  <a:srgbClr val="008F98"/>
                </a:solidFill>
                <a:latin typeface="Aptos"/>
                <a:ea typeface="Aptos"/>
                <a:cs typeface="Aptos"/>
              </a:defRPr>
            </a:pPr>
            <a:r>
              <a:rPr sz="2250" b="0">
                <a:solidFill>
                  <a:srgbClr val="008F98"/>
                </a:solidFill>
                <a:latin typeface="Aptos"/>
                <a:ea typeface="Aptos"/>
                <a:cs typeface="Aptos"/>
              </a:rPr>
              <a:t>Challenges and the automation opportunity</a:t>
            </a:r>
          </a:p>
        </p:txBody>
      </p:sp>
      <p:sp>
        <p:nvSpPr>
          <p:cNvPr id="3" name="">
            <a:extLst xmlns:a="http://schemas.openxmlformats.org/drawingml/2006/main">
              <a:ext uri="{FF2B5EF4-FFF2-40B4-BE49-F238E27FC236}">
                <a16:creationId xmlns:a16="http://schemas.microsoft.com/office/drawing/2014/main" id="{84861C6F-C784-4453-946D-72A41D29EAEB}"/>
              </a:ext>
            </a:extLst>
          </p:cNvPr>
          <p:cNvSpPr>
            <a:spLocks xmlns:a="http://schemas.openxmlformats.org/drawingml/2006/main" noGrp="1"/>
          </p:cNvSpPr>
          <p:nvPr/>
        </p:nvSpPr>
        <p:spPr>
          <a:xfrm xmlns:a="http://schemas.openxmlformats.org/drawingml/2006/main">
            <a:off x="457200" y="1419225"/>
            <a:ext cx="645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0243B"/>
                </a:solidFill>
                <a:latin typeface="Aptos"/>
                <a:ea typeface="Aptos"/>
                <a:cs typeface="Aptos"/>
              </a:defRPr>
            </a:defPPr>
          </a:lstStyle>
          <a:p xmlns:a="http://schemas.openxmlformats.org/drawingml/2006/main">
            <a:pPr>
              <a:defRPr sz="1875" b="1">
                <a:solidFill>
                  <a:srgbClr val="10243B"/>
                </a:solidFill>
                <a:latin typeface="Aptos"/>
                <a:ea typeface="Aptos"/>
                <a:cs typeface="Aptos"/>
              </a:defRPr>
            </a:pPr>
            <a:r>
              <a:rPr sz="1875" b="1">
                <a:solidFill>
                  <a:srgbClr val="10243B"/>
                </a:solidFill>
                <a:latin typeface="Aptos"/>
                <a:ea typeface="Aptos"/>
                <a:cs typeface="Aptos"/>
              </a:rPr>
              <a:t>CURRENT CHALLENGES</a:t>
            </a:r>
          </a:p>
        </p:txBody>
      </p:sp>
      <p:sp>
        <p:nvSpPr>
          <p:cNvPr id="4" name="">
            <a:extLst xmlns:a="http://schemas.openxmlformats.org/drawingml/2006/main">
              <a:ext uri="{FF2B5EF4-FFF2-40B4-BE49-F238E27FC236}">
                <a16:creationId xmlns:a16="http://schemas.microsoft.com/office/drawing/2014/main" id="{8D443FBE-DC11-4DBD-BEDC-0D595BCB6C29}"/>
              </a:ext>
            </a:extLst>
          </p:cNvPr>
          <p:cNvSpPr>
            <a:spLocks xmlns:a="http://schemas.openxmlformats.org/drawingml/2006/main" noGrp="1"/>
          </p:cNvSpPr>
          <p:nvPr/>
        </p:nvSpPr>
        <p:spPr>
          <a:xfrm xmlns:a="http://schemas.openxmlformats.org/drawingml/2006/main">
            <a:off x="457200" y="1866900"/>
            <a:ext cx="645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5576A"/>
                </a:solidFill>
                <a:latin typeface="Aptos"/>
                <a:ea typeface="Aptos"/>
                <a:cs typeface="Aptos"/>
              </a:defRPr>
            </a:defPPr>
          </a:lstStyle>
          <a:p xmlns:a="http://schemas.openxmlformats.org/drawingml/2006/main">
            <a:pPr>
              <a:defRPr sz="1875" b="0">
                <a:solidFill>
                  <a:srgbClr val="45576A"/>
                </a:solidFill>
                <a:latin typeface="Aptos"/>
                <a:ea typeface="Aptos"/>
                <a:cs typeface="Aptos"/>
              </a:defRPr>
            </a:pPr>
            <a:r>
              <a:rPr sz="1875" b="0">
                <a:solidFill>
                  <a:srgbClr val="45576A"/>
                </a:solidFill>
                <a:latin typeface="Aptos"/>
                <a:ea typeface="Aptos"/>
                <a:cs typeface="Aptos"/>
              </a:rPr>
              <a:t>Manual detection, measurement and reporting</a:t>
            </a:r>
          </a:p>
        </p:txBody>
      </p:sp>
      <p:sp>
        <p:nvSpPr>
          <p:cNvPr id="5" name="">
            <a:extLst xmlns:a="http://schemas.openxmlformats.org/drawingml/2006/main">
              <a:ext uri="{FF2B5EF4-FFF2-40B4-BE49-F238E27FC236}">
                <a16:creationId xmlns:a16="http://schemas.microsoft.com/office/drawing/2014/main" id="{6EB2B800-3626-4315-8DA0-E9992E8A8A86}"/>
              </a:ext>
            </a:extLst>
          </p:cNvPr>
          <p:cNvSpPr>
            <a:spLocks xmlns:a="http://schemas.openxmlformats.org/drawingml/2006/main" noGrp="1"/>
          </p:cNvSpPr>
          <p:nvPr/>
        </p:nvSpPr>
        <p:spPr>
          <a:xfrm xmlns:a="http://schemas.openxmlformats.org/drawingml/2006/main">
            <a:off x="457200" y="2238375"/>
            <a:ext cx="645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5576A"/>
                </a:solidFill>
                <a:latin typeface="Aptos"/>
                <a:ea typeface="Aptos"/>
                <a:cs typeface="Aptos"/>
              </a:defRPr>
            </a:defPPr>
          </a:lstStyle>
          <a:p xmlns:a="http://schemas.openxmlformats.org/drawingml/2006/main">
            <a:pPr>
              <a:defRPr sz="1725" b="0">
                <a:solidFill>
                  <a:srgbClr val="45576A"/>
                </a:solidFill>
                <a:latin typeface="Aptos"/>
                <a:ea typeface="Aptos"/>
                <a:cs typeface="Aptos"/>
              </a:defRPr>
            </a:pPr>
            <a:r>
              <a:rPr sz="1725" b="0">
                <a:solidFill>
                  <a:srgbClr val="45576A"/>
                </a:solidFill>
                <a:latin typeface="Aptos"/>
                <a:ea typeface="Aptos"/>
                <a:cs typeface="Aptos"/>
              </a:rPr>
              <a:t>NDT cladding / thickness checks and difficult access</a:t>
            </a:r>
          </a:p>
        </p:txBody>
      </p:sp>
      <p:sp>
        <p:nvSpPr>
          <p:cNvPr id="6" name="">
            <a:extLst xmlns:a="http://schemas.openxmlformats.org/drawingml/2006/main">
              <a:ext uri="{FF2B5EF4-FFF2-40B4-BE49-F238E27FC236}">
                <a16:creationId xmlns:a16="http://schemas.microsoft.com/office/drawing/2014/main" id="{7951CD35-FEEA-4C6B-8826-F1DDA940FADF}"/>
              </a:ext>
            </a:extLst>
          </p:cNvPr>
          <p:cNvSpPr>
            <a:spLocks xmlns:a="http://schemas.openxmlformats.org/drawingml/2006/main" noGrp="1"/>
          </p:cNvSpPr>
          <p:nvPr/>
        </p:nvSpPr>
        <p:spPr>
          <a:xfrm xmlns:a="http://schemas.openxmlformats.org/drawingml/2006/main">
            <a:off x="457200" y="2828925"/>
            <a:ext cx="645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D91"/>
                </a:solidFill>
                <a:latin typeface="Aptos"/>
                <a:ea typeface="Aptos"/>
                <a:cs typeface="Aptos"/>
              </a:defRPr>
            </a:defPPr>
          </a:lstStyle>
          <a:p xmlns:a="http://schemas.openxmlformats.org/drawingml/2006/main">
            <a:pPr>
              <a:defRPr sz="1950" b="1">
                <a:solidFill>
                  <a:srgbClr val="006D91"/>
                </a:solidFill>
                <a:latin typeface="Aptos"/>
                <a:ea typeface="Aptos"/>
                <a:cs typeface="Aptos"/>
              </a:defRPr>
            </a:pPr>
            <a:r>
              <a:rPr sz="1950" b="1">
                <a:solidFill>
                  <a:srgbClr val="006D91"/>
                </a:solidFill>
                <a:latin typeface="Aptos"/>
                <a:ea typeface="Aptos"/>
                <a:cs typeface="Aptos"/>
              </a:rPr>
              <a:t>Same defect. Different operator measurements.</a:t>
            </a:r>
          </a:p>
        </p:txBody>
      </p:sp>
      <p:pic>
        <p:nvPicPr>
          <p:cNvPr id="7" name="">
            <a:extLst xmlns:a="http://schemas.openxmlformats.org/drawingml/2006/main">
              <a:ext uri="{FF2B5EF4-FFF2-40B4-BE49-F238E27FC236}">
                <a16:creationId xmlns:a16="http://schemas.microsoft.com/office/drawing/2014/main" id="{AE4C0C02-5206-4356-90D5-7C7D46579E0F}"/>
              </a:ext>
            </a:extLst>
          </p:cNvPr>
          <p:cNvPicPr>
            <a:picLocks xmlns:a="http://schemas.openxmlformats.org/drawingml/2006/main" noChangeAspect="1"/>
          </p:cNvPicPr>
          <p:nvPr/>
        </p:nvPicPr>
        <p:blipFill>
          <a:blip xmlns:r="http://schemas.openxmlformats.org/officeDocument/2006/relationships" xmlns:a="http://schemas.openxmlformats.org/drawingml/2006/main" r:embed="R0cc1149ffdd64f2e"/>
          <a:stretch xmlns:a="http://schemas.openxmlformats.org/drawingml/2006/main"/>
        </p:blipFill>
        <p:spPr>
          <a:xfrm xmlns:a="http://schemas.openxmlformats.org/drawingml/2006/main">
            <a:off x="619437" y="3267075"/>
            <a:ext cx="6133477" cy="2266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22A0720-84CF-4648-9655-9B17C0096270}"/>
              </a:ext>
            </a:extLst>
          </p:cNvPr>
          <p:cNvSpPr>
            <a:spLocks xmlns:a="http://schemas.openxmlformats.org/drawingml/2006/main" noGrp="1"/>
          </p:cNvSpPr>
          <p:nvPr/>
        </p:nvSpPr>
        <p:spPr>
          <a:xfrm xmlns:a="http://schemas.openxmlformats.org/drawingml/2006/main">
            <a:off x="457200" y="5562600"/>
            <a:ext cx="6515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27182"/>
                </a:solidFill>
                <a:latin typeface="Aptos"/>
                <a:ea typeface="Aptos"/>
                <a:cs typeface="Aptos"/>
              </a:defRPr>
            </a:defPPr>
          </a:lstStyle>
          <a:p xmlns:a="http://schemas.openxmlformats.org/drawingml/2006/main">
            <a:pPr>
              <a:defRPr sz="1500" b="0">
                <a:solidFill>
                  <a:srgbClr val="627182"/>
                </a:solidFill>
                <a:latin typeface="Aptos"/>
                <a:ea typeface="Aptos"/>
                <a:cs typeface="Aptos"/>
              </a:defRPr>
            </a:pPr>
            <a:r>
              <a:rPr sz="1500" b="0">
                <a:solidFill>
                  <a:srgbClr val="627182"/>
                </a:solidFill>
                <a:latin typeface="Aptos"/>
                <a:ea typeface="Aptos"/>
                <a:cs typeface="Aptos"/>
              </a:rPr>
              <a:t>250 µm range across operators in the supplied example</a:t>
            </a:r>
          </a:p>
        </p:txBody>
      </p:sp>
      <p:sp>
        <p:nvSpPr>
          <p:cNvPr id="9" name="">
            <a:extLst xmlns:a="http://schemas.openxmlformats.org/drawingml/2006/main">
              <a:ext uri="{FF2B5EF4-FFF2-40B4-BE49-F238E27FC236}">
                <a16:creationId xmlns:a16="http://schemas.microsoft.com/office/drawing/2014/main" id="{537D48A8-4BB0-4136-9514-08BF3BA17768}"/>
              </a:ext>
            </a:extLst>
          </p:cNvPr>
          <p:cNvSpPr>
            <a:spLocks xmlns:a="http://schemas.openxmlformats.org/drawingml/2006/main" noGrp="1"/>
          </p:cNvSpPr>
          <p:nvPr/>
        </p:nvSpPr>
        <p:spPr>
          <a:xfrm xmlns:a="http://schemas.openxmlformats.org/drawingml/2006/main">
            <a:off x="7181850" y="1419225"/>
            <a:ext cx="9525" cy="4352925"/>
          </a:xfrm>
          <a:prstGeom xmlns:a="http://schemas.openxmlformats.org/drawingml/2006/main" prst="rect">
            <a:avLst/>
          </a:prstGeom>
          <a:solidFill xmlns:a="http://schemas.openxmlformats.org/drawingml/2006/main">
            <a:srgbClr val="D8E5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AE8940-2C95-408C-A63F-B1A8C5FC7981}"/>
              </a:ext>
            </a:extLst>
          </p:cNvPr>
          <p:cNvSpPr>
            <a:spLocks xmlns:a="http://schemas.openxmlformats.org/drawingml/2006/main" noGrp="1"/>
          </p:cNvSpPr>
          <p:nvPr/>
        </p:nvSpPr>
        <p:spPr>
          <a:xfrm xmlns:a="http://schemas.openxmlformats.org/drawingml/2006/main">
            <a:off x="7524750" y="1419225"/>
            <a:ext cx="421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8F98"/>
                </a:solidFill>
                <a:latin typeface="Aptos"/>
                <a:ea typeface="Aptos"/>
                <a:cs typeface="Aptos"/>
              </a:defRPr>
            </a:defPPr>
          </a:lstStyle>
          <a:p xmlns:a="http://schemas.openxmlformats.org/drawingml/2006/main">
            <a:pPr>
              <a:defRPr sz="1875" b="1">
                <a:solidFill>
                  <a:srgbClr val="008F98"/>
                </a:solidFill>
                <a:latin typeface="Aptos"/>
                <a:ea typeface="Aptos"/>
                <a:cs typeface="Aptos"/>
              </a:defRPr>
            </a:pPr>
            <a:r>
              <a:rPr sz="1875" b="1">
                <a:solidFill>
                  <a:srgbClr val="008F98"/>
                </a:solidFill>
                <a:latin typeface="Aptos"/>
                <a:ea typeface="Aptos"/>
                <a:cs typeface="Aptos"/>
              </a:rPr>
              <a:t>AUTOMATION OPPORTUNITY</a:t>
            </a:r>
          </a:p>
        </p:txBody>
      </p:sp>
      <p:pic>
        <p:nvPicPr>
          <p:cNvPr id="11" name="">
            <a:extLst xmlns:a="http://schemas.openxmlformats.org/drawingml/2006/main">
              <a:ext uri="{FF2B5EF4-FFF2-40B4-BE49-F238E27FC236}">
                <a16:creationId xmlns:a16="http://schemas.microsoft.com/office/drawing/2014/main" id="{208C0CCA-47A6-462B-AACE-376EA6207EAF}"/>
              </a:ext>
            </a:extLst>
          </p:cNvPr>
          <p:cNvPicPr>
            <a:picLocks xmlns:a="http://schemas.openxmlformats.org/drawingml/2006/main" noChangeAspect="1"/>
          </p:cNvPicPr>
          <p:nvPr/>
        </p:nvPicPr>
        <p:blipFill>
          <a:blip xmlns:r="http://schemas.openxmlformats.org/officeDocument/2006/relationships" xmlns:a="http://schemas.openxmlformats.org/drawingml/2006/main" r:embed="R3bec022595cd4643"/>
          <a:stretch xmlns:a="http://schemas.openxmlformats.org/drawingml/2006/main"/>
        </p:blipFill>
        <p:spPr>
          <a:xfrm xmlns:a="http://schemas.openxmlformats.org/drawingml/2006/main">
            <a:off x="8152500" y="1885950"/>
            <a:ext cx="2935500" cy="1809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042524E-0317-4B51-81C0-B05092083D8A}"/>
              </a:ext>
            </a:extLst>
          </p:cNvPr>
          <p:cNvSpPr>
            <a:spLocks xmlns:a="http://schemas.openxmlformats.org/drawingml/2006/main" noGrp="1"/>
          </p:cNvSpPr>
          <p:nvPr/>
        </p:nvSpPr>
        <p:spPr>
          <a:xfrm xmlns:a="http://schemas.openxmlformats.org/drawingml/2006/main">
            <a:off x="7524750" y="3943350"/>
            <a:ext cx="4210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D91"/>
                </a:solidFill>
                <a:latin typeface="Aptos"/>
                <a:ea typeface="Aptos"/>
                <a:cs typeface="Aptos"/>
              </a:defRPr>
            </a:defPPr>
          </a:lstStyle>
          <a:p xmlns:a="http://schemas.openxmlformats.org/drawingml/2006/main">
            <a:pPr>
              <a:defRPr sz="1875" b="1">
                <a:solidFill>
                  <a:srgbClr val="006D91"/>
                </a:solidFill>
                <a:latin typeface="Aptos"/>
                <a:ea typeface="Aptos"/>
                <a:cs typeface="Aptos"/>
              </a:defRPr>
            </a:pPr>
            <a:r>
              <a:rPr sz="1875" b="1">
                <a:solidFill>
                  <a:srgbClr val="006D91"/>
                </a:solidFill>
                <a:latin typeface="Aptos"/>
                <a:ea typeface="Aptos"/>
                <a:cs typeface="Aptos"/>
              </a:rPr>
              <a:t>Vision-guided NDT on flagged regions</a:t>
            </a:r>
          </a:p>
        </p:txBody>
      </p:sp>
      <p:sp>
        <p:nvSpPr>
          <p:cNvPr id="13" name="">
            <a:extLst xmlns:a="http://schemas.openxmlformats.org/drawingml/2006/main">
              <a:ext uri="{FF2B5EF4-FFF2-40B4-BE49-F238E27FC236}">
                <a16:creationId xmlns:a16="http://schemas.microsoft.com/office/drawing/2014/main" id="{B5AE4F7B-CA54-42D9-8DEB-2CF9E001B119}"/>
              </a:ext>
            </a:extLst>
          </p:cNvPr>
          <p:cNvSpPr>
            <a:spLocks xmlns:a="http://schemas.openxmlformats.org/drawingml/2006/main" noGrp="1"/>
          </p:cNvSpPr>
          <p:nvPr/>
        </p:nvSpPr>
        <p:spPr>
          <a:xfrm xmlns:a="http://schemas.openxmlformats.org/drawingml/2006/main">
            <a:off x="7524750" y="4629150"/>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0243B"/>
                </a:solidFill>
                <a:latin typeface="Aptos"/>
                <a:ea typeface="Aptos"/>
                <a:cs typeface="Aptos"/>
              </a:defRPr>
            </a:defPPr>
          </a:lstStyle>
          <a:p xmlns:a="http://schemas.openxmlformats.org/drawingml/2006/main">
            <a:pPr>
              <a:defRPr sz="1800" b="0">
                <a:solidFill>
                  <a:srgbClr val="10243B"/>
                </a:solidFill>
                <a:latin typeface="Aptos"/>
                <a:ea typeface="Aptos"/>
                <a:cs typeface="Aptos"/>
              </a:defRPr>
            </a:pPr>
            <a:r>
              <a:rPr sz="1800" b="0">
                <a:solidFill>
                  <a:srgbClr val="10243B"/>
                </a:solidFill>
                <a:latin typeface="Aptos"/>
                <a:ea typeface="Aptos"/>
                <a:cs typeface="Aptos"/>
              </a:rPr>
              <a:t>More repeatable measurements</a:t>
            </a:r>
          </a:p>
        </p:txBody>
      </p:sp>
      <p:sp>
        <p:nvSpPr>
          <p:cNvPr id="14" name="">
            <a:extLst xmlns:a="http://schemas.openxmlformats.org/drawingml/2006/main">
              <a:ext uri="{FF2B5EF4-FFF2-40B4-BE49-F238E27FC236}">
                <a16:creationId xmlns:a16="http://schemas.microsoft.com/office/drawing/2014/main" id="{5C10D090-9E60-4F0D-8B18-154D4D08F9AB}"/>
              </a:ext>
            </a:extLst>
          </p:cNvPr>
          <p:cNvSpPr>
            <a:spLocks xmlns:a="http://schemas.openxmlformats.org/drawingml/2006/main" noGrp="1"/>
          </p:cNvSpPr>
          <p:nvPr/>
        </p:nvSpPr>
        <p:spPr>
          <a:xfrm xmlns:a="http://schemas.openxmlformats.org/drawingml/2006/main">
            <a:off x="7524750" y="5038725"/>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0243B"/>
                </a:solidFill>
                <a:latin typeface="Aptos"/>
                <a:ea typeface="Aptos"/>
                <a:cs typeface="Aptos"/>
              </a:defRPr>
            </a:defPPr>
          </a:lstStyle>
          <a:p xmlns:a="http://schemas.openxmlformats.org/drawingml/2006/main">
            <a:pPr>
              <a:defRPr sz="1800" b="0">
                <a:solidFill>
                  <a:srgbClr val="10243B"/>
                </a:solidFill>
                <a:latin typeface="Aptos"/>
                <a:ea typeface="Aptos"/>
                <a:cs typeface="Aptos"/>
              </a:defRPr>
            </a:pPr>
            <a:r>
              <a:rPr sz="1800" b="0">
                <a:solidFill>
                  <a:srgbClr val="10243B"/>
                </a:solidFill>
                <a:latin typeface="Aptos"/>
                <a:ea typeface="Aptos"/>
                <a:cs typeface="Aptos"/>
              </a:rPr>
              <a:t>Better access and traceability</a:t>
            </a:r>
          </a:p>
        </p:txBody>
      </p:sp>
      <p:sp>
        <p:nvSpPr>
          <p:cNvPr id="15" name="">
            <a:extLst xmlns:a="http://schemas.openxmlformats.org/drawingml/2006/main">
              <a:ext uri="{FF2B5EF4-FFF2-40B4-BE49-F238E27FC236}">
                <a16:creationId xmlns:a16="http://schemas.microsoft.com/office/drawing/2014/main" id="{B794AABB-DEB1-4832-AFFC-9B5345F1ED34}"/>
              </a:ext>
            </a:extLst>
          </p:cNvPr>
          <p:cNvSpPr>
            <a:spLocks xmlns:a="http://schemas.openxmlformats.org/drawingml/2006/main" noGrp="1"/>
          </p:cNvSpPr>
          <p:nvPr/>
        </p:nvSpPr>
        <p:spPr>
          <a:xfrm xmlns:a="http://schemas.openxmlformats.org/drawingml/2006/main">
            <a:off x="7524750" y="5448300"/>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0243B"/>
                </a:solidFill>
                <a:latin typeface="Aptos"/>
                <a:ea typeface="Aptos"/>
                <a:cs typeface="Aptos"/>
              </a:defRPr>
            </a:defPPr>
          </a:lstStyle>
          <a:p xmlns:a="http://schemas.openxmlformats.org/drawingml/2006/main">
            <a:pPr>
              <a:defRPr sz="1800" b="0">
                <a:solidFill>
                  <a:srgbClr val="10243B"/>
                </a:solidFill>
                <a:latin typeface="Aptos"/>
                <a:ea typeface="Aptos"/>
                <a:cs typeface="Aptos"/>
              </a:defRPr>
            </a:pPr>
            <a:r>
              <a:rPr sz="1800" b="0">
                <a:solidFill>
                  <a:srgbClr val="10243B"/>
                </a:solidFill>
                <a:latin typeface="Aptos"/>
                <a:ea typeface="Aptos"/>
                <a:cs typeface="Aptos"/>
              </a:rPr>
              <a:t>Less manual effort and lead time</a:t>
            </a:r>
          </a:p>
        </p:txBody>
      </p:sp>
      <p:sp>
        <p:nvSpPr>
          <p:cNvPr id="16" name="">
            <a:extLst xmlns:a="http://schemas.openxmlformats.org/drawingml/2006/main">
              <a:ext uri="{FF2B5EF4-FFF2-40B4-BE49-F238E27FC236}">
                <a16:creationId xmlns:a16="http://schemas.microsoft.com/office/drawing/2014/main" id="{9AB23B07-4D50-4681-8B1F-81EAF9321C0B}"/>
              </a:ext>
            </a:extLst>
          </p:cNvPr>
          <p:cNvSpPr>
            <a:spLocks xmlns:a="http://schemas.openxmlformats.org/drawingml/2006/main" noGrp="1"/>
          </p:cNvSpPr>
          <p:nvPr/>
        </p:nvSpPr>
        <p:spPr>
          <a:xfrm xmlns:a="http://schemas.openxmlformats.org/drawingml/2006/main">
            <a:off x="457200" y="6038850"/>
            <a:ext cx="11277600" cy="476250"/>
          </a:xfrm>
          <a:prstGeom xmlns:a="http://schemas.openxmlformats.org/drawingml/2006/main" prst="rect">
            <a:avLst/>
          </a:prstGeom>
          <a:solidFill xmlns:a="http://schemas.openxmlformats.org/drawingml/2006/main">
            <a:srgbClr val="10243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D6CA2E-3072-42A6-868F-70D8F5798416}"/>
              </a:ext>
            </a:extLst>
          </p:cNvPr>
          <p:cNvSpPr>
            <a:spLocks xmlns:a="http://schemas.openxmlformats.org/drawingml/2006/main" noGrp="1"/>
          </p:cNvSpPr>
          <p:nvPr/>
        </p:nvSpPr>
        <p:spPr>
          <a:xfrm xmlns:a="http://schemas.openxmlformats.org/drawingml/2006/main">
            <a:off x="647700" y="612457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Aptos"/>
                <a:ea typeface="Aptos"/>
                <a:cs typeface="Aptos"/>
              </a:defRPr>
            </a:defPPr>
          </a:lstStyle>
          <a:p xmlns:a="http://schemas.openxmlformats.org/drawingml/2006/main">
            <a:pPr>
              <a:defRPr sz="2175" b="1">
                <a:solidFill>
                  <a:srgbClr val="FFFFFF"/>
                </a:solidFill>
                <a:latin typeface="Aptos"/>
                <a:ea typeface="Aptos"/>
                <a:cs typeface="Aptos"/>
              </a:defRPr>
            </a:pPr>
            <a:r>
              <a:rPr sz="2175" b="1">
                <a:solidFill>
                  <a:srgbClr val="FFFFFF"/>
                </a:solidFill>
                <a:latin typeface="Aptos"/>
                <a:ea typeface="Aptos"/>
                <a:cs typeface="Aptos"/>
              </a:rPr>
              <a:t>More consistent inspection. Less manual effort. Better traceability.</a:t>
            </a:r>
          </a:p>
        </p:txBody>
      </p:sp>
      <p:sp>
        <p:nvSpPr>
          <p:cNvPr id="18" name="">
            <a:extLst xmlns:a="http://schemas.openxmlformats.org/drawingml/2006/main">
              <a:ext uri="{FF2B5EF4-FFF2-40B4-BE49-F238E27FC236}">
                <a16:creationId xmlns:a16="http://schemas.microsoft.com/office/drawing/2014/main" id="{011C540D-4AAE-4770-87B7-752D9A5E8D1A}"/>
              </a:ext>
            </a:extLst>
          </p:cNvPr>
          <p:cNvSpPr>
            <a:spLocks xmlns:a="http://schemas.openxmlformats.org/drawingml/2006/main" noGrp="1"/>
          </p:cNvSpPr>
          <p:nvPr/>
        </p:nvSpPr>
        <p:spPr>
          <a:xfrm xmlns:a="http://schemas.openxmlformats.org/drawingml/2006/main">
            <a:off x="457200" y="65913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182"/>
                </a:solidFill>
                <a:latin typeface="Aptos"/>
                <a:ea typeface="Aptos"/>
                <a:cs typeface="Aptos"/>
              </a:defRPr>
            </a:defPPr>
          </a:lstStyle>
          <a:p xmlns:a="http://schemas.openxmlformats.org/drawingml/2006/main">
            <a:pPr>
              <a:defRPr sz="1200" b="0">
                <a:solidFill>
                  <a:srgbClr val="627182"/>
                </a:solidFill>
                <a:latin typeface="Aptos"/>
                <a:ea typeface="Aptos"/>
                <a:cs typeface="Aptos"/>
              </a:defRPr>
            </a:pPr>
            <a:r>
              <a:rPr sz="1200" b="0">
                <a:solidFill>
                  <a:srgbClr val="627182"/>
                </a:solidFill>
                <a:latin typeface="Aptos"/>
                <a:ea typeface="Aptos"/>
                <a:cs typeface="Aptos"/>
              </a:rPr>
              <a:t>Automation benefits are targets. Current challenges also include missed-defect risk and limited inspection capacity.</a:t>
            </a:r>
          </a:p>
        </p:txBody>
      </p:sp>
    </p:spTree>
    <p:extLst>
      <p:ext uri="{BB962C8B-B14F-4D97-AF65-F5344CB8AC3E}">
        <p14:creationId xmlns:p14="http://schemas.microsoft.com/office/powerpoint/2010/main" val="1171695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2026-10-14T09:16:06.5880000Z</dcterms:created>
  <dcterms:modified xsi:type="dcterms:W3CDTF">2026-10-14T09:16:06.5880000Z</dcterms:modified>
</coreProperties>
</file>