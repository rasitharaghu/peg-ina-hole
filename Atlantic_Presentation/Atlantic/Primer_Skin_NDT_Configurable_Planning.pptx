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7e0dc710854fbc" /><Relationship Type="http://schemas.openxmlformats.org/officeDocument/2006/relationships/extended-properties" Target="/docProps/app.xml" Id="R1fc64838f1574177" /><Relationship Type="http://schemas.openxmlformats.org/officeDocument/2006/relationships/officeDocument" Target="/ppt/presentation.xml" Id="R14bd40db24b54e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868fdb023c4523"/>
  </p:sldMasterIdLst>
  <p:notesMasterIdLst>
    <p:notesMasterId xmlns:r="http://schemas.openxmlformats.org/officeDocument/2006/relationships" r:id="R598bbf84d9fd4ad6"/>
  </p:notesMasterIdLst>
  <p:sldIdLst>
    <p:sldId xmlns:r="http://schemas.openxmlformats.org/officeDocument/2006/relationships" id="256" r:id="R1cdafeac1ab142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a8e45b157343e9" /><Relationship Type="http://schemas.openxmlformats.org/officeDocument/2006/relationships/slideMaster" Target="/ppt/slideMasters/slideMaster1.xml" Id="R14868fdb023c4523" /><Relationship Type="http://schemas.openxmlformats.org/officeDocument/2006/relationships/notesMaster" Target="/ppt/notesMasters/notesMaster1.xml" Id="R598bbf84d9fd4ad6" /><Relationship Type="http://schemas.openxmlformats.org/officeDocument/2006/relationships/presProps" Target="/ppt/presProps.xml" Id="R17a95067615f463e" /><Relationship Type="http://schemas.openxmlformats.org/officeDocument/2006/relationships/tableStyles" Target="/ppt/tableStyles.xml" Id="R0c42b78a73134eb1" /><Relationship Type="http://schemas.openxmlformats.org/officeDocument/2006/relationships/slide" Target="/ppt/slides/slide1.xml" Id="R1cdafeac1ab142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01021ad42c40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0749860cbb48b9" /><Relationship Type="http://schemas.openxmlformats.org/officeDocument/2006/relationships/notesMaster" Target="/ppt/notesMasters/notesMaster1.xml" Id="Rb0394372cabf45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Updated scope: configurable scan area, shape and swathe width; process and system constraints supplied to motion generation; planning objectives include singularity avoidance, collision avoidance and optimized efficient motion. These are planning objectives and checks within the supplied model and supported constraints, not a promise that a feasible or globally optimal path always exists. Infeasible requests require revised inputs or constraints. Combined solution proposal based on the attached solution_proposal_inspection.jpeg architecture and the visual workflow slide. The input band retains defect locations and regions, scan area/shape/width, robot and panel models, and movement constraints. Scan width is the plain-language equivalent of swath width. Automatic planning includes defect visit sequencing, local coverage pattern generation and robot motion generation. User-specified sequence: receive defect locations, plan visits, create scan paths and robot movements, validate the generated program in FANUC ROBOGUIDE, then execute that validated program on the robot. Steps 1–3 use AI-generated concept illustrations. Step 4 uses the original project ROBOGUIDE simulation image from Solution_technology.jpeg. Step 5 uses a manufacturer photograph of the FANUC R-2000iC/210L as a robot reference, not a photograph of the actual NDT installation. Manufacturer source: https://www.fanuc.eu/eu-en/case-studies/automating-machining-large-ring-shaped-bearings-robots . The slide depicts the proposed workflow and does not certify physical inspection performance or imply that simulation alone qualifies a production inspection process. Reduced programming and shorter inspection cycles are target benefits; no measured savings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81f2b082b541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4fd409d29747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3cc4941d94f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a555f1b7e48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cf8a27a394d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413c5e0ce540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9FD272-1E30-42F4-9591-4630CFCE00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B8FC0D-100C-4173-AA75-9C7B4A744A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C54E602-D39B-43F7-AD89-F9C6075131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F00F92-9FD8-487D-B7A0-8BEBDDC080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FDEC42-22AC-42E8-9EAA-4C05BF205D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66FDB0-55E0-4B03-B694-577121ABBD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3FEE45-F908-4152-B27C-53650DFA32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E258C9-F3C3-428A-9B9F-7EEDCA35EB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32C87C-34AA-45E9-A8C0-3543F24D86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1F5973-3238-4CC2-B5D2-2C67030D39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12075bedc34cda" /><Relationship Type="http://schemas.openxmlformats.org/officeDocument/2006/relationships/slideLayout" Target="/ppt/slideLayouts/slideLayout1.xml" Id="Raa10174d9ac44758" /><Relationship Type="http://schemas.openxmlformats.org/officeDocument/2006/relationships/slideLayout" Target="/ppt/slideLayouts/slideLayout2.xml" Id="R31f7737b505048ac" /><Relationship Type="http://schemas.openxmlformats.org/officeDocument/2006/relationships/slideLayout" Target="/ppt/slideLayouts/slideLayout3.xml" Id="R95c1f33b1b634aa9" /><Relationship Type="http://schemas.openxmlformats.org/officeDocument/2006/relationships/slideLayout" Target="/ppt/slideLayouts/slideLayout4.xml" Id="Rcb763b501c8d4fb9" /><Relationship Type="http://schemas.openxmlformats.org/officeDocument/2006/relationships/slideLayout" Target="/ppt/slideLayouts/slideLayout5.xml" Id="Rdf831244eccd49ae" /><Relationship Type="http://schemas.openxmlformats.org/officeDocument/2006/relationships/slideLayout" Target="/ppt/slideLayouts/slideLayout6.xml" Id="R6463e6f5b0b142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10174d9ac44758"/>
    <p:sldLayoutId xmlns:r="http://schemas.openxmlformats.org/officeDocument/2006/relationships" id="2147483650" r:id="R31f7737b505048ac"/>
    <p:sldLayoutId xmlns:r="http://schemas.openxmlformats.org/officeDocument/2006/relationships" id="2147483651" r:id="R95c1f33b1b634aa9"/>
    <p:sldLayoutId xmlns:r="http://schemas.openxmlformats.org/officeDocument/2006/relationships" id="2147483652" r:id="Rcb763b501c8d4fb9"/>
    <p:sldLayoutId xmlns:r="http://schemas.openxmlformats.org/officeDocument/2006/relationships" id="2147483653" r:id="Rdf831244eccd49ae"/>
    <p:sldLayoutId xmlns:r="http://schemas.openxmlformats.org/officeDocument/2006/relationships" id="2147483654" r:id="R6463e6f5b0b142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471134c6734e5e" /><Relationship Type="http://schemas.openxmlformats.org/officeDocument/2006/relationships/image" Target="/ppt/media/image.png" Id="R12c033673d874b7b" /><Relationship Type="http://schemas.openxmlformats.org/officeDocument/2006/relationships/image" Target="/ppt/media/image2.png" Id="R62648627806340e9" /><Relationship Type="http://schemas.openxmlformats.org/officeDocument/2006/relationships/image" Target="/ppt/media/image3.png" Id="R35693cdc47ba49e7" /><Relationship Type="http://schemas.openxmlformats.org/officeDocument/2006/relationships/image" Target="/ppt/media/image4.png" Id="Rebbaa2bf7a944609" /><Relationship Type="http://schemas.openxmlformats.org/officeDocument/2006/relationships/image" Target="/ppt/media/image5.png" Id="Rebfccc49e6df45e5" /><Relationship Type="http://schemas.openxmlformats.org/officeDocument/2006/relationships/notesSlide" Target="/ppt/notesSlides/notesSlide1.xml" Id="Rbc7e19aabb1f44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184E84-E007-4435-AFFE-9BDD293A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43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4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43B"/>
                </a:solidFill>
                <a:latin typeface="Aptos"/>
                <a:ea typeface="Aptos"/>
                <a:cs typeface="Aptos"/>
              </a:rPr>
              <a:t>Primer Skin NDT Inspection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E7CA7-4D95-4B7D-BF6D-F689885A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08F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008F98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08F98"/>
                </a:solidFill>
                <a:latin typeface="Aptos"/>
                <a:ea typeface="Aptos"/>
                <a:cs typeface="Aptos"/>
              </a:rPr>
              <a:t>Solution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DB4D0-0E3E-4E47-A027-79F12C3A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409F2-3576-43D0-B5E6-36F1F8F5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43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4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B"/>
                </a:solidFill>
                <a:latin typeface="Aptos"/>
                <a:ea typeface="Aptos"/>
                <a:cs typeface="Aptos"/>
              </a:rPr>
              <a:t>Defect 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8EE62-F833-49C3-83C1-E5876919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5576A"/>
                </a:solidFill>
                <a:latin typeface="Aptos"/>
                <a:ea typeface="Aptos"/>
                <a:cs typeface="Aptos"/>
              </a:rPr>
              <a:t>Locations and scan regions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8EF27-645B-4D07-A20A-3CFA0943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8112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43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4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B"/>
                </a:solidFill>
                <a:latin typeface="Aptos"/>
                <a:ea typeface="Aptos"/>
                <a:cs typeface="Aptos"/>
              </a:rPr>
              <a:t>Configurable scan pattern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B533C-D997-4A1A-84FC-B1BEE3AD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72402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5576A"/>
                </a:solidFill>
                <a:latin typeface="Aptos"/>
                <a:ea typeface="Aptos"/>
                <a:cs typeface="Aptos"/>
              </a:rPr>
              <a:t>Area, shape and swathe width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9A2E5-6936-4B38-8BA1-0AA70DD0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381125"/>
            <a:ext cx="373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43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4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B"/>
                </a:solidFill>
                <a:latin typeface="Aptos"/>
                <a:ea typeface="Aptos"/>
                <a:cs typeface="Aptos"/>
              </a:rPr>
              <a:t>Motion planning inputs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97277-533A-4BDC-948C-5A556C57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04975"/>
            <a:ext cx="373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5576A"/>
                </a:solidFill>
                <a:latin typeface="Aptos"/>
                <a:ea typeface="Aptos"/>
                <a:cs typeface="Aptos"/>
              </a:rPr>
              <a:t>Robot/panel models and</a:t>
            </a:r>
          </a:p>
          <a:p xmlns:a="http://schemas.openxmlformats.org/drawingml/2006/main">
            <a: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5576A"/>
                </a:solidFill>
                <a:latin typeface="Aptos"/>
                <a:ea typeface="Aptos"/>
                <a:cs typeface="Aptos"/>
              </a:rPr>
              <a:t>process/system constraints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03C60-DDF0-4866-8EE7-B17D71229C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033673d874b7b"/>
          <a:stretch xmlns:a="http://schemas.openxmlformats.org/drawingml/2006/main"/>
        </p:blipFill>
        <p:spPr>
          <a:xfrm xmlns:a="http://schemas.openxmlformats.org/drawingml/2006/main">
            <a:off x="639763" y="2428875"/>
            <a:ext cx="1739900" cy="13049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E6459-D062-4C72-84F1-7F33C0DA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57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6D9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79644-235C-45FC-9998-35DAC2AD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862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6D9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55607-7BA6-4C42-9E5E-C01AAFD9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767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9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5E52E-2CA0-4786-AA68-9F12B0B3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2171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6D91"/>
                </a:solidFill>
                <a:latin typeface="Aptos"/>
                <a:ea typeface="Aptos"/>
                <a:cs typeface="Aptos"/>
              </a:rPr>
              <a:t>Use defect</a:t>
            </a:r>
          </a:p>
          <a:p xmlns:a="http://schemas.openxmlformats.org/drawingml/2006/main">
            <a:pPr>
              <a:defRPr sz="18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6D91"/>
                </a:solidFill>
                <a:latin typeface="Aptos"/>
                <a:ea typeface="Aptos"/>
                <a:cs typeface="Aptos"/>
              </a:rPr>
              <a:t>locations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A0B37-5FA2-4250-B5A7-4A563C15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5576A"/>
                </a:solidFill>
                <a:latin typeface="Aptos"/>
                <a:ea typeface="Aptos"/>
                <a:cs typeface="Aptos"/>
              </a:rPr>
              <a:t>Receive flagged areas</a:t>
            </a:r>
          </a:p>
          <a:p xmlns:a="http://schemas.openxmlformats.org/drawingml/2006/main">
            <a: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5576A"/>
                </a:solidFill>
                <a:latin typeface="Aptos"/>
                <a:ea typeface="Aptos"/>
                <a:cs typeface="Aptos"/>
              </a:rPr>
              <a:t>from visual inspection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11543-8786-4EDA-907B-C69A70FD6B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48627806340e9"/>
          <a:stretch xmlns:a="http://schemas.openxmlformats.org/drawingml/2006/main"/>
        </p:blipFill>
        <p:spPr>
          <a:xfrm xmlns:a="http://schemas.openxmlformats.org/drawingml/2006/main">
            <a:off x="2925763" y="2428875"/>
            <a:ext cx="1739900" cy="13049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7DC8C-C459-4158-A83D-1E236169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57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6D9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35A2F-6101-41BD-93B5-9672A3DD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862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6D9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E0D5FB-B337-45F1-B42F-0AB76724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767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9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6E5C2-ADEA-47E7-BD7E-BC2D2FB3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57700"/>
            <a:ext cx="2171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6D91"/>
                </a:solidFill>
                <a:latin typeface="Aptos"/>
                <a:ea typeface="Aptos"/>
                <a:cs typeface="Aptos"/>
              </a:rPr>
              <a:t>Plan the</a:t>
            </a:r>
          </a:p>
          <a:p xmlns:a="http://schemas.openxmlformats.org/drawingml/2006/main">
            <a:pPr>
              <a:defRPr sz="18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6D91"/>
                </a:solidFill>
                <a:latin typeface="Aptos"/>
                <a:ea typeface="Aptos"/>
                <a:cs typeface="Aptos"/>
              </a:rPr>
              <a:t>visit order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851D4-FE3A-45B4-A403-211BDCB6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244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5576A"/>
                </a:solidFill>
                <a:latin typeface="Aptos"/>
                <a:ea typeface="Aptos"/>
                <a:cs typeface="Aptos"/>
              </a:rPr>
              <a:t>Optimize visit order</a:t>
            </a:r>
          </a:p>
          <a:p xmlns:a="http://schemas.openxmlformats.org/drawingml/2006/main">
            <a: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5576A"/>
                </a:solidFill>
                <a:latin typeface="Aptos"/>
                <a:ea typeface="Aptos"/>
                <a:cs typeface="Aptos"/>
              </a:rPr>
              <a:t>and reduce travel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325E5-BF52-42AE-820C-FCA5B70828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93cdc47ba49e7"/>
          <a:stretch xmlns:a="http://schemas.openxmlformats.org/drawingml/2006/main"/>
        </p:blipFill>
        <p:spPr>
          <a:xfrm xmlns:a="http://schemas.openxmlformats.org/drawingml/2006/main">
            <a:off x="5211763" y="2428875"/>
            <a:ext cx="1739900" cy="130492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BD0494-77BD-4B61-ABFD-41FE2033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57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6D9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D216D1-B5A5-4F89-AB3B-5B334DC6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862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6D9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861894-746F-4A81-B294-16BBB39C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9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33AF87-61C9-4408-BC72-BF595BE0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57700"/>
            <a:ext cx="2171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6D91"/>
                </a:solidFill>
                <a:latin typeface="Aptos"/>
                <a:ea typeface="Aptos"/>
                <a:cs typeface="Aptos"/>
              </a:rPr>
              <a:t>Create scan</a:t>
            </a:r>
          </a:p>
          <a:p xmlns:a="http://schemas.openxmlformats.org/drawingml/2006/main">
            <a:pPr>
              <a:defRPr sz="18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6D91"/>
                </a:solidFill>
                <a:latin typeface="Aptos"/>
                <a:ea typeface="Aptos"/>
                <a:cs typeface="Aptos"/>
              </a:rPr>
              <a:t>paths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553651-308E-4FC3-9E4A-1D2A2297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1244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5576A"/>
                </a:solidFill>
                <a:latin typeface="Aptos"/>
                <a:ea typeface="Aptos"/>
                <a:cs typeface="Aptos"/>
              </a:rPr>
              <a:t>Apply scan settings</a:t>
            </a:r>
          </a:p>
          <a:p xmlns:a="http://schemas.openxmlformats.org/drawingml/2006/main">
            <a: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5576A"/>
                </a:solidFill>
                <a:latin typeface="Aptos"/>
                <a:ea typeface="Aptos"/>
                <a:cs typeface="Aptos"/>
              </a:rPr>
              <a:t>and motion constraints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D0353B-8B4D-4EDA-BC60-DCFF691C81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aa2bf7a944609"/>
          <a:stretch xmlns:a="http://schemas.openxmlformats.org/drawingml/2006/main"/>
        </p:blipFill>
        <p:spPr>
          <a:xfrm xmlns:a="http://schemas.openxmlformats.org/drawingml/2006/main">
            <a:off x="7471077" y="2428875"/>
            <a:ext cx="1793271" cy="130492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5266C4-FDB7-478E-9B87-87F77B6A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57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6D9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43B47F-B5BE-4043-BA9E-F91F5545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862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6D9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DDD61F-B035-4794-A010-C236D7C3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767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91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14BA7D-0DAA-4800-9DB1-E9219201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57700"/>
            <a:ext cx="2171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6D91"/>
                </a:solidFill>
                <a:latin typeface="Aptos"/>
                <a:ea typeface="Aptos"/>
                <a:cs typeface="Aptos"/>
              </a:rPr>
              <a:t>Validate in</a:t>
            </a:r>
          </a:p>
          <a:p xmlns:a="http://schemas.openxmlformats.org/drawingml/2006/main">
            <a:pPr>
              <a:defRPr sz="18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6D91"/>
                </a:solidFill>
                <a:latin typeface="Aptos"/>
                <a:ea typeface="Aptos"/>
                <a:cs typeface="Aptos"/>
              </a:rPr>
              <a:t>ROBOGUIDE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36D0EB-D5E1-45E5-813E-D4763883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244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5576A"/>
                </a:solidFill>
                <a:latin typeface="Aptos"/>
                <a:ea typeface="Aptos"/>
                <a:cs typeface="Aptos"/>
              </a:rPr>
              <a:t>Check the program</a:t>
            </a:r>
          </a:p>
          <a:p xmlns:a="http://schemas.openxmlformats.org/drawingml/2006/main">
            <a: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5576A"/>
                </a:solidFill>
                <a:latin typeface="Aptos"/>
                <a:ea typeface="Aptos"/>
                <a:cs typeface="Aptos"/>
              </a:rPr>
              <a:t>before robot execution</a:t>
            </a:r>
          </a:p>
        </p:txBody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69093B-64B5-4849-A873-2331764CC7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ccc49e6df45e5"/>
          <a:stretch xmlns:a="http://schemas.openxmlformats.org/drawingml/2006/main"/>
        </p:blipFill>
        <p:spPr>
          <a:xfrm xmlns:a="http://schemas.openxmlformats.org/drawingml/2006/main">
            <a:off x="9788341" y="2428875"/>
            <a:ext cx="1730743" cy="1304925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CDC480-7553-4589-BE69-B13113D0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857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6D91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FF403A-D416-4D43-B5D3-853F056A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8862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6D91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9DBE95-3F35-4D31-80F0-91749879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57700"/>
            <a:ext cx="2171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6D91"/>
                </a:solidFill>
                <a:latin typeface="Aptos"/>
                <a:ea typeface="Aptos"/>
                <a:cs typeface="Aptos"/>
              </a:rPr>
              <a:t>Execute on</a:t>
            </a:r>
          </a:p>
          <a:p xmlns:a="http://schemas.openxmlformats.org/drawingml/2006/main">
            <a:pPr>
              <a:defRPr sz="1800" b="1">
                <a:solidFill>
                  <a:srgbClr val="006D9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6D91"/>
                </a:solidFill>
                <a:latin typeface="Aptos"/>
                <a:ea typeface="Aptos"/>
                <a:cs typeface="Aptos"/>
              </a:rPr>
              <a:t>the robot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484E0E-0EF5-41D7-B7C1-8B274B5A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1244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5576A"/>
                </a:solidFill>
                <a:latin typeface="Aptos"/>
                <a:ea typeface="Aptos"/>
                <a:cs typeface="Aptos"/>
              </a:rPr>
              <a:t>Run the validated</a:t>
            </a:r>
          </a:p>
          <a:p xmlns:a="http://schemas.openxmlformats.org/drawingml/2006/main">
            <a:pPr>
              <a:defRPr sz="1500" b="0">
                <a:solidFill>
                  <a:srgbClr val="45576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5576A"/>
                </a:solidFill>
                <a:latin typeface="Aptos"/>
                <a:ea typeface="Aptos"/>
                <a:cs typeface="Aptos"/>
              </a:rPr>
              <a:t>inspection program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AD13A3-1545-4CEA-A4A8-D50AB26C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435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8F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8F9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8F98"/>
                </a:solidFill>
                <a:latin typeface="Aptos"/>
                <a:ea typeface="Aptos"/>
                <a:cs typeface="Aptos"/>
              </a:rPr>
              <a:t>PATH QUALITY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328039-1E1B-4E9B-BD1F-58072AC3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15000"/>
            <a:ext cx="954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43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4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B"/>
                </a:solidFill>
                <a:latin typeface="Aptos"/>
                <a:ea typeface="Aptos"/>
                <a:cs typeface="Aptos"/>
              </a:rPr>
              <a:t>Singularity avoidance, collision avoidance and optimized, efficient motion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67AEEF-0288-4886-8BF9-BE4420DD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67425"/>
            <a:ext cx="1127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B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2CB8E5-FB63-424D-BDE3-9B3233E3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43625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Less programming. Focused scanning. Shorter inspection cycles.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95DEBF-8237-41AA-8D19-E085B6A9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127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18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1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182"/>
                </a:solidFill>
                <a:latin typeface="Aptos"/>
                <a:ea typeface="Aptos"/>
                <a:cs typeface="Aptos"/>
              </a:rPr>
              <a:t>Feasibility depends on models and constraints. Illustrative images. Benefits to validate in trials.</a:t>
            </a:r>
          </a:p>
        </p:txBody>
      </p:sp>
    </p:spTree>
    <p:extLst>
      <p:ext uri="{BB962C8B-B14F-4D97-AF65-F5344CB8AC3E}">
        <p14:creationId xmlns:p14="http://schemas.microsoft.com/office/powerpoint/2010/main" val="14275212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2026-10-14T05:48:40.2290000Z</dcterms:created>
  <dcterms:modified xsi:type="dcterms:W3CDTF">2026-10-14T05:48:40.2290000Z</dcterms:modified>
</coreProperties>
</file>