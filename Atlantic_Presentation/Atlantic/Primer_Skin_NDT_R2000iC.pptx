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fb17b87b2f04faf" /><Relationship Type="http://schemas.openxmlformats.org/officeDocument/2006/relationships/extended-properties" Target="/docProps/app.xml" Id="R0eebf9323d924ee9" /><Relationship Type="http://schemas.openxmlformats.org/officeDocument/2006/relationships/officeDocument" Target="/ppt/presentation.xml" Id="R7824e832dacf4036" /></Relationships>
</file>

<file path=ppt/presentation.xml><?xml version="1.0" encoding="utf-8"?>
<p:presentation xmlns:p="http://schemas.openxmlformats.org/presentationml/2006/main">
  <p:sldMasterIdLst>
    <p:sldMasterId xmlns:r="http://schemas.openxmlformats.org/officeDocument/2006/relationships" id="2147483648" r:id="R8487dad27a8c45dd"/>
  </p:sldMasterIdLst>
  <p:notesMasterIdLst>
    <p:notesMasterId xmlns:r="http://schemas.openxmlformats.org/officeDocument/2006/relationships" r:id="R7c53a28e4185408e"/>
  </p:notesMasterIdLst>
  <p:sldIdLst>
    <p:sldId xmlns:r="http://schemas.openxmlformats.org/officeDocument/2006/relationships" id="256" r:id="R7676d884437c4bd1"/>
    <p:sldId xmlns:r="http://schemas.openxmlformats.org/officeDocument/2006/relationships" id="257" r:id="R03c34e99f16245b7"/>
    <p:sldId xmlns:r="http://schemas.openxmlformats.org/officeDocument/2006/relationships" id="258" r:id="Ree9e1c15c07f401d"/>
    <p:sldId xmlns:r="http://schemas.openxmlformats.org/officeDocument/2006/relationships" id="259" r:id="Rce71602c7a6a47ca"/>
    <p:sldId xmlns:r="http://schemas.openxmlformats.org/officeDocument/2006/relationships" id="260" r:id="R2e88dedcf9f742b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272708280da4325" /><Relationship Type="http://schemas.openxmlformats.org/officeDocument/2006/relationships/slideMaster" Target="/ppt/slideMasters/slideMaster1.xml" Id="R8487dad27a8c45dd" /><Relationship Type="http://schemas.openxmlformats.org/officeDocument/2006/relationships/notesMaster" Target="/ppt/notesMasters/notesMaster1.xml" Id="R7c53a28e4185408e" /><Relationship Type="http://schemas.openxmlformats.org/officeDocument/2006/relationships/presProps" Target="/ppt/presProps.xml" Id="R082961216464450b" /><Relationship Type="http://schemas.openxmlformats.org/officeDocument/2006/relationships/tableStyles" Target="/ppt/tableStyles.xml" Id="R3f7599a5131f4ef4" /><Relationship Type="http://schemas.openxmlformats.org/officeDocument/2006/relationships/slide" Target="/ppt/slides/slide1.xml" Id="R7676d884437c4bd1" /><Relationship Type="http://schemas.openxmlformats.org/officeDocument/2006/relationships/slide" Target="/ppt/slides/slide2.xml" Id="R03c34e99f16245b7" /><Relationship Type="http://schemas.openxmlformats.org/officeDocument/2006/relationships/slide" Target="/ppt/slides/slide3.xml" Id="Ree9e1c15c07f401d" /><Relationship Type="http://schemas.openxmlformats.org/officeDocument/2006/relationships/slide" Target="/ppt/slides/slide4.xml" Id="Rce71602c7a6a47ca" /><Relationship Type="http://schemas.openxmlformats.org/officeDocument/2006/relationships/slide" Target="/ppt/slides/slide5.xml" Id="R2e88dedcf9f742b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f9d5d9c6cab4b5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668922a73f14ff0" /><Relationship Type="http://schemas.openxmlformats.org/officeDocument/2006/relationships/notesMaster" Target="/ppt/notesMasters/notesMaster1.xml" Id="R1dfe55515c2f4054" /></Relationships>
</file>

<file path=ppt/notesSlides/_rels/notesSlide2.xml.rels>&#65279;<?xml version="1.0" encoding="utf-8"?><Relationships xmlns="http://schemas.openxmlformats.org/package/2006/relationships"><Relationship Type="http://schemas.openxmlformats.org/officeDocument/2006/relationships/slide" Target="/ppt/slides/slide2.xml" Id="R3de66c23da894cfd" /><Relationship Type="http://schemas.openxmlformats.org/officeDocument/2006/relationships/notesMaster" Target="/ppt/notesMasters/notesMaster1.xml" Id="Rca26eae860cf436c" /></Relationships>
</file>

<file path=ppt/notesSlides/_rels/notesSlide3.xml.rels>&#65279;<?xml version="1.0" encoding="utf-8"?><Relationships xmlns="http://schemas.openxmlformats.org/package/2006/relationships"><Relationship Type="http://schemas.openxmlformats.org/officeDocument/2006/relationships/slide" Target="/ppt/slides/slide3.xml" Id="R20c44c0d4c1045e2" /><Relationship Type="http://schemas.openxmlformats.org/officeDocument/2006/relationships/notesMaster" Target="/ppt/notesMasters/notesMaster1.xml" Id="R93f4d05936a94f2c" /></Relationships>
</file>

<file path=ppt/notesSlides/_rels/notesSlide4.xml.rels>&#65279;<?xml version="1.0" encoding="utf-8"?><Relationships xmlns="http://schemas.openxmlformats.org/package/2006/relationships"><Relationship Type="http://schemas.openxmlformats.org/officeDocument/2006/relationships/slide" Target="/ppt/slides/slide4.xml" Id="R042ffdddf4cd4219" /><Relationship Type="http://schemas.openxmlformats.org/officeDocument/2006/relationships/notesMaster" Target="/ppt/notesMasters/notesMaster1.xml" Id="Re99d282b8c2b4f2c" /></Relationships>
</file>

<file path=ppt/notesSlides/_rels/notesSlide5.xml.rels>&#65279;<?xml version="1.0" encoding="utf-8"?><Relationships xmlns="http://schemas.openxmlformats.org/package/2006/relationships"><Relationship Type="http://schemas.openxmlformats.org/officeDocument/2006/relationships/slide" Target="/ppt/slides/slide5.xml" Id="Re328725a62e34aad" /><Relationship Type="http://schemas.openxmlformats.org/officeDocument/2006/relationships/notesMaster" Target="/ppt/notesMasters/notesMaster1.xml" Id="R4b60bbba7b0f4e9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business case comes from the three supplied programme slides. The as-is diagnosis reports large differences between operators measuring identical components, an unreliable basis for comparing measurements and physical access constraints. The storyline identifies inspection capacity bottlenecks, missed defects, late detection and associated liability uncertainty, and the need for flexible standardized automation for aerospace. The technology gap slide adds poor ergonomics, low traceability, high reporting effort and long lead time. The source chart is a crop of the provided human-measurement comparison. Its Onyx comparison is explicitly an expected target, not evidence of achieved NDT-planner accuracy. No numerical performance claim is derived from the chart. Opportunity: a repeatable, traceable automated inspection process, using reusable technology building blocks. Sources: as_is_diagnosation(1).jpeg, Primer_skin_anomaly_storyline(1).jpeg and technology gap(1).jpeg.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describes the architecture of the supplied demonstrator at a high level. Defect poses and regions of interest are the planned interface from vision. The illustrated demonstration uses generated defect poses. GTSP sequences the visits. The configurable coverage generator defines each local swath using the requested area, shape and width. HPP generates robot motion using robot and panel/environment models and motion constraints. FANUC ROBOGUIDE verifies the robot program and simulated execution. The diagram summarizes the workflow rather than specifying internal software message interfaces. Physical robot and sensor execution remains the next validation step based on the supplied evidence. Sources: Prompt.jpeg and Solution_technology.jpeg.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robot used for this NDT project is a FANUC R-2000iC, confirmed by the user. The retained project context specifies the R-2000iC/210L. The left image is a genuine FANUC manufacturer reference photograph with the R-2000iC/210L model marking visible. It comes from a different industrial application and is not a photograph of this NDT installation. The right image is the user-supplied project simulation. GTSP sequences the defect visits, configurable swaths define local coverage, HPP generates robot motion, and ROBOGUIDE verifies simulated program execution. This slide illustrates the selected robot and the planning approach without claiming a completed physical NDT deployment. Sources: user confirmation; Solution_technology.jpeg; https://www.fanuc.eu/eu-en/product/robot/r-2000ic210l ; https://www.fanuc.eu/eu-en/case-studies/automating-machining-large-ring-shaped-bearings-robots . Manufacturer image: https://d16ohktstcjvly.cloudfront.net/image/513891251684/image_rdvjd6lkml2116unol0347k57e/-T4%3A3-FWEBP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two levels of value. The NDT planning contribution is automatic robot motion, optimized visiting sequence and configurable targeted coverage. Expected benefits are less programming, reduced transit and unnecessary scanning, and reuse across panel and robot setups after integration. The wider inspection programme targets objective repeatable measurements, fewer defect escapes, full traceability of outer-skin anomalies, automated MES/UNC connectivity, improved ergonomics and reduced inspection lead time. These system outcomes require qualified sensing, inspection methods, data integration and deployment, and cannot be claimed as outcomes of the planner alone. The programme targets full-fuselage automated inspection over time, using flexible standardized building blocks and internally understood integration. Its technology gaps include machine vision, NDT, motion and lock-in systems, architecture/connectivity, and implementation/change management. No measured savings or defect-reduction rate is provided. The three supplied images illustrate robotic inspection setups and defect regions. They are conceptual context, not measured proof of these benefits. Visual sources: technology gap(1).jpeg and Solution_technology.jpeg. Sources: Primer_skin_anomaly_storyline(1).jpeg, technology gap(1).jpeg, as_is_diagnosation(1).jpeg, Prompt.jpeg and Solution_technology.jpeg.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project recording here when available. Suggested narration: generated defect regions enter the planner, a visiting order and local coverage are produced, and the robot follows the planned inspection path in simulation. Current evidence supports a simulation demonstrator with generated defect poses. It does not establish a formal TRL, physical NDT qualification or production acceptance. Proposed customer pilot: use a representative panel and real defect list, validate robot/sensor execution and NDT coverage, then compare preparation time and total cycle time with the current approach. Close by inviting a representative panel and defect set for a pilot. No video was supplied. Image: Solution_technology.jpeg.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b8802a948d049e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93440b7990e43a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f7adb1120d64ac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f17d8b4d0fa403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e5892a43af44be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330219a90b94e7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97315E0-721E-4F33-B16E-CE4F7FE3931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17AF4F0-2D47-4743-8229-35E8DC8D199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F3580B8-AB32-4B1B-9DFE-80150F21ECD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836FEAC-1CDF-4D6F-9C3A-C8845846F93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847E64C-37AB-496F-8D20-422F90659E3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70C5938-A99B-4791-ACB9-F5CBA3D6EDB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6952BF0-0645-4BF8-9469-27B711A02B8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05B3D7B-BB4E-4328-BD1D-6C262654721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7C6CEB3-2BAF-460A-B1B3-126E6B0CB70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501EC03-908A-43D6-BEFD-BEB86222613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6660a9050094f17" /><Relationship Type="http://schemas.openxmlformats.org/officeDocument/2006/relationships/slideLayout" Target="/ppt/slideLayouts/slideLayout1.xml" Id="R15fb1d6318944459" /><Relationship Type="http://schemas.openxmlformats.org/officeDocument/2006/relationships/slideLayout" Target="/ppt/slideLayouts/slideLayout2.xml" Id="Rf4d4b482ce6f4cc8" /><Relationship Type="http://schemas.openxmlformats.org/officeDocument/2006/relationships/slideLayout" Target="/ppt/slideLayouts/slideLayout3.xml" Id="R60d019be3f374d94" /><Relationship Type="http://schemas.openxmlformats.org/officeDocument/2006/relationships/slideLayout" Target="/ppt/slideLayouts/slideLayout4.xml" Id="R5282baa38b0644b8" /><Relationship Type="http://schemas.openxmlformats.org/officeDocument/2006/relationships/slideLayout" Target="/ppt/slideLayouts/slideLayout5.xml" Id="R0c2f02beb267470c" /><Relationship Type="http://schemas.openxmlformats.org/officeDocument/2006/relationships/slideLayout" Target="/ppt/slideLayouts/slideLayout6.xml" Id="Ra52dcd3811da4f0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5fb1d6318944459"/>
    <p:sldLayoutId xmlns:r="http://schemas.openxmlformats.org/officeDocument/2006/relationships" id="2147483650" r:id="Rf4d4b482ce6f4cc8"/>
    <p:sldLayoutId xmlns:r="http://schemas.openxmlformats.org/officeDocument/2006/relationships" id="2147483651" r:id="R60d019be3f374d94"/>
    <p:sldLayoutId xmlns:r="http://schemas.openxmlformats.org/officeDocument/2006/relationships" id="2147483652" r:id="R5282baa38b0644b8"/>
    <p:sldLayoutId xmlns:r="http://schemas.openxmlformats.org/officeDocument/2006/relationships" id="2147483653" r:id="R0c2f02beb267470c"/>
    <p:sldLayoutId xmlns:r="http://schemas.openxmlformats.org/officeDocument/2006/relationships" id="2147483654" r:id="Ra52dcd3811da4f0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a44f60dfb7b43b9" /><Relationship Type="http://schemas.openxmlformats.org/officeDocument/2006/relationships/image" Target="/ppt/media/image.png" Id="R0a5388178e174030" /><Relationship Type="http://schemas.openxmlformats.org/officeDocument/2006/relationships/image" Target="/ppt/media/image2.png" Id="R4677a0cd373440bd" /><Relationship Type="http://schemas.openxmlformats.org/officeDocument/2006/relationships/image" Target="/ppt/media/image3.png" Id="R582bd7d2d190492a" /><Relationship Type="http://schemas.openxmlformats.org/officeDocument/2006/relationships/notesSlide" Target="/ppt/notesSlides/notesSlide1.xml" Id="R8092d416b3c9435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97ea39062b64c7a" /><Relationship Type="http://schemas.openxmlformats.org/officeDocument/2006/relationships/image" Target="/ppt/media/image4.png" Id="R3b457575e59747a2" /><Relationship Type="http://schemas.openxmlformats.org/officeDocument/2006/relationships/notesSlide" Target="/ppt/notesSlides/notesSlide2.xml" Id="Rbbc7328838c1482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1b2905b3932402c" /><Relationship Type="http://schemas.openxmlformats.org/officeDocument/2006/relationships/image" Target="/ppt/media/image5.png" Id="Rb4d2609c2b4b4ec5" /><Relationship Type="http://schemas.openxmlformats.org/officeDocument/2006/relationships/image" Target="/ppt/media/image6.png" Id="Re67f4d642a3642e1" /><Relationship Type="http://schemas.openxmlformats.org/officeDocument/2006/relationships/notesSlide" Target="/ppt/notesSlides/notesSlide3.xml" Id="R176f9f5e9c1d49e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0d42afc9190484f" /><Relationship Type="http://schemas.openxmlformats.org/officeDocument/2006/relationships/image" Target="/ppt/media/image7.png" Id="Re3942e28c8cf442c" /><Relationship Type="http://schemas.openxmlformats.org/officeDocument/2006/relationships/image" Target="/ppt/media/image8.png" Id="Rc2a48630b16c4fb5" /><Relationship Type="http://schemas.openxmlformats.org/officeDocument/2006/relationships/image" Target="/ppt/media/image9.png" Id="R0e213fa5d898432c" /><Relationship Type="http://schemas.openxmlformats.org/officeDocument/2006/relationships/notesSlide" Target="/ppt/notesSlides/notesSlide4.xml" Id="R58e0b720a9f1485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d8cf7a13bb94a64" /><Relationship Type="http://schemas.openxmlformats.org/officeDocument/2006/relationships/image" Target="/ppt/media/image10.png" Id="R7b370ca5a8ea4e00" /><Relationship Type="http://schemas.openxmlformats.org/officeDocument/2006/relationships/notesSlide" Target="/ppt/notesSlides/notesSlide5.xml" Id="R6a7b3d8b8977486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4E75F4B-2988-4F78-BFAE-3CD36EF52867}"/>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072B48"/>
                </a:solidFill>
                <a:latin typeface="Aptos"/>
                <a:ea typeface="Aptos"/>
                <a:cs typeface="Aptos"/>
              </a:defRPr>
            </a:defPPr>
          </a:lstStyle>
          <a:p xmlns:a="http://schemas.openxmlformats.org/drawingml/2006/main">
            <a:pPr>
              <a:defRPr sz="3225" b="1">
                <a:solidFill>
                  <a:srgbClr val="072B48"/>
                </a:solidFill>
                <a:latin typeface="Aptos"/>
                <a:ea typeface="Aptos"/>
                <a:cs typeface="Aptos"/>
              </a:defRPr>
            </a:pPr>
            <a:r>
              <a:rPr sz="3225" b="1">
                <a:solidFill>
                  <a:srgbClr val="072B48"/>
                </a:solidFill>
                <a:latin typeface="Aptos"/>
                <a:ea typeface="Aptos"/>
                <a:cs typeface="Aptos"/>
              </a:rPr>
              <a:t>Inspection challenges and the automation opportunity</a:t>
            </a:r>
          </a:p>
        </p:txBody>
      </p:sp>
      <p:sp>
        <p:nvSpPr>
          <p:cNvPr id="2" name="">
            <a:extLst xmlns:a="http://schemas.openxmlformats.org/drawingml/2006/main">
              <a:ext uri="{FF2B5EF4-FFF2-40B4-BE49-F238E27FC236}">
                <a16:creationId xmlns:a16="http://schemas.microsoft.com/office/drawing/2014/main" id="{95A48E89-A74E-498B-9A29-9E5E675E6A1D}"/>
              </a:ext>
            </a:extLst>
          </p:cNvPr>
          <p:cNvSpPr>
            <a:spLocks xmlns:a="http://schemas.openxmlformats.org/drawingml/2006/main" noGrp="1"/>
          </p:cNvSpPr>
          <p:nvPr/>
        </p:nvSpPr>
        <p:spPr>
          <a:xfrm xmlns:a="http://schemas.openxmlformats.org/drawingml/2006/main">
            <a:off x="11239500" y="635317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67080"/>
                </a:solidFill>
                <a:latin typeface="Aptos"/>
                <a:ea typeface="Aptos"/>
                <a:cs typeface="Aptos"/>
              </a:defRPr>
            </a:defPPr>
          </a:lstStyle>
          <a:p xmlns:a="http://schemas.openxmlformats.org/drawingml/2006/main">
            <a:pPr>
              <a:defRPr sz="1200" b="0">
                <a:solidFill>
                  <a:srgbClr val="567080"/>
                </a:solidFill>
                <a:latin typeface="Aptos"/>
                <a:ea typeface="Aptos"/>
                <a:cs typeface="Aptos"/>
              </a:defRPr>
            </a:pPr>
            <a:r>
              <a:rPr sz="1200" b="0">
                <a:solidFill>
                  <a:srgbClr val="567080"/>
                </a:solidFill>
                <a:latin typeface="Aptos"/>
                <a:ea typeface="Aptos"/>
                <a:cs typeface="Aptos"/>
              </a:rPr>
              <a:t>01</a:t>
            </a:r>
          </a:p>
        </p:txBody>
      </p:sp>
      <p:sp>
        <p:nvSpPr>
          <p:cNvPr id="3" name="">
            <a:extLst xmlns:a="http://schemas.openxmlformats.org/drawingml/2006/main">
              <a:ext uri="{FF2B5EF4-FFF2-40B4-BE49-F238E27FC236}">
                <a16:creationId xmlns:a16="http://schemas.microsoft.com/office/drawing/2014/main" id="{8AA004BD-145A-4F12-A401-566BC9B10E93}"/>
              </a:ext>
            </a:extLst>
          </p:cNvPr>
          <p:cNvSpPr>
            <a:spLocks xmlns:a="http://schemas.openxmlformats.org/drawingml/2006/main" noGrp="1"/>
          </p:cNvSpPr>
          <p:nvPr/>
        </p:nvSpPr>
        <p:spPr>
          <a:xfrm xmlns:a="http://schemas.openxmlformats.org/drawingml/2006/main">
            <a:off x="609600" y="1495425"/>
            <a:ext cx="666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A76316"/>
                </a:solidFill>
                <a:latin typeface="Aptos"/>
                <a:ea typeface="Aptos"/>
                <a:cs typeface="Aptos"/>
              </a:defRPr>
            </a:defPPr>
          </a:lstStyle>
          <a:p xmlns:a="http://schemas.openxmlformats.org/drawingml/2006/main">
            <a:pPr>
              <a:defRPr sz="2250" b="1">
                <a:solidFill>
                  <a:srgbClr val="A76316"/>
                </a:solidFill>
                <a:latin typeface="Aptos"/>
                <a:ea typeface="Aptos"/>
                <a:cs typeface="Aptos"/>
              </a:defRPr>
            </a:pPr>
            <a:r>
              <a:rPr sz="2250" b="1">
                <a:solidFill>
                  <a:srgbClr val="A76316"/>
                </a:solidFill>
                <a:latin typeface="Aptos"/>
                <a:ea typeface="Aptos"/>
                <a:cs typeface="Aptos"/>
              </a:rPr>
              <a:t>CHALLENGES</a:t>
            </a:r>
          </a:p>
        </p:txBody>
      </p:sp>
      <p:sp>
        <p:nvSpPr>
          <p:cNvPr id="4" name="">
            <a:extLst xmlns:a="http://schemas.openxmlformats.org/drawingml/2006/main">
              <a:ext uri="{FF2B5EF4-FFF2-40B4-BE49-F238E27FC236}">
                <a16:creationId xmlns:a16="http://schemas.microsoft.com/office/drawing/2014/main" id="{21099C3C-9323-4F42-8126-2335C55F4CA7}"/>
              </a:ext>
            </a:extLst>
          </p:cNvPr>
          <p:cNvSpPr>
            <a:spLocks xmlns:a="http://schemas.openxmlformats.org/drawingml/2006/main" noGrp="1"/>
          </p:cNvSpPr>
          <p:nvPr/>
        </p:nvSpPr>
        <p:spPr>
          <a:xfrm xmlns:a="http://schemas.openxmlformats.org/drawingml/2006/main">
            <a:off x="8982075" y="1495425"/>
            <a:ext cx="266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07F8B"/>
                </a:solidFill>
                <a:latin typeface="Aptos"/>
                <a:ea typeface="Aptos"/>
                <a:cs typeface="Aptos"/>
              </a:defRPr>
            </a:defPPr>
          </a:lstStyle>
          <a:p xmlns:a="http://schemas.openxmlformats.org/drawingml/2006/main">
            <a:pPr>
              <a:defRPr sz="2250" b="1">
                <a:solidFill>
                  <a:srgbClr val="007F8B"/>
                </a:solidFill>
                <a:latin typeface="Aptos"/>
                <a:ea typeface="Aptos"/>
                <a:cs typeface="Aptos"/>
              </a:defRPr>
            </a:pPr>
            <a:r>
              <a:rPr sz="2250" b="1">
                <a:solidFill>
                  <a:srgbClr val="007F8B"/>
                </a:solidFill>
                <a:latin typeface="Aptos"/>
                <a:ea typeface="Aptos"/>
                <a:cs typeface="Aptos"/>
              </a:rPr>
              <a:t>OPPORTUNITY</a:t>
            </a:r>
          </a:p>
        </p:txBody>
      </p:sp>
      <p:pic>
        <p:nvPicPr>
          <p:cNvPr id="5" name="">
            <a:extLst xmlns:a="http://schemas.openxmlformats.org/drawingml/2006/main">
              <a:ext uri="{FF2B5EF4-FFF2-40B4-BE49-F238E27FC236}">
                <a16:creationId xmlns:a16="http://schemas.microsoft.com/office/drawing/2014/main" id="{BC4CF8A8-B29F-46A9-9628-8BBAD8A3F696}"/>
              </a:ext>
            </a:extLst>
          </p:cNvPr>
          <p:cNvPicPr>
            <a:picLocks xmlns:a="http://schemas.openxmlformats.org/drawingml/2006/main" noChangeAspect="1"/>
          </p:cNvPicPr>
          <p:nvPr/>
        </p:nvPicPr>
        <p:blipFill>
          <a:blip xmlns:r="http://schemas.openxmlformats.org/officeDocument/2006/relationships" xmlns:a="http://schemas.openxmlformats.org/drawingml/2006/main" r:embed="R0a5388178e174030"/>
          <a:stretch xmlns:a="http://schemas.openxmlformats.org/drawingml/2006/main"/>
        </p:blipFill>
        <p:spPr>
          <a:xfrm xmlns:a="http://schemas.openxmlformats.org/drawingml/2006/main">
            <a:off x="609600" y="2493728"/>
            <a:ext cx="2533650" cy="1575269"/>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14247A55-AD7D-4BB6-82F6-321CE7BD7C9E}"/>
              </a:ext>
            </a:extLst>
          </p:cNvPr>
          <p:cNvPicPr>
            <a:picLocks xmlns:a="http://schemas.openxmlformats.org/drawingml/2006/main" noChangeAspect="1"/>
          </p:cNvPicPr>
          <p:nvPr/>
        </p:nvPicPr>
        <p:blipFill>
          <a:blip xmlns:r="http://schemas.openxmlformats.org/officeDocument/2006/relationships" xmlns:a="http://schemas.openxmlformats.org/drawingml/2006/main" r:embed="R4677a0cd373440bd"/>
          <a:stretch xmlns:a="http://schemas.openxmlformats.org/drawingml/2006/main"/>
        </p:blipFill>
        <p:spPr>
          <a:xfrm xmlns:a="http://schemas.openxmlformats.org/drawingml/2006/main">
            <a:off x="3552716" y="2047875"/>
            <a:ext cx="4781769" cy="2905125"/>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1036638F-85DB-4ABF-AF4E-2B24E3B413F7}"/>
              </a:ext>
            </a:extLst>
          </p:cNvPr>
          <p:cNvPicPr>
            <a:picLocks xmlns:a="http://schemas.openxmlformats.org/drawingml/2006/main" noChangeAspect="1"/>
          </p:cNvPicPr>
          <p:nvPr/>
        </p:nvPicPr>
        <p:blipFill>
          <a:blip xmlns:r="http://schemas.openxmlformats.org/officeDocument/2006/relationships" xmlns:a="http://schemas.openxmlformats.org/drawingml/2006/main" r:embed="R582bd7d2d190492a"/>
          <a:stretch xmlns:a="http://schemas.openxmlformats.org/drawingml/2006/main"/>
        </p:blipFill>
        <p:spPr>
          <a:xfrm xmlns:a="http://schemas.openxmlformats.org/drawingml/2006/main">
            <a:off x="9229725" y="2302476"/>
            <a:ext cx="2181225" cy="2348298"/>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5F961586-EEE5-4EFC-BCE5-3D124C851FD9}"/>
              </a:ext>
            </a:extLst>
          </p:cNvPr>
          <p:cNvSpPr>
            <a:spLocks xmlns:a="http://schemas.openxmlformats.org/drawingml/2006/main" noGrp="1"/>
          </p:cNvSpPr>
          <p:nvPr/>
        </p:nvSpPr>
        <p:spPr>
          <a:xfrm xmlns:a="http://schemas.openxmlformats.org/drawingml/2006/main">
            <a:off x="609600" y="5057775"/>
            <a:ext cx="2733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72B48"/>
                </a:solidFill>
                <a:latin typeface="Aptos"/>
                <a:ea typeface="Aptos"/>
                <a:cs typeface="Aptos"/>
              </a:defRPr>
            </a:defPPr>
          </a:lstStyle>
          <a:p xmlns:a="http://schemas.openxmlformats.org/drawingml/2006/main">
            <a:pPr>
              <a:defRPr sz="2325" b="1">
                <a:solidFill>
                  <a:srgbClr val="072B48"/>
                </a:solidFill>
                <a:latin typeface="Aptos"/>
                <a:ea typeface="Aptos"/>
                <a:cs typeface="Aptos"/>
              </a:defRPr>
            </a:pPr>
            <a:r>
              <a:rPr sz="2325" b="1">
                <a:solidFill>
                  <a:srgbClr val="072B48"/>
                </a:solidFill>
                <a:latin typeface="Aptos"/>
                <a:ea typeface="Aptos"/>
                <a:cs typeface="Aptos"/>
              </a:rPr>
              <a:t>Manual effort</a:t>
            </a:r>
          </a:p>
          <a:p xmlns:a="http://schemas.openxmlformats.org/drawingml/2006/main">
            <a:pPr>
              <a:defRPr sz="2325" b="1">
                <a:solidFill>
                  <a:srgbClr val="072B48"/>
                </a:solidFill>
                <a:latin typeface="Aptos"/>
                <a:ea typeface="Aptos"/>
                <a:cs typeface="Aptos"/>
              </a:defRPr>
            </a:pPr>
            <a:r>
              <a:rPr sz="2325" b="1">
                <a:solidFill>
                  <a:srgbClr val="072B48"/>
                </a:solidFill>
                <a:latin typeface="Aptos"/>
                <a:ea typeface="Aptos"/>
                <a:cs typeface="Aptos"/>
              </a:rPr>
              <a:t>Difficult access</a:t>
            </a:r>
          </a:p>
        </p:txBody>
      </p:sp>
      <p:sp>
        <p:nvSpPr>
          <p:cNvPr id="9" name="">
            <a:extLst xmlns:a="http://schemas.openxmlformats.org/drawingml/2006/main">
              <a:ext uri="{FF2B5EF4-FFF2-40B4-BE49-F238E27FC236}">
                <a16:creationId xmlns:a16="http://schemas.microsoft.com/office/drawing/2014/main" id="{8CBFE7AE-1D62-4D50-9B88-E79A5B0E75C7}"/>
              </a:ext>
            </a:extLst>
          </p:cNvPr>
          <p:cNvSpPr>
            <a:spLocks xmlns:a="http://schemas.openxmlformats.org/drawingml/2006/main" noGrp="1"/>
          </p:cNvSpPr>
          <p:nvPr/>
        </p:nvSpPr>
        <p:spPr>
          <a:xfrm xmlns:a="http://schemas.openxmlformats.org/drawingml/2006/main">
            <a:off x="3486150" y="5057775"/>
            <a:ext cx="51149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72B48"/>
                </a:solidFill>
                <a:latin typeface="Aptos"/>
                <a:ea typeface="Aptos"/>
                <a:cs typeface="Aptos"/>
              </a:defRPr>
            </a:defPPr>
          </a:lstStyle>
          <a:p xmlns:a="http://schemas.openxmlformats.org/drawingml/2006/main">
            <a:pPr>
              <a:defRPr sz="2325" b="1">
                <a:solidFill>
                  <a:srgbClr val="072B48"/>
                </a:solidFill>
                <a:latin typeface="Aptos"/>
                <a:ea typeface="Aptos"/>
                <a:cs typeface="Aptos"/>
              </a:defRPr>
            </a:pPr>
            <a:r>
              <a:rPr sz="2325" b="1">
                <a:solidFill>
                  <a:srgbClr val="072B48"/>
                </a:solidFill>
                <a:latin typeface="Aptos"/>
                <a:ea typeface="Aptos"/>
                <a:cs typeface="Aptos"/>
              </a:rPr>
              <a:t>Variable measurements</a:t>
            </a:r>
          </a:p>
        </p:txBody>
      </p:sp>
      <p:sp>
        <p:nvSpPr>
          <p:cNvPr id="10" name="">
            <a:extLst xmlns:a="http://schemas.openxmlformats.org/drawingml/2006/main">
              <a:ext uri="{FF2B5EF4-FFF2-40B4-BE49-F238E27FC236}">
                <a16:creationId xmlns:a16="http://schemas.microsoft.com/office/drawing/2014/main" id="{10E64B97-5B0E-4F5D-9056-C31A3DB39681}"/>
              </a:ext>
            </a:extLst>
          </p:cNvPr>
          <p:cNvSpPr>
            <a:spLocks xmlns:a="http://schemas.openxmlformats.org/drawingml/2006/main" noGrp="1"/>
          </p:cNvSpPr>
          <p:nvPr/>
        </p:nvSpPr>
        <p:spPr>
          <a:xfrm xmlns:a="http://schemas.openxmlformats.org/drawingml/2006/main">
            <a:off x="8982075" y="5000625"/>
            <a:ext cx="2657475"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07F8B"/>
                </a:solidFill>
                <a:latin typeface="Aptos"/>
                <a:ea typeface="Aptos"/>
                <a:cs typeface="Aptos"/>
              </a:defRPr>
            </a:defPPr>
          </a:lstStyle>
          <a:p xmlns:a="http://schemas.openxmlformats.org/drawingml/2006/main">
            <a:pPr>
              <a:defRPr sz="2325" b="1">
                <a:solidFill>
                  <a:srgbClr val="007F8B"/>
                </a:solidFill>
                <a:latin typeface="Aptos"/>
                <a:ea typeface="Aptos"/>
                <a:cs typeface="Aptos"/>
              </a:defRPr>
            </a:pPr>
            <a:r>
              <a:rPr sz="2325" b="1">
                <a:solidFill>
                  <a:srgbClr val="007F8B"/>
                </a:solidFill>
                <a:latin typeface="Aptos"/>
                <a:ea typeface="Aptos"/>
                <a:cs typeface="Aptos"/>
              </a:rPr>
              <a:t>Repeatable</a:t>
            </a:r>
          </a:p>
          <a:p xmlns:a="http://schemas.openxmlformats.org/drawingml/2006/main">
            <a:pPr>
              <a:defRPr sz="2325" b="1">
                <a:solidFill>
                  <a:srgbClr val="007F8B"/>
                </a:solidFill>
                <a:latin typeface="Aptos"/>
                <a:ea typeface="Aptos"/>
                <a:cs typeface="Aptos"/>
              </a:defRPr>
            </a:pPr>
            <a:r>
              <a:rPr sz="2325" b="1">
                <a:solidFill>
                  <a:srgbClr val="007F8B"/>
                </a:solidFill>
                <a:latin typeface="Aptos"/>
                <a:ea typeface="Aptos"/>
                <a:cs typeface="Aptos"/>
              </a:rPr>
              <a:t>automated</a:t>
            </a:r>
          </a:p>
          <a:p xmlns:a="http://schemas.openxmlformats.org/drawingml/2006/main">
            <a:pPr>
              <a:defRPr sz="2325" b="1">
                <a:solidFill>
                  <a:srgbClr val="007F8B"/>
                </a:solidFill>
                <a:latin typeface="Aptos"/>
                <a:ea typeface="Aptos"/>
                <a:cs typeface="Aptos"/>
              </a:defRPr>
            </a:pPr>
            <a:r>
              <a:rPr sz="2325" b="1">
                <a:solidFill>
                  <a:srgbClr val="007F8B"/>
                </a:solidFill>
                <a:latin typeface="Aptos"/>
                <a:ea typeface="Aptos"/>
                <a:cs typeface="Aptos"/>
              </a:rPr>
              <a:t>inspection</a:t>
            </a:r>
          </a:p>
        </p:txBody>
      </p:sp>
      <p:sp>
        <p:nvSpPr>
          <p:cNvPr id="11" name="">
            <a:extLst xmlns:a="http://schemas.openxmlformats.org/drawingml/2006/main">
              <a:ext uri="{FF2B5EF4-FFF2-40B4-BE49-F238E27FC236}">
                <a16:creationId xmlns:a16="http://schemas.microsoft.com/office/drawing/2014/main" id="{47124397-C7F6-4952-A3EA-D2BB1BB3A5E0}"/>
              </a:ext>
            </a:extLst>
          </p:cNvPr>
          <p:cNvSpPr>
            <a:spLocks xmlns:a="http://schemas.openxmlformats.org/drawingml/2006/main" noGrp="1"/>
          </p:cNvSpPr>
          <p:nvPr/>
        </p:nvSpPr>
        <p:spPr>
          <a:xfrm xmlns:a="http://schemas.openxmlformats.org/drawingml/2006/main">
            <a:off x="609600" y="6257925"/>
            <a:ext cx="10715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67080"/>
                </a:solidFill>
                <a:latin typeface="Aptos"/>
                <a:ea typeface="Aptos"/>
                <a:cs typeface="Aptos"/>
              </a:defRPr>
            </a:defPPr>
          </a:lstStyle>
          <a:p xmlns:a="http://schemas.openxmlformats.org/drawingml/2006/main">
            <a:pPr>
              <a:defRPr sz="1725" b="0">
                <a:solidFill>
                  <a:srgbClr val="567080"/>
                </a:solidFill>
                <a:latin typeface="Aptos"/>
                <a:ea typeface="Aptos"/>
                <a:cs typeface="Aptos"/>
              </a:defRPr>
            </a:pPr>
            <a:r>
              <a:rPr sz="1725" b="0">
                <a:solidFill>
                  <a:srgbClr val="567080"/>
                </a:solidFill>
                <a:latin typeface="Aptos"/>
                <a:ea typeface="Aptos"/>
                <a:cs typeface="Aptos"/>
              </a:rPr>
              <a:t>Missed-defect risk, long lead time and low traceability add to the challenge</a:t>
            </a:r>
          </a:p>
        </p:txBody>
      </p:sp>
    </p:spTree>
    <p:extLst>
      <p:ext uri="{BB962C8B-B14F-4D97-AF65-F5344CB8AC3E}">
        <p14:creationId xmlns:p14="http://schemas.microsoft.com/office/powerpoint/2010/main" val="48189236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8" name="">
            <a:extLst xmlns:a="http://schemas.openxmlformats.org/drawingml/2006/main">
              <a:ext uri="{FF2B5EF4-FFF2-40B4-BE49-F238E27FC236}">
                <a16:creationId xmlns:a16="http://schemas.microsoft.com/office/drawing/2014/main" id="{CCC73E49-7EA9-4C71-9F08-283FCE40225E}"/>
              </a:ext>
            </a:extLst>
          </p:cNvPr>
          <p:cNvCxnSpPr>
            <a:stCxn xmlns:a="http://schemas.openxmlformats.org/drawingml/2006/main" id="11" idx="3"/>
            <a:endCxn xmlns:a="http://schemas.openxmlformats.org/drawingml/2006/main" id="12" idx="1"/>
          </p:cNvCxnSpPr>
          <p:nvPr/>
        </p:nvCxnSpPr>
        <p:spPr>
          <a:xfrm xmlns:a="http://schemas.openxmlformats.org/drawingml/2006/main">
            <a:off x="7924800" y="5357813"/>
            <a:ext cx="952500" cy="0"/>
          </a:xfrm>
          <a:prstGeom xmlns:a="http://schemas.openxmlformats.org/drawingml/2006/main" prst="straightConnector1">
            <a:avLst/>
          </a:prstGeom>
          <a:ln xmlns:a="http://schemas.openxmlformats.org/drawingml/2006/main" w="28575">
            <a:solidFill>
              <a:srgbClr val="007F8B"/>
            </a:solidFill>
            <a:tailEnd type="arrow" w="med" len="med"/>
          </a:ln>
        </p:spPr>
      </p:cxnSp>
      <p:cxnSp>
        <p:nvCxnSpPr>
          <p:cNvPr id="17" name="">
            <a:extLst xmlns:a="http://schemas.openxmlformats.org/drawingml/2006/main">
              <a:ext uri="{FF2B5EF4-FFF2-40B4-BE49-F238E27FC236}">
                <a16:creationId xmlns:a16="http://schemas.microsoft.com/office/drawing/2014/main" id="{E8527C4E-AD03-402E-A830-C9F13BABD094}"/>
              </a:ext>
            </a:extLst>
          </p:cNvPr>
          <p:cNvCxnSpPr>
            <a:stCxn xmlns:a="http://schemas.openxmlformats.org/drawingml/2006/main" id="10" idx="2"/>
            <a:endCxn xmlns:a="http://schemas.openxmlformats.org/drawingml/2006/main" id="11" idx="0"/>
          </p:cNvCxnSpPr>
          <p:nvPr/>
        </p:nvCxnSpPr>
        <p:spPr>
          <a:xfrm xmlns:a="http://schemas.openxmlformats.org/drawingml/2006/main">
            <a:off x="6067425" y="4457700"/>
            <a:ext cx="0" cy="428625"/>
          </a:xfrm>
          <a:prstGeom xmlns:a="http://schemas.openxmlformats.org/drawingml/2006/main" prst="straightConnector1">
            <a:avLst/>
          </a:prstGeom>
          <a:ln xmlns:a="http://schemas.openxmlformats.org/drawingml/2006/main" w="28575">
            <a:solidFill>
              <a:srgbClr val="007F8B"/>
            </a:solidFill>
            <a:tailEnd type="arrow" w="med" len="med"/>
          </a:ln>
        </p:spPr>
      </p:cxnSp>
      <p:cxnSp>
        <p:nvCxnSpPr>
          <p:cNvPr id="16" name="">
            <a:extLst xmlns:a="http://schemas.openxmlformats.org/drawingml/2006/main">
              <a:ext uri="{FF2B5EF4-FFF2-40B4-BE49-F238E27FC236}">
                <a16:creationId xmlns:a16="http://schemas.microsoft.com/office/drawing/2014/main" id="{A79762A4-446B-4F4C-943C-FD681163133B}"/>
              </a:ext>
            </a:extLst>
          </p:cNvPr>
          <p:cNvCxnSpPr>
            <a:stCxn xmlns:a="http://schemas.openxmlformats.org/drawingml/2006/main" id="9" idx="2"/>
            <a:endCxn xmlns:a="http://schemas.openxmlformats.org/drawingml/2006/main" id="10" idx="0"/>
          </p:cNvCxnSpPr>
          <p:nvPr/>
        </p:nvCxnSpPr>
        <p:spPr>
          <a:xfrm xmlns:a="http://schemas.openxmlformats.org/drawingml/2006/main">
            <a:off x="6067425" y="3019425"/>
            <a:ext cx="0" cy="438150"/>
          </a:xfrm>
          <a:prstGeom xmlns:a="http://schemas.openxmlformats.org/drawingml/2006/main" prst="straightConnector1">
            <a:avLst/>
          </a:prstGeom>
          <a:ln xmlns:a="http://schemas.openxmlformats.org/drawingml/2006/main" w="28575">
            <a:solidFill>
              <a:srgbClr val="007F8B"/>
            </a:solidFill>
            <a:tailEnd type="arrow" w="med" len="med"/>
          </a:ln>
        </p:spPr>
      </p:cxnSp>
      <p:cxnSp>
        <p:nvCxnSpPr>
          <p:cNvPr id="15" name="">
            <a:extLst xmlns:a="http://schemas.openxmlformats.org/drawingml/2006/main">
              <a:ext uri="{FF2B5EF4-FFF2-40B4-BE49-F238E27FC236}">
                <a16:creationId xmlns:a16="http://schemas.microsoft.com/office/drawing/2014/main" id="{F8EBFC7A-CDD5-450B-9EE8-B999293D7C07}"/>
              </a:ext>
            </a:extLst>
          </p:cNvPr>
          <p:cNvCxnSpPr>
            <a:stCxn xmlns:a="http://schemas.openxmlformats.org/drawingml/2006/main" id="8" idx="3"/>
            <a:endCxn xmlns:a="http://schemas.openxmlformats.org/drawingml/2006/main" id="11" idx="1"/>
          </p:cNvCxnSpPr>
          <p:nvPr/>
        </p:nvCxnSpPr>
        <p:spPr>
          <a:xfrm xmlns:a="http://schemas.openxmlformats.org/drawingml/2006/main">
            <a:off x="3457575" y="5357813"/>
            <a:ext cx="752475" cy="0"/>
          </a:xfrm>
          <a:prstGeom xmlns:a="http://schemas.openxmlformats.org/drawingml/2006/main" prst="straightConnector1">
            <a:avLst/>
          </a:prstGeom>
          <a:ln xmlns:a="http://schemas.openxmlformats.org/drawingml/2006/main" w="28575">
            <a:solidFill>
              <a:srgbClr val="007F8B"/>
            </a:solidFill>
            <a:tailEnd type="arrow" w="med" len="med"/>
          </a:ln>
        </p:spPr>
      </p:cxnSp>
      <p:cxnSp>
        <p:nvCxnSpPr>
          <p:cNvPr id="14" name="">
            <a:extLst xmlns:a="http://schemas.openxmlformats.org/drawingml/2006/main">
              <a:ext uri="{FF2B5EF4-FFF2-40B4-BE49-F238E27FC236}">
                <a16:creationId xmlns:a16="http://schemas.microsoft.com/office/drawing/2014/main" id="{733B8093-8C76-4894-9A6E-F65014FB1312}"/>
              </a:ext>
            </a:extLst>
          </p:cNvPr>
          <p:cNvCxnSpPr>
            <a:stCxn xmlns:a="http://schemas.openxmlformats.org/drawingml/2006/main" id="7" idx="3"/>
            <a:endCxn xmlns:a="http://schemas.openxmlformats.org/drawingml/2006/main" id="10" idx="1"/>
          </p:cNvCxnSpPr>
          <p:nvPr/>
        </p:nvCxnSpPr>
        <p:spPr>
          <a:xfrm xmlns:a="http://schemas.openxmlformats.org/drawingml/2006/main">
            <a:off x="3457575" y="3957638"/>
            <a:ext cx="752475" cy="0"/>
          </a:xfrm>
          <a:prstGeom xmlns:a="http://schemas.openxmlformats.org/drawingml/2006/main" prst="straightConnector1">
            <a:avLst/>
          </a:prstGeom>
          <a:ln xmlns:a="http://schemas.openxmlformats.org/drawingml/2006/main" w="28575">
            <a:solidFill>
              <a:srgbClr val="007F8B"/>
            </a:solidFill>
            <a:tailEnd type="arrow" w="med" len="med"/>
          </a:ln>
        </p:spPr>
      </p:cxnSp>
      <p:cxnSp>
        <p:nvCxnSpPr>
          <p:cNvPr id="13" name="">
            <a:extLst xmlns:a="http://schemas.openxmlformats.org/drawingml/2006/main">
              <a:ext uri="{FF2B5EF4-FFF2-40B4-BE49-F238E27FC236}">
                <a16:creationId xmlns:a16="http://schemas.microsoft.com/office/drawing/2014/main" id="{4965A817-6BFF-4772-B350-40CD108EB5C0}"/>
              </a:ext>
            </a:extLst>
          </p:cNvPr>
          <p:cNvCxnSpPr>
            <a:stCxn xmlns:a="http://schemas.openxmlformats.org/drawingml/2006/main" id="6" idx="3"/>
            <a:endCxn xmlns:a="http://schemas.openxmlformats.org/drawingml/2006/main" id="9" idx="1"/>
          </p:cNvCxnSpPr>
          <p:nvPr/>
        </p:nvCxnSpPr>
        <p:spPr>
          <a:xfrm xmlns:a="http://schemas.openxmlformats.org/drawingml/2006/main">
            <a:off x="3457575" y="2552700"/>
            <a:ext cx="752475" cy="0"/>
          </a:xfrm>
          <a:prstGeom xmlns:a="http://schemas.openxmlformats.org/drawingml/2006/main" prst="straightConnector1">
            <a:avLst/>
          </a:prstGeom>
          <a:ln xmlns:a="http://schemas.openxmlformats.org/drawingml/2006/main" w="28575">
            <a:solidFill>
              <a:srgbClr val="007F8B"/>
            </a:solidFill>
            <a:tailEnd type="arrow" w="med" len="med"/>
          </a:ln>
        </p:spPr>
      </p:cxnSp>
      <p:sp>
        <p:nvSpPr>
          <p:cNvPr id="22" name="">
            <a:extLst xmlns:a="http://schemas.openxmlformats.org/drawingml/2006/main">
              <a:ext uri="{FF2B5EF4-FFF2-40B4-BE49-F238E27FC236}">
                <a16:creationId xmlns:a16="http://schemas.microsoft.com/office/drawing/2014/main" id="{CA646256-9357-47A8-A26C-1BEEAAF2286C}"/>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072B48"/>
                </a:solidFill>
                <a:latin typeface="Aptos"/>
                <a:ea typeface="Aptos"/>
                <a:cs typeface="Aptos"/>
              </a:defRPr>
            </a:defPPr>
          </a:lstStyle>
          <a:p xmlns:a="http://schemas.openxmlformats.org/drawingml/2006/main">
            <a:pPr>
              <a:defRPr sz="3225" b="1">
                <a:solidFill>
                  <a:srgbClr val="072B48"/>
                </a:solidFill>
                <a:latin typeface="Aptos"/>
                <a:ea typeface="Aptos"/>
                <a:cs typeface="Aptos"/>
              </a:defRPr>
            </a:pPr>
            <a:r>
              <a:rPr sz="3225" b="1">
                <a:solidFill>
                  <a:srgbClr val="072B48"/>
                </a:solidFill>
                <a:latin typeface="Aptos"/>
                <a:ea typeface="Aptos"/>
                <a:cs typeface="Aptos"/>
              </a:rPr>
              <a:t>High-level architecture used for NDT planning</a:t>
            </a:r>
          </a:p>
        </p:txBody>
      </p:sp>
      <p:sp>
        <p:nvSpPr>
          <p:cNvPr id="2" name="">
            <a:extLst xmlns:a="http://schemas.openxmlformats.org/drawingml/2006/main">
              <a:ext uri="{FF2B5EF4-FFF2-40B4-BE49-F238E27FC236}">
                <a16:creationId xmlns:a16="http://schemas.microsoft.com/office/drawing/2014/main" id="{2C6564E8-E1B9-4381-B9D8-35B3118117CA}"/>
              </a:ext>
            </a:extLst>
          </p:cNvPr>
          <p:cNvSpPr>
            <a:spLocks xmlns:a="http://schemas.openxmlformats.org/drawingml/2006/main" noGrp="1"/>
          </p:cNvSpPr>
          <p:nvPr/>
        </p:nvSpPr>
        <p:spPr>
          <a:xfrm xmlns:a="http://schemas.openxmlformats.org/drawingml/2006/main">
            <a:off x="11239500" y="635317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67080"/>
                </a:solidFill>
                <a:latin typeface="Aptos"/>
                <a:ea typeface="Aptos"/>
                <a:cs typeface="Aptos"/>
              </a:defRPr>
            </a:defPPr>
          </a:lstStyle>
          <a:p xmlns:a="http://schemas.openxmlformats.org/drawingml/2006/main">
            <a:pPr>
              <a:defRPr sz="1200" b="0">
                <a:solidFill>
                  <a:srgbClr val="567080"/>
                </a:solidFill>
                <a:latin typeface="Aptos"/>
                <a:ea typeface="Aptos"/>
                <a:cs typeface="Aptos"/>
              </a:defRPr>
            </a:pPr>
            <a:r>
              <a:rPr sz="1200" b="0">
                <a:solidFill>
                  <a:srgbClr val="567080"/>
                </a:solidFill>
                <a:latin typeface="Aptos"/>
                <a:ea typeface="Aptos"/>
                <a:cs typeface="Aptos"/>
              </a:rPr>
              <a:t>02</a:t>
            </a:r>
          </a:p>
        </p:txBody>
      </p:sp>
      <p:sp>
        <p:nvSpPr>
          <p:cNvPr id="3" name="">
            <a:extLst xmlns:a="http://schemas.openxmlformats.org/drawingml/2006/main">
              <a:ext uri="{FF2B5EF4-FFF2-40B4-BE49-F238E27FC236}">
                <a16:creationId xmlns:a16="http://schemas.microsoft.com/office/drawing/2014/main" id="{67850F5E-8A3E-441A-A4D9-BCE90782BDFD}"/>
              </a:ext>
            </a:extLst>
          </p:cNvPr>
          <p:cNvSpPr>
            <a:spLocks xmlns:a="http://schemas.openxmlformats.org/drawingml/2006/main" noGrp="1"/>
          </p:cNvSpPr>
          <p:nvPr/>
        </p:nvSpPr>
        <p:spPr>
          <a:xfrm xmlns:a="http://schemas.openxmlformats.org/drawingml/2006/main">
            <a:off x="609600" y="1438275"/>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567080"/>
                </a:solidFill>
                <a:latin typeface="Aptos"/>
                <a:ea typeface="Aptos"/>
                <a:cs typeface="Aptos"/>
              </a:defRPr>
            </a:defPPr>
          </a:lstStyle>
          <a:p xmlns:a="http://schemas.openxmlformats.org/drawingml/2006/main">
            <a:pPr>
              <a:defRPr sz="1950" b="1">
                <a:solidFill>
                  <a:srgbClr val="567080"/>
                </a:solidFill>
                <a:latin typeface="Aptos"/>
                <a:ea typeface="Aptos"/>
                <a:cs typeface="Aptos"/>
              </a:defRPr>
            </a:pPr>
            <a:r>
              <a:rPr sz="1950" b="1">
                <a:solidFill>
                  <a:srgbClr val="567080"/>
                </a:solidFill>
                <a:latin typeface="Aptos"/>
                <a:ea typeface="Aptos"/>
                <a:cs typeface="Aptos"/>
              </a:rPr>
              <a:t>INPUTS</a:t>
            </a:r>
          </a:p>
        </p:txBody>
      </p:sp>
      <p:sp>
        <p:nvSpPr>
          <p:cNvPr id="4" name="">
            <a:extLst xmlns:a="http://schemas.openxmlformats.org/drawingml/2006/main">
              <a:ext uri="{FF2B5EF4-FFF2-40B4-BE49-F238E27FC236}">
                <a16:creationId xmlns:a16="http://schemas.microsoft.com/office/drawing/2014/main" id="{295BD92E-40EE-438E-890E-4A279E0C76E4}"/>
              </a:ext>
            </a:extLst>
          </p:cNvPr>
          <p:cNvSpPr>
            <a:spLocks xmlns:a="http://schemas.openxmlformats.org/drawingml/2006/main" noGrp="1"/>
          </p:cNvSpPr>
          <p:nvPr/>
        </p:nvSpPr>
        <p:spPr>
          <a:xfrm xmlns:a="http://schemas.openxmlformats.org/drawingml/2006/main">
            <a:off x="4210050" y="1438275"/>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7F8B"/>
                </a:solidFill>
                <a:latin typeface="Aptos"/>
                <a:ea typeface="Aptos"/>
                <a:cs typeface="Aptos"/>
              </a:defRPr>
            </a:defPPr>
          </a:lstStyle>
          <a:p xmlns:a="http://schemas.openxmlformats.org/drawingml/2006/main">
            <a:pPr>
              <a:defRPr sz="1950" b="1">
                <a:solidFill>
                  <a:srgbClr val="007F8B"/>
                </a:solidFill>
                <a:latin typeface="Aptos"/>
                <a:ea typeface="Aptos"/>
                <a:cs typeface="Aptos"/>
              </a:defRPr>
            </a:pPr>
            <a:r>
              <a:rPr sz="1950" b="1">
                <a:solidFill>
                  <a:srgbClr val="007F8B"/>
                </a:solidFill>
                <a:latin typeface="Aptos"/>
                <a:ea typeface="Aptos"/>
                <a:cs typeface="Aptos"/>
              </a:rPr>
              <a:t>AUTOMATIC PLANNING</a:t>
            </a:r>
          </a:p>
        </p:txBody>
      </p:sp>
      <p:sp>
        <p:nvSpPr>
          <p:cNvPr id="5" name="">
            <a:extLst xmlns:a="http://schemas.openxmlformats.org/drawingml/2006/main">
              <a:ext uri="{FF2B5EF4-FFF2-40B4-BE49-F238E27FC236}">
                <a16:creationId xmlns:a16="http://schemas.microsoft.com/office/drawing/2014/main" id="{CC2C9C2F-FD94-4245-9261-D6724F9948A3}"/>
              </a:ext>
            </a:extLst>
          </p:cNvPr>
          <p:cNvSpPr>
            <a:spLocks xmlns:a="http://schemas.openxmlformats.org/drawingml/2006/main" noGrp="1"/>
          </p:cNvSpPr>
          <p:nvPr/>
        </p:nvSpPr>
        <p:spPr>
          <a:xfrm xmlns:a="http://schemas.openxmlformats.org/drawingml/2006/main">
            <a:off x="8877300" y="1438275"/>
            <a:ext cx="2714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567080"/>
                </a:solidFill>
                <a:latin typeface="Aptos"/>
                <a:ea typeface="Aptos"/>
                <a:cs typeface="Aptos"/>
              </a:defRPr>
            </a:defPPr>
          </a:lstStyle>
          <a:p xmlns:a="http://schemas.openxmlformats.org/drawingml/2006/main">
            <a:pPr>
              <a:defRPr sz="1950" b="1">
                <a:solidFill>
                  <a:srgbClr val="567080"/>
                </a:solidFill>
                <a:latin typeface="Aptos"/>
                <a:ea typeface="Aptos"/>
                <a:cs typeface="Aptos"/>
              </a:defRPr>
            </a:pPr>
            <a:r>
              <a:rPr sz="1950" b="1">
                <a:solidFill>
                  <a:srgbClr val="567080"/>
                </a:solidFill>
                <a:latin typeface="Aptos"/>
                <a:ea typeface="Aptos"/>
                <a:cs typeface="Aptos"/>
              </a:rPr>
              <a:t>VALIDATION</a:t>
            </a:r>
          </a:p>
        </p:txBody>
      </p:sp>
      <p:sp>
        <p:nvSpPr>
          <p:cNvPr id="6" name="">
            <a:extLst xmlns:a="http://schemas.openxmlformats.org/drawingml/2006/main">
              <a:ext uri="{FF2B5EF4-FFF2-40B4-BE49-F238E27FC236}">
                <a16:creationId xmlns:a16="http://schemas.microsoft.com/office/drawing/2014/main" id="{623E171B-A832-44C4-AC16-04A7317538DF}"/>
              </a:ext>
            </a:extLst>
          </p:cNvPr>
          <p:cNvSpPr>
            <a:spLocks xmlns:a="http://schemas.openxmlformats.org/drawingml/2006/main" noGrp="1"/>
          </p:cNvSpPr>
          <p:nvPr/>
        </p:nvSpPr>
        <p:spPr>
          <a:xfrm xmlns:a="http://schemas.openxmlformats.org/drawingml/2006/main">
            <a:off x="619125" y="2085975"/>
            <a:ext cx="2838450" cy="933450"/>
          </a:xfrm>
          <a:prstGeom xmlns:a="http://schemas.openxmlformats.org/drawingml/2006/main" prst="rect">
            <a:avLst/>
          </a:prstGeom>
          <a:solidFill xmlns:a="http://schemas.openxmlformats.org/drawingml/2006/main">
            <a:srgbClr val="F2F6F7"/>
          </a:solidFill>
          <a:ln xmlns:a="http://schemas.openxmlformats.org/drawingml/2006/main" w="9525">
            <a:solidFill>
              <a:srgbClr val="F2F6F7"/>
            </a:solidFill>
          </a:ln>
        </p:spPr>
        <p:txBody>
          <a:bodyPr xmlns:a="http://schemas.openxmlformats.org/drawingml/2006/main" anchor="ctr"/>
          <a:lstStyle xmlns:a="http://schemas.openxmlformats.org/drawingml/2006/main">
            <a:defPPr algn="ctr">
              <a:defRPr sz="1875" b="1">
                <a:solidFill>
                  <a:srgbClr val="072B48"/>
                </a:solidFill>
                <a:latin typeface="Aptos"/>
                <a:ea typeface="Aptos"/>
                <a:cs typeface="Aptos"/>
              </a:defRPr>
            </a:defPPr>
          </a:lstStyle>
          <a:p xmlns:a="http://schemas.openxmlformats.org/drawingml/2006/main">
            <a:pPr algn="ctr">
              <a:defRPr sz="1875" b="1">
                <a:solidFill>
                  <a:srgbClr val="072B48"/>
                </a:solidFill>
                <a:latin typeface="Aptos"/>
                <a:ea typeface="Aptos"/>
                <a:cs typeface="Aptos"/>
              </a:defRPr>
            </a:pPr>
            <a:r>
              <a:rPr sz="1875" b="1">
                <a:solidFill>
                  <a:srgbClr val="072B48"/>
                </a:solidFill>
                <a:latin typeface="Aptos"/>
                <a:ea typeface="Aptos"/>
                <a:cs typeface="Aptos"/>
              </a:rPr>
              <a:t>Defect poses</a:t>
            </a:r>
          </a:p>
          <a:p xmlns:a="http://schemas.openxmlformats.org/drawingml/2006/main">
            <a:pPr algn="ctr">
              <a:defRPr sz="1875" b="1">
                <a:solidFill>
                  <a:srgbClr val="072B48"/>
                </a:solidFill>
                <a:latin typeface="Aptos"/>
                <a:ea typeface="Aptos"/>
                <a:cs typeface="Aptos"/>
              </a:defRPr>
            </a:pPr>
            <a:r>
              <a:rPr sz="1875" b="1">
                <a:solidFill>
                  <a:srgbClr val="072B48"/>
                </a:solidFill>
                <a:latin typeface="Aptos"/>
                <a:ea typeface="Aptos"/>
                <a:cs typeface="Aptos"/>
              </a:rPr>
              <a:t>and scan regions</a:t>
            </a:r>
          </a:p>
        </p:txBody>
      </p:sp>
      <p:sp>
        <p:nvSpPr>
          <p:cNvPr id="7" name="">
            <a:extLst xmlns:a="http://schemas.openxmlformats.org/drawingml/2006/main">
              <a:ext uri="{FF2B5EF4-FFF2-40B4-BE49-F238E27FC236}">
                <a16:creationId xmlns:a16="http://schemas.microsoft.com/office/drawing/2014/main" id="{F946BD56-CCB0-4778-BE8D-B5811B7BF0C8}"/>
              </a:ext>
            </a:extLst>
          </p:cNvPr>
          <p:cNvSpPr>
            <a:spLocks xmlns:a="http://schemas.openxmlformats.org/drawingml/2006/main" noGrp="1"/>
          </p:cNvSpPr>
          <p:nvPr/>
        </p:nvSpPr>
        <p:spPr>
          <a:xfrm xmlns:a="http://schemas.openxmlformats.org/drawingml/2006/main">
            <a:off x="619125" y="3457575"/>
            <a:ext cx="2838450" cy="1000125"/>
          </a:xfrm>
          <a:prstGeom xmlns:a="http://schemas.openxmlformats.org/drawingml/2006/main" prst="rect">
            <a:avLst/>
          </a:prstGeom>
          <a:solidFill xmlns:a="http://schemas.openxmlformats.org/drawingml/2006/main">
            <a:srgbClr val="F2F6F7"/>
          </a:solidFill>
          <a:ln xmlns:a="http://schemas.openxmlformats.org/drawingml/2006/main" w="9525">
            <a:solidFill>
              <a:srgbClr val="F2F6F7"/>
            </a:solidFill>
          </a:ln>
        </p:spPr>
        <p:txBody>
          <a:bodyPr xmlns:a="http://schemas.openxmlformats.org/drawingml/2006/main" anchor="ctr"/>
          <a:lstStyle xmlns:a="http://schemas.openxmlformats.org/drawingml/2006/main">
            <a:defPPr algn="ctr">
              <a:defRPr sz="1875" b="1">
                <a:solidFill>
                  <a:srgbClr val="072B48"/>
                </a:solidFill>
                <a:latin typeface="Aptos"/>
                <a:ea typeface="Aptos"/>
                <a:cs typeface="Aptos"/>
              </a:defRPr>
            </a:defPPr>
          </a:lstStyle>
          <a:p xmlns:a="http://schemas.openxmlformats.org/drawingml/2006/main">
            <a:pPr algn="ctr">
              <a:defRPr sz="1875" b="1">
                <a:solidFill>
                  <a:srgbClr val="072B48"/>
                </a:solidFill>
                <a:latin typeface="Aptos"/>
                <a:ea typeface="Aptos"/>
                <a:cs typeface="Aptos"/>
              </a:defRPr>
            </a:pPr>
            <a:r>
              <a:rPr sz="1875" b="1">
                <a:solidFill>
                  <a:srgbClr val="072B48"/>
                </a:solidFill>
                <a:latin typeface="Aptos"/>
                <a:ea typeface="Aptos"/>
                <a:cs typeface="Aptos"/>
              </a:rPr>
              <a:t>Scan settings</a:t>
            </a:r>
          </a:p>
          <a:p xmlns:a="http://schemas.openxmlformats.org/drawingml/2006/main">
            <a:pPr algn="ctr">
              <a:defRPr sz="1875" b="1">
                <a:solidFill>
                  <a:srgbClr val="072B48"/>
                </a:solidFill>
                <a:latin typeface="Aptos"/>
                <a:ea typeface="Aptos"/>
                <a:cs typeface="Aptos"/>
              </a:defRPr>
            </a:pPr>
            <a:r>
              <a:rPr sz="1875" b="1">
                <a:solidFill>
                  <a:srgbClr val="072B48"/>
                </a:solidFill>
                <a:latin typeface="Aptos"/>
                <a:ea typeface="Aptos"/>
                <a:cs typeface="Aptos"/>
              </a:rPr>
              <a:t>Area, shape, swath width</a:t>
            </a:r>
          </a:p>
        </p:txBody>
      </p:sp>
      <p:sp>
        <p:nvSpPr>
          <p:cNvPr id="8" name="">
            <a:extLst xmlns:a="http://schemas.openxmlformats.org/drawingml/2006/main">
              <a:ext uri="{FF2B5EF4-FFF2-40B4-BE49-F238E27FC236}">
                <a16:creationId xmlns:a16="http://schemas.microsoft.com/office/drawing/2014/main" id="{AB5CA0F2-CA7F-4505-A929-B0D4D95076C7}"/>
              </a:ext>
            </a:extLst>
          </p:cNvPr>
          <p:cNvSpPr>
            <a:spLocks xmlns:a="http://schemas.openxmlformats.org/drawingml/2006/main" noGrp="1"/>
          </p:cNvSpPr>
          <p:nvPr/>
        </p:nvSpPr>
        <p:spPr>
          <a:xfrm xmlns:a="http://schemas.openxmlformats.org/drawingml/2006/main">
            <a:off x="619125" y="4886325"/>
            <a:ext cx="2838450" cy="942975"/>
          </a:xfrm>
          <a:prstGeom xmlns:a="http://schemas.openxmlformats.org/drawingml/2006/main" prst="rect">
            <a:avLst/>
          </a:prstGeom>
          <a:solidFill xmlns:a="http://schemas.openxmlformats.org/drawingml/2006/main">
            <a:srgbClr val="F2F6F7"/>
          </a:solidFill>
          <a:ln xmlns:a="http://schemas.openxmlformats.org/drawingml/2006/main" w="9525">
            <a:solidFill>
              <a:srgbClr val="F2F6F7"/>
            </a:solidFill>
          </a:ln>
        </p:spPr>
        <p:txBody>
          <a:bodyPr xmlns:a="http://schemas.openxmlformats.org/drawingml/2006/main" anchor="ctr"/>
          <a:lstStyle xmlns:a="http://schemas.openxmlformats.org/drawingml/2006/main">
            <a:defPPr algn="ctr">
              <a:defRPr sz="1875" b="1">
                <a:solidFill>
                  <a:srgbClr val="072B48"/>
                </a:solidFill>
                <a:latin typeface="Aptos"/>
                <a:ea typeface="Aptos"/>
                <a:cs typeface="Aptos"/>
              </a:defRPr>
            </a:defPPr>
          </a:lstStyle>
          <a:p xmlns:a="http://schemas.openxmlformats.org/drawingml/2006/main">
            <a:pPr algn="ctr">
              <a:defRPr sz="1875" b="1">
                <a:solidFill>
                  <a:srgbClr val="072B48"/>
                </a:solidFill>
                <a:latin typeface="Aptos"/>
                <a:ea typeface="Aptos"/>
                <a:cs typeface="Aptos"/>
              </a:defRPr>
            </a:pPr>
            <a:r>
              <a:rPr sz="1875" b="1">
                <a:solidFill>
                  <a:srgbClr val="072B48"/>
                </a:solidFill>
                <a:latin typeface="Aptos"/>
                <a:ea typeface="Aptos"/>
                <a:cs typeface="Aptos"/>
              </a:rPr>
              <a:t>Robot + panel models</a:t>
            </a:r>
          </a:p>
          <a:p xmlns:a="http://schemas.openxmlformats.org/drawingml/2006/main">
            <a:pPr algn="ctr">
              <a:defRPr sz="1875" b="1">
                <a:solidFill>
                  <a:srgbClr val="072B48"/>
                </a:solidFill>
                <a:latin typeface="Aptos"/>
                <a:ea typeface="Aptos"/>
                <a:cs typeface="Aptos"/>
              </a:defRPr>
            </a:pPr>
            <a:r>
              <a:rPr sz="1875" b="1">
                <a:solidFill>
                  <a:srgbClr val="072B48"/>
                </a:solidFill>
                <a:latin typeface="Aptos"/>
                <a:ea typeface="Aptos"/>
                <a:cs typeface="Aptos"/>
              </a:rPr>
              <a:t>Motion constraints</a:t>
            </a:r>
          </a:p>
        </p:txBody>
      </p:sp>
      <p:sp>
        <p:nvSpPr>
          <p:cNvPr id="9" name="">
            <a:extLst xmlns:a="http://schemas.openxmlformats.org/drawingml/2006/main">
              <a:ext uri="{FF2B5EF4-FFF2-40B4-BE49-F238E27FC236}">
                <a16:creationId xmlns:a16="http://schemas.microsoft.com/office/drawing/2014/main" id="{F0BA113B-2C85-4C29-BD29-AFD657950C98}"/>
              </a:ext>
            </a:extLst>
          </p:cNvPr>
          <p:cNvSpPr>
            <a:spLocks xmlns:a="http://schemas.openxmlformats.org/drawingml/2006/main" noGrp="1"/>
          </p:cNvSpPr>
          <p:nvPr/>
        </p:nvSpPr>
        <p:spPr>
          <a:xfrm xmlns:a="http://schemas.openxmlformats.org/drawingml/2006/main">
            <a:off x="4210050" y="2085975"/>
            <a:ext cx="3714750" cy="933450"/>
          </a:xfrm>
          <a:prstGeom xmlns:a="http://schemas.openxmlformats.org/drawingml/2006/main" prst="rect">
            <a:avLst/>
          </a:prstGeom>
          <a:solidFill xmlns:a="http://schemas.openxmlformats.org/drawingml/2006/main">
            <a:srgbClr val="072B48"/>
          </a:solidFill>
          <a:ln xmlns:a="http://schemas.openxmlformats.org/drawingml/2006/main" w="9525">
            <a:solidFill>
              <a:srgbClr val="072B48"/>
            </a:solidFill>
          </a:ln>
        </p:spPr>
        <p:txBody>
          <a:bodyPr xmlns:a="http://schemas.openxmlformats.org/drawingml/2006/main" anchor="ctr"/>
          <a:lstStyle xmlns:a="http://schemas.openxmlformats.org/drawingml/2006/main">
            <a:defPPr algn="ctr">
              <a:defRPr sz="1875" b="1">
                <a:solidFill>
                  <a:srgbClr val="FFFFFF"/>
                </a:solidFill>
                <a:latin typeface="Aptos"/>
                <a:ea typeface="Aptos"/>
                <a:cs typeface="Aptos"/>
              </a:defRPr>
            </a:defPPr>
          </a:lstStyle>
          <a:p xmlns:a="http://schemas.openxmlformats.org/drawingml/2006/main">
            <a:pPr algn="ctr">
              <a:defRPr sz="1875" b="1">
                <a:solidFill>
                  <a:srgbClr val="FFFFFF"/>
                </a:solidFill>
                <a:latin typeface="Aptos"/>
                <a:ea typeface="Aptos"/>
                <a:cs typeface="Aptos"/>
              </a:defRPr>
            </a:pPr>
            <a:r>
              <a:rPr sz="1875" b="1">
                <a:solidFill>
                  <a:srgbClr val="FFFFFF"/>
                </a:solidFill>
                <a:latin typeface="Aptos"/>
                <a:ea typeface="Aptos"/>
                <a:cs typeface="Aptos"/>
              </a:rPr>
              <a:t>GTSP</a:t>
            </a:r>
          </a:p>
          <a:p xmlns:a="http://schemas.openxmlformats.org/drawingml/2006/main">
            <a:pPr algn="ctr">
              <a:defRPr sz="1875" b="1">
                <a:solidFill>
                  <a:srgbClr val="FFFFFF"/>
                </a:solidFill>
                <a:latin typeface="Aptos"/>
                <a:ea typeface="Aptos"/>
                <a:cs typeface="Aptos"/>
              </a:defRPr>
            </a:pPr>
            <a:r>
              <a:rPr sz="1875" b="1">
                <a:solidFill>
                  <a:srgbClr val="FFFFFF"/>
                </a:solidFill>
                <a:latin typeface="Aptos"/>
                <a:ea typeface="Aptos"/>
                <a:cs typeface="Aptos"/>
              </a:rPr>
              <a:t>Defect sequencing</a:t>
            </a:r>
          </a:p>
        </p:txBody>
      </p:sp>
      <p:sp>
        <p:nvSpPr>
          <p:cNvPr id="10" name="">
            <a:extLst xmlns:a="http://schemas.openxmlformats.org/drawingml/2006/main">
              <a:ext uri="{FF2B5EF4-FFF2-40B4-BE49-F238E27FC236}">
                <a16:creationId xmlns:a16="http://schemas.microsoft.com/office/drawing/2014/main" id="{232B8A1F-E5D7-4E77-9E6F-36A75BF91416}"/>
              </a:ext>
            </a:extLst>
          </p:cNvPr>
          <p:cNvSpPr>
            <a:spLocks xmlns:a="http://schemas.openxmlformats.org/drawingml/2006/main" noGrp="1"/>
          </p:cNvSpPr>
          <p:nvPr/>
        </p:nvSpPr>
        <p:spPr>
          <a:xfrm xmlns:a="http://schemas.openxmlformats.org/drawingml/2006/main">
            <a:off x="4210050" y="3457575"/>
            <a:ext cx="3714750" cy="1000125"/>
          </a:xfrm>
          <a:prstGeom xmlns:a="http://schemas.openxmlformats.org/drawingml/2006/main" prst="rect">
            <a:avLst/>
          </a:prstGeom>
          <a:solidFill xmlns:a="http://schemas.openxmlformats.org/drawingml/2006/main">
            <a:srgbClr val="072B48"/>
          </a:solidFill>
          <a:ln xmlns:a="http://schemas.openxmlformats.org/drawingml/2006/main" w="9525">
            <a:solidFill>
              <a:srgbClr val="072B48"/>
            </a:solidFill>
          </a:ln>
        </p:spPr>
        <p:txBody>
          <a:bodyPr xmlns:a="http://schemas.openxmlformats.org/drawingml/2006/main" anchor="ctr"/>
          <a:lstStyle xmlns:a="http://schemas.openxmlformats.org/drawingml/2006/main">
            <a:defPPr algn="ctr">
              <a:defRPr sz="1875" b="1">
                <a:solidFill>
                  <a:srgbClr val="FFFFFF"/>
                </a:solidFill>
                <a:latin typeface="Aptos"/>
                <a:ea typeface="Aptos"/>
                <a:cs typeface="Aptos"/>
              </a:defRPr>
            </a:defPPr>
          </a:lstStyle>
          <a:p xmlns:a="http://schemas.openxmlformats.org/drawingml/2006/main">
            <a:pPr algn="ctr">
              <a:defRPr sz="1875" b="1">
                <a:solidFill>
                  <a:srgbClr val="FFFFFF"/>
                </a:solidFill>
                <a:latin typeface="Aptos"/>
                <a:ea typeface="Aptos"/>
                <a:cs typeface="Aptos"/>
              </a:defRPr>
            </a:pPr>
            <a:r>
              <a:rPr sz="1875" b="1">
                <a:solidFill>
                  <a:srgbClr val="FFFFFF"/>
                </a:solidFill>
                <a:latin typeface="Aptos"/>
                <a:ea typeface="Aptos"/>
                <a:cs typeface="Aptos"/>
              </a:rPr>
              <a:t>Coverage generator</a:t>
            </a:r>
          </a:p>
          <a:p xmlns:a="http://schemas.openxmlformats.org/drawingml/2006/main">
            <a:pPr algn="ctr">
              <a:defRPr sz="1875" b="1">
                <a:solidFill>
                  <a:srgbClr val="FFFFFF"/>
                </a:solidFill>
                <a:latin typeface="Aptos"/>
                <a:ea typeface="Aptos"/>
                <a:cs typeface="Aptos"/>
              </a:defRPr>
            </a:pPr>
            <a:r>
              <a:rPr sz="1875" b="1">
                <a:solidFill>
                  <a:srgbClr val="FFFFFF"/>
                </a:solidFill>
                <a:latin typeface="Aptos"/>
                <a:ea typeface="Aptos"/>
                <a:cs typeface="Aptos"/>
              </a:rPr>
              <a:t>Local scan pattern</a:t>
            </a:r>
          </a:p>
        </p:txBody>
      </p:sp>
      <p:sp>
        <p:nvSpPr>
          <p:cNvPr id="11" name="">
            <a:extLst xmlns:a="http://schemas.openxmlformats.org/drawingml/2006/main">
              <a:ext uri="{FF2B5EF4-FFF2-40B4-BE49-F238E27FC236}">
                <a16:creationId xmlns:a16="http://schemas.microsoft.com/office/drawing/2014/main" id="{7D2C0676-E62B-42D3-930A-6BF1C5FFF42D}"/>
              </a:ext>
            </a:extLst>
          </p:cNvPr>
          <p:cNvSpPr>
            <a:spLocks xmlns:a="http://schemas.openxmlformats.org/drawingml/2006/main" noGrp="1"/>
          </p:cNvSpPr>
          <p:nvPr/>
        </p:nvSpPr>
        <p:spPr>
          <a:xfrm xmlns:a="http://schemas.openxmlformats.org/drawingml/2006/main">
            <a:off x="4210050" y="4886325"/>
            <a:ext cx="3714750" cy="942975"/>
          </a:xfrm>
          <a:prstGeom xmlns:a="http://schemas.openxmlformats.org/drawingml/2006/main" prst="rect">
            <a:avLst/>
          </a:prstGeom>
          <a:solidFill xmlns:a="http://schemas.openxmlformats.org/drawingml/2006/main">
            <a:srgbClr val="072B48"/>
          </a:solidFill>
          <a:ln xmlns:a="http://schemas.openxmlformats.org/drawingml/2006/main" w="9525">
            <a:solidFill>
              <a:srgbClr val="072B48"/>
            </a:solidFill>
          </a:ln>
        </p:spPr>
        <p:txBody>
          <a:bodyPr xmlns:a="http://schemas.openxmlformats.org/drawingml/2006/main" anchor="ctr"/>
          <a:lstStyle xmlns:a="http://schemas.openxmlformats.org/drawingml/2006/main">
            <a:defPPr algn="ctr">
              <a:defRPr sz="1875" b="1">
                <a:solidFill>
                  <a:srgbClr val="FFFFFF"/>
                </a:solidFill>
                <a:latin typeface="Aptos"/>
                <a:ea typeface="Aptos"/>
                <a:cs typeface="Aptos"/>
              </a:defRPr>
            </a:defPPr>
          </a:lstStyle>
          <a:p xmlns:a="http://schemas.openxmlformats.org/drawingml/2006/main">
            <a:pPr algn="ctr">
              <a:defRPr sz="1875" b="1">
                <a:solidFill>
                  <a:srgbClr val="FFFFFF"/>
                </a:solidFill>
                <a:latin typeface="Aptos"/>
                <a:ea typeface="Aptos"/>
                <a:cs typeface="Aptos"/>
              </a:defRPr>
            </a:pPr>
            <a:r>
              <a:rPr sz="1875" b="1">
                <a:solidFill>
                  <a:srgbClr val="FFFFFF"/>
                </a:solidFill>
                <a:latin typeface="Aptos"/>
                <a:ea typeface="Aptos"/>
                <a:cs typeface="Aptos"/>
              </a:rPr>
              <a:t>HPP</a:t>
            </a:r>
          </a:p>
          <a:p xmlns:a="http://schemas.openxmlformats.org/drawingml/2006/main">
            <a:pPr algn="ctr">
              <a:defRPr sz="1875" b="1">
                <a:solidFill>
                  <a:srgbClr val="FFFFFF"/>
                </a:solidFill>
                <a:latin typeface="Aptos"/>
                <a:ea typeface="Aptos"/>
                <a:cs typeface="Aptos"/>
              </a:defRPr>
            </a:pPr>
            <a:r>
              <a:rPr sz="1875" b="1">
                <a:solidFill>
                  <a:srgbClr val="FFFFFF"/>
                </a:solidFill>
                <a:latin typeface="Aptos"/>
                <a:ea typeface="Aptos"/>
                <a:cs typeface="Aptos"/>
              </a:rPr>
              <a:t>Robot motion generation</a:t>
            </a:r>
          </a:p>
        </p:txBody>
      </p:sp>
      <p:sp>
        <p:nvSpPr>
          <p:cNvPr id="12" name="">
            <a:extLst xmlns:a="http://schemas.openxmlformats.org/drawingml/2006/main">
              <a:ext uri="{FF2B5EF4-FFF2-40B4-BE49-F238E27FC236}">
                <a16:creationId xmlns:a16="http://schemas.microsoft.com/office/drawing/2014/main" id="{51B3764E-090A-457A-B62A-F0D7991EB087}"/>
              </a:ext>
            </a:extLst>
          </p:cNvPr>
          <p:cNvSpPr>
            <a:spLocks xmlns:a="http://schemas.openxmlformats.org/drawingml/2006/main" noGrp="1"/>
          </p:cNvSpPr>
          <p:nvPr/>
        </p:nvSpPr>
        <p:spPr>
          <a:xfrm xmlns:a="http://schemas.openxmlformats.org/drawingml/2006/main">
            <a:off x="8877300" y="4886325"/>
            <a:ext cx="2724150" cy="942975"/>
          </a:xfrm>
          <a:prstGeom xmlns:a="http://schemas.openxmlformats.org/drawingml/2006/main" prst="rect">
            <a:avLst/>
          </a:prstGeom>
          <a:solidFill xmlns:a="http://schemas.openxmlformats.org/drawingml/2006/main">
            <a:srgbClr val="007F8B"/>
          </a:solidFill>
          <a:ln xmlns:a="http://schemas.openxmlformats.org/drawingml/2006/main" w="9525">
            <a:solidFill>
              <a:srgbClr val="007F8B"/>
            </a:solidFill>
          </a:ln>
        </p:spPr>
        <p:txBody>
          <a:bodyPr xmlns:a="http://schemas.openxmlformats.org/drawingml/2006/main" anchor="ctr"/>
          <a:lstStyle xmlns:a="http://schemas.openxmlformats.org/drawingml/2006/main">
            <a:defPPr algn="ctr">
              <a:defRPr sz="1875" b="1">
                <a:solidFill>
                  <a:srgbClr val="FFFFFF"/>
                </a:solidFill>
                <a:latin typeface="Aptos"/>
                <a:ea typeface="Aptos"/>
                <a:cs typeface="Aptos"/>
              </a:defRPr>
            </a:defPPr>
          </a:lstStyle>
          <a:p xmlns:a="http://schemas.openxmlformats.org/drawingml/2006/main">
            <a:pPr algn="ctr">
              <a:defRPr sz="1875" b="1">
                <a:solidFill>
                  <a:srgbClr val="FFFFFF"/>
                </a:solidFill>
                <a:latin typeface="Aptos"/>
                <a:ea typeface="Aptos"/>
                <a:cs typeface="Aptos"/>
              </a:defRPr>
            </a:pPr>
            <a:r>
              <a:rPr sz="1875" b="1">
                <a:solidFill>
                  <a:srgbClr val="FFFFFF"/>
                </a:solidFill>
                <a:latin typeface="Aptos"/>
                <a:ea typeface="Aptos"/>
                <a:cs typeface="Aptos"/>
              </a:rPr>
              <a:t>ROBOGUIDE</a:t>
            </a:r>
          </a:p>
          <a:p xmlns:a="http://schemas.openxmlformats.org/drawingml/2006/main">
            <a:pPr algn="ctr">
              <a:defRPr sz="1875" b="1">
                <a:solidFill>
                  <a:srgbClr val="FFFFFF"/>
                </a:solidFill>
                <a:latin typeface="Aptos"/>
                <a:ea typeface="Aptos"/>
                <a:cs typeface="Aptos"/>
              </a:defRPr>
            </a:pPr>
            <a:r>
              <a:rPr sz="1875" b="1">
                <a:solidFill>
                  <a:srgbClr val="FFFFFF"/>
                </a:solidFill>
                <a:latin typeface="Aptos"/>
                <a:ea typeface="Aptos"/>
                <a:cs typeface="Aptos"/>
              </a:rPr>
              <a:t>Program verification</a:t>
            </a:r>
          </a:p>
        </p:txBody>
      </p:sp>
      <p:pic>
        <p:nvPicPr>
          <p:cNvPr id="19" name="">
            <a:extLst xmlns:a="http://schemas.openxmlformats.org/drawingml/2006/main">
              <a:ext uri="{FF2B5EF4-FFF2-40B4-BE49-F238E27FC236}">
                <a16:creationId xmlns:a16="http://schemas.microsoft.com/office/drawing/2014/main" id="{46008255-37DC-463B-B925-FAF4081F20AA}"/>
              </a:ext>
            </a:extLst>
          </p:cNvPr>
          <p:cNvPicPr>
            <a:picLocks xmlns:a="http://schemas.openxmlformats.org/drawingml/2006/main" noChangeAspect="1"/>
          </p:cNvPicPr>
          <p:nvPr/>
        </p:nvPicPr>
        <p:blipFill>
          <a:blip xmlns:r="http://schemas.openxmlformats.org/officeDocument/2006/relationships" xmlns:a="http://schemas.openxmlformats.org/drawingml/2006/main" r:embed="R3b457575e59747a2"/>
          <a:stretch xmlns:a="http://schemas.openxmlformats.org/drawingml/2006/main"/>
        </p:blipFill>
        <p:spPr>
          <a:xfrm xmlns:a="http://schemas.openxmlformats.org/drawingml/2006/main">
            <a:off x="8886825" y="2387628"/>
            <a:ext cx="2705100" cy="1968443"/>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2E70D0AA-70A3-4928-9B3A-E852F79C6426}"/>
              </a:ext>
            </a:extLst>
          </p:cNvPr>
          <p:cNvSpPr>
            <a:spLocks xmlns:a="http://schemas.openxmlformats.org/drawingml/2006/main" noGrp="1"/>
          </p:cNvSpPr>
          <p:nvPr/>
        </p:nvSpPr>
        <p:spPr>
          <a:xfrm xmlns:a="http://schemas.openxmlformats.org/drawingml/2006/main">
            <a:off x="619125" y="6191250"/>
            <a:ext cx="5905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67080"/>
                </a:solidFill>
                <a:latin typeface="Aptos"/>
                <a:ea typeface="Aptos"/>
                <a:cs typeface="Aptos"/>
              </a:defRPr>
            </a:defPPr>
          </a:lstStyle>
          <a:p xmlns:a="http://schemas.openxmlformats.org/drawingml/2006/main">
            <a:pPr>
              <a:defRPr sz="1725" b="0">
                <a:solidFill>
                  <a:srgbClr val="567080"/>
                </a:solidFill>
                <a:latin typeface="Aptos"/>
                <a:ea typeface="Aptos"/>
                <a:cs typeface="Aptos"/>
              </a:defRPr>
            </a:pPr>
            <a:r>
              <a:rPr sz="1725" b="0">
                <a:solidFill>
                  <a:srgbClr val="567080"/>
                </a:solidFill>
                <a:latin typeface="Aptos"/>
                <a:ea typeface="Aptos"/>
                <a:cs typeface="Aptos"/>
              </a:rPr>
              <a:t>Demo input: generated defects</a:t>
            </a:r>
          </a:p>
        </p:txBody>
      </p:sp>
      <p:sp>
        <p:nvSpPr>
          <p:cNvPr id="21" name="">
            <a:extLst xmlns:a="http://schemas.openxmlformats.org/drawingml/2006/main">
              <a:ext uri="{FF2B5EF4-FFF2-40B4-BE49-F238E27FC236}">
                <a16:creationId xmlns:a16="http://schemas.microsoft.com/office/drawing/2014/main" id="{930E8EE8-1B3E-442A-9D01-4A143C20DEBA}"/>
              </a:ext>
            </a:extLst>
          </p:cNvPr>
          <p:cNvSpPr>
            <a:spLocks xmlns:a="http://schemas.openxmlformats.org/drawingml/2006/main" noGrp="1"/>
          </p:cNvSpPr>
          <p:nvPr/>
        </p:nvSpPr>
        <p:spPr>
          <a:xfrm xmlns:a="http://schemas.openxmlformats.org/drawingml/2006/main">
            <a:off x="8877300" y="6134100"/>
            <a:ext cx="27241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A76316"/>
                </a:solidFill>
                <a:latin typeface="Aptos"/>
                <a:ea typeface="Aptos"/>
                <a:cs typeface="Aptos"/>
              </a:defRPr>
            </a:defPPr>
          </a:lstStyle>
          <a:p xmlns:a="http://schemas.openxmlformats.org/drawingml/2006/main">
            <a:pPr>
              <a:defRPr sz="1725" b="1">
                <a:solidFill>
                  <a:srgbClr val="A76316"/>
                </a:solidFill>
                <a:latin typeface="Aptos"/>
                <a:ea typeface="Aptos"/>
                <a:cs typeface="Aptos"/>
              </a:defRPr>
            </a:pPr>
            <a:r>
              <a:rPr sz="1725" b="1">
                <a:solidFill>
                  <a:srgbClr val="A76316"/>
                </a:solidFill>
                <a:latin typeface="Aptos"/>
                <a:ea typeface="Aptos"/>
                <a:cs typeface="Aptos"/>
              </a:rPr>
              <a:t>Next: physical NDT trials</a:t>
            </a:r>
          </a:p>
        </p:txBody>
      </p:sp>
    </p:spTree>
    <p:extLst>
      <p:ext uri="{BB962C8B-B14F-4D97-AF65-F5344CB8AC3E}">
        <p14:creationId xmlns:p14="http://schemas.microsoft.com/office/powerpoint/2010/main" val="192812678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0E606BD-1C30-4EDC-93BA-8932F5BB9D81}"/>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072B48"/>
                </a:solidFill>
                <a:latin typeface="Aptos"/>
                <a:ea typeface="Aptos"/>
                <a:cs typeface="Aptos"/>
              </a:defRPr>
            </a:defPPr>
          </a:lstStyle>
          <a:p xmlns:a="http://schemas.openxmlformats.org/drawingml/2006/main">
            <a:pPr>
              <a:defRPr sz="3225" b="1">
                <a:solidFill>
                  <a:srgbClr val="072B48"/>
                </a:solidFill>
                <a:latin typeface="Aptos"/>
                <a:ea typeface="Aptos"/>
                <a:cs typeface="Aptos"/>
              </a:defRPr>
            </a:pPr>
            <a:r>
              <a:rPr sz="3225" b="1">
                <a:solidFill>
                  <a:srgbClr val="072B48"/>
                </a:solidFill>
                <a:latin typeface="Aptos"/>
                <a:ea typeface="Aptos"/>
                <a:cs typeface="Aptos"/>
              </a:rPr>
              <a:t>Our approach: automatic NDT scan planning</a:t>
            </a:r>
          </a:p>
        </p:txBody>
      </p:sp>
      <p:sp>
        <p:nvSpPr>
          <p:cNvPr id="2" name="">
            <a:extLst xmlns:a="http://schemas.openxmlformats.org/drawingml/2006/main">
              <a:ext uri="{FF2B5EF4-FFF2-40B4-BE49-F238E27FC236}">
                <a16:creationId xmlns:a16="http://schemas.microsoft.com/office/drawing/2014/main" id="{78897C8C-37E1-4429-A18B-8E59E994C532}"/>
              </a:ext>
            </a:extLst>
          </p:cNvPr>
          <p:cNvSpPr>
            <a:spLocks xmlns:a="http://schemas.openxmlformats.org/drawingml/2006/main" noGrp="1"/>
          </p:cNvSpPr>
          <p:nvPr/>
        </p:nvSpPr>
        <p:spPr>
          <a:xfrm xmlns:a="http://schemas.openxmlformats.org/drawingml/2006/main">
            <a:off x="11239500" y="635317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67080"/>
                </a:solidFill>
                <a:latin typeface="Aptos"/>
                <a:ea typeface="Aptos"/>
                <a:cs typeface="Aptos"/>
              </a:defRPr>
            </a:defPPr>
          </a:lstStyle>
          <a:p xmlns:a="http://schemas.openxmlformats.org/drawingml/2006/main">
            <a:pPr>
              <a:defRPr sz="1200" b="0">
                <a:solidFill>
                  <a:srgbClr val="567080"/>
                </a:solidFill>
                <a:latin typeface="Aptos"/>
                <a:ea typeface="Aptos"/>
                <a:cs typeface="Aptos"/>
              </a:defRPr>
            </a:pPr>
            <a:r>
              <a:rPr sz="1200" b="0">
                <a:solidFill>
                  <a:srgbClr val="567080"/>
                </a:solidFill>
                <a:latin typeface="Aptos"/>
                <a:ea typeface="Aptos"/>
                <a:cs typeface="Aptos"/>
              </a:rPr>
              <a:t>03</a:t>
            </a:r>
          </a:p>
        </p:txBody>
      </p:sp>
      <p:sp>
        <p:nvSpPr>
          <p:cNvPr id="3" name="">
            <a:extLst xmlns:a="http://schemas.openxmlformats.org/drawingml/2006/main">
              <a:ext uri="{FF2B5EF4-FFF2-40B4-BE49-F238E27FC236}">
                <a16:creationId xmlns:a16="http://schemas.microsoft.com/office/drawing/2014/main" id="{C9BF29E7-5E70-41FD-BAD4-58085DB77F4F}"/>
              </a:ext>
            </a:extLst>
          </p:cNvPr>
          <p:cNvSpPr>
            <a:spLocks xmlns:a="http://schemas.openxmlformats.org/drawingml/2006/main" noGrp="1"/>
          </p:cNvSpPr>
          <p:nvPr/>
        </p:nvSpPr>
        <p:spPr>
          <a:xfrm xmlns:a="http://schemas.openxmlformats.org/drawingml/2006/main">
            <a:off x="609600" y="1400175"/>
            <a:ext cx="50863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07F8B"/>
                </a:solidFill>
                <a:latin typeface="Aptos"/>
                <a:ea typeface="Aptos"/>
                <a:cs typeface="Aptos"/>
              </a:defRPr>
            </a:defPPr>
          </a:lstStyle>
          <a:p xmlns:a="http://schemas.openxmlformats.org/drawingml/2006/main">
            <a:pPr>
              <a:defRPr sz="2250" b="1">
                <a:solidFill>
                  <a:srgbClr val="007F8B"/>
                </a:solidFill>
                <a:latin typeface="Aptos"/>
                <a:ea typeface="Aptos"/>
                <a:cs typeface="Aptos"/>
              </a:defRPr>
            </a:pPr>
            <a:r>
              <a:rPr sz="2250" b="1">
                <a:solidFill>
                  <a:srgbClr val="007F8B"/>
                </a:solidFill>
                <a:latin typeface="Aptos"/>
                <a:ea typeface="Aptos"/>
                <a:cs typeface="Aptos"/>
              </a:rPr>
              <a:t>FANUC R-2000iC/210L</a:t>
            </a:r>
          </a:p>
        </p:txBody>
      </p:sp>
      <p:sp>
        <p:nvSpPr>
          <p:cNvPr id="4" name="">
            <a:extLst xmlns:a="http://schemas.openxmlformats.org/drawingml/2006/main">
              <a:ext uri="{FF2B5EF4-FFF2-40B4-BE49-F238E27FC236}">
                <a16:creationId xmlns:a16="http://schemas.microsoft.com/office/drawing/2014/main" id="{C2F6B2A4-461E-417E-9D9C-0647CA74ACE3}"/>
              </a:ext>
            </a:extLst>
          </p:cNvPr>
          <p:cNvSpPr>
            <a:spLocks xmlns:a="http://schemas.openxmlformats.org/drawingml/2006/main" noGrp="1"/>
          </p:cNvSpPr>
          <p:nvPr/>
        </p:nvSpPr>
        <p:spPr>
          <a:xfrm xmlns:a="http://schemas.openxmlformats.org/drawingml/2006/main">
            <a:off x="6200775" y="1400175"/>
            <a:ext cx="54387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07F8B"/>
                </a:solidFill>
                <a:latin typeface="Aptos"/>
                <a:ea typeface="Aptos"/>
                <a:cs typeface="Aptos"/>
              </a:defRPr>
            </a:defPPr>
          </a:lstStyle>
          <a:p xmlns:a="http://schemas.openxmlformats.org/drawingml/2006/main">
            <a:pPr>
              <a:defRPr sz="2250" b="1">
                <a:solidFill>
                  <a:srgbClr val="007F8B"/>
                </a:solidFill>
                <a:latin typeface="Aptos"/>
                <a:ea typeface="Aptos"/>
                <a:cs typeface="Aptos"/>
              </a:defRPr>
            </a:pPr>
            <a:r>
              <a:rPr sz="2250" b="1">
                <a:solidFill>
                  <a:srgbClr val="007F8B"/>
                </a:solidFill>
                <a:latin typeface="Aptos"/>
                <a:ea typeface="Aptos"/>
                <a:cs typeface="Aptos"/>
              </a:rPr>
              <a:t>Targeted NDT scan planning</a:t>
            </a:r>
          </a:p>
        </p:txBody>
      </p:sp>
      <p:pic>
        <p:nvPicPr>
          <p:cNvPr id="5" name="">
            <a:extLst xmlns:a="http://schemas.openxmlformats.org/drawingml/2006/main">
              <a:ext uri="{FF2B5EF4-FFF2-40B4-BE49-F238E27FC236}">
                <a16:creationId xmlns:a16="http://schemas.microsoft.com/office/drawing/2014/main" id="{956B46C5-FB00-4E11-A519-CC45E3764803}"/>
              </a:ext>
            </a:extLst>
          </p:cNvPr>
          <p:cNvPicPr>
            <a:picLocks xmlns:a="http://schemas.openxmlformats.org/drawingml/2006/main" noChangeAspect="1"/>
          </p:cNvPicPr>
          <p:nvPr/>
        </p:nvPicPr>
        <p:blipFill>
          <a:blip xmlns:r="http://schemas.openxmlformats.org/officeDocument/2006/relationships" xmlns:a="http://schemas.openxmlformats.org/drawingml/2006/main" r:embed="Rb4d2609c2b4b4ec5"/>
          <a:stretch xmlns:a="http://schemas.openxmlformats.org/drawingml/2006/main"/>
        </p:blipFill>
        <p:spPr>
          <a:xfrm xmlns:a="http://schemas.openxmlformats.org/drawingml/2006/main">
            <a:off x="616117" y="1952625"/>
            <a:ext cx="4863766" cy="3667125"/>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B1211F94-4905-4ACF-A54C-0C3C156A8EF1}"/>
              </a:ext>
            </a:extLst>
          </p:cNvPr>
          <p:cNvPicPr>
            <a:picLocks xmlns:a="http://schemas.openxmlformats.org/drawingml/2006/main" noChangeAspect="1"/>
          </p:cNvPicPr>
          <p:nvPr/>
        </p:nvPicPr>
        <p:blipFill>
          <a:blip xmlns:r="http://schemas.openxmlformats.org/officeDocument/2006/relationships" xmlns:a="http://schemas.openxmlformats.org/drawingml/2006/main" r:embed="Re67f4d642a3642e1"/>
          <a:stretch xmlns:a="http://schemas.openxmlformats.org/drawingml/2006/main"/>
        </p:blipFill>
        <p:spPr>
          <a:xfrm xmlns:a="http://schemas.openxmlformats.org/drawingml/2006/main">
            <a:off x="6172200" y="2348322"/>
            <a:ext cx="5410200" cy="2609031"/>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00DB6FD-C525-4A24-B3CD-A89FCEB56EC3}"/>
              </a:ext>
            </a:extLst>
          </p:cNvPr>
          <p:cNvSpPr>
            <a:spLocks xmlns:a="http://schemas.openxmlformats.org/drawingml/2006/main" noGrp="1"/>
          </p:cNvSpPr>
          <p:nvPr/>
        </p:nvSpPr>
        <p:spPr>
          <a:xfrm xmlns:a="http://schemas.openxmlformats.org/drawingml/2006/main">
            <a:off x="609600" y="5638800"/>
            <a:ext cx="5048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67080"/>
                </a:solidFill>
                <a:latin typeface="Aptos"/>
                <a:ea typeface="Aptos"/>
                <a:cs typeface="Aptos"/>
              </a:defRPr>
            </a:defPPr>
          </a:lstStyle>
          <a:p xmlns:a="http://schemas.openxmlformats.org/drawingml/2006/main">
            <a:pPr>
              <a:defRPr sz="1500" b="0">
                <a:solidFill>
                  <a:srgbClr val="567080"/>
                </a:solidFill>
                <a:latin typeface="Aptos"/>
                <a:ea typeface="Aptos"/>
                <a:cs typeface="Aptos"/>
              </a:defRPr>
            </a:pPr>
            <a:r>
              <a:rPr sz="1500" b="0">
                <a:solidFill>
                  <a:srgbClr val="567080"/>
                </a:solidFill>
                <a:latin typeface="Aptos"/>
                <a:ea typeface="Aptos"/>
                <a:cs typeface="Aptos"/>
              </a:rPr>
              <a:t>Manufacturer robot reference photo</a:t>
            </a:r>
          </a:p>
        </p:txBody>
      </p:sp>
      <p:sp>
        <p:nvSpPr>
          <p:cNvPr id="8" name="">
            <a:extLst xmlns:a="http://schemas.openxmlformats.org/drawingml/2006/main">
              <a:ext uri="{FF2B5EF4-FFF2-40B4-BE49-F238E27FC236}">
                <a16:creationId xmlns:a16="http://schemas.microsoft.com/office/drawing/2014/main" id="{047B467E-C2F6-480F-993C-6D0C9F8531DD}"/>
              </a:ext>
            </a:extLst>
          </p:cNvPr>
          <p:cNvSpPr>
            <a:spLocks xmlns:a="http://schemas.openxmlformats.org/drawingml/2006/main" noGrp="1"/>
          </p:cNvSpPr>
          <p:nvPr/>
        </p:nvSpPr>
        <p:spPr>
          <a:xfrm xmlns:a="http://schemas.openxmlformats.org/drawingml/2006/main">
            <a:off x="6200775" y="5324475"/>
            <a:ext cx="523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67080"/>
                </a:solidFill>
                <a:latin typeface="Aptos"/>
                <a:ea typeface="Aptos"/>
                <a:cs typeface="Aptos"/>
              </a:defRPr>
            </a:defPPr>
          </a:lstStyle>
          <a:p xmlns:a="http://schemas.openxmlformats.org/drawingml/2006/main">
            <a:pPr>
              <a:defRPr sz="1725" b="0">
                <a:solidFill>
                  <a:srgbClr val="567080"/>
                </a:solidFill>
                <a:latin typeface="Aptos"/>
                <a:ea typeface="Aptos"/>
                <a:cs typeface="Aptos"/>
              </a:defRPr>
            </a:pPr>
            <a:r>
              <a:rPr sz="1725" b="0">
                <a:solidFill>
                  <a:srgbClr val="567080"/>
                </a:solidFill>
                <a:latin typeface="Aptos"/>
                <a:ea typeface="Aptos"/>
                <a:cs typeface="Aptos"/>
              </a:rPr>
              <a:t>Project simulation</a:t>
            </a:r>
          </a:p>
        </p:txBody>
      </p:sp>
      <p:sp>
        <p:nvSpPr>
          <p:cNvPr id="9" name="">
            <a:extLst xmlns:a="http://schemas.openxmlformats.org/drawingml/2006/main">
              <a:ext uri="{FF2B5EF4-FFF2-40B4-BE49-F238E27FC236}">
                <a16:creationId xmlns:a16="http://schemas.microsoft.com/office/drawing/2014/main" id="{4762DEC1-DC58-4480-AF72-67636435D686}"/>
              </a:ext>
            </a:extLst>
          </p:cNvPr>
          <p:cNvSpPr>
            <a:spLocks xmlns:a="http://schemas.openxmlformats.org/drawingml/2006/main" noGrp="1"/>
          </p:cNvSpPr>
          <p:nvPr/>
        </p:nvSpPr>
        <p:spPr>
          <a:xfrm xmlns:a="http://schemas.openxmlformats.org/drawingml/2006/main">
            <a:off x="609600" y="6105525"/>
            <a:ext cx="276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72B48"/>
                </a:solidFill>
                <a:latin typeface="Aptos"/>
                <a:ea typeface="Aptos"/>
                <a:cs typeface="Aptos"/>
              </a:defRPr>
            </a:defPPr>
          </a:lstStyle>
          <a:p xmlns:a="http://schemas.openxmlformats.org/drawingml/2006/main">
            <a:pPr>
              <a:defRPr sz="1875" b="1">
                <a:solidFill>
                  <a:srgbClr val="072B48"/>
                </a:solidFill>
                <a:latin typeface="Aptos"/>
                <a:ea typeface="Aptos"/>
                <a:cs typeface="Aptos"/>
              </a:defRPr>
            </a:pPr>
            <a:r>
              <a:rPr sz="1875" b="1">
                <a:solidFill>
                  <a:srgbClr val="072B48"/>
                </a:solidFill>
                <a:latin typeface="Aptos"/>
                <a:ea typeface="Aptos"/>
                <a:cs typeface="Aptos"/>
              </a:rPr>
              <a:t>01  Sequence visits</a:t>
            </a:r>
          </a:p>
        </p:txBody>
      </p:sp>
      <p:sp>
        <p:nvSpPr>
          <p:cNvPr id="10" name="">
            <a:extLst xmlns:a="http://schemas.openxmlformats.org/drawingml/2006/main">
              <a:ext uri="{FF2B5EF4-FFF2-40B4-BE49-F238E27FC236}">
                <a16:creationId xmlns:a16="http://schemas.microsoft.com/office/drawing/2014/main" id="{A885CB35-DFC8-489A-BBBE-5DE1F41E969D}"/>
              </a:ext>
            </a:extLst>
          </p:cNvPr>
          <p:cNvSpPr>
            <a:spLocks xmlns:a="http://schemas.openxmlformats.org/drawingml/2006/main" noGrp="1"/>
          </p:cNvSpPr>
          <p:nvPr/>
        </p:nvSpPr>
        <p:spPr>
          <a:xfrm xmlns:a="http://schemas.openxmlformats.org/drawingml/2006/main">
            <a:off x="609600" y="6457950"/>
            <a:ext cx="27336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007F8B"/>
                </a:solidFill>
                <a:latin typeface="Aptos"/>
                <a:ea typeface="Aptos"/>
                <a:cs typeface="Aptos"/>
              </a:defRPr>
            </a:defPPr>
          </a:lstStyle>
          <a:p xmlns:a="http://schemas.openxmlformats.org/drawingml/2006/main">
            <a:pPr>
              <a:defRPr sz="1575" b="0">
                <a:solidFill>
                  <a:srgbClr val="007F8B"/>
                </a:solidFill>
                <a:latin typeface="Aptos"/>
                <a:ea typeface="Aptos"/>
                <a:cs typeface="Aptos"/>
              </a:defRPr>
            </a:pPr>
            <a:r>
              <a:rPr sz="1575" b="0">
                <a:solidFill>
                  <a:srgbClr val="007F8B"/>
                </a:solidFill>
                <a:latin typeface="Aptos"/>
                <a:ea typeface="Aptos"/>
                <a:cs typeface="Aptos"/>
              </a:rPr>
              <a:t>GTSP</a:t>
            </a:r>
          </a:p>
        </p:txBody>
      </p:sp>
      <p:sp>
        <p:nvSpPr>
          <p:cNvPr id="11" name="">
            <a:extLst xmlns:a="http://schemas.openxmlformats.org/drawingml/2006/main">
              <a:ext uri="{FF2B5EF4-FFF2-40B4-BE49-F238E27FC236}">
                <a16:creationId xmlns:a16="http://schemas.microsoft.com/office/drawing/2014/main" id="{374325EB-809C-44D4-960D-AA2E68444AB1}"/>
              </a:ext>
            </a:extLst>
          </p:cNvPr>
          <p:cNvSpPr>
            <a:spLocks xmlns:a="http://schemas.openxmlformats.org/drawingml/2006/main" noGrp="1"/>
          </p:cNvSpPr>
          <p:nvPr/>
        </p:nvSpPr>
        <p:spPr>
          <a:xfrm xmlns:a="http://schemas.openxmlformats.org/drawingml/2006/main">
            <a:off x="3429000" y="6105525"/>
            <a:ext cx="276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72B48"/>
                </a:solidFill>
                <a:latin typeface="Aptos"/>
                <a:ea typeface="Aptos"/>
                <a:cs typeface="Aptos"/>
              </a:defRPr>
            </a:defPPr>
          </a:lstStyle>
          <a:p xmlns:a="http://schemas.openxmlformats.org/drawingml/2006/main">
            <a:pPr>
              <a:defRPr sz="1875" b="1">
                <a:solidFill>
                  <a:srgbClr val="072B48"/>
                </a:solidFill>
                <a:latin typeface="Aptos"/>
                <a:ea typeface="Aptos"/>
                <a:cs typeface="Aptos"/>
              </a:defRPr>
            </a:pPr>
            <a:r>
              <a:rPr sz="1875" b="1">
                <a:solidFill>
                  <a:srgbClr val="072B48"/>
                </a:solidFill>
                <a:latin typeface="Aptos"/>
                <a:ea typeface="Aptos"/>
                <a:cs typeface="Aptos"/>
              </a:rPr>
              <a:t>02  Cover each region</a:t>
            </a:r>
          </a:p>
        </p:txBody>
      </p:sp>
      <p:sp>
        <p:nvSpPr>
          <p:cNvPr id="12" name="">
            <a:extLst xmlns:a="http://schemas.openxmlformats.org/drawingml/2006/main">
              <a:ext uri="{FF2B5EF4-FFF2-40B4-BE49-F238E27FC236}">
                <a16:creationId xmlns:a16="http://schemas.microsoft.com/office/drawing/2014/main" id="{83BCBB49-C65E-49F9-A81D-9FA2B0105F51}"/>
              </a:ext>
            </a:extLst>
          </p:cNvPr>
          <p:cNvSpPr>
            <a:spLocks xmlns:a="http://schemas.openxmlformats.org/drawingml/2006/main" noGrp="1"/>
          </p:cNvSpPr>
          <p:nvPr/>
        </p:nvSpPr>
        <p:spPr>
          <a:xfrm xmlns:a="http://schemas.openxmlformats.org/drawingml/2006/main">
            <a:off x="3429000" y="6457950"/>
            <a:ext cx="27336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007F8B"/>
                </a:solidFill>
                <a:latin typeface="Aptos"/>
                <a:ea typeface="Aptos"/>
                <a:cs typeface="Aptos"/>
              </a:defRPr>
            </a:defPPr>
          </a:lstStyle>
          <a:p xmlns:a="http://schemas.openxmlformats.org/drawingml/2006/main">
            <a:pPr>
              <a:defRPr sz="1575" b="0">
                <a:solidFill>
                  <a:srgbClr val="007F8B"/>
                </a:solidFill>
                <a:latin typeface="Aptos"/>
                <a:ea typeface="Aptos"/>
                <a:cs typeface="Aptos"/>
              </a:defRPr>
            </a:pPr>
            <a:r>
              <a:rPr sz="1575" b="0">
                <a:solidFill>
                  <a:srgbClr val="007F8B"/>
                </a:solidFill>
                <a:latin typeface="Aptos"/>
                <a:ea typeface="Aptos"/>
                <a:cs typeface="Aptos"/>
              </a:rPr>
              <a:t>Configurable swath</a:t>
            </a:r>
          </a:p>
        </p:txBody>
      </p:sp>
      <p:sp>
        <p:nvSpPr>
          <p:cNvPr id="13" name="">
            <a:extLst xmlns:a="http://schemas.openxmlformats.org/drawingml/2006/main">
              <a:ext uri="{FF2B5EF4-FFF2-40B4-BE49-F238E27FC236}">
                <a16:creationId xmlns:a16="http://schemas.microsoft.com/office/drawing/2014/main" id="{E041289E-A0DA-41CE-9DDB-FBB52DAF5B12}"/>
              </a:ext>
            </a:extLst>
          </p:cNvPr>
          <p:cNvSpPr>
            <a:spLocks xmlns:a="http://schemas.openxmlformats.org/drawingml/2006/main" noGrp="1"/>
          </p:cNvSpPr>
          <p:nvPr/>
        </p:nvSpPr>
        <p:spPr>
          <a:xfrm xmlns:a="http://schemas.openxmlformats.org/drawingml/2006/main">
            <a:off x="6248400" y="6105525"/>
            <a:ext cx="276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72B48"/>
                </a:solidFill>
                <a:latin typeface="Aptos"/>
                <a:ea typeface="Aptos"/>
                <a:cs typeface="Aptos"/>
              </a:defRPr>
            </a:defPPr>
          </a:lstStyle>
          <a:p xmlns:a="http://schemas.openxmlformats.org/drawingml/2006/main">
            <a:pPr>
              <a:defRPr sz="1875" b="1">
                <a:solidFill>
                  <a:srgbClr val="072B48"/>
                </a:solidFill>
                <a:latin typeface="Aptos"/>
                <a:ea typeface="Aptos"/>
                <a:cs typeface="Aptos"/>
              </a:defRPr>
            </a:pPr>
            <a:r>
              <a:rPr sz="1875" b="1">
                <a:solidFill>
                  <a:srgbClr val="072B48"/>
                </a:solidFill>
                <a:latin typeface="Aptos"/>
                <a:ea typeface="Aptos"/>
                <a:cs typeface="Aptos"/>
              </a:rPr>
              <a:t>03  Generate motion</a:t>
            </a:r>
          </a:p>
        </p:txBody>
      </p:sp>
      <p:sp>
        <p:nvSpPr>
          <p:cNvPr id="14" name="">
            <a:extLst xmlns:a="http://schemas.openxmlformats.org/drawingml/2006/main">
              <a:ext uri="{FF2B5EF4-FFF2-40B4-BE49-F238E27FC236}">
                <a16:creationId xmlns:a16="http://schemas.microsoft.com/office/drawing/2014/main" id="{560510F5-9396-4313-895D-8CA206143657}"/>
              </a:ext>
            </a:extLst>
          </p:cNvPr>
          <p:cNvSpPr>
            <a:spLocks xmlns:a="http://schemas.openxmlformats.org/drawingml/2006/main" noGrp="1"/>
          </p:cNvSpPr>
          <p:nvPr/>
        </p:nvSpPr>
        <p:spPr>
          <a:xfrm xmlns:a="http://schemas.openxmlformats.org/drawingml/2006/main">
            <a:off x="6248400" y="6457950"/>
            <a:ext cx="27336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007F8B"/>
                </a:solidFill>
                <a:latin typeface="Aptos"/>
                <a:ea typeface="Aptos"/>
                <a:cs typeface="Aptos"/>
              </a:defRPr>
            </a:defPPr>
          </a:lstStyle>
          <a:p xmlns:a="http://schemas.openxmlformats.org/drawingml/2006/main">
            <a:pPr>
              <a:defRPr sz="1575" b="0">
                <a:solidFill>
                  <a:srgbClr val="007F8B"/>
                </a:solidFill>
                <a:latin typeface="Aptos"/>
                <a:ea typeface="Aptos"/>
                <a:cs typeface="Aptos"/>
              </a:defRPr>
            </a:pPr>
            <a:r>
              <a:rPr sz="1575" b="0">
                <a:solidFill>
                  <a:srgbClr val="007F8B"/>
                </a:solidFill>
                <a:latin typeface="Aptos"/>
                <a:ea typeface="Aptos"/>
                <a:cs typeface="Aptos"/>
              </a:rPr>
              <a:t>HPP</a:t>
            </a:r>
          </a:p>
        </p:txBody>
      </p:sp>
      <p:sp>
        <p:nvSpPr>
          <p:cNvPr id="15" name="">
            <a:extLst xmlns:a="http://schemas.openxmlformats.org/drawingml/2006/main">
              <a:ext uri="{FF2B5EF4-FFF2-40B4-BE49-F238E27FC236}">
                <a16:creationId xmlns:a16="http://schemas.microsoft.com/office/drawing/2014/main" id="{FE484CD3-A831-4C2A-A0C9-0A280D760ACE}"/>
              </a:ext>
            </a:extLst>
          </p:cNvPr>
          <p:cNvSpPr>
            <a:spLocks xmlns:a="http://schemas.openxmlformats.org/drawingml/2006/main" noGrp="1"/>
          </p:cNvSpPr>
          <p:nvPr/>
        </p:nvSpPr>
        <p:spPr>
          <a:xfrm xmlns:a="http://schemas.openxmlformats.org/drawingml/2006/main">
            <a:off x="9067800" y="6105525"/>
            <a:ext cx="276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72B48"/>
                </a:solidFill>
                <a:latin typeface="Aptos"/>
                <a:ea typeface="Aptos"/>
                <a:cs typeface="Aptos"/>
              </a:defRPr>
            </a:defPPr>
          </a:lstStyle>
          <a:p xmlns:a="http://schemas.openxmlformats.org/drawingml/2006/main">
            <a:pPr>
              <a:defRPr sz="1875" b="1">
                <a:solidFill>
                  <a:srgbClr val="072B48"/>
                </a:solidFill>
                <a:latin typeface="Aptos"/>
                <a:ea typeface="Aptos"/>
                <a:cs typeface="Aptos"/>
              </a:defRPr>
            </a:pPr>
            <a:r>
              <a:rPr sz="1875" b="1">
                <a:solidFill>
                  <a:srgbClr val="072B48"/>
                </a:solidFill>
                <a:latin typeface="Aptos"/>
                <a:ea typeface="Aptos"/>
                <a:cs typeface="Aptos"/>
              </a:rPr>
              <a:t>04  Verify the program</a:t>
            </a:r>
          </a:p>
        </p:txBody>
      </p:sp>
      <p:sp>
        <p:nvSpPr>
          <p:cNvPr id="16" name="">
            <a:extLst xmlns:a="http://schemas.openxmlformats.org/drawingml/2006/main">
              <a:ext uri="{FF2B5EF4-FFF2-40B4-BE49-F238E27FC236}">
                <a16:creationId xmlns:a16="http://schemas.microsoft.com/office/drawing/2014/main" id="{28C4AF00-790D-4D68-8C7D-09E98EBF4C05}"/>
              </a:ext>
            </a:extLst>
          </p:cNvPr>
          <p:cNvSpPr>
            <a:spLocks xmlns:a="http://schemas.openxmlformats.org/drawingml/2006/main" noGrp="1"/>
          </p:cNvSpPr>
          <p:nvPr/>
        </p:nvSpPr>
        <p:spPr>
          <a:xfrm xmlns:a="http://schemas.openxmlformats.org/drawingml/2006/main">
            <a:off x="9067800" y="6457950"/>
            <a:ext cx="27336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007F8B"/>
                </a:solidFill>
                <a:latin typeface="Aptos"/>
                <a:ea typeface="Aptos"/>
                <a:cs typeface="Aptos"/>
              </a:defRPr>
            </a:defPPr>
          </a:lstStyle>
          <a:p xmlns:a="http://schemas.openxmlformats.org/drawingml/2006/main">
            <a:pPr>
              <a:defRPr sz="1575" b="0">
                <a:solidFill>
                  <a:srgbClr val="007F8B"/>
                </a:solidFill>
                <a:latin typeface="Aptos"/>
                <a:ea typeface="Aptos"/>
                <a:cs typeface="Aptos"/>
              </a:defRPr>
            </a:pPr>
            <a:r>
              <a:rPr sz="1575" b="0">
                <a:solidFill>
                  <a:srgbClr val="007F8B"/>
                </a:solidFill>
                <a:latin typeface="Aptos"/>
                <a:ea typeface="Aptos"/>
                <a:cs typeface="Aptos"/>
              </a:rPr>
              <a:t>ROBOGUIDE</a:t>
            </a:r>
          </a:p>
        </p:txBody>
      </p:sp>
    </p:spTree>
    <p:extLst>
      <p:ext uri="{BB962C8B-B14F-4D97-AF65-F5344CB8AC3E}">
        <p14:creationId xmlns:p14="http://schemas.microsoft.com/office/powerpoint/2010/main" val="494070502"/>
      </p:ext>
    </p:extLst>
  </p:cSld>
</p:sld>
</file>

<file path=ppt/slides/slide4.xml><?xml version="1.0" encoding="utf-8"?>
<p:sld xmlns:p="http://schemas.openxmlformats.org/presentationml/2006/main">
  <p:cSld>
    <p:bg>
      <p:bgPr>
        <a:solidFill xmlns:a="http://schemas.openxmlformats.org/drawingml/2006/main">
          <a:srgbClr val="072B4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89BE383-F367-4252-8E04-AE17B380DF68}"/>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FFFF"/>
                </a:solidFill>
                <a:latin typeface="Aptos"/>
                <a:ea typeface="Aptos"/>
                <a:cs typeface="Aptos"/>
              </a:defRPr>
            </a:defPPr>
          </a:lstStyle>
          <a:p xmlns:a="http://schemas.openxmlformats.org/drawingml/2006/main">
            <a:pPr>
              <a:defRPr sz="3225" b="1">
                <a:solidFill>
                  <a:srgbClr val="FFFFFF"/>
                </a:solidFill>
                <a:latin typeface="Aptos"/>
                <a:ea typeface="Aptos"/>
                <a:cs typeface="Aptos"/>
              </a:defRPr>
            </a:pPr>
            <a:r>
              <a:rPr sz="3225" b="1">
                <a:solidFill>
                  <a:srgbClr val="FFFFFF"/>
                </a:solidFill>
                <a:latin typeface="Aptos"/>
                <a:ea typeface="Aptos"/>
                <a:cs typeface="Aptos"/>
              </a:rPr>
              <a:t>Customer impact</a:t>
            </a:r>
          </a:p>
        </p:txBody>
      </p:sp>
      <p:sp>
        <p:nvSpPr>
          <p:cNvPr id="2" name="">
            <a:extLst xmlns:a="http://schemas.openxmlformats.org/drawingml/2006/main">
              <a:ext uri="{FF2B5EF4-FFF2-40B4-BE49-F238E27FC236}">
                <a16:creationId xmlns:a16="http://schemas.microsoft.com/office/drawing/2014/main" id="{24E0280E-B92F-4396-B05F-BC8D55B3B116}"/>
              </a:ext>
            </a:extLst>
          </p:cNvPr>
          <p:cNvSpPr>
            <a:spLocks xmlns:a="http://schemas.openxmlformats.org/drawingml/2006/main" noGrp="1"/>
          </p:cNvSpPr>
          <p:nvPr/>
        </p:nvSpPr>
        <p:spPr>
          <a:xfrm xmlns:a="http://schemas.openxmlformats.org/drawingml/2006/main">
            <a:off x="11239500" y="635317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A9C8D7"/>
                </a:solidFill>
                <a:latin typeface="Aptos"/>
                <a:ea typeface="Aptos"/>
                <a:cs typeface="Aptos"/>
              </a:defRPr>
            </a:defPPr>
          </a:lstStyle>
          <a:p xmlns:a="http://schemas.openxmlformats.org/drawingml/2006/main">
            <a:pPr>
              <a:defRPr sz="1200" b="0">
                <a:solidFill>
                  <a:srgbClr val="A9C8D7"/>
                </a:solidFill>
                <a:latin typeface="Aptos"/>
                <a:ea typeface="Aptos"/>
                <a:cs typeface="Aptos"/>
              </a:defRPr>
            </a:pPr>
            <a:r>
              <a:rPr sz="1200" b="0">
                <a:solidFill>
                  <a:srgbClr val="A9C8D7"/>
                </a:solidFill>
                <a:latin typeface="Aptos"/>
                <a:ea typeface="Aptos"/>
                <a:cs typeface="Aptos"/>
              </a:rPr>
              <a:t>04</a:t>
            </a:r>
          </a:p>
        </p:txBody>
      </p:sp>
      <p:sp>
        <p:nvSpPr>
          <p:cNvPr id="3" name="">
            <a:extLst xmlns:a="http://schemas.openxmlformats.org/drawingml/2006/main">
              <a:ext uri="{FF2B5EF4-FFF2-40B4-BE49-F238E27FC236}">
                <a16:creationId xmlns:a16="http://schemas.microsoft.com/office/drawing/2014/main" id="{98945A66-3461-499A-B274-862267F069E9}"/>
              </a:ext>
            </a:extLst>
          </p:cNvPr>
          <p:cNvSpPr>
            <a:spLocks xmlns:a="http://schemas.openxmlformats.org/drawingml/2006/main" noGrp="1"/>
          </p:cNvSpPr>
          <p:nvPr/>
        </p:nvSpPr>
        <p:spPr>
          <a:xfrm xmlns:a="http://schemas.openxmlformats.org/drawingml/2006/main">
            <a:off x="619125" y="1438275"/>
            <a:ext cx="10810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77D7DD"/>
                </a:solidFill>
                <a:latin typeface="Aptos"/>
                <a:ea typeface="Aptos"/>
                <a:cs typeface="Aptos"/>
              </a:defRPr>
            </a:defPPr>
          </a:lstStyle>
          <a:p xmlns:a="http://schemas.openxmlformats.org/drawingml/2006/main">
            <a:pPr>
              <a:defRPr sz="1875" b="1">
                <a:solidFill>
                  <a:srgbClr val="77D7DD"/>
                </a:solidFill>
                <a:latin typeface="Aptos"/>
                <a:ea typeface="Aptos"/>
                <a:cs typeface="Aptos"/>
              </a:defRPr>
            </a:pPr>
            <a:r>
              <a:rPr sz="1875" b="1">
                <a:solidFill>
                  <a:srgbClr val="77D7DD"/>
                </a:solidFill>
                <a:latin typeface="Aptos"/>
                <a:ea typeface="Aptos"/>
                <a:cs typeface="Aptos"/>
              </a:rPr>
              <a:t>EXPECTED BENEFITS OF NDT PATH PLANNING</a:t>
            </a:r>
          </a:p>
        </p:txBody>
      </p:sp>
      <p:pic>
        <p:nvPicPr>
          <p:cNvPr id="4" name="">
            <a:extLst xmlns:a="http://schemas.openxmlformats.org/drawingml/2006/main">
              <a:ext uri="{FF2B5EF4-FFF2-40B4-BE49-F238E27FC236}">
                <a16:creationId xmlns:a16="http://schemas.microsoft.com/office/drawing/2014/main" id="{E75A29B6-530A-4588-B020-662F8DBEBBC2}"/>
              </a:ext>
            </a:extLst>
          </p:cNvPr>
          <p:cNvPicPr>
            <a:picLocks xmlns:a="http://schemas.openxmlformats.org/drawingml/2006/main" noChangeAspect="1"/>
          </p:cNvPicPr>
          <p:nvPr/>
        </p:nvPicPr>
        <p:blipFill>
          <a:blip xmlns:r="http://schemas.openxmlformats.org/officeDocument/2006/relationships" xmlns:a="http://schemas.openxmlformats.org/drawingml/2006/main" r:embed="Re3942e28c8cf442c"/>
          <a:stretch xmlns:a="http://schemas.openxmlformats.org/drawingml/2006/main"/>
        </p:blipFill>
        <p:spPr>
          <a:xfrm xmlns:a="http://schemas.openxmlformats.org/drawingml/2006/main">
            <a:off x="628650" y="2652713"/>
            <a:ext cx="3305175" cy="1666875"/>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4AFC226C-D4BC-499A-8B42-5784E2BEAA4F}"/>
              </a:ext>
            </a:extLst>
          </p:cNvPr>
          <p:cNvPicPr>
            <a:picLocks xmlns:a="http://schemas.openxmlformats.org/drawingml/2006/main" noChangeAspect="1"/>
          </p:cNvPicPr>
          <p:nvPr/>
        </p:nvPicPr>
        <p:blipFill>
          <a:blip xmlns:r="http://schemas.openxmlformats.org/officeDocument/2006/relationships" xmlns:a="http://schemas.openxmlformats.org/drawingml/2006/main" r:embed="Rc2a48630b16c4fb5"/>
          <a:stretch xmlns:a="http://schemas.openxmlformats.org/drawingml/2006/main"/>
        </p:blipFill>
        <p:spPr>
          <a:xfrm xmlns:a="http://schemas.openxmlformats.org/drawingml/2006/main">
            <a:off x="4933950" y="2261821"/>
            <a:ext cx="2133600" cy="2277208"/>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7081ECE3-D3D0-477F-A390-160847B46554}"/>
              </a:ext>
            </a:extLst>
          </p:cNvPr>
          <p:cNvPicPr>
            <a:picLocks xmlns:a="http://schemas.openxmlformats.org/drawingml/2006/main" noChangeAspect="1"/>
          </p:cNvPicPr>
          <p:nvPr/>
        </p:nvPicPr>
        <p:blipFill>
          <a:blip xmlns:r="http://schemas.openxmlformats.org/officeDocument/2006/relationships" xmlns:a="http://schemas.openxmlformats.org/drawingml/2006/main" r:embed="R0e213fa5d898432c"/>
          <a:stretch xmlns:a="http://schemas.openxmlformats.org/drawingml/2006/main"/>
        </p:blipFill>
        <p:spPr>
          <a:xfrm xmlns:a="http://schemas.openxmlformats.org/drawingml/2006/main">
            <a:off x="8286750" y="2907037"/>
            <a:ext cx="3276600" cy="1139176"/>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DA31BC2-7848-40B5-855C-4FF75B1C8391}"/>
              </a:ext>
            </a:extLst>
          </p:cNvPr>
          <p:cNvSpPr>
            <a:spLocks xmlns:a="http://schemas.openxmlformats.org/drawingml/2006/main" noGrp="1"/>
          </p:cNvSpPr>
          <p:nvPr/>
        </p:nvSpPr>
        <p:spPr>
          <a:xfrm xmlns:a="http://schemas.openxmlformats.org/drawingml/2006/main">
            <a:off x="619125" y="5029200"/>
            <a:ext cx="3619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FFFFFF"/>
                </a:solidFill>
                <a:latin typeface="Aptos"/>
                <a:ea typeface="Aptos"/>
                <a:cs typeface="Aptos"/>
              </a:defRPr>
            </a:defPPr>
          </a:lstStyle>
          <a:p xmlns:a="http://schemas.openxmlformats.org/drawingml/2006/main">
            <a:pPr>
              <a:defRPr sz="2475" b="1">
                <a:solidFill>
                  <a:srgbClr val="FFFFFF"/>
                </a:solidFill>
                <a:latin typeface="Aptos"/>
                <a:ea typeface="Aptos"/>
                <a:cs typeface="Aptos"/>
              </a:defRPr>
            </a:pPr>
            <a:r>
              <a:rPr sz="2475" b="1">
                <a:solidFill>
                  <a:srgbClr val="FFFFFF"/>
                </a:solidFill>
                <a:latin typeface="Aptos"/>
                <a:ea typeface="Aptos"/>
                <a:cs typeface="Aptos"/>
              </a:rPr>
              <a:t>Less programming</a:t>
            </a:r>
          </a:p>
        </p:txBody>
      </p:sp>
      <p:sp>
        <p:nvSpPr>
          <p:cNvPr id="8" name="">
            <a:extLst xmlns:a="http://schemas.openxmlformats.org/drawingml/2006/main">
              <a:ext uri="{FF2B5EF4-FFF2-40B4-BE49-F238E27FC236}">
                <a16:creationId xmlns:a16="http://schemas.microsoft.com/office/drawing/2014/main" id="{15F79965-E77A-44BB-8F7E-A46FED2F0E4C}"/>
              </a:ext>
            </a:extLst>
          </p:cNvPr>
          <p:cNvSpPr>
            <a:spLocks xmlns:a="http://schemas.openxmlformats.org/drawingml/2006/main" noGrp="1"/>
          </p:cNvSpPr>
          <p:nvPr/>
        </p:nvSpPr>
        <p:spPr>
          <a:xfrm xmlns:a="http://schemas.openxmlformats.org/drawingml/2006/main">
            <a:off x="4276725" y="5029200"/>
            <a:ext cx="3857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FFFFFF"/>
                </a:solidFill>
                <a:latin typeface="Aptos"/>
                <a:ea typeface="Aptos"/>
                <a:cs typeface="Aptos"/>
              </a:defRPr>
            </a:defPPr>
          </a:lstStyle>
          <a:p xmlns:a="http://schemas.openxmlformats.org/drawingml/2006/main">
            <a:pPr>
              <a:defRPr sz="2400" b="1">
                <a:solidFill>
                  <a:srgbClr val="FFFFFF"/>
                </a:solidFill>
                <a:latin typeface="Aptos"/>
                <a:ea typeface="Aptos"/>
                <a:cs typeface="Aptos"/>
              </a:defRPr>
            </a:pPr>
            <a:r>
              <a:rPr sz="2400" b="1">
                <a:solidFill>
                  <a:srgbClr val="FFFFFF"/>
                </a:solidFill>
                <a:latin typeface="Aptos"/>
                <a:ea typeface="Aptos"/>
                <a:cs typeface="Aptos"/>
              </a:rPr>
              <a:t>Less travel &amp; scanning</a:t>
            </a:r>
          </a:p>
        </p:txBody>
      </p:sp>
      <p:sp>
        <p:nvSpPr>
          <p:cNvPr id="9" name="">
            <a:extLst xmlns:a="http://schemas.openxmlformats.org/drawingml/2006/main">
              <a:ext uri="{FF2B5EF4-FFF2-40B4-BE49-F238E27FC236}">
                <a16:creationId xmlns:a16="http://schemas.microsoft.com/office/drawing/2014/main" id="{50793569-BB63-48DC-B29D-349D4409428C}"/>
              </a:ext>
            </a:extLst>
          </p:cNvPr>
          <p:cNvSpPr>
            <a:spLocks xmlns:a="http://schemas.openxmlformats.org/drawingml/2006/main" noGrp="1"/>
          </p:cNvSpPr>
          <p:nvPr/>
        </p:nvSpPr>
        <p:spPr>
          <a:xfrm xmlns:a="http://schemas.openxmlformats.org/drawingml/2006/main">
            <a:off x="8362950" y="5029200"/>
            <a:ext cx="328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FFFFFF"/>
                </a:solidFill>
                <a:latin typeface="Aptos"/>
                <a:ea typeface="Aptos"/>
                <a:cs typeface="Aptos"/>
              </a:defRPr>
            </a:defPPr>
          </a:lstStyle>
          <a:p xmlns:a="http://schemas.openxmlformats.org/drawingml/2006/main">
            <a:pPr>
              <a:defRPr sz="2475" b="1">
                <a:solidFill>
                  <a:srgbClr val="FFFFFF"/>
                </a:solidFill>
                <a:latin typeface="Aptos"/>
                <a:ea typeface="Aptos"/>
                <a:cs typeface="Aptos"/>
              </a:defRPr>
            </a:pPr>
            <a:r>
              <a:rPr sz="2475" b="1">
                <a:solidFill>
                  <a:srgbClr val="FFFFFF"/>
                </a:solidFill>
                <a:latin typeface="Aptos"/>
                <a:ea typeface="Aptos"/>
                <a:cs typeface="Aptos"/>
              </a:rPr>
              <a:t>Reusable planning</a:t>
            </a:r>
          </a:p>
        </p:txBody>
      </p:sp>
      <p:sp>
        <p:nvSpPr>
          <p:cNvPr id="10" name="">
            <a:extLst xmlns:a="http://schemas.openxmlformats.org/drawingml/2006/main">
              <a:ext uri="{FF2B5EF4-FFF2-40B4-BE49-F238E27FC236}">
                <a16:creationId xmlns:a16="http://schemas.microsoft.com/office/drawing/2014/main" id="{B6CDD94E-2CCC-4259-A787-FBFDA767DDEF}"/>
              </a:ext>
            </a:extLst>
          </p:cNvPr>
          <p:cNvSpPr>
            <a:spLocks xmlns:a="http://schemas.openxmlformats.org/drawingml/2006/main" noGrp="1"/>
          </p:cNvSpPr>
          <p:nvPr/>
        </p:nvSpPr>
        <p:spPr>
          <a:xfrm xmlns:a="http://schemas.openxmlformats.org/drawingml/2006/main">
            <a:off x="619125" y="5600700"/>
            <a:ext cx="3619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CCE1EB"/>
                </a:solidFill>
                <a:latin typeface="Aptos"/>
                <a:ea typeface="Aptos"/>
                <a:cs typeface="Aptos"/>
              </a:defRPr>
            </a:defPPr>
          </a:lstStyle>
          <a:p xmlns:a="http://schemas.openxmlformats.org/drawingml/2006/main">
            <a:pPr>
              <a:defRPr sz="1875" b="0">
                <a:solidFill>
                  <a:srgbClr val="CCE1EB"/>
                </a:solidFill>
                <a:latin typeface="Aptos"/>
                <a:ea typeface="Aptos"/>
                <a:cs typeface="Aptos"/>
              </a:defRPr>
            </a:pPr>
            <a:r>
              <a:rPr sz="1875" b="0">
                <a:solidFill>
                  <a:srgbClr val="CCE1EB"/>
                </a:solidFill>
                <a:latin typeface="Aptos"/>
                <a:ea typeface="Aptos"/>
                <a:cs typeface="Aptos"/>
              </a:rPr>
              <a:t>Faster preparation</a:t>
            </a:r>
          </a:p>
        </p:txBody>
      </p:sp>
      <p:sp>
        <p:nvSpPr>
          <p:cNvPr id="11" name="">
            <a:extLst xmlns:a="http://schemas.openxmlformats.org/drawingml/2006/main">
              <a:ext uri="{FF2B5EF4-FFF2-40B4-BE49-F238E27FC236}">
                <a16:creationId xmlns:a16="http://schemas.microsoft.com/office/drawing/2014/main" id="{DCD19A6F-631C-4453-B8F1-06A4F0C2DFD0}"/>
              </a:ext>
            </a:extLst>
          </p:cNvPr>
          <p:cNvSpPr>
            <a:spLocks xmlns:a="http://schemas.openxmlformats.org/drawingml/2006/main" noGrp="1"/>
          </p:cNvSpPr>
          <p:nvPr/>
        </p:nvSpPr>
        <p:spPr>
          <a:xfrm xmlns:a="http://schemas.openxmlformats.org/drawingml/2006/main">
            <a:off x="4286250" y="5600700"/>
            <a:ext cx="3810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CCE1EB"/>
                </a:solidFill>
                <a:latin typeface="Aptos"/>
                <a:ea typeface="Aptos"/>
                <a:cs typeface="Aptos"/>
              </a:defRPr>
            </a:defPPr>
          </a:lstStyle>
          <a:p xmlns:a="http://schemas.openxmlformats.org/drawingml/2006/main">
            <a:pPr>
              <a:defRPr sz="1875" b="0">
                <a:solidFill>
                  <a:srgbClr val="CCE1EB"/>
                </a:solidFill>
                <a:latin typeface="Aptos"/>
                <a:ea typeface="Aptos"/>
                <a:cs typeface="Aptos"/>
              </a:defRPr>
            </a:pPr>
            <a:r>
              <a:rPr sz="1875" b="0">
                <a:solidFill>
                  <a:srgbClr val="CCE1EB"/>
                </a:solidFill>
                <a:latin typeface="Aptos"/>
                <a:ea typeface="Aptos"/>
                <a:cs typeface="Aptos"/>
              </a:rPr>
              <a:t>Only flagged regions</a:t>
            </a:r>
          </a:p>
        </p:txBody>
      </p:sp>
      <p:sp>
        <p:nvSpPr>
          <p:cNvPr id="12" name="">
            <a:extLst xmlns:a="http://schemas.openxmlformats.org/drawingml/2006/main">
              <a:ext uri="{FF2B5EF4-FFF2-40B4-BE49-F238E27FC236}">
                <a16:creationId xmlns:a16="http://schemas.microsoft.com/office/drawing/2014/main" id="{3ED125D8-3BB8-43FC-A486-9A60062EFEA1}"/>
              </a:ext>
            </a:extLst>
          </p:cNvPr>
          <p:cNvSpPr>
            <a:spLocks xmlns:a="http://schemas.openxmlformats.org/drawingml/2006/main" noGrp="1"/>
          </p:cNvSpPr>
          <p:nvPr/>
        </p:nvSpPr>
        <p:spPr>
          <a:xfrm xmlns:a="http://schemas.openxmlformats.org/drawingml/2006/main">
            <a:off x="8372475" y="5600700"/>
            <a:ext cx="32099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CCE1EB"/>
                </a:solidFill>
                <a:latin typeface="Aptos"/>
                <a:ea typeface="Aptos"/>
                <a:cs typeface="Aptos"/>
              </a:defRPr>
            </a:defPPr>
          </a:lstStyle>
          <a:p xmlns:a="http://schemas.openxmlformats.org/drawingml/2006/main">
            <a:pPr>
              <a:defRPr sz="1875" b="0">
                <a:solidFill>
                  <a:srgbClr val="CCE1EB"/>
                </a:solidFill>
                <a:latin typeface="Aptos"/>
                <a:ea typeface="Aptos"/>
                <a:cs typeface="Aptos"/>
              </a:defRPr>
            </a:pPr>
            <a:r>
              <a:rPr sz="1875" b="0">
                <a:solidFill>
                  <a:srgbClr val="CCE1EB"/>
                </a:solidFill>
                <a:latin typeface="Aptos"/>
                <a:ea typeface="Aptos"/>
                <a:cs typeface="Aptos"/>
              </a:rPr>
              <a:t>New panels and setups</a:t>
            </a:r>
          </a:p>
        </p:txBody>
      </p:sp>
      <p:sp>
        <p:nvSpPr>
          <p:cNvPr id="13" name="">
            <a:extLst xmlns:a="http://schemas.openxmlformats.org/drawingml/2006/main">
              <a:ext uri="{FF2B5EF4-FFF2-40B4-BE49-F238E27FC236}">
                <a16:creationId xmlns:a16="http://schemas.microsoft.com/office/drawing/2014/main" id="{39933047-B35E-4B8B-82ED-76DEB1967970}"/>
              </a:ext>
            </a:extLst>
          </p:cNvPr>
          <p:cNvSpPr>
            <a:spLocks xmlns:a="http://schemas.openxmlformats.org/drawingml/2006/main" noGrp="1"/>
          </p:cNvSpPr>
          <p:nvPr/>
        </p:nvSpPr>
        <p:spPr>
          <a:xfrm xmlns:a="http://schemas.openxmlformats.org/drawingml/2006/main">
            <a:off x="619125" y="6248400"/>
            <a:ext cx="10715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77D7DD"/>
                </a:solidFill>
                <a:latin typeface="Aptos"/>
                <a:ea typeface="Aptos"/>
                <a:cs typeface="Aptos"/>
              </a:defRPr>
            </a:defPPr>
          </a:lstStyle>
          <a:p xmlns:a="http://schemas.openxmlformats.org/drawingml/2006/main">
            <a:pPr>
              <a:defRPr sz="1800" b="1">
                <a:solidFill>
                  <a:srgbClr val="77D7DD"/>
                </a:solidFill>
                <a:latin typeface="Aptos"/>
                <a:ea typeface="Aptos"/>
                <a:cs typeface="Aptos"/>
              </a:defRPr>
            </a:pPr>
            <a:r>
              <a:rPr sz="1800" b="1">
                <a:solidFill>
                  <a:srgbClr val="77D7DD"/>
                </a:solidFill>
                <a:latin typeface="Aptos"/>
                <a:ea typeface="Aptos"/>
                <a:cs typeface="Aptos"/>
              </a:rPr>
              <a:t>Wider targets: repeatability, full traceability and better ergonomics</a:t>
            </a:r>
          </a:p>
        </p:txBody>
      </p:sp>
    </p:spTree>
    <p:extLst>
      <p:ext uri="{BB962C8B-B14F-4D97-AF65-F5344CB8AC3E}">
        <p14:creationId xmlns:p14="http://schemas.microsoft.com/office/powerpoint/2010/main" val="100732407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13CDA0A-14DE-46E6-B71B-66F708916619}"/>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072B48"/>
                </a:solidFill>
                <a:latin typeface="Aptos"/>
                <a:ea typeface="Aptos"/>
                <a:cs typeface="Aptos"/>
              </a:defRPr>
            </a:defPPr>
          </a:lstStyle>
          <a:p xmlns:a="http://schemas.openxmlformats.org/drawingml/2006/main">
            <a:pPr>
              <a:defRPr sz="3225" b="1">
                <a:solidFill>
                  <a:srgbClr val="072B48"/>
                </a:solidFill>
                <a:latin typeface="Aptos"/>
                <a:ea typeface="Aptos"/>
                <a:cs typeface="Aptos"/>
              </a:defRPr>
            </a:pPr>
            <a:r>
              <a:rPr sz="3225" b="1">
                <a:solidFill>
                  <a:srgbClr val="072B48"/>
                </a:solidFill>
                <a:latin typeface="Aptos"/>
                <a:ea typeface="Aptos"/>
                <a:cs typeface="Aptos"/>
              </a:rPr>
              <a:t>Simulation demonstrator and customer pilot</a:t>
            </a:r>
          </a:p>
        </p:txBody>
      </p:sp>
      <p:sp>
        <p:nvSpPr>
          <p:cNvPr id="2" name="">
            <a:extLst xmlns:a="http://schemas.openxmlformats.org/drawingml/2006/main">
              <a:ext uri="{FF2B5EF4-FFF2-40B4-BE49-F238E27FC236}">
                <a16:creationId xmlns:a16="http://schemas.microsoft.com/office/drawing/2014/main" id="{36719D5F-18EF-4C2B-AE87-6DBB296A7131}"/>
              </a:ext>
            </a:extLst>
          </p:cNvPr>
          <p:cNvSpPr>
            <a:spLocks xmlns:a="http://schemas.openxmlformats.org/drawingml/2006/main" noGrp="1"/>
          </p:cNvSpPr>
          <p:nvPr/>
        </p:nvSpPr>
        <p:spPr>
          <a:xfrm xmlns:a="http://schemas.openxmlformats.org/drawingml/2006/main">
            <a:off x="11239500" y="635317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67080"/>
                </a:solidFill>
                <a:latin typeface="Aptos"/>
                <a:ea typeface="Aptos"/>
                <a:cs typeface="Aptos"/>
              </a:defRPr>
            </a:defPPr>
          </a:lstStyle>
          <a:p xmlns:a="http://schemas.openxmlformats.org/drawingml/2006/main">
            <a:pPr>
              <a:defRPr sz="1200" b="0">
                <a:solidFill>
                  <a:srgbClr val="567080"/>
                </a:solidFill>
                <a:latin typeface="Aptos"/>
                <a:ea typeface="Aptos"/>
                <a:cs typeface="Aptos"/>
              </a:defRPr>
            </a:pPr>
            <a:r>
              <a:rPr sz="1200" b="0">
                <a:solidFill>
                  <a:srgbClr val="567080"/>
                </a:solidFill>
                <a:latin typeface="Aptos"/>
                <a:ea typeface="Aptos"/>
                <a:cs typeface="Aptos"/>
              </a:rPr>
              <a:t>05</a:t>
            </a:r>
          </a:p>
        </p:txBody>
      </p:sp>
      <p:pic>
        <p:nvPicPr>
          <p:cNvPr id="3" name="">
            <a:extLst xmlns:a="http://schemas.openxmlformats.org/drawingml/2006/main">
              <a:ext uri="{FF2B5EF4-FFF2-40B4-BE49-F238E27FC236}">
                <a16:creationId xmlns:a16="http://schemas.microsoft.com/office/drawing/2014/main" id="{3FC656CC-0AA5-4BCD-885B-5BD9FCEF052B}"/>
              </a:ext>
            </a:extLst>
          </p:cNvPr>
          <p:cNvPicPr>
            <a:picLocks xmlns:a="http://schemas.openxmlformats.org/drawingml/2006/main" noChangeAspect="1"/>
          </p:cNvPicPr>
          <p:nvPr/>
        </p:nvPicPr>
        <p:blipFill>
          <a:blip xmlns:r="http://schemas.openxmlformats.org/officeDocument/2006/relationships" xmlns:a="http://schemas.openxmlformats.org/drawingml/2006/main" r:embed="R7b370ca5a8ea4e00"/>
          <a:stretch xmlns:a="http://schemas.openxmlformats.org/drawingml/2006/main"/>
        </p:blipFill>
        <p:spPr>
          <a:xfrm xmlns:a="http://schemas.openxmlformats.org/drawingml/2006/main">
            <a:off x="609600" y="1576833"/>
            <a:ext cx="8096250" cy="390436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D86122E-5249-45C5-BBA3-ECD7398104ED}"/>
              </a:ext>
            </a:extLst>
          </p:cNvPr>
          <p:cNvSpPr>
            <a:spLocks xmlns:a="http://schemas.openxmlformats.org/drawingml/2006/main" noGrp="1"/>
          </p:cNvSpPr>
          <p:nvPr/>
        </p:nvSpPr>
        <p:spPr>
          <a:xfrm xmlns:a="http://schemas.openxmlformats.org/drawingml/2006/main">
            <a:off x="9039225" y="1743075"/>
            <a:ext cx="257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07F8B"/>
                </a:solidFill>
                <a:latin typeface="Aptos"/>
                <a:ea typeface="Aptos"/>
                <a:cs typeface="Aptos"/>
              </a:defRPr>
            </a:defPPr>
          </a:lstStyle>
          <a:p xmlns:a="http://schemas.openxmlformats.org/drawingml/2006/main">
            <a:pPr>
              <a:defRPr sz="1875" b="1">
                <a:solidFill>
                  <a:srgbClr val="007F8B"/>
                </a:solidFill>
                <a:latin typeface="Aptos"/>
                <a:ea typeface="Aptos"/>
                <a:cs typeface="Aptos"/>
              </a:defRPr>
            </a:pPr>
            <a:r>
              <a:rPr sz="1875" b="1">
                <a:solidFill>
                  <a:srgbClr val="007F8B"/>
                </a:solidFill>
                <a:latin typeface="Aptos"/>
                <a:ea typeface="Aptos"/>
                <a:cs typeface="Aptos"/>
              </a:rPr>
              <a:t>MATURITY</a:t>
            </a:r>
          </a:p>
        </p:txBody>
      </p:sp>
      <p:sp>
        <p:nvSpPr>
          <p:cNvPr id="5" name="">
            <a:extLst xmlns:a="http://schemas.openxmlformats.org/drawingml/2006/main">
              <a:ext uri="{FF2B5EF4-FFF2-40B4-BE49-F238E27FC236}">
                <a16:creationId xmlns:a16="http://schemas.microsoft.com/office/drawing/2014/main" id="{6ED3943F-5467-48D8-AA03-8AAA92CF16E3}"/>
              </a:ext>
            </a:extLst>
          </p:cNvPr>
          <p:cNvSpPr>
            <a:spLocks xmlns:a="http://schemas.openxmlformats.org/drawingml/2006/main" noGrp="1"/>
          </p:cNvSpPr>
          <p:nvPr/>
        </p:nvSpPr>
        <p:spPr>
          <a:xfrm xmlns:a="http://schemas.openxmlformats.org/drawingml/2006/main">
            <a:off x="9039225" y="2228850"/>
            <a:ext cx="257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072B48"/>
                </a:solidFill>
                <a:latin typeface="Aptos"/>
                <a:ea typeface="Aptos"/>
                <a:cs typeface="Aptos"/>
              </a:defRPr>
            </a:defPPr>
          </a:lstStyle>
          <a:p xmlns:a="http://schemas.openxmlformats.org/drawingml/2006/main">
            <a:pPr>
              <a:defRPr sz="2475" b="1">
                <a:solidFill>
                  <a:srgbClr val="072B48"/>
                </a:solidFill>
                <a:latin typeface="Aptos"/>
                <a:ea typeface="Aptos"/>
                <a:cs typeface="Aptos"/>
              </a:defRPr>
            </a:pPr>
            <a:r>
              <a:rPr sz="2475" b="1">
                <a:solidFill>
                  <a:srgbClr val="072B48"/>
                </a:solidFill>
                <a:latin typeface="Aptos"/>
                <a:ea typeface="Aptos"/>
                <a:cs typeface="Aptos"/>
              </a:rPr>
              <a:t>Simulation</a:t>
            </a:r>
          </a:p>
          <a:p xmlns:a="http://schemas.openxmlformats.org/drawingml/2006/main">
            <a:pPr>
              <a:defRPr sz="2475" b="1">
                <a:solidFill>
                  <a:srgbClr val="072B48"/>
                </a:solidFill>
                <a:latin typeface="Aptos"/>
                <a:ea typeface="Aptos"/>
                <a:cs typeface="Aptos"/>
              </a:defRPr>
            </a:pPr>
            <a:r>
              <a:rPr sz="2475" b="1">
                <a:solidFill>
                  <a:srgbClr val="072B48"/>
                </a:solidFill>
                <a:latin typeface="Aptos"/>
                <a:ea typeface="Aptos"/>
                <a:cs typeface="Aptos"/>
              </a:rPr>
              <a:t>demonstrator</a:t>
            </a:r>
          </a:p>
        </p:txBody>
      </p:sp>
      <p:sp>
        <p:nvSpPr>
          <p:cNvPr id="6" name="">
            <a:extLst xmlns:a="http://schemas.openxmlformats.org/drawingml/2006/main">
              <a:ext uri="{FF2B5EF4-FFF2-40B4-BE49-F238E27FC236}">
                <a16:creationId xmlns:a16="http://schemas.microsoft.com/office/drawing/2014/main" id="{DEDB11CB-56B6-4FD2-9F0D-2F6F9E8D7200}"/>
              </a:ext>
            </a:extLst>
          </p:cNvPr>
          <p:cNvSpPr>
            <a:spLocks xmlns:a="http://schemas.openxmlformats.org/drawingml/2006/main" noGrp="1"/>
          </p:cNvSpPr>
          <p:nvPr/>
        </p:nvSpPr>
        <p:spPr>
          <a:xfrm xmlns:a="http://schemas.openxmlformats.org/drawingml/2006/main">
            <a:off x="9039225" y="3695700"/>
            <a:ext cx="257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07F8B"/>
                </a:solidFill>
                <a:latin typeface="Aptos"/>
                <a:ea typeface="Aptos"/>
                <a:cs typeface="Aptos"/>
              </a:defRPr>
            </a:defPPr>
          </a:lstStyle>
          <a:p xmlns:a="http://schemas.openxmlformats.org/drawingml/2006/main">
            <a:pPr>
              <a:defRPr sz="1875" b="1">
                <a:solidFill>
                  <a:srgbClr val="007F8B"/>
                </a:solidFill>
                <a:latin typeface="Aptos"/>
                <a:ea typeface="Aptos"/>
                <a:cs typeface="Aptos"/>
              </a:defRPr>
            </a:pPr>
            <a:r>
              <a:rPr sz="1875" b="1">
                <a:solidFill>
                  <a:srgbClr val="007F8B"/>
                </a:solidFill>
                <a:latin typeface="Aptos"/>
                <a:ea typeface="Aptos"/>
                <a:cs typeface="Aptos"/>
              </a:rPr>
              <a:t>NEXT STEP</a:t>
            </a:r>
          </a:p>
        </p:txBody>
      </p:sp>
      <p:sp>
        <p:nvSpPr>
          <p:cNvPr id="7" name="">
            <a:extLst xmlns:a="http://schemas.openxmlformats.org/drawingml/2006/main">
              <a:ext uri="{FF2B5EF4-FFF2-40B4-BE49-F238E27FC236}">
                <a16:creationId xmlns:a16="http://schemas.microsoft.com/office/drawing/2014/main" id="{55584067-046D-43AB-A4BC-940E8A92DD75}"/>
              </a:ext>
            </a:extLst>
          </p:cNvPr>
          <p:cNvSpPr>
            <a:spLocks xmlns:a="http://schemas.openxmlformats.org/drawingml/2006/main" noGrp="1"/>
          </p:cNvSpPr>
          <p:nvPr/>
        </p:nvSpPr>
        <p:spPr>
          <a:xfrm xmlns:a="http://schemas.openxmlformats.org/drawingml/2006/main">
            <a:off x="9039225" y="4210050"/>
            <a:ext cx="2571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449"/>
                </a:solidFill>
                <a:latin typeface="Aptos"/>
                <a:ea typeface="Aptos"/>
                <a:cs typeface="Aptos"/>
              </a:defRPr>
            </a:defPPr>
          </a:lstStyle>
          <a:p xmlns:a="http://schemas.openxmlformats.org/drawingml/2006/main">
            <a:pPr>
              <a:defRPr sz="2025" b="0">
                <a:solidFill>
                  <a:srgbClr val="173449"/>
                </a:solidFill>
                <a:latin typeface="Aptos"/>
                <a:ea typeface="Aptos"/>
                <a:cs typeface="Aptos"/>
              </a:defRPr>
            </a:pPr>
            <a:r>
              <a:rPr sz="2025" b="0">
                <a:solidFill>
                  <a:srgbClr val="173449"/>
                </a:solidFill>
                <a:latin typeface="Aptos"/>
                <a:ea typeface="Aptos"/>
                <a:cs typeface="Aptos"/>
              </a:rPr>
              <a:t>Real-panel pilot</a:t>
            </a:r>
          </a:p>
          <a:p xmlns:a="http://schemas.openxmlformats.org/drawingml/2006/main">
            <a:pPr>
              <a:defRPr sz="2025" b="0">
                <a:solidFill>
                  <a:srgbClr val="173449"/>
                </a:solidFill>
                <a:latin typeface="Aptos"/>
                <a:ea typeface="Aptos"/>
                <a:cs typeface="Aptos"/>
              </a:defRPr>
            </a:pPr>
            <a:r>
              <a:rPr sz="2025" b="0">
                <a:solidFill>
                  <a:srgbClr val="173449"/>
                </a:solidFill>
                <a:latin typeface="Aptos"/>
                <a:ea typeface="Aptos"/>
                <a:cs typeface="Aptos"/>
              </a:rPr>
              <a:t>Coverage check</a:t>
            </a:r>
          </a:p>
          <a:p xmlns:a="http://schemas.openxmlformats.org/drawingml/2006/main">
            <a:pPr>
              <a:defRPr sz="2025" b="0">
                <a:solidFill>
                  <a:srgbClr val="173449"/>
                </a:solidFill>
                <a:latin typeface="Aptos"/>
                <a:ea typeface="Aptos"/>
                <a:cs typeface="Aptos"/>
              </a:defRPr>
            </a:pPr>
            <a:r>
              <a:rPr sz="2025" b="0">
                <a:solidFill>
                  <a:srgbClr val="173449"/>
                </a:solidFill>
                <a:latin typeface="Aptos"/>
                <a:ea typeface="Aptos"/>
                <a:cs typeface="Aptos"/>
              </a:rPr>
              <a:t>Time comparison</a:t>
            </a:r>
          </a:p>
        </p:txBody>
      </p:sp>
      <p:sp>
        <p:nvSpPr>
          <p:cNvPr id="8" name="">
            <a:extLst xmlns:a="http://schemas.openxmlformats.org/drawingml/2006/main">
              <a:ext uri="{FF2B5EF4-FFF2-40B4-BE49-F238E27FC236}">
                <a16:creationId xmlns:a16="http://schemas.microsoft.com/office/drawing/2014/main" id="{2907BB02-FBD5-44B0-AE2E-D0F588F58DA9}"/>
              </a:ext>
            </a:extLst>
          </p:cNvPr>
          <p:cNvSpPr>
            <a:spLocks xmlns:a="http://schemas.openxmlformats.org/drawingml/2006/main" noGrp="1"/>
          </p:cNvSpPr>
          <p:nvPr/>
        </p:nvSpPr>
        <p:spPr>
          <a:xfrm xmlns:a="http://schemas.openxmlformats.org/drawingml/2006/main">
            <a:off x="609600" y="5686425"/>
            <a:ext cx="800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67080"/>
                </a:solidFill>
                <a:latin typeface="Aptos"/>
                <a:ea typeface="Aptos"/>
                <a:cs typeface="Aptos"/>
              </a:defRPr>
            </a:defPPr>
          </a:lstStyle>
          <a:p xmlns:a="http://schemas.openxmlformats.org/drawingml/2006/main">
            <a:pPr>
              <a:defRPr sz="1725" b="0">
                <a:solidFill>
                  <a:srgbClr val="567080"/>
                </a:solidFill>
                <a:latin typeface="Aptos"/>
                <a:ea typeface="Aptos"/>
                <a:cs typeface="Aptos"/>
              </a:defRPr>
            </a:pPr>
            <a:r>
              <a:rPr sz="1725" b="0">
                <a:solidFill>
                  <a:srgbClr val="567080"/>
                </a:solidFill>
                <a:latin typeface="Aptos"/>
                <a:ea typeface="Aptos"/>
                <a:cs typeface="Aptos"/>
              </a:rPr>
              <a:t>Project simulation still. Video can replace this image.</a:t>
            </a:r>
          </a:p>
        </p:txBody>
      </p:sp>
      <p:sp>
        <p:nvSpPr>
          <p:cNvPr id="9" name="">
            <a:extLst xmlns:a="http://schemas.openxmlformats.org/drawingml/2006/main">
              <a:ext uri="{FF2B5EF4-FFF2-40B4-BE49-F238E27FC236}">
                <a16:creationId xmlns:a16="http://schemas.microsoft.com/office/drawing/2014/main" id="{70F494A2-6C19-4EE4-B851-016C6FB3DA1E}"/>
              </a:ext>
            </a:extLst>
          </p:cNvPr>
          <p:cNvSpPr>
            <a:spLocks xmlns:a="http://schemas.openxmlformats.org/drawingml/2006/main" noGrp="1"/>
          </p:cNvSpPr>
          <p:nvPr/>
        </p:nvSpPr>
        <p:spPr>
          <a:xfrm xmlns:a="http://schemas.openxmlformats.org/drawingml/2006/main">
            <a:off x="609600" y="62388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A76316"/>
                </a:solidFill>
                <a:latin typeface="Aptos"/>
                <a:ea typeface="Aptos"/>
                <a:cs typeface="Aptos"/>
              </a:defRPr>
            </a:defPPr>
          </a:lstStyle>
          <a:p xmlns:a="http://schemas.openxmlformats.org/drawingml/2006/main">
            <a:pPr>
              <a:defRPr sz="1950" b="1">
                <a:solidFill>
                  <a:srgbClr val="A76316"/>
                </a:solidFill>
                <a:latin typeface="Aptos"/>
                <a:ea typeface="Aptos"/>
                <a:cs typeface="Aptos"/>
              </a:defRPr>
            </a:pPr>
            <a:r>
              <a:rPr sz="1950" b="1">
                <a:solidFill>
                  <a:srgbClr val="A76316"/>
                </a:solidFill>
                <a:latin typeface="Aptos"/>
                <a:ea typeface="Aptos"/>
                <a:cs typeface="Aptos"/>
              </a:rPr>
              <a:t>Limits: localization accuracy, robot reach and sensor setup</a:t>
            </a:r>
          </a:p>
        </p:txBody>
      </p:sp>
    </p:spTree>
    <p:extLst>
      <p:ext uri="{BB962C8B-B14F-4D97-AF65-F5344CB8AC3E}">
        <p14:creationId xmlns:p14="http://schemas.microsoft.com/office/powerpoint/2010/main" val="554555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2026-10-09T11:44:24.0730000Z</dcterms:created>
  <dcterms:modified xsi:type="dcterms:W3CDTF">2026-10-09T11:44:24.0730000Z</dcterms:modified>
</coreProperties>
</file>