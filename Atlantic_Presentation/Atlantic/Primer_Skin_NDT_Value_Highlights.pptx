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ecddbc86e94501" /><Relationship Type="http://schemas.openxmlformats.org/officeDocument/2006/relationships/extended-properties" Target="/docProps/app.xml" Id="R3a5f2ea48fd24308" /><Relationship Type="http://schemas.openxmlformats.org/officeDocument/2006/relationships/officeDocument" Target="/ppt/presentation.xml" Id="R296e55e45b77417d" /></Relationships>
</file>

<file path=ppt/presentation.xml><?xml version="1.0" encoding="utf-8"?>
<p:presentation xmlns:p="http://schemas.openxmlformats.org/presentationml/2006/main">
  <p:sldMasterIdLst>
    <p:sldMasterId xmlns:r="http://schemas.openxmlformats.org/officeDocument/2006/relationships" id="2147483648" r:id="Rce3a0aca7f534805"/>
  </p:sldMasterIdLst>
  <p:notesMasterIdLst>
    <p:notesMasterId xmlns:r="http://schemas.openxmlformats.org/officeDocument/2006/relationships" r:id="R017889c2c04b45ab"/>
  </p:notesMasterIdLst>
  <p:sldIdLst>
    <p:sldId xmlns:r="http://schemas.openxmlformats.org/officeDocument/2006/relationships" id="256" r:id="R570dd79fd6e644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ae6c4b2eaa4f42" /><Relationship Type="http://schemas.openxmlformats.org/officeDocument/2006/relationships/slideMaster" Target="/ppt/slideMasters/slideMaster1.xml" Id="Rce3a0aca7f534805" /><Relationship Type="http://schemas.openxmlformats.org/officeDocument/2006/relationships/notesMaster" Target="/ppt/notesMasters/notesMaster1.xml" Id="R017889c2c04b45ab" /><Relationship Type="http://schemas.openxmlformats.org/officeDocument/2006/relationships/presProps" Target="/ppt/presProps.xml" Id="Ree692dbde0a2483c" /><Relationship Type="http://schemas.openxmlformats.org/officeDocument/2006/relationships/tableStyles" Target="/ppt/tableStyles.xml" Id="R37d452dcbbef44b0" /><Relationship Type="http://schemas.openxmlformats.org/officeDocument/2006/relationships/slide" Target="/ppt/slides/slide1.xml" Id="R570dd79fd6e644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92fb5784b54d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504d4f6e4847b1" /><Relationship Type="http://schemas.openxmlformats.org/officeDocument/2006/relationships/notesMaster" Target="/ppt/notesMasters/notesMaster1.xml" Id="R77724150489d43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Benefits and value added for Primer Skin NDT automatic path planning. This is a customer-facing value slide, not a measured performance report. Configurable scan area, shape and swathe width support adaptation to different parts and defect locations within robot reach and the supported modelling/process constraints. Automatic robot motion generation reduces manual programming effort. Mission or robot task-sequence optimization chooses an efficient visiting order to reduce travel and unnecessary repositioning; targeted region scanning avoids unnecessary full-surface rescans. Optimization does not imply guaranteed global optimality. Motion checks address reach, joint limits, singularities and collisions in the model, followed by FANUC ROBOGUIDE program validation before robot execution. The user used the term onboard validation; the established workflow supports integrated planning checks and ROBOGUIDE verification, so this slide does not claim controller-resident online validation. The intended value is fewer physical trial iterations, earlier issue detection, reduced preparation effort and shorter inspection cycles, to be measured in trials. Reusable planning is an architectural opportunity: different planner options can be selected for different use cases, for example HPP, MoveIt2 or Tesseract, subject to integration and qualification. This does not claim all options are currently integrated into this NDT demonstrator. Potential synergy is reuse of the planning capability across projects, selecting suitable planners for each use case and adapting integration and validation as needed. No images are used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e327f9b22441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bb07e58a744ba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48d35a82d04e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7f2e04d00341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385d806dedc49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9961d7354d4b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97B0C8-D903-4CDF-87CC-FE3E1B6861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B9B4301-4A43-460C-BCD8-EC65F5FDFA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8E07BA3-FDD0-430C-95B9-40F980ADD3B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797BFE-EEFB-4397-AEE4-52EC8B93CF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A5318C-BD1B-4201-8205-018F3A13847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9E3CC0-F53E-40B7-B14C-1933826BB0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366A86-845B-4770-AA89-914BD0096D6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AF3D18B-7E15-4A7B-A84F-10671CA6CE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DE19CE-7D5B-4043-85D3-FCCD58383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7DADDF-F6E0-4C1B-A90D-F1408B9328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7b2ab64a59481e" /><Relationship Type="http://schemas.openxmlformats.org/officeDocument/2006/relationships/slideLayout" Target="/ppt/slideLayouts/slideLayout1.xml" Id="R572c0c5f80ca4204" /><Relationship Type="http://schemas.openxmlformats.org/officeDocument/2006/relationships/slideLayout" Target="/ppt/slideLayouts/slideLayout2.xml" Id="R0d20f3abeabe41d7" /><Relationship Type="http://schemas.openxmlformats.org/officeDocument/2006/relationships/slideLayout" Target="/ppt/slideLayouts/slideLayout3.xml" Id="R1f7c491f8146460f" /><Relationship Type="http://schemas.openxmlformats.org/officeDocument/2006/relationships/slideLayout" Target="/ppt/slideLayouts/slideLayout4.xml" Id="R81c0ad2758bc4c84" /><Relationship Type="http://schemas.openxmlformats.org/officeDocument/2006/relationships/slideLayout" Target="/ppt/slideLayouts/slideLayout5.xml" Id="R26d87b38ffd94921" /><Relationship Type="http://schemas.openxmlformats.org/officeDocument/2006/relationships/slideLayout" Target="/ppt/slideLayouts/slideLayout6.xml" Id="R014ebba5daa54f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2c0c5f80ca4204"/>
    <p:sldLayoutId xmlns:r="http://schemas.openxmlformats.org/officeDocument/2006/relationships" id="2147483650" r:id="R0d20f3abeabe41d7"/>
    <p:sldLayoutId xmlns:r="http://schemas.openxmlformats.org/officeDocument/2006/relationships" id="2147483651" r:id="R1f7c491f8146460f"/>
    <p:sldLayoutId xmlns:r="http://schemas.openxmlformats.org/officeDocument/2006/relationships" id="2147483652" r:id="R81c0ad2758bc4c84"/>
    <p:sldLayoutId xmlns:r="http://schemas.openxmlformats.org/officeDocument/2006/relationships" id="2147483653" r:id="R26d87b38ffd94921"/>
    <p:sldLayoutId xmlns:r="http://schemas.openxmlformats.org/officeDocument/2006/relationships" id="2147483654" r:id="R014ebba5daa54f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4fa1b713b1402f" /><Relationship Type="http://schemas.openxmlformats.org/officeDocument/2006/relationships/notesSlide" Target="/ppt/notesSlides/notesSlide1.xml" Id="R432056ef92d6449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79F7C0-14A2-46DF-A73F-33219ABCDB2C}"/>
              </a:ext>
            </a:extLst>
          </p:cNvPr>
          <p:cNvSpPr>
            <a:spLocks xmlns:a="http://schemas.openxmlformats.org/drawingml/2006/main" noGrp="1"/>
          </p:cNvSpPr>
          <p:nvPr/>
        </p:nvSpPr>
        <p:spPr>
          <a:xfrm xmlns:a="http://schemas.openxmlformats.org/drawingml/2006/main">
            <a:off x="457200" y="266700"/>
            <a:ext cx="1127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0243B"/>
                </a:solidFill>
                <a:latin typeface="Aptos"/>
                <a:ea typeface="Aptos"/>
                <a:cs typeface="Aptos"/>
              </a:defRPr>
            </a:defPPr>
          </a:lstStyle>
          <a:p xmlns:a="http://schemas.openxmlformats.org/drawingml/2006/main">
            <a:pPr>
              <a:defRPr sz="2850" b="1">
                <a:solidFill>
                  <a:srgbClr val="10243B"/>
                </a:solidFill>
                <a:latin typeface="Aptos"/>
                <a:ea typeface="Aptos"/>
                <a:cs typeface="Aptos"/>
              </a:defRPr>
            </a:pPr>
            <a:r>
              <a:rPr sz="2850" b="1">
                <a:solidFill>
                  <a:srgbClr val="10243B"/>
                </a:solidFill>
                <a:latin typeface="Aptos"/>
                <a:ea typeface="Aptos"/>
                <a:cs typeface="Aptos"/>
              </a:rPr>
              <a:t>Primer Skin NDT Inspection</a:t>
            </a:r>
          </a:p>
        </p:txBody>
      </p:sp>
      <p:sp>
        <p:nvSpPr>
          <p:cNvPr id="2" name="">
            <a:extLst xmlns:a="http://schemas.openxmlformats.org/drawingml/2006/main">
              <a:ext uri="{FF2B5EF4-FFF2-40B4-BE49-F238E27FC236}">
                <a16:creationId xmlns:a16="http://schemas.microsoft.com/office/drawing/2014/main" id="{AD45C1DF-8D63-4522-88FB-930449A24140}"/>
              </a:ext>
            </a:extLst>
          </p:cNvPr>
          <p:cNvSpPr>
            <a:spLocks xmlns:a="http://schemas.openxmlformats.org/drawingml/2006/main" noGrp="1"/>
          </p:cNvSpPr>
          <p:nvPr/>
        </p:nvSpPr>
        <p:spPr>
          <a:xfrm xmlns:a="http://schemas.openxmlformats.org/drawingml/2006/main">
            <a:off x="457200" y="76200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008F98"/>
                </a:solidFill>
                <a:latin typeface="Aptos"/>
                <a:ea typeface="Aptos"/>
                <a:cs typeface="Aptos"/>
              </a:defRPr>
            </a:defPPr>
          </a:lstStyle>
          <a:p xmlns:a="http://schemas.openxmlformats.org/drawingml/2006/main">
            <a:pPr>
              <a:defRPr sz="2250" b="0">
                <a:solidFill>
                  <a:srgbClr val="008F98"/>
                </a:solidFill>
                <a:latin typeface="Aptos"/>
                <a:ea typeface="Aptos"/>
                <a:cs typeface="Aptos"/>
              </a:defRPr>
            </a:pPr>
            <a:r>
              <a:rPr sz="2250" b="0">
                <a:solidFill>
                  <a:srgbClr val="008F98"/>
                </a:solidFill>
                <a:latin typeface="Aptos"/>
                <a:ea typeface="Aptos"/>
                <a:cs typeface="Aptos"/>
              </a:rPr>
              <a:t>Benefits and Value Added</a:t>
            </a:r>
          </a:p>
        </p:txBody>
      </p:sp>
      <p:sp>
        <p:nvSpPr>
          <p:cNvPr id="3" name="">
            <a:extLst xmlns:a="http://schemas.openxmlformats.org/drawingml/2006/main">
              <a:ext uri="{FF2B5EF4-FFF2-40B4-BE49-F238E27FC236}">
                <a16:creationId xmlns:a16="http://schemas.microsoft.com/office/drawing/2014/main" id="{04736FC1-49E4-4832-AC7F-DEF969729421}"/>
              </a:ext>
            </a:extLst>
          </p:cNvPr>
          <p:cNvSpPr>
            <a:spLocks xmlns:a="http://schemas.openxmlformats.org/drawingml/2006/main" noGrp="1"/>
          </p:cNvSpPr>
          <p:nvPr/>
        </p:nvSpPr>
        <p:spPr>
          <a:xfrm xmlns:a="http://schemas.openxmlformats.org/drawingml/2006/main">
            <a:off x="609600" y="14763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627182"/>
                </a:solidFill>
                <a:latin typeface="Aptos"/>
                <a:ea typeface="Aptos"/>
                <a:cs typeface="Aptos"/>
              </a:defRPr>
            </a:defPPr>
          </a:lstStyle>
          <a:p xmlns:a="http://schemas.openxmlformats.org/drawingml/2006/main">
            <a:pPr>
              <a:defRPr sz="1575" b="1">
                <a:solidFill>
                  <a:srgbClr val="627182"/>
                </a:solidFill>
                <a:latin typeface="Aptos"/>
                <a:ea typeface="Aptos"/>
                <a:cs typeface="Aptos"/>
              </a:defRPr>
            </a:pPr>
            <a:r>
              <a:rPr sz="1575" b="1">
                <a:solidFill>
                  <a:srgbClr val="627182"/>
                </a:solidFill>
                <a:latin typeface="Aptos"/>
                <a:ea typeface="Aptos"/>
                <a:cs typeface="Aptos"/>
              </a:rPr>
              <a:t>CAPABILITY</a:t>
            </a:r>
          </a:p>
        </p:txBody>
      </p:sp>
      <p:sp>
        <p:nvSpPr>
          <p:cNvPr id="4" name="">
            <a:extLst xmlns:a="http://schemas.openxmlformats.org/drawingml/2006/main">
              <a:ext uri="{FF2B5EF4-FFF2-40B4-BE49-F238E27FC236}">
                <a16:creationId xmlns:a16="http://schemas.microsoft.com/office/drawing/2014/main" id="{74F02CFF-FF29-44B4-A937-7A8F0060EBC1}"/>
              </a:ext>
            </a:extLst>
          </p:cNvPr>
          <p:cNvSpPr>
            <a:spLocks xmlns:a="http://schemas.openxmlformats.org/drawingml/2006/main" noGrp="1"/>
          </p:cNvSpPr>
          <p:nvPr/>
        </p:nvSpPr>
        <p:spPr>
          <a:xfrm xmlns:a="http://schemas.openxmlformats.org/drawingml/2006/main">
            <a:off x="5657850" y="14763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008F98"/>
                </a:solidFill>
                <a:latin typeface="Aptos"/>
                <a:ea typeface="Aptos"/>
                <a:cs typeface="Aptos"/>
              </a:defRPr>
            </a:defPPr>
          </a:lstStyle>
          <a:p xmlns:a="http://schemas.openxmlformats.org/drawingml/2006/main">
            <a:pPr>
              <a:defRPr sz="1575" b="1">
                <a:solidFill>
                  <a:srgbClr val="008F98"/>
                </a:solidFill>
                <a:latin typeface="Aptos"/>
                <a:ea typeface="Aptos"/>
                <a:cs typeface="Aptos"/>
              </a:defRPr>
            </a:pPr>
            <a:r>
              <a:rPr sz="1575" b="1">
                <a:solidFill>
                  <a:srgbClr val="008F98"/>
                </a:solidFill>
                <a:latin typeface="Aptos"/>
                <a:ea typeface="Aptos"/>
                <a:cs typeface="Aptos"/>
              </a:rPr>
              <a:t>VALUE ADDED</a:t>
            </a:r>
          </a:p>
        </p:txBody>
      </p:sp>
      <p:sp>
        <p:nvSpPr>
          <p:cNvPr id="5" name="">
            <a:extLst xmlns:a="http://schemas.openxmlformats.org/drawingml/2006/main">
              <a:ext uri="{FF2B5EF4-FFF2-40B4-BE49-F238E27FC236}">
                <a16:creationId xmlns:a16="http://schemas.microsoft.com/office/drawing/2014/main" id="{1CB4D3A9-AAFC-4A9A-966E-ED4E2F47B2A5}"/>
              </a:ext>
            </a:extLst>
          </p:cNvPr>
          <p:cNvSpPr>
            <a:spLocks xmlns:a="http://schemas.openxmlformats.org/drawingml/2006/main" noGrp="1"/>
          </p:cNvSpPr>
          <p:nvPr/>
        </p:nvSpPr>
        <p:spPr>
          <a:xfrm xmlns:a="http://schemas.openxmlformats.org/drawingml/2006/main">
            <a:off x="609600" y="20097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0243B"/>
                </a:solidFill>
                <a:latin typeface="Aptos"/>
                <a:ea typeface="Aptos"/>
                <a:cs typeface="Aptos"/>
              </a:defRPr>
            </a:defPPr>
          </a:lstStyle>
          <a:p xmlns:a="http://schemas.openxmlformats.org/drawingml/2006/main">
            <a:pPr>
              <a:defRPr sz="2250" b="1">
                <a:solidFill>
                  <a:srgbClr val="10243B"/>
                </a:solidFill>
                <a:latin typeface="Aptos"/>
                <a:ea typeface="Aptos"/>
                <a:cs typeface="Aptos"/>
              </a:defRPr>
            </a:pPr>
            <a:r>
              <a:rPr sz="2250" b="1">
                <a:solidFill>
                  <a:srgbClr val="10243B"/>
                </a:solidFill>
                <a:latin typeface="Aptos"/>
                <a:ea typeface="Aptos"/>
                <a:cs typeface="Aptos"/>
              </a:rPr>
              <a:t>Adaptable scan paths</a:t>
            </a:r>
          </a:p>
        </p:txBody>
      </p:sp>
      <p:sp>
        <p:nvSpPr>
          <p:cNvPr id="6" name="">
            <a:extLst xmlns:a="http://schemas.openxmlformats.org/drawingml/2006/main">
              <a:ext uri="{FF2B5EF4-FFF2-40B4-BE49-F238E27FC236}">
                <a16:creationId xmlns:a16="http://schemas.microsoft.com/office/drawing/2014/main" id="{70ED0C14-D59F-4D47-88CE-0084E182AAF6}"/>
              </a:ext>
            </a:extLst>
          </p:cNvPr>
          <p:cNvSpPr>
            <a:spLocks xmlns:a="http://schemas.openxmlformats.org/drawingml/2006/main" noGrp="1"/>
          </p:cNvSpPr>
          <p:nvPr/>
        </p:nvSpPr>
        <p:spPr>
          <a:xfrm xmlns:a="http://schemas.openxmlformats.org/drawingml/2006/main">
            <a:off x="609600" y="2438400"/>
            <a:ext cx="485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27182"/>
                </a:solidFill>
                <a:latin typeface="Aptos"/>
                <a:ea typeface="Aptos"/>
                <a:cs typeface="Aptos"/>
              </a:defRPr>
            </a:defPPr>
          </a:lstStyle>
          <a:p xmlns:a="http://schemas.openxmlformats.org/drawingml/2006/main">
            <a:pPr>
              <a:defRPr sz="1575" b="0">
                <a:solidFill>
                  <a:srgbClr val="627182"/>
                </a:solidFill>
                <a:latin typeface="Aptos"/>
                <a:ea typeface="Aptos"/>
                <a:cs typeface="Aptos"/>
              </a:defRPr>
            </a:pPr>
            <a:r>
              <a:rPr sz="1575" b="0">
                <a:solidFill>
                  <a:srgbClr val="627182"/>
                </a:solidFill>
                <a:latin typeface="Aptos"/>
                <a:ea typeface="Aptos"/>
                <a:cs typeface="Aptos"/>
              </a:rPr>
              <a:t>New parts and defect locations</a:t>
            </a:r>
          </a:p>
        </p:txBody>
      </p:sp>
      <p:sp>
        <p:nvSpPr>
          <p:cNvPr id="7" name="">
            <a:extLst xmlns:a="http://schemas.openxmlformats.org/drawingml/2006/main">
              <a:ext uri="{FF2B5EF4-FFF2-40B4-BE49-F238E27FC236}">
                <a16:creationId xmlns:a16="http://schemas.microsoft.com/office/drawing/2014/main" id="{7FA19C56-3F49-446F-9F98-231C8AF3D5ED}"/>
              </a:ext>
            </a:extLst>
          </p:cNvPr>
          <p:cNvSpPr>
            <a:spLocks xmlns:a="http://schemas.openxmlformats.org/drawingml/2006/main" noGrp="1"/>
          </p:cNvSpPr>
          <p:nvPr/>
        </p:nvSpPr>
        <p:spPr>
          <a:xfrm xmlns:a="http://schemas.openxmlformats.org/drawingml/2006/main">
            <a:off x="5657850" y="20574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D91"/>
                </a:solidFill>
                <a:latin typeface="Aptos"/>
                <a:ea typeface="Aptos"/>
                <a:cs typeface="Aptos"/>
              </a:defRPr>
            </a:defPPr>
          </a:lstStyle>
          <a:p xmlns:a="http://schemas.openxmlformats.org/drawingml/2006/main">
            <a:pPr>
              <a:defRPr sz="2400" b="1">
                <a:solidFill>
                  <a:srgbClr val="006D91"/>
                </a:solidFill>
                <a:latin typeface="Aptos"/>
                <a:ea typeface="Aptos"/>
                <a:cs typeface="Aptos"/>
              </a:defRPr>
            </a:pPr>
            <a:r>
              <a:rPr sz="2400" b="1">
                <a:solidFill>
                  <a:srgbClr val="006D91"/>
                </a:solidFill>
                <a:latin typeface="Aptos"/>
                <a:ea typeface="Aptos"/>
                <a:cs typeface="Aptos"/>
              </a:rPr>
              <a:t>Less programming. Faster setup.</a:t>
            </a:r>
          </a:p>
        </p:txBody>
      </p:sp>
      <p:sp>
        <p:nvSpPr>
          <p:cNvPr id="8" name="">
            <a:extLst xmlns:a="http://schemas.openxmlformats.org/drawingml/2006/main">
              <a:ext uri="{FF2B5EF4-FFF2-40B4-BE49-F238E27FC236}">
                <a16:creationId xmlns:a16="http://schemas.microsoft.com/office/drawing/2014/main" id="{93AAB8D4-C0E8-42A1-AA59-A1080785EEF1}"/>
              </a:ext>
            </a:extLst>
          </p:cNvPr>
          <p:cNvSpPr>
            <a:spLocks xmlns:a="http://schemas.openxmlformats.org/drawingml/2006/main" noGrp="1"/>
          </p:cNvSpPr>
          <p:nvPr/>
        </p:nvSpPr>
        <p:spPr>
          <a:xfrm xmlns:a="http://schemas.openxmlformats.org/drawingml/2006/main">
            <a:off x="609600" y="2847975"/>
            <a:ext cx="10972800" cy="9525"/>
          </a:xfrm>
          <a:prstGeom xmlns:a="http://schemas.openxmlformats.org/drawingml/2006/main" prst="rect">
            <a:avLst/>
          </a:prstGeom>
          <a:solidFill xmlns:a="http://schemas.openxmlformats.org/drawingml/2006/main">
            <a:srgbClr val="D8E5E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8559D0-0603-45AA-B1DE-B9D29E8C7350}"/>
              </a:ext>
            </a:extLst>
          </p:cNvPr>
          <p:cNvSpPr>
            <a:spLocks xmlns:a="http://schemas.openxmlformats.org/drawingml/2006/main" noGrp="1"/>
          </p:cNvSpPr>
          <p:nvPr/>
        </p:nvSpPr>
        <p:spPr>
          <a:xfrm xmlns:a="http://schemas.openxmlformats.org/drawingml/2006/main">
            <a:off x="609600" y="30384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0243B"/>
                </a:solidFill>
                <a:latin typeface="Aptos"/>
                <a:ea typeface="Aptos"/>
                <a:cs typeface="Aptos"/>
              </a:defRPr>
            </a:defPPr>
          </a:lstStyle>
          <a:p xmlns:a="http://schemas.openxmlformats.org/drawingml/2006/main">
            <a:pPr>
              <a:defRPr sz="2250" b="1">
                <a:solidFill>
                  <a:srgbClr val="10243B"/>
                </a:solidFill>
                <a:latin typeface="Aptos"/>
                <a:ea typeface="Aptos"/>
                <a:cs typeface="Aptos"/>
              </a:defRPr>
            </a:pPr>
            <a:r>
              <a:rPr sz="2250" b="1">
                <a:solidFill>
                  <a:srgbClr val="10243B"/>
                </a:solidFill>
                <a:latin typeface="Aptos"/>
                <a:ea typeface="Aptos"/>
                <a:cs typeface="Aptos"/>
              </a:rPr>
              <a:t>Optimized task sequence</a:t>
            </a:r>
          </a:p>
        </p:txBody>
      </p:sp>
      <p:sp>
        <p:nvSpPr>
          <p:cNvPr id="10" name="">
            <a:extLst xmlns:a="http://schemas.openxmlformats.org/drawingml/2006/main">
              <a:ext uri="{FF2B5EF4-FFF2-40B4-BE49-F238E27FC236}">
                <a16:creationId xmlns:a16="http://schemas.microsoft.com/office/drawing/2014/main" id="{4C236AAD-4A10-43AB-9FE4-139058C9A569}"/>
              </a:ext>
            </a:extLst>
          </p:cNvPr>
          <p:cNvSpPr>
            <a:spLocks xmlns:a="http://schemas.openxmlformats.org/drawingml/2006/main" noGrp="1"/>
          </p:cNvSpPr>
          <p:nvPr/>
        </p:nvSpPr>
        <p:spPr>
          <a:xfrm xmlns:a="http://schemas.openxmlformats.org/drawingml/2006/main">
            <a:off x="609600" y="3467100"/>
            <a:ext cx="485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27182"/>
                </a:solidFill>
                <a:latin typeface="Aptos"/>
                <a:ea typeface="Aptos"/>
                <a:cs typeface="Aptos"/>
              </a:defRPr>
            </a:defPPr>
          </a:lstStyle>
          <a:p xmlns:a="http://schemas.openxmlformats.org/drawingml/2006/main">
            <a:pPr>
              <a:defRPr sz="1575" b="0">
                <a:solidFill>
                  <a:srgbClr val="627182"/>
                </a:solidFill>
                <a:latin typeface="Aptos"/>
                <a:ea typeface="Aptos"/>
                <a:cs typeface="Aptos"/>
              </a:defRPr>
            </a:pPr>
            <a:r>
              <a:rPr sz="1575" b="0">
                <a:solidFill>
                  <a:srgbClr val="627182"/>
                </a:solidFill>
                <a:latin typeface="Aptos"/>
                <a:ea typeface="Aptos"/>
                <a:cs typeface="Aptos"/>
              </a:rPr>
              <a:t>Efficient visits and targeted scanning</a:t>
            </a:r>
          </a:p>
        </p:txBody>
      </p:sp>
      <p:sp>
        <p:nvSpPr>
          <p:cNvPr id="11" name="">
            <a:extLst xmlns:a="http://schemas.openxmlformats.org/drawingml/2006/main">
              <a:ext uri="{FF2B5EF4-FFF2-40B4-BE49-F238E27FC236}">
                <a16:creationId xmlns:a16="http://schemas.microsoft.com/office/drawing/2014/main" id="{488C1E70-F8AC-498D-9E88-05C4A99A536A}"/>
              </a:ext>
            </a:extLst>
          </p:cNvPr>
          <p:cNvSpPr>
            <a:spLocks xmlns:a="http://schemas.openxmlformats.org/drawingml/2006/main" noGrp="1"/>
          </p:cNvSpPr>
          <p:nvPr/>
        </p:nvSpPr>
        <p:spPr>
          <a:xfrm xmlns:a="http://schemas.openxmlformats.org/drawingml/2006/main">
            <a:off x="5657850" y="30861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D91"/>
                </a:solidFill>
                <a:latin typeface="Aptos"/>
                <a:ea typeface="Aptos"/>
                <a:cs typeface="Aptos"/>
              </a:defRPr>
            </a:defPPr>
          </a:lstStyle>
          <a:p xmlns:a="http://schemas.openxmlformats.org/drawingml/2006/main">
            <a:pPr>
              <a:defRPr sz="2400" b="1">
                <a:solidFill>
                  <a:srgbClr val="006D91"/>
                </a:solidFill>
                <a:latin typeface="Aptos"/>
                <a:ea typeface="Aptos"/>
                <a:cs typeface="Aptos"/>
              </a:defRPr>
            </a:pPr>
            <a:r>
              <a:rPr sz="2400" b="1">
                <a:solidFill>
                  <a:srgbClr val="006D91"/>
                </a:solidFill>
                <a:latin typeface="Aptos"/>
                <a:ea typeface="Aptos"/>
                <a:cs typeface="Aptos"/>
              </a:rPr>
              <a:t>Less travel. Faster inspection.</a:t>
            </a:r>
          </a:p>
        </p:txBody>
      </p:sp>
      <p:sp>
        <p:nvSpPr>
          <p:cNvPr id="12" name="">
            <a:extLst xmlns:a="http://schemas.openxmlformats.org/drawingml/2006/main">
              <a:ext uri="{FF2B5EF4-FFF2-40B4-BE49-F238E27FC236}">
                <a16:creationId xmlns:a16="http://schemas.microsoft.com/office/drawing/2014/main" id="{E52FAE7C-68D2-4E02-994E-5A085B627B84}"/>
              </a:ext>
            </a:extLst>
          </p:cNvPr>
          <p:cNvSpPr>
            <a:spLocks xmlns:a="http://schemas.openxmlformats.org/drawingml/2006/main" noGrp="1"/>
          </p:cNvSpPr>
          <p:nvPr/>
        </p:nvSpPr>
        <p:spPr>
          <a:xfrm xmlns:a="http://schemas.openxmlformats.org/drawingml/2006/main">
            <a:off x="609600" y="3876675"/>
            <a:ext cx="10972800" cy="9525"/>
          </a:xfrm>
          <a:prstGeom xmlns:a="http://schemas.openxmlformats.org/drawingml/2006/main" prst="rect">
            <a:avLst/>
          </a:prstGeom>
          <a:solidFill xmlns:a="http://schemas.openxmlformats.org/drawingml/2006/main">
            <a:srgbClr val="D8E5E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406EBF5-58A1-496D-B294-F78AD961DE7C}"/>
              </a:ext>
            </a:extLst>
          </p:cNvPr>
          <p:cNvSpPr>
            <a:spLocks xmlns:a="http://schemas.openxmlformats.org/drawingml/2006/main" noGrp="1"/>
          </p:cNvSpPr>
          <p:nvPr/>
        </p:nvSpPr>
        <p:spPr>
          <a:xfrm xmlns:a="http://schemas.openxmlformats.org/drawingml/2006/main">
            <a:off x="609600" y="40671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0243B"/>
                </a:solidFill>
                <a:latin typeface="Aptos"/>
                <a:ea typeface="Aptos"/>
                <a:cs typeface="Aptos"/>
              </a:defRPr>
            </a:defPPr>
          </a:lstStyle>
          <a:p xmlns:a="http://schemas.openxmlformats.org/drawingml/2006/main">
            <a:pPr>
              <a:defRPr sz="2250" b="1">
                <a:solidFill>
                  <a:srgbClr val="10243B"/>
                </a:solidFill>
                <a:latin typeface="Aptos"/>
                <a:ea typeface="Aptos"/>
                <a:cs typeface="Aptos"/>
              </a:defRPr>
            </a:pPr>
            <a:r>
              <a:rPr sz="2250" b="1">
                <a:solidFill>
                  <a:srgbClr val="10243B"/>
                </a:solidFill>
                <a:latin typeface="Aptos"/>
                <a:ea typeface="Aptos"/>
                <a:cs typeface="Aptos"/>
              </a:rPr>
              <a:t>Validated robot motion</a:t>
            </a:r>
          </a:p>
        </p:txBody>
      </p:sp>
      <p:sp>
        <p:nvSpPr>
          <p:cNvPr id="14" name="">
            <a:extLst xmlns:a="http://schemas.openxmlformats.org/drawingml/2006/main">
              <a:ext uri="{FF2B5EF4-FFF2-40B4-BE49-F238E27FC236}">
                <a16:creationId xmlns:a16="http://schemas.microsoft.com/office/drawing/2014/main" id="{7C6EE4F1-0900-4779-A789-3D5DE6637A7F}"/>
              </a:ext>
            </a:extLst>
          </p:cNvPr>
          <p:cNvSpPr>
            <a:spLocks xmlns:a="http://schemas.openxmlformats.org/drawingml/2006/main" noGrp="1"/>
          </p:cNvSpPr>
          <p:nvPr/>
        </p:nvSpPr>
        <p:spPr>
          <a:xfrm xmlns:a="http://schemas.openxmlformats.org/drawingml/2006/main">
            <a:off x="609600" y="4495800"/>
            <a:ext cx="4857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27182"/>
                </a:solidFill>
                <a:latin typeface="Aptos"/>
                <a:ea typeface="Aptos"/>
                <a:cs typeface="Aptos"/>
              </a:defRPr>
            </a:defPPr>
          </a:lstStyle>
          <a:p xmlns:a="http://schemas.openxmlformats.org/drawingml/2006/main">
            <a:pPr>
              <a:defRPr sz="1575" b="0">
                <a:solidFill>
                  <a:srgbClr val="627182"/>
                </a:solidFill>
                <a:latin typeface="Aptos"/>
                <a:ea typeface="Aptos"/>
                <a:cs typeface="Aptos"/>
              </a:defRPr>
            </a:pPr>
            <a:r>
              <a:rPr sz="1575" b="0">
                <a:solidFill>
                  <a:srgbClr val="627182"/>
                </a:solidFill>
                <a:latin typeface="Aptos"/>
                <a:ea typeface="Aptos"/>
                <a:cs typeface="Aptos"/>
              </a:rPr>
              <a:t>Singularity and collision checks</a:t>
            </a:r>
          </a:p>
        </p:txBody>
      </p:sp>
      <p:sp>
        <p:nvSpPr>
          <p:cNvPr id="15" name="">
            <a:extLst xmlns:a="http://schemas.openxmlformats.org/drawingml/2006/main">
              <a:ext uri="{FF2B5EF4-FFF2-40B4-BE49-F238E27FC236}">
                <a16:creationId xmlns:a16="http://schemas.microsoft.com/office/drawing/2014/main" id="{F0A1698E-538A-4073-AC4B-6E43EE204532}"/>
              </a:ext>
            </a:extLst>
          </p:cNvPr>
          <p:cNvSpPr>
            <a:spLocks xmlns:a="http://schemas.openxmlformats.org/drawingml/2006/main" noGrp="1"/>
          </p:cNvSpPr>
          <p:nvPr/>
        </p:nvSpPr>
        <p:spPr>
          <a:xfrm xmlns:a="http://schemas.openxmlformats.org/drawingml/2006/main">
            <a:off x="5657850" y="41148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D91"/>
                </a:solidFill>
                <a:latin typeface="Aptos"/>
                <a:ea typeface="Aptos"/>
                <a:cs typeface="Aptos"/>
              </a:defRPr>
            </a:defPPr>
          </a:lstStyle>
          <a:p xmlns:a="http://schemas.openxmlformats.org/drawingml/2006/main">
            <a:pPr>
              <a:defRPr sz="2400" b="1">
                <a:solidFill>
                  <a:srgbClr val="006D91"/>
                </a:solidFill>
                <a:latin typeface="Aptos"/>
                <a:ea typeface="Aptos"/>
                <a:cs typeface="Aptos"/>
              </a:defRPr>
            </a:pPr>
            <a:r>
              <a:rPr sz="2400" b="1">
                <a:solidFill>
                  <a:srgbClr val="006D91"/>
                </a:solidFill>
                <a:latin typeface="Aptos"/>
                <a:ea typeface="Aptos"/>
                <a:cs typeface="Aptos"/>
              </a:rPr>
              <a:t>Fewer execution issues.</a:t>
            </a:r>
          </a:p>
        </p:txBody>
      </p:sp>
      <p:sp>
        <p:nvSpPr>
          <p:cNvPr id="16" name="">
            <a:extLst xmlns:a="http://schemas.openxmlformats.org/drawingml/2006/main">
              <a:ext uri="{FF2B5EF4-FFF2-40B4-BE49-F238E27FC236}">
                <a16:creationId xmlns:a16="http://schemas.microsoft.com/office/drawing/2014/main" id="{9037D3F1-3D59-4E4D-8C9A-E5DD2E718396}"/>
              </a:ext>
            </a:extLst>
          </p:cNvPr>
          <p:cNvSpPr>
            <a:spLocks xmlns:a="http://schemas.openxmlformats.org/drawingml/2006/main" noGrp="1"/>
          </p:cNvSpPr>
          <p:nvPr/>
        </p:nvSpPr>
        <p:spPr>
          <a:xfrm xmlns:a="http://schemas.openxmlformats.org/drawingml/2006/main">
            <a:off x="457200" y="5400675"/>
            <a:ext cx="11277600" cy="990600"/>
          </a:xfrm>
          <a:prstGeom xmlns:a="http://schemas.openxmlformats.org/drawingml/2006/main" prst="rect">
            <a:avLst/>
          </a:prstGeom>
          <a:solidFill xmlns:a="http://schemas.openxmlformats.org/drawingml/2006/main">
            <a:srgbClr val="10243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6F686D7-9CD0-44D6-ADA0-BDB2A36BC341}"/>
              </a:ext>
            </a:extLst>
          </p:cNvPr>
          <p:cNvSpPr>
            <a:spLocks xmlns:a="http://schemas.openxmlformats.org/drawingml/2006/main" noGrp="1"/>
          </p:cNvSpPr>
          <p:nvPr/>
        </p:nvSpPr>
        <p:spPr>
          <a:xfrm xmlns:a="http://schemas.openxmlformats.org/drawingml/2006/main">
            <a:off x="647700" y="5562600"/>
            <a:ext cx="3162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FFFFFF"/>
                </a:solidFill>
                <a:latin typeface="Aptos"/>
                <a:ea typeface="Aptos"/>
                <a:cs typeface="Aptos"/>
              </a:defRPr>
            </a:defPPr>
          </a:lstStyle>
          <a:p xmlns:a="http://schemas.openxmlformats.org/drawingml/2006/main">
            <a:pPr>
              <a:defRPr sz="1725" b="1">
                <a:solidFill>
                  <a:srgbClr val="FFFFFF"/>
                </a:solidFill>
                <a:latin typeface="Aptos"/>
                <a:ea typeface="Aptos"/>
                <a:cs typeface="Aptos"/>
              </a:defRPr>
            </a:pPr>
            <a:r>
              <a:rPr sz="1725" b="1">
                <a:solidFill>
                  <a:srgbClr val="FFFFFF"/>
                </a:solidFill>
                <a:latin typeface="Aptos"/>
                <a:ea typeface="Aptos"/>
                <a:cs typeface="Aptos"/>
              </a:rPr>
              <a:t>POTENTIAL SYNERGY</a:t>
            </a:r>
          </a:p>
        </p:txBody>
      </p:sp>
      <p:sp>
        <p:nvSpPr>
          <p:cNvPr id="18" name="">
            <a:extLst xmlns:a="http://schemas.openxmlformats.org/drawingml/2006/main">
              <a:ext uri="{FF2B5EF4-FFF2-40B4-BE49-F238E27FC236}">
                <a16:creationId xmlns:a16="http://schemas.microsoft.com/office/drawing/2014/main" id="{8631F662-E63F-4033-95FB-787D77F3088F}"/>
              </a:ext>
            </a:extLst>
          </p:cNvPr>
          <p:cNvSpPr>
            <a:spLocks xmlns:a="http://schemas.openxmlformats.org/drawingml/2006/main" noGrp="1"/>
          </p:cNvSpPr>
          <p:nvPr/>
        </p:nvSpPr>
        <p:spPr>
          <a:xfrm xmlns:a="http://schemas.openxmlformats.org/drawingml/2006/main">
            <a:off x="3905250" y="5534025"/>
            <a:ext cx="7677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FFFF"/>
                </a:solidFill>
                <a:latin typeface="Aptos"/>
                <a:ea typeface="Aptos"/>
                <a:cs typeface="Aptos"/>
              </a:defRPr>
            </a:defPPr>
          </a:lstStyle>
          <a:p xmlns:a="http://schemas.openxmlformats.org/drawingml/2006/main">
            <a:pPr>
              <a:defRPr sz="2250" b="1">
                <a:solidFill>
                  <a:srgbClr val="FFFFFF"/>
                </a:solidFill>
                <a:latin typeface="Aptos"/>
                <a:ea typeface="Aptos"/>
                <a:cs typeface="Aptos"/>
              </a:defRPr>
            </a:pPr>
            <a:r>
              <a:rPr sz="2250" b="1">
                <a:solidFill>
                  <a:srgbClr val="FFFFFF"/>
                </a:solidFill>
                <a:latin typeface="Aptos"/>
                <a:ea typeface="Aptos"/>
                <a:cs typeface="Aptos"/>
              </a:rPr>
              <a:t>Reuse across projects. Less redevelopment.</a:t>
            </a:r>
          </a:p>
        </p:txBody>
      </p:sp>
      <p:sp>
        <p:nvSpPr>
          <p:cNvPr id="19" name="">
            <a:extLst xmlns:a="http://schemas.openxmlformats.org/drawingml/2006/main">
              <a:ext uri="{FF2B5EF4-FFF2-40B4-BE49-F238E27FC236}">
                <a16:creationId xmlns:a16="http://schemas.microsoft.com/office/drawing/2014/main" id="{7DDF6949-7CF8-4AD1-B131-E8F26B67CCE6}"/>
              </a:ext>
            </a:extLst>
          </p:cNvPr>
          <p:cNvSpPr>
            <a:spLocks xmlns:a="http://schemas.openxmlformats.org/drawingml/2006/main" noGrp="1"/>
          </p:cNvSpPr>
          <p:nvPr/>
        </p:nvSpPr>
        <p:spPr>
          <a:xfrm xmlns:a="http://schemas.openxmlformats.org/drawingml/2006/main">
            <a:off x="3905250" y="5962650"/>
            <a:ext cx="7677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FFFFFF"/>
                </a:solidFill>
                <a:latin typeface="Aptos"/>
                <a:ea typeface="Aptos"/>
                <a:cs typeface="Aptos"/>
              </a:defRPr>
            </a:defPPr>
          </a:lstStyle>
          <a:p xmlns:a="http://schemas.openxmlformats.org/drawingml/2006/main">
            <a:pPr>
              <a:defRPr sz="1650" b="0">
                <a:solidFill>
                  <a:srgbClr val="FFFFFF"/>
                </a:solidFill>
                <a:latin typeface="Aptos"/>
                <a:ea typeface="Aptos"/>
                <a:cs typeface="Aptos"/>
              </a:defRPr>
            </a:pPr>
            <a:r>
              <a:rPr sz="1650" b="0">
                <a:solidFill>
                  <a:srgbClr val="FFFFFF"/>
                </a:solidFill>
                <a:latin typeface="Aptos"/>
                <a:ea typeface="Aptos"/>
                <a:cs typeface="Aptos"/>
              </a:rPr>
              <a:t>Choose the planner to suit each use case</a:t>
            </a:r>
          </a:p>
        </p:txBody>
      </p:sp>
      <p:sp>
        <p:nvSpPr>
          <p:cNvPr id="20" name="">
            <a:extLst xmlns:a="http://schemas.openxmlformats.org/drawingml/2006/main">
              <a:ext uri="{FF2B5EF4-FFF2-40B4-BE49-F238E27FC236}">
                <a16:creationId xmlns:a16="http://schemas.microsoft.com/office/drawing/2014/main" id="{90446A8D-0257-46FF-9409-8B72A923962E}"/>
              </a:ext>
            </a:extLst>
          </p:cNvPr>
          <p:cNvSpPr>
            <a:spLocks xmlns:a="http://schemas.openxmlformats.org/drawingml/2006/main" noGrp="1"/>
          </p:cNvSpPr>
          <p:nvPr/>
        </p:nvSpPr>
        <p:spPr>
          <a:xfrm xmlns:a="http://schemas.openxmlformats.org/drawingml/2006/main">
            <a:off x="457200" y="6572250"/>
            <a:ext cx="112776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182"/>
                </a:solidFill>
                <a:latin typeface="Aptos"/>
                <a:ea typeface="Aptos"/>
                <a:cs typeface="Aptos"/>
              </a:defRPr>
            </a:defPPr>
          </a:lstStyle>
          <a:p xmlns:a="http://schemas.openxmlformats.org/drawingml/2006/main">
            <a:pPr>
              <a:defRPr sz="1200" b="0">
                <a:solidFill>
                  <a:srgbClr val="627182"/>
                </a:solidFill>
                <a:latin typeface="Aptos"/>
                <a:ea typeface="Aptos"/>
                <a:cs typeface="Aptos"/>
              </a:defRPr>
            </a:pPr>
            <a:r>
              <a:rPr sz="1200" b="0">
                <a:solidFill>
                  <a:srgbClr val="627182"/>
                </a:solidFill>
                <a:latin typeface="Aptos"/>
                <a:ea typeface="Aptos"/>
                <a:cs typeface="Aptos"/>
              </a:rPr>
              <a:t>Target benefits to validate in trials.</a:t>
            </a:r>
          </a:p>
        </p:txBody>
      </p:sp>
    </p:spTree>
    <p:extLst>
      <p:ext uri="{BB962C8B-B14F-4D97-AF65-F5344CB8AC3E}">
        <p14:creationId xmlns:p14="http://schemas.microsoft.com/office/powerpoint/2010/main" val="2314723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2026-10-14T06:48:59.6720000Z</dcterms:created>
  <dcterms:modified xsi:type="dcterms:W3CDTF">2026-10-14T06:48:59.6730000Z</dcterms:modified>
</coreProperties>
</file>