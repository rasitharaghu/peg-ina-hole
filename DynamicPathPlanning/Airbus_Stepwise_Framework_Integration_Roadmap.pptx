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85fb3e420514dc8" /><Relationship Type="http://schemas.openxmlformats.org/officeDocument/2006/relationships/extended-properties" Target="/docProps/app.xml" Id="Ra7798fac796f447c" /><Relationship Type="http://schemas.openxmlformats.org/officeDocument/2006/relationships/officeDocument" Target="/ppt/presentation.xml" Id="R782cfc44131747b2" /></Relationships>
</file>

<file path=ppt/presentation.xml><?xml version="1.0" encoding="utf-8"?>
<p:presentation xmlns:p="http://schemas.openxmlformats.org/presentationml/2006/main">
  <p:sldMasterIdLst>
    <p:sldMasterId xmlns:r="http://schemas.openxmlformats.org/officeDocument/2006/relationships" id="2147483648" r:id="R4c2bd1b73515488d"/>
  </p:sldMasterIdLst>
  <p:notesMasterIdLst>
    <p:notesMasterId xmlns:r="http://schemas.openxmlformats.org/officeDocument/2006/relationships" r:id="R0d66d660e2dd4c6b"/>
  </p:notesMasterIdLst>
  <p:sldIdLst>
    <p:sldId xmlns:r="http://schemas.openxmlformats.org/officeDocument/2006/relationships" id="256" r:id="R81c53546bc2143f9"/>
    <p:sldId xmlns:r="http://schemas.openxmlformats.org/officeDocument/2006/relationships" id="257" r:id="R289c63b470bc457e"/>
    <p:sldId xmlns:r="http://schemas.openxmlformats.org/officeDocument/2006/relationships" id="258" r:id="R048a60ba30064567"/>
    <p:sldId xmlns:r="http://schemas.openxmlformats.org/officeDocument/2006/relationships" id="259" r:id="Ra32eeb2f35794ee8"/>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93d9d557cc5418f" /><Relationship Type="http://schemas.openxmlformats.org/officeDocument/2006/relationships/slideMaster" Target="/ppt/slideMasters/slideMaster1.xml" Id="R4c2bd1b73515488d" /><Relationship Type="http://schemas.openxmlformats.org/officeDocument/2006/relationships/notesMaster" Target="/ppt/notesMasters/notesMaster1.xml" Id="R0d66d660e2dd4c6b" /><Relationship Type="http://schemas.openxmlformats.org/officeDocument/2006/relationships/presProps" Target="/ppt/presProps.xml" Id="Rc9d12efb6bf64247" /><Relationship Type="http://schemas.openxmlformats.org/officeDocument/2006/relationships/tableStyles" Target="/ppt/tableStyles.xml" Id="Rc04a69a2e23e405f" /><Relationship Type="http://schemas.openxmlformats.org/officeDocument/2006/relationships/slide" Target="/ppt/slides/slide1.xml" Id="R81c53546bc2143f9" /><Relationship Type="http://schemas.openxmlformats.org/officeDocument/2006/relationships/slide" Target="/ppt/slides/slide2.xml" Id="R289c63b470bc457e" /><Relationship Type="http://schemas.openxmlformats.org/officeDocument/2006/relationships/slide" Target="/ppt/slides/slide3.xml" Id="R048a60ba30064567" /><Relationship Type="http://schemas.openxmlformats.org/officeDocument/2006/relationships/slide" Target="/ppt/slides/slide4.xml" Id="Ra32eeb2f35794ee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35b74ac68eb45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4c9bb23039646ee" /><Relationship Type="http://schemas.openxmlformats.org/officeDocument/2006/relationships/notesMaster" Target="/ppt/notesMasters/notesMaster1.xml" Id="Re8e9c31b28e94a65" /></Relationships>
</file>

<file path=ppt/notesSlides/_rels/notesSlide2.xml.rels>&#65279;<?xml version="1.0" encoding="utf-8"?><Relationships xmlns="http://schemas.openxmlformats.org/package/2006/relationships"><Relationship Type="http://schemas.openxmlformats.org/officeDocument/2006/relationships/slide" Target="/ppt/slides/slide2.xml" Id="R9bc5aab173104b5c" /><Relationship Type="http://schemas.openxmlformats.org/officeDocument/2006/relationships/notesMaster" Target="/ppt/notesMasters/notesMaster1.xml" Id="R4ef68b8895884d2d" /></Relationships>
</file>

<file path=ppt/notesSlides/_rels/notesSlide3.xml.rels>&#65279;<?xml version="1.0" encoding="utf-8"?><Relationships xmlns="http://schemas.openxmlformats.org/package/2006/relationships"><Relationship Type="http://schemas.openxmlformats.org/officeDocument/2006/relationships/slide" Target="/ppt/slides/slide3.xml" Id="Rc73449339a8a4545" /><Relationship Type="http://schemas.openxmlformats.org/officeDocument/2006/relationships/notesMaster" Target="/ppt/notesMasters/notesMaster1.xml" Id="R64680925665c469f" /></Relationships>
</file>

<file path=ppt/notesSlides/_rels/notesSlide4.xml.rels>&#65279;<?xml version="1.0" encoding="utf-8"?><Relationships xmlns="http://schemas.openxmlformats.org/package/2006/relationships"><Relationship Type="http://schemas.openxmlformats.org/officeDocument/2006/relationships/slide" Target="/ppt/slides/slide4.xml" Id="R7828e4ac1d084eb1" /><Relationship Type="http://schemas.openxmlformats.org/officeDocument/2006/relationships/notesMaster" Target="/ppt/notesMasters/notesMaster1.xml" Id="R4b242fb1c60a449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context: user discussion and milestone specification, 9 October 2026. Project-specific status reflects user descriptions, not an independent maturity assessment. Toolpath generation defines a desired TCP path relative to the workpiece. Robot path generation resolves inverse kinematics, constraints, reachability and collision avoidance. Trajectory generation adds time and dynamic limits. Execution feeds actual state back to control and supervision. q(s) denotes robot configuration along a geometric path, and q(t) is configuration as a function of time. Route/task optimization orders the visits and may call motion planning repeatedly. These layers interact and do not have to be implemented by one library. The three project foundations identify relevant experience and work, not three fully released products. The broader team roadmap retains both conventional planning and a parallel research track for uncertain manipulation.</a:t>
            </a:r>
          </a:p>
          <a:p xmlns:a="http://schemas.openxmlformats.org/drawingml/2006/main">
            <a:r>
              <a:t>Integration principle: these stages are acceptance checkpoints for existing framework or project capabilities, not eight algorithm-development work packages. Inventory the exact backend/version first. Reuse supported functions, build adapters and common contracts, verify against native outputs, then run an end-to-end regression. Keep unsupported capabilities explicit and retain backend-specific configuration where a common abstraction would lose required semantics. Implement new algorithms only for demonstrated gaps. Start with a thin end-to-end application where existing assets permit, then extend capabilities in the numbered sequence; do not defer all integration testing to Q4. Dates remain proposed and depend on the capability inventory.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context: user discussion and milestone specification, 9 October 2026. Project-specific status reflects user descriptions, not an independent maturity assessment. Milestones follow the exact order requested by the user. M1: retain one canonical semantic data contract and write import/export adapters, rather than assuming URDF, MJCF and USD preserve identical physics. Check coordinate conventions, units, inertias, collision geometry, joints and limits after conversion. MuJoCo uses MJCF natively and supports URDF; Isaac Sim uses OpenUSD assets. M2: the IRT Open CASCADE / point-cloud approach and HPP Gaussian-mixture-model approach are user-reported project implementations, not blanket upstream-library claims. Toolpath configuration should include pattern, region boundary, size, swathe, overlap, direction, stand-off and orientation where required. M3: PRM is itself sampling-based; RRT is another sampling family. Grid/graph search is a candidate capability where suitable, not a capability guaranteed in every framework. LIN, CIRC and polynomial splines need backend-specific mapping and continuity checks. Expose only supported spline orders. Pilz supports PTP/LIN/CIRC; MoveIt Cartesian waypoint interpolation is a separate option. RMPflow is a reactive local motion policy and cuRobo offers motion generation, trajectory optimization and MPC APIs; neither label guarantees end-to-end hard real-time execution. For a mobile base, evaluate DWA/DWB in the navigation stack if that was intended by DWM; it is not a generic arm-planning default. BT/state-machine supervision belongs to task orchestration, not necessarily inside a planner. HPP dynamic behavior-tree availability remains a project dependency. M4: viewers display results, while collision, kinematics and coverage-checking components produce the evidence. Sources: https://moveit.picknik.ai/main/doc/how_to_guides/pilz_industrial_motion_planner/pilz_industrial_motion_planner.html ; https://mujoco.readthedocs.io/en/stable/modeling.html ; https://docs.isaacsim.omniverse.nvidia.com/latest/openusd_tuning_tutorials/tutorial_01_asset_structure.html ; https://curobo.org/get_started/7_api.html ; https://docs.isaacsim.omniverse.nvidia.com/6.0.1/manipulators/motion_generation_overview.html . The current Isaac documentation marks the legacy motion-generation API deprecated, so pin and review the selected version when integrating RMPflow.</a:t>
            </a:r>
          </a:p>
          <a:p xmlns:a="http://schemas.openxmlformats.org/drawingml/2006/main">
            <a:r>
              <a:t>Integration principle: these stages are acceptance checkpoints for existing framework or project capabilities, not eight algorithm-development work packages. Inventory the exact backend/version first. Reuse supported functions, build adapters and common contracts, verify against native outputs, then run an end-to-end regression. Keep unsupported capabilities explicit and retain backend-specific configuration where a common abstraction would lose required semantics. Implement new algorithms only for demonstrated gaps. Start with a thin end-to-end application where existing assets permit, then extend capabilities in the numbered sequence; do not defer all integration testing to Q4. Dates remain proposed and depend on the capability inventory.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context: user discussion and milestone specification, 9 October 2026. Project-specific status reflects user descriptions, not an independent maturity assessment. M5 preserves the user-requested sequencing after initial path validation. Build a cost matrix from feasible motion transitions, optimize order and then regenerate/revalidate changed transitions; sequencing and motion may iterate. TSP/GTSP are route/task optimizers. HPP availability refers to project integration, not a claim that every HPP installation includes them. Investigate reuse in other frameworks rather than assume availability. M6 reruns collision, process and joint-limit checks after smoothing, blending or retiming. Smooth geometry does not imply smooth timing. M7 uses simulator adapters for robot model loading, timed command playback and measured state. Virtual controllers expose different supported protocols and licensing; confirm ROBOGUIDE or other vendor-controller connectivity before committing. Simulation cannot establish complete safety; use commissioning, risk assessment and independent cell safety functions. M8 protocol adapters must support correct units, modes, timestamp semantics, buffering, cancellation and stop acknowledgement. Preserve rail/arm exclusivity for the NDT cell where required. The principal MoveIt2 integration challenge is isolating ROS2 dependency. Proposed solution: a separate ROS2 component/process behind a stable RXU service boundary, mapping canonical requests to MoveIt messages and results back to a common trajectory contract. This isolates dependency without claiming to remove ROS2 from MoveIt2. Versioned robot and scene snapshots, timeout/error codes and execution feedback belong to this contract. Sources: https://moveit.picknik.ai/main/doc/concepts/hybrid_planning/hybrid_planning.html ; https://github.com/tesseract-robotics/tesseract_planning . Simulation and connectivity entries are proposed integration targets, not claims that every protocol currently works.</a:t>
            </a:r>
          </a:p>
          <a:p xmlns:a="http://schemas.openxmlformats.org/drawingml/2006/main">
            <a:r>
              <a:t>Integration principle: these stages are acceptance checkpoints for existing framework or project capabilities, not eight algorithm-development work packages. Inventory the exact backend/version first. Reuse supported functions, build adapters and common contracts, verify against native outputs, then run an end-to-end regression. Keep unsupported capabilities explicit and retain backend-specific configuration where a common abstraction would lose required semantics. Implement new algorithms only for demonstrated gaps. Start with a thin end-to-end application where existing assets permit, then extend capabilities in the numbered sequence; do not defer all integration testing to Q4. Dates remain proposed and depend on the capability inventory.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context: user discussion and milestone specification, 9 October 2026. Project-specific status reflects user descriptions, not an independent maturity assessment. This is a proposed planning sequence, not a funded delivery promise. Q1: establish model/data contracts and coverage configuration. Q2: integrate and compare a primary backend and a justified second backend, preserving the architecture for HPP, MoveIt2 and Tesseract. Q3: sequence tasks and optimize timing/paths with revalidation. Q4: validate a selected simulator/controller route, then demonstrate on the physical robot. Every framework, simulator and vendor protocol need not be production-ready in 2027; prioritize reference implementations and versioned adapter contracts. RXU integration is one cross-cutting workstream, not the overall roadmap. 2028: use the potential LuFo boost for event-driven replanning, bounded online correction and process-aware recovery. Dynamic BT supervision is a proposed project option, subject to availability. For learning, start task selection, conventional baselines and data collection in 2027; run a bounded pilot if funding permits in 2028; evaluate transfer to unseen cloth configurations, deformable materials and varied objects in 2029+. VLA refers to a vision-language-action policy; RL is a training method, and they can be combined. Uncertainty alone does not prove learning will outperform conventional methods. Compare completion rate, generalization, interventions, recovery, latency and process accuracy. Across all phases measure planning time, TCP error, coverage, continuity and manual programming effort; set numerical thresholds with the application owners. Sources: https://www.physicalintelligence.company/blog/pi0 ; https://curobo.org/ ; https://research.nvidia.com/publication/2020-11_rmpflow-geometric-framework-generation-multi-task-motion-policies .</a:t>
            </a:r>
          </a:p>
          <a:p xmlns:a="http://schemas.openxmlformats.org/drawingml/2006/main">
            <a:r>
              <a:t>Integration principle: these stages are acceptance checkpoints for existing framework or project capabilities, not eight algorithm-development work packages. Inventory the exact backend/version first. Reuse supported functions, build adapters and common contracts, verify against native outputs, then run an end-to-end regression. Keep unsupported capabilities explicit and retain backend-specific configuration where a common abstraction would lose required semantics. Implement new algorithms only for demonstrated gaps. Start with a thin end-to-end application where existing assets permit, then extend capabilities in the numbered sequence; do not defer all integration testing to Q4. Dates remain proposed and depend on the capability inventory.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3db8dae5209490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2cf1eed75fd471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e41f89c228b4bf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aa147f18610404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56a83d5be0b4b7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f706d86d2be4de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458CDE0-6073-466F-9C70-A0E541B6AFCD}"/>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74ED58E-E2EA-4B9C-BAE1-A456CE3EF2A8}"/>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277EF84-B468-453B-A102-283782953D77}"/>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406B34D-9F29-47F0-BCE6-31F967BAFC73}"/>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938B129-13F2-4401-951A-A40CFADEE928}"/>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701B93A-4938-4F51-99AD-DE2D4697F16F}"/>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636AD67-5769-4078-9CBB-CBA0A79A0EF9}"/>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CFF554C-7A8D-4738-8A03-0749AE718403}"/>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5A046B-E903-4A8E-A337-071DAA07E2D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ECD510D-AA83-48CC-877E-430D0AF52CC7}"/>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f35bb1d45d44955" /><Relationship Type="http://schemas.openxmlformats.org/officeDocument/2006/relationships/slideLayout" Target="/ppt/slideLayouts/slideLayout1.xml" Id="Ref636b7ca5e841d4" /><Relationship Type="http://schemas.openxmlformats.org/officeDocument/2006/relationships/slideLayout" Target="/ppt/slideLayouts/slideLayout2.xml" Id="R350632d2e47646ff" /><Relationship Type="http://schemas.openxmlformats.org/officeDocument/2006/relationships/slideLayout" Target="/ppt/slideLayouts/slideLayout3.xml" Id="R75c7ef6c46134cc4" /><Relationship Type="http://schemas.openxmlformats.org/officeDocument/2006/relationships/slideLayout" Target="/ppt/slideLayouts/slideLayout4.xml" Id="Rb054482110fd4d05" /><Relationship Type="http://schemas.openxmlformats.org/officeDocument/2006/relationships/slideLayout" Target="/ppt/slideLayouts/slideLayout5.xml" Id="R30d8cde4be204d34" /><Relationship Type="http://schemas.openxmlformats.org/officeDocument/2006/relationships/slideLayout" Target="/ppt/slideLayouts/slideLayout6.xml" Id="Rc0d87b53475946a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636b7ca5e841d4"/>
    <p:sldLayoutId xmlns:r="http://schemas.openxmlformats.org/officeDocument/2006/relationships" id="2147483650" r:id="R350632d2e47646ff"/>
    <p:sldLayoutId xmlns:r="http://schemas.openxmlformats.org/officeDocument/2006/relationships" id="2147483651" r:id="R75c7ef6c46134cc4"/>
    <p:sldLayoutId xmlns:r="http://schemas.openxmlformats.org/officeDocument/2006/relationships" id="2147483652" r:id="Rb054482110fd4d05"/>
    <p:sldLayoutId xmlns:r="http://schemas.openxmlformats.org/officeDocument/2006/relationships" id="2147483653" r:id="R30d8cde4be204d34"/>
    <p:sldLayoutId xmlns:r="http://schemas.openxmlformats.org/officeDocument/2006/relationships" id="2147483654" r:id="Rc0d87b53475946a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9384d434f7845b3" /><Relationship Type="http://schemas.openxmlformats.org/officeDocument/2006/relationships/notesSlide" Target="/ppt/notesSlides/notesSlide1.xml" Id="Rb72f872ef96b441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94089dd37a94db0" /><Relationship Type="http://schemas.openxmlformats.org/officeDocument/2006/relationships/notesSlide" Target="/ppt/notesSlides/notesSlide2.xml" Id="Rd025b99596484d3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a7319690f414cb1" /><Relationship Type="http://schemas.openxmlformats.org/officeDocument/2006/relationships/notesSlide" Target="/ppt/notesSlides/notesSlide3.xml" Id="R039b51a1ba7f4bf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775ab8ff13c414e" /><Relationship Type="http://schemas.openxmlformats.org/officeDocument/2006/relationships/notesSlide" Target="/ppt/notesSlides/notesSlide4.xml" Id="R7972a3efda36437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1622032E-426D-4952-B874-EBC8137BA085}"/>
              </a:ext>
            </a:extLst>
          </p:cNvPr>
          <p:cNvCxnSpPr>
            <a:stCxn xmlns:a="http://schemas.openxmlformats.org/drawingml/2006/main" id="11" idx="3"/>
            <a:endCxn xmlns:a="http://schemas.openxmlformats.org/drawingml/2006/main" id="15" idx="1"/>
          </p:cNvCxnSpPr>
          <p:nvPr/>
        </p:nvCxnSpPr>
        <p:spPr>
          <a:xfrm xmlns:a="http://schemas.openxmlformats.org/drawingml/2006/main">
            <a:off x="13287375" y="3209925"/>
            <a:ext cx="304800" cy="0"/>
          </a:xfrm>
          <a:prstGeom xmlns:a="http://schemas.openxmlformats.org/drawingml/2006/main" prst="straightConnector1">
            <a:avLst/>
          </a:prstGeom>
          <a:ln xmlns:a="http://schemas.openxmlformats.org/drawingml/2006/main" w="19050">
            <a:solidFill>
              <a:srgbClr val="005EAA"/>
            </a:solidFill>
            <a:tailEnd type="arrow" w="med" len="med"/>
          </a:ln>
        </p:spPr>
      </p:cxnSp>
      <p:cxnSp>
        <p:nvCxnSpPr>
          <p:cNvPr id="20" name="">
            <a:extLst xmlns:a="http://schemas.openxmlformats.org/drawingml/2006/main">
              <a:ext uri="{FF2B5EF4-FFF2-40B4-BE49-F238E27FC236}">
                <a16:creationId xmlns:a16="http://schemas.microsoft.com/office/drawing/2014/main" id="{73757FFE-E86A-4CA0-BB72-2A0CA215B5D7}"/>
              </a:ext>
            </a:extLst>
          </p:cNvPr>
          <p:cNvCxnSpPr>
            <a:stCxn xmlns:a="http://schemas.openxmlformats.org/drawingml/2006/main" id="7" idx="3"/>
            <a:endCxn xmlns:a="http://schemas.openxmlformats.org/drawingml/2006/main" id="11" idx="1"/>
          </p:cNvCxnSpPr>
          <p:nvPr/>
        </p:nvCxnSpPr>
        <p:spPr>
          <a:xfrm xmlns:a="http://schemas.openxmlformats.org/drawingml/2006/main">
            <a:off x="8991600" y="3209925"/>
            <a:ext cx="304800" cy="0"/>
          </a:xfrm>
          <a:prstGeom xmlns:a="http://schemas.openxmlformats.org/drawingml/2006/main" prst="straightConnector1">
            <a:avLst/>
          </a:prstGeom>
          <a:ln xmlns:a="http://schemas.openxmlformats.org/drawingml/2006/main" w="19050">
            <a:solidFill>
              <a:srgbClr val="005EAA"/>
            </a:solidFill>
            <a:tailEnd type="arrow" w="med" len="med"/>
          </a:ln>
        </p:spPr>
      </p:cxnSp>
      <p:cxnSp>
        <p:nvCxnSpPr>
          <p:cNvPr id="19" name="">
            <a:extLst xmlns:a="http://schemas.openxmlformats.org/drawingml/2006/main">
              <a:ext uri="{FF2B5EF4-FFF2-40B4-BE49-F238E27FC236}">
                <a16:creationId xmlns:a16="http://schemas.microsoft.com/office/drawing/2014/main" id="{E58B9732-A26B-4F82-A316-170049AAF090}"/>
              </a:ext>
            </a:extLst>
          </p:cNvPr>
          <p:cNvCxnSpPr>
            <a:stCxn xmlns:a="http://schemas.openxmlformats.org/drawingml/2006/main" id="3" idx="3"/>
            <a:endCxn xmlns:a="http://schemas.openxmlformats.org/drawingml/2006/main" id="7" idx="1"/>
          </p:cNvCxnSpPr>
          <p:nvPr/>
        </p:nvCxnSpPr>
        <p:spPr>
          <a:xfrm xmlns:a="http://schemas.openxmlformats.org/drawingml/2006/main">
            <a:off x="4695825" y="3209925"/>
            <a:ext cx="304800" cy="0"/>
          </a:xfrm>
          <a:prstGeom xmlns:a="http://schemas.openxmlformats.org/drawingml/2006/main" prst="straightConnector1">
            <a:avLst/>
          </a:prstGeom>
          <a:ln xmlns:a="http://schemas.openxmlformats.org/drawingml/2006/main" w="19050">
            <a:solidFill>
              <a:srgbClr val="005EAA"/>
            </a:solidFill>
            <a:tailEnd type="arrow" w="med" len="med"/>
          </a:ln>
        </p:spPr>
      </p:cxnSp>
      <p:sp>
        <p:nvSpPr>
          <p:cNvPr id="34" name="">
            <a:extLst xmlns:a="http://schemas.openxmlformats.org/drawingml/2006/main">
              <a:ext uri="{FF2B5EF4-FFF2-40B4-BE49-F238E27FC236}">
                <a16:creationId xmlns:a16="http://schemas.microsoft.com/office/drawing/2014/main" id="{F96C057B-DA40-4B89-8A2D-57F57B9A3D47}"/>
              </a:ext>
            </a:extLst>
          </p:cNvPr>
          <p:cNvSpPr>
            <a:spLocks xmlns:a="http://schemas.openxmlformats.org/drawingml/2006/main" noGrp="1"/>
          </p:cNvSpPr>
          <p:nvPr/>
        </p:nvSpPr>
        <p:spPr>
          <a:xfrm xmlns:a="http://schemas.openxmlformats.org/drawingml/2006/main">
            <a:off x="685800" y="419100"/>
            <a:ext cx="16859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08243D"/>
                </a:solidFill>
                <a:latin typeface="DejaVu Sans"/>
                <a:ea typeface="DejaVu Sans"/>
                <a:cs typeface="DejaVu Sans"/>
              </a:defRPr>
            </a:defPPr>
          </a:lstStyle>
          <a:p xmlns:a="http://schemas.openxmlformats.org/drawingml/2006/main">
            <a:pPr>
              <a:defRPr sz="3900" b="1">
                <a:solidFill>
                  <a:srgbClr val="08243D"/>
                </a:solidFill>
                <a:latin typeface="DejaVu Sans"/>
                <a:ea typeface="DejaVu Sans"/>
                <a:cs typeface="DejaVu Sans"/>
              </a:defRPr>
            </a:pPr>
            <a:r>
              <a:rPr sz="3900" b="1">
                <a:solidFill>
                  <a:srgbClr val="08243D"/>
                </a:solidFill>
                <a:latin typeface="DejaVu Sans"/>
                <a:ea typeface="DejaVu Sans"/>
                <a:cs typeface="DejaVu Sans"/>
              </a:rPr>
              <a:t>Motion generation in robotics</a:t>
            </a:r>
          </a:p>
        </p:txBody>
      </p:sp>
      <p:sp>
        <p:nvSpPr>
          <p:cNvPr id="2" name="">
            <a:extLst xmlns:a="http://schemas.openxmlformats.org/drawingml/2006/main">
              <a:ext uri="{FF2B5EF4-FFF2-40B4-BE49-F238E27FC236}">
                <a16:creationId xmlns:a16="http://schemas.microsoft.com/office/drawing/2014/main" id="{5C7D16F2-4D13-4948-BA89-851FC9073565}"/>
              </a:ext>
            </a:extLst>
          </p:cNvPr>
          <p:cNvSpPr>
            <a:spLocks xmlns:a="http://schemas.openxmlformats.org/drawingml/2006/main" noGrp="1"/>
          </p:cNvSpPr>
          <p:nvPr/>
        </p:nvSpPr>
        <p:spPr>
          <a:xfrm xmlns:a="http://schemas.openxmlformats.org/drawingml/2006/main">
            <a:off x="704850" y="1285875"/>
            <a:ext cx="16764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26B7D"/>
                </a:solidFill>
                <a:latin typeface="DejaVu Sans"/>
                <a:ea typeface="DejaVu Sans"/>
                <a:cs typeface="DejaVu Sans"/>
              </a:defRPr>
            </a:defPPr>
          </a:lstStyle>
          <a:p xmlns:a="http://schemas.openxmlformats.org/drawingml/2006/main">
            <a:pPr>
              <a:defRPr sz="2100" b="0">
                <a:solidFill>
                  <a:srgbClr val="526B7D"/>
                </a:solidFill>
                <a:latin typeface="DejaVu Sans"/>
                <a:ea typeface="DejaVu Sans"/>
                <a:cs typeface="DejaVu Sans"/>
              </a:defRPr>
            </a:pPr>
            <a:r>
              <a:rPr sz="2100" b="0">
                <a:solidFill>
                  <a:srgbClr val="526B7D"/>
                </a:solidFill>
                <a:latin typeface="DejaVu Sans"/>
                <a:ea typeface="DejaVu Sans"/>
                <a:cs typeface="DejaVu Sans"/>
              </a:rPr>
              <a:t>Existing framework capabilities connected through configurable, tested interfaces</a:t>
            </a:r>
          </a:p>
        </p:txBody>
      </p:sp>
      <p:sp>
        <p:nvSpPr>
          <p:cNvPr id="3" name="">
            <a:extLst xmlns:a="http://schemas.openxmlformats.org/drawingml/2006/main">
              <a:ext uri="{FF2B5EF4-FFF2-40B4-BE49-F238E27FC236}">
                <a16:creationId xmlns:a16="http://schemas.microsoft.com/office/drawing/2014/main" id="{68A936BF-99C9-419B-A665-40D9D904F556}"/>
              </a:ext>
            </a:extLst>
          </p:cNvPr>
          <p:cNvSpPr>
            <a:spLocks xmlns:a="http://schemas.openxmlformats.org/drawingml/2006/main" noGrp="1"/>
          </p:cNvSpPr>
          <p:nvPr/>
        </p:nvSpPr>
        <p:spPr>
          <a:xfrm xmlns:a="http://schemas.openxmlformats.org/drawingml/2006/main">
            <a:off x="704850" y="2286000"/>
            <a:ext cx="3990975" cy="1847850"/>
          </a:xfrm>
          <a:prstGeom xmlns:a="http://schemas.openxmlformats.org/drawingml/2006/main" prst="rect">
            <a:avLst/>
          </a:prstGeom>
          <a:solidFill xmlns:a="http://schemas.openxmlformats.org/drawingml/2006/main">
            <a:srgbClr val="EFF5F8"/>
          </a:solidFill>
          <a:ln xmlns:a="http://schemas.openxmlformats.org/drawingml/2006/main" w="9525">
            <a:solidFill>
              <a:srgbClr val="C9D8E2"/>
            </a:solidFill>
          </a:ln>
        </p:spPr>
      </p:sp>
      <p:sp>
        <p:nvSpPr>
          <p:cNvPr id="4" name="">
            <a:extLst xmlns:a="http://schemas.openxmlformats.org/drawingml/2006/main">
              <a:ext uri="{FF2B5EF4-FFF2-40B4-BE49-F238E27FC236}">
                <a16:creationId xmlns:a16="http://schemas.microsoft.com/office/drawing/2014/main" id="{480684A9-71BC-4E76-ACF2-A09EAB5EAF6D}"/>
              </a:ext>
            </a:extLst>
          </p:cNvPr>
          <p:cNvSpPr>
            <a:spLocks xmlns:a="http://schemas.openxmlformats.org/drawingml/2006/main" noGrp="1"/>
          </p:cNvSpPr>
          <p:nvPr/>
        </p:nvSpPr>
        <p:spPr>
          <a:xfrm xmlns:a="http://schemas.openxmlformats.org/drawingml/2006/main">
            <a:off x="895350" y="2476500"/>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05EAA"/>
                </a:solidFill>
                <a:latin typeface="DejaVu Sans"/>
                <a:ea typeface="DejaVu Sans"/>
                <a:cs typeface="DejaVu Sans"/>
              </a:defRPr>
            </a:defPPr>
          </a:lstStyle>
          <a:p xmlns:a="http://schemas.openxmlformats.org/drawingml/2006/main">
            <a:pPr>
              <a:defRPr sz="2325" b="1">
                <a:solidFill>
                  <a:srgbClr val="005EAA"/>
                </a:solidFill>
                <a:latin typeface="DejaVu Sans"/>
                <a:ea typeface="DejaVu Sans"/>
                <a:cs typeface="DejaVu Sans"/>
              </a:defRPr>
            </a:pPr>
            <a:r>
              <a:rPr sz="2325" b="1">
                <a:solidFill>
                  <a:srgbClr val="005EAA"/>
                </a:solidFill>
                <a:latin typeface="DejaVu Sans"/>
                <a:ea typeface="DejaVu Sans"/>
                <a:cs typeface="DejaVu Sans"/>
              </a:rPr>
              <a:t>Tool path</a:t>
            </a:r>
          </a:p>
        </p:txBody>
      </p:sp>
      <p:sp>
        <p:nvSpPr>
          <p:cNvPr id="5" name="">
            <a:extLst xmlns:a="http://schemas.openxmlformats.org/drawingml/2006/main">
              <a:ext uri="{FF2B5EF4-FFF2-40B4-BE49-F238E27FC236}">
                <a16:creationId xmlns:a16="http://schemas.microsoft.com/office/drawing/2014/main" id="{24659EF2-377A-4A1F-920C-96EE0E45E55D}"/>
              </a:ext>
            </a:extLst>
          </p:cNvPr>
          <p:cNvSpPr>
            <a:spLocks xmlns:a="http://schemas.openxmlformats.org/drawingml/2006/main" noGrp="1"/>
          </p:cNvSpPr>
          <p:nvPr/>
        </p:nvSpPr>
        <p:spPr>
          <a:xfrm xmlns:a="http://schemas.openxmlformats.org/drawingml/2006/main">
            <a:off x="895350" y="3038475"/>
            <a:ext cx="361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2334B"/>
                </a:solidFill>
                <a:latin typeface="DejaVu Sans"/>
                <a:ea typeface="DejaVu Sans"/>
                <a:cs typeface="DejaVu Sans"/>
              </a:defRPr>
            </a:defPPr>
          </a:lstStyle>
          <a:p xmlns:a="http://schemas.openxmlformats.org/drawingml/2006/main">
            <a:pPr>
              <a:defRPr sz="2025" b="1">
                <a:solidFill>
                  <a:srgbClr val="12334B"/>
                </a:solidFill>
                <a:latin typeface="DejaVu Sans"/>
                <a:ea typeface="DejaVu Sans"/>
                <a:cs typeface="DejaVu Sans"/>
              </a:defRPr>
            </a:pPr>
            <a:r>
              <a:rPr sz="2025" b="1">
                <a:solidFill>
                  <a:srgbClr val="12334B"/>
                </a:solidFill>
                <a:latin typeface="DejaVu Sans"/>
                <a:ea typeface="DejaVu Sans"/>
                <a:cs typeface="DejaVu Sans"/>
              </a:rPr>
              <a:t>TCP poses on the part</a:t>
            </a:r>
          </a:p>
        </p:txBody>
      </p:sp>
      <p:sp>
        <p:nvSpPr>
          <p:cNvPr id="6" name="">
            <a:extLst xmlns:a="http://schemas.openxmlformats.org/drawingml/2006/main">
              <a:ext uri="{FF2B5EF4-FFF2-40B4-BE49-F238E27FC236}">
                <a16:creationId xmlns:a16="http://schemas.microsoft.com/office/drawing/2014/main" id="{C5C9E6E7-122D-47CA-8FD8-7169422EC292}"/>
              </a:ext>
            </a:extLst>
          </p:cNvPr>
          <p:cNvSpPr>
            <a:spLocks xmlns:a="http://schemas.openxmlformats.org/drawingml/2006/main" noGrp="1"/>
          </p:cNvSpPr>
          <p:nvPr/>
        </p:nvSpPr>
        <p:spPr>
          <a:xfrm xmlns:a="http://schemas.openxmlformats.org/drawingml/2006/main">
            <a:off x="895350" y="3609975"/>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B7D"/>
                </a:solidFill>
                <a:latin typeface="DejaVu Sans"/>
                <a:ea typeface="DejaVu Sans"/>
                <a:cs typeface="DejaVu Sans"/>
              </a:defRPr>
            </a:defPPr>
          </a:lstStyle>
          <a:p xmlns:a="http://schemas.openxmlformats.org/drawingml/2006/main">
            <a:pPr>
              <a:defRPr sz="1800" b="0">
                <a:solidFill>
                  <a:srgbClr val="526B7D"/>
                </a:solidFill>
                <a:latin typeface="DejaVu Sans"/>
                <a:ea typeface="DejaVu Sans"/>
                <a:cs typeface="DejaVu Sans"/>
              </a:defRPr>
            </a:pPr>
            <a:r>
              <a:rPr sz="1800" b="0">
                <a:solidFill>
                  <a:srgbClr val="526B7D"/>
                </a:solidFill>
                <a:latin typeface="DejaVu Sans"/>
                <a:ea typeface="DejaVu Sans"/>
                <a:cs typeface="DejaVu Sans"/>
              </a:rPr>
              <a:t>Pattern, area and swathe</a:t>
            </a:r>
          </a:p>
        </p:txBody>
      </p:sp>
      <p:sp>
        <p:nvSpPr>
          <p:cNvPr id="7" name="">
            <a:extLst xmlns:a="http://schemas.openxmlformats.org/drawingml/2006/main">
              <a:ext uri="{FF2B5EF4-FFF2-40B4-BE49-F238E27FC236}">
                <a16:creationId xmlns:a16="http://schemas.microsoft.com/office/drawing/2014/main" id="{635B81F8-C934-41EF-A4D9-CC86207B1D45}"/>
              </a:ext>
            </a:extLst>
          </p:cNvPr>
          <p:cNvSpPr>
            <a:spLocks xmlns:a="http://schemas.openxmlformats.org/drawingml/2006/main" noGrp="1"/>
          </p:cNvSpPr>
          <p:nvPr/>
        </p:nvSpPr>
        <p:spPr>
          <a:xfrm xmlns:a="http://schemas.openxmlformats.org/drawingml/2006/main">
            <a:off x="5000625" y="2286000"/>
            <a:ext cx="3990975" cy="1847850"/>
          </a:xfrm>
          <a:prstGeom xmlns:a="http://schemas.openxmlformats.org/drawingml/2006/main" prst="rect">
            <a:avLst/>
          </a:prstGeom>
          <a:solidFill xmlns:a="http://schemas.openxmlformats.org/drawingml/2006/main">
            <a:srgbClr val="EFF5F8"/>
          </a:solidFill>
          <a:ln xmlns:a="http://schemas.openxmlformats.org/drawingml/2006/main" w="9525">
            <a:solidFill>
              <a:srgbClr val="C9D8E2"/>
            </a:solidFill>
          </a:ln>
        </p:spPr>
      </p:sp>
      <p:sp>
        <p:nvSpPr>
          <p:cNvPr id="8" name="">
            <a:extLst xmlns:a="http://schemas.openxmlformats.org/drawingml/2006/main">
              <a:ext uri="{FF2B5EF4-FFF2-40B4-BE49-F238E27FC236}">
                <a16:creationId xmlns:a16="http://schemas.microsoft.com/office/drawing/2014/main" id="{DFC5943A-5B43-4AE2-B099-A5C22F988BD7}"/>
              </a:ext>
            </a:extLst>
          </p:cNvPr>
          <p:cNvSpPr>
            <a:spLocks xmlns:a="http://schemas.openxmlformats.org/drawingml/2006/main" noGrp="1"/>
          </p:cNvSpPr>
          <p:nvPr/>
        </p:nvSpPr>
        <p:spPr>
          <a:xfrm xmlns:a="http://schemas.openxmlformats.org/drawingml/2006/main">
            <a:off x="5191125" y="2476500"/>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05EAA"/>
                </a:solidFill>
                <a:latin typeface="DejaVu Sans"/>
                <a:ea typeface="DejaVu Sans"/>
                <a:cs typeface="DejaVu Sans"/>
              </a:defRPr>
            </a:defPPr>
          </a:lstStyle>
          <a:p xmlns:a="http://schemas.openxmlformats.org/drawingml/2006/main">
            <a:pPr>
              <a:defRPr sz="2325" b="1">
                <a:solidFill>
                  <a:srgbClr val="005EAA"/>
                </a:solidFill>
                <a:latin typeface="DejaVu Sans"/>
                <a:ea typeface="DejaVu Sans"/>
                <a:cs typeface="DejaVu Sans"/>
              </a:defRPr>
            </a:pPr>
            <a:r>
              <a:rPr sz="2325" b="1">
                <a:solidFill>
                  <a:srgbClr val="005EAA"/>
                </a:solidFill>
                <a:latin typeface="DejaVu Sans"/>
                <a:ea typeface="DejaVu Sans"/>
                <a:cs typeface="DejaVu Sans"/>
              </a:rPr>
              <a:t>Robot path</a:t>
            </a:r>
          </a:p>
        </p:txBody>
      </p:sp>
      <p:sp>
        <p:nvSpPr>
          <p:cNvPr id="9" name="">
            <a:extLst xmlns:a="http://schemas.openxmlformats.org/drawingml/2006/main">
              <a:ext uri="{FF2B5EF4-FFF2-40B4-BE49-F238E27FC236}">
                <a16:creationId xmlns:a16="http://schemas.microsoft.com/office/drawing/2014/main" id="{90D3CC82-855D-4BFD-9B67-35D05D2EFD23}"/>
              </a:ext>
            </a:extLst>
          </p:cNvPr>
          <p:cNvSpPr>
            <a:spLocks xmlns:a="http://schemas.openxmlformats.org/drawingml/2006/main" noGrp="1"/>
          </p:cNvSpPr>
          <p:nvPr/>
        </p:nvSpPr>
        <p:spPr>
          <a:xfrm xmlns:a="http://schemas.openxmlformats.org/drawingml/2006/main">
            <a:off x="5191125" y="3038475"/>
            <a:ext cx="361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2334B"/>
                </a:solidFill>
                <a:latin typeface="DejaVu Sans"/>
                <a:ea typeface="DejaVu Sans"/>
                <a:cs typeface="DejaVu Sans"/>
              </a:defRPr>
            </a:defPPr>
          </a:lstStyle>
          <a:p xmlns:a="http://schemas.openxmlformats.org/drawingml/2006/main">
            <a:pPr>
              <a:defRPr sz="2025" b="1">
                <a:solidFill>
                  <a:srgbClr val="12334B"/>
                </a:solidFill>
                <a:latin typeface="DejaVu Sans"/>
                <a:ea typeface="DejaVu Sans"/>
                <a:cs typeface="DejaVu Sans"/>
              </a:defRPr>
            </a:pPr>
            <a:r>
              <a:rPr sz="2025" b="1">
                <a:solidFill>
                  <a:srgbClr val="12334B"/>
                </a:solidFill>
                <a:latin typeface="DejaVu Sans"/>
                <a:ea typeface="DejaVu Sans"/>
                <a:cs typeface="DejaVu Sans"/>
              </a:rPr>
              <a:t>Joint path q(s)</a:t>
            </a:r>
          </a:p>
        </p:txBody>
      </p:sp>
      <p:sp>
        <p:nvSpPr>
          <p:cNvPr id="10" name="">
            <a:extLst xmlns:a="http://schemas.openxmlformats.org/drawingml/2006/main">
              <a:ext uri="{FF2B5EF4-FFF2-40B4-BE49-F238E27FC236}">
                <a16:creationId xmlns:a16="http://schemas.microsoft.com/office/drawing/2014/main" id="{F226B946-7FB9-4627-98A7-710E0DE0F61A}"/>
              </a:ext>
            </a:extLst>
          </p:cNvPr>
          <p:cNvSpPr>
            <a:spLocks xmlns:a="http://schemas.openxmlformats.org/drawingml/2006/main" noGrp="1"/>
          </p:cNvSpPr>
          <p:nvPr/>
        </p:nvSpPr>
        <p:spPr>
          <a:xfrm xmlns:a="http://schemas.openxmlformats.org/drawingml/2006/main">
            <a:off x="5191125" y="3609975"/>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B7D"/>
                </a:solidFill>
                <a:latin typeface="DejaVu Sans"/>
                <a:ea typeface="DejaVu Sans"/>
                <a:cs typeface="DejaVu Sans"/>
              </a:defRPr>
            </a:defPPr>
          </a:lstStyle>
          <a:p xmlns:a="http://schemas.openxmlformats.org/drawingml/2006/main">
            <a:pPr>
              <a:defRPr sz="1800" b="0">
                <a:solidFill>
                  <a:srgbClr val="526B7D"/>
                </a:solidFill>
                <a:latin typeface="DejaVu Sans"/>
                <a:ea typeface="DejaVu Sans"/>
                <a:cs typeface="DejaVu Sans"/>
              </a:defRPr>
            </a:pPr>
            <a:r>
              <a:rPr sz="1800" b="0">
                <a:solidFill>
                  <a:srgbClr val="526B7D"/>
                </a:solidFill>
                <a:latin typeface="DejaVu Sans"/>
                <a:ea typeface="DejaVu Sans"/>
                <a:cs typeface="DejaVu Sans"/>
              </a:rPr>
              <a:t>IK, constraints and collisions</a:t>
            </a:r>
          </a:p>
        </p:txBody>
      </p:sp>
      <p:sp>
        <p:nvSpPr>
          <p:cNvPr id="11" name="">
            <a:extLst xmlns:a="http://schemas.openxmlformats.org/drawingml/2006/main">
              <a:ext uri="{FF2B5EF4-FFF2-40B4-BE49-F238E27FC236}">
                <a16:creationId xmlns:a16="http://schemas.microsoft.com/office/drawing/2014/main" id="{F942909C-2A41-4FCC-80CC-5D9394414DD0}"/>
              </a:ext>
            </a:extLst>
          </p:cNvPr>
          <p:cNvSpPr>
            <a:spLocks xmlns:a="http://schemas.openxmlformats.org/drawingml/2006/main" noGrp="1"/>
          </p:cNvSpPr>
          <p:nvPr/>
        </p:nvSpPr>
        <p:spPr>
          <a:xfrm xmlns:a="http://schemas.openxmlformats.org/drawingml/2006/main">
            <a:off x="9296400" y="2286000"/>
            <a:ext cx="3990975" cy="1847850"/>
          </a:xfrm>
          <a:prstGeom xmlns:a="http://schemas.openxmlformats.org/drawingml/2006/main" prst="rect">
            <a:avLst/>
          </a:prstGeom>
          <a:solidFill xmlns:a="http://schemas.openxmlformats.org/drawingml/2006/main">
            <a:srgbClr val="EFF5F8"/>
          </a:solidFill>
          <a:ln xmlns:a="http://schemas.openxmlformats.org/drawingml/2006/main" w="9525">
            <a:solidFill>
              <a:srgbClr val="C9D8E2"/>
            </a:solidFill>
          </a:ln>
        </p:spPr>
      </p:sp>
      <p:sp>
        <p:nvSpPr>
          <p:cNvPr id="12" name="">
            <a:extLst xmlns:a="http://schemas.openxmlformats.org/drawingml/2006/main">
              <a:ext uri="{FF2B5EF4-FFF2-40B4-BE49-F238E27FC236}">
                <a16:creationId xmlns:a16="http://schemas.microsoft.com/office/drawing/2014/main" id="{CB0F9B19-AD41-4A7E-A054-DFF1053318EF}"/>
              </a:ext>
            </a:extLst>
          </p:cNvPr>
          <p:cNvSpPr>
            <a:spLocks xmlns:a="http://schemas.openxmlformats.org/drawingml/2006/main" noGrp="1"/>
          </p:cNvSpPr>
          <p:nvPr/>
        </p:nvSpPr>
        <p:spPr>
          <a:xfrm xmlns:a="http://schemas.openxmlformats.org/drawingml/2006/main">
            <a:off x="9486900" y="2476500"/>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05EAA"/>
                </a:solidFill>
                <a:latin typeface="DejaVu Sans"/>
                <a:ea typeface="DejaVu Sans"/>
                <a:cs typeface="DejaVu Sans"/>
              </a:defRPr>
            </a:defPPr>
          </a:lstStyle>
          <a:p xmlns:a="http://schemas.openxmlformats.org/drawingml/2006/main">
            <a:pPr>
              <a:defRPr sz="2325" b="1">
                <a:solidFill>
                  <a:srgbClr val="005EAA"/>
                </a:solidFill>
                <a:latin typeface="DejaVu Sans"/>
                <a:ea typeface="DejaVu Sans"/>
                <a:cs typeface="DejaVu Sans"/>
              </a:defRPr>
            </a:pPr>
            <a:r>
              <a:rPr sz="2325" b="1">
                <a:solidFill>
                  <a:srgbClr val="005EAA"/>
                </a:solidFill>
                <a:latin typeface="DejaVu Sans"/>
                <a:ea typeface="DejaVu Sans"/>
                <a:cs typeface="DejaVu Sans"/>
              </a:rPr>
              <a:t>Robot trajectory</a:t>
            </a:r>
          </a:p>
        </p:txBody>
      </p:sp>
      <p:sp>
        <p:nvSpPr>
          <p:cNvPr id="13" name="">
            <a:extLst xmlns:a="http://schemas.openxmlformats.org/drawingml/2006/main">
              <a:ext uri="{FF2B5EF4-FFF2-40B4-BE49-F238E27FC236}">
                <a16:creationId xmlns:a16="http://schemas.microsoft.com/office/drawing/2014/main" id="{097A9693-3BED-432B-B621-7DF9BC5322AC}"/>
              </a:ext>
            </a:extLst>
          </p:cNvPr>
          <p:cNvSpPr>
            <a:spLocks xmlns:a="http://schemas.openxmlformats.org/drawingml/2006/main" noGrp="1"/>
          </p:cNvSpPr>
          <p:nvPr/>
        </p:nvSpPr>
        <p:spPr>
          <a:xfrm xmlns:a="http://schemas.openxmlformats.org/drawingml/2006/main">
            <a:off x="9486900" y="3038475"/>
            <a:ext cx="361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2334B"/>
                </a:solidFill>
                <a:latin typeface="DejaVu Sans"/>
                <a:ea typeface="DejaVu Sans"/>
                <a:cs typeface="DejaVu Sans"/>
              </a:defRPr>
            </a:defPPr>
          </a:lstStyle>
          <a:p xmlns:a="http://schemas.openxmlformats.org/drawingml/2006/main">
            <a:pPr>
              <a:defRPr sz="2025" b="1">
                <a:solidFill>
                  <a:srgbClr val="12334B"/>
                </a:solidFill>
                <a:latin typeface="DejaVu Sans"/>
                <a:ea typeface="DejaVu Sans"/>
                <a:cs typeface="DejaVu Sans"/>
              </a:defRPr>
            </a:pPr>
            <a:r>
              <a:rPr sz="2025" b="1">
                <a:solidFill>
                  <a:srgbClr val="12334B"/>
                </a:solidFill>
                <a:latin typeface="DejaVu Sans"/>
                <a:ea typeface="DejaVu Sans"/>
                <a:cs typeface="DejaVu Sans"/>
              </a:rPr>
              <a:t>Timed motion q(t)</a:t>
            </a:r>
          </a:p>
        </p:txBody>
      </p:sp>
      <p:sp>
        <p:nvSpPr>
          <p:cNvPr id="14" name="">
            <a:extLst xmlns:a="http://schemas.openxmlformats.org/drawingml/2006/main">
              <a:ext uri="{FF2B5EF4-FFF2-40B4-BE49-F238E27FC236}">
                <a16:creationId xmlns:a16="http://schemas.microsoft.com/office/drawing/2014/main" id="{976C3A12-D13D-4B2C-91F1-9BFE2251F75D}"/>
              </a:ext>
            </a:extLst>
          </p:cNvPr>
          <p:cNvSpPr>
            <a:spLocks xmlns:a="http://schemas.openxmlformats.org/drawingml/2006/main" noGrp="1"/>
          </p:cNvSpPr>
          <p:nvPr/>
        </p:nvSpPr>
        <p:spPr>
          <a:xfrm xmlns:a="http://schemas.openxmlformats.org/drawingml/2006/main">
            <a:off x="9486900" y="3609975"/>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B7D"/>
                </a:solidFill>
                <a:latin typeface="DejaVu Sans"/>
                <a:ea typeface="DejaVu Sans"/>
                <a:cs typeface="DejaVu Sans"/>
              </a:defRPr>
            </a:defPPr>
          </a:lstStyle>
          <a:p xmlns:a="http://schemas.openxmlformats.org/drawingml/2006/main">
            <a:pPr>
              <a:defRPr sz="1800" b="0">
                <a:solidFill>
                  <a:srgbClr val="526B7D"/>
                </a:solidFill>
                <a:latin typeface="DejaVu Sans"/>
                <a:ea typeface="DejaVu Sans"/>
                <a:cs typeface="DejaVu Sans"/>
              </a:defRPr>
            </a:pPr>
            <a:r>
              <a:rPr sz="1800" b="0">
                <a:solidFill>
                  <a:srgbClr val="526B7D"/>
                </a:solidFill>
                <a:latin typeface="DejaVu Sans"/>
                <a:ea typeface="DejaVu Sans"/>
                <a:cs typeface="DejaVu Sans"/>
              </a:rPr>
              <a:t>Speed, acceleration and jerk</a:t>
            </a:r>
          </a:p>
        </p:txBody>
      </p:sp>
      <p:sp>
        <p:nvSpPr>
          <p:cNvPr id="15" name="">
            <a:extLst xmlns:a="http://schemas.openxmlformats.org/drawingml/2006/main">
              <a:ext uri="{FF2B5EF4-FFF2-40B4-BE49-F238E27FC236}">
                <a16:creationId xmlns:a16="http://schemas.microsoft.com/office/drawing/2014/main" id="{B7ADA34F-C60F-4E2B-B936-4353A0E370A5}"/>
              </a:ext>
            </a:extLst>
          </p:cNvPr>
          <p:cNvSpPr>
            <a:spLocks xmlns:a="http://schemas.openxmlformats.org/drawingml/2006/main" noGrp="1"/>
          </p:cNvSpPr>
          <p:nvPr/>
        </p:nvSpPr>
        <p:spPr>
          <a:xfrm xmlns:a="http://schemas.openxmlformats.org/drawingml/2006/main">
            <a:off x="13592175" y="2286000"/>
            <a:ext cx="3990975" cy="1847850"/>
          </a:xfrm>
          <a:prstGeom xmlns:a="http://schemas.openxmlformats.org/drawingml/2006/main" prst="rect">
            <a:avLst/>
          </a:prstGeom>
          <a:solidFill xmlns:a="http://schemas.openxmlformats.org/drawingml/2006/main">
            <a:srgbClr val="EFF5F8"/>
          </a:solidFill>
          <a:ln xmlns:a="http://schemas.openxmlformats.org/drawingml/2006/main" w="9525">
            <a:solidFill>
              <a:srgbClr val="C9D8E2"/>
            </a:solidFill>
          </a:ln>
        </p:spPr>
      </p:sp>
      <p:sp>
        <p:nvSpPr>
          <p:cNvPr id="16" name="">
            <a:extLst xmlns:a="http://schemas.openxmlformats.org/drawingml/2006/main">
              <a:ext uri="{FF2B5EF4-FFF2-40B4-BE49-F238E27FC236}">
                <a16:creationId xmlns:a16="http://schemas.microsoft.com/office/drawing/2014/main" id="{BCFFE2A1-F11D-4DCA-9522-36D09C25519C}"/>
              </a:ext>
            </a:extLst>
          </p:cNvPr>
          <p:cNvSpPr>
            <a:spLocks xmlns:a="http://schemas.openxmlformats.org/drawingml/2006/main" noGrp="1"/>
          </p:cNvSpPr>
          <p:nvPr/>
        </p:nvSpPr>
        <p:spPr>
          <a:xfrm xmlns:a="http://schemas.openxmlformats.org/drawingml/2006/main">
            <a:off x="13782675" y="2476500"/>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05EAA"/>
                </a:solidFill>
                <a:latin typeface="DejaVu Sans"/>
                <a:ea typeface="DejaVu Sans"/>
                <a:cs typeface="DejaVu Sans"/>
              </a:defRPr>
            </a:defPPr>
          </a:lstStyle>
          <a:p xmlns:a="http://schemas.openxmlformats.org/drawingml/2006/main">
            <a:pPr>
              <a:defRPr sz="2325" b="1">
                <a:solidFill>
                  <a:srgbClr val="005EAA"/>
                </a:solidFill>
                <a:latin typeface="DejaVu Sans"/>
                <a:ea typeface="DejaVu Sans"/>
                <a:cs typeface="DejaVu Sans"/>
              </a:defRPr>
            </a:pPr>
            <a:r>
              <a:rPr sz="2325" b="1">
                <a:solidFill>
                  <a:srgbClr val="005EAA"/>
                </a:solidFill>
                <a:latin typeface="DejaVu Sans"/>
                <a:ea typeface="DejaVu Sans"/>
                <a:cs typeface="DejaVu Sans"/>
              </a:rPr>
              <a:t>Execution</a:t>
            </a:r>
          </a:p>
        </p:txBody>
      </p:sp>
      <p:sp>
        <p:nvSpPr>
          <p:cNvPr id="17" name="">
            <a:extLst xmlns:a="http://schemas.openxmlformats.org/drawingml/2006/main">
              <a:ext uri="{FF2B5EF4-FFF2-40B4-BE49-F238E27FC236}">
                <a16:creationId xmlns:a16="http://schemas.microsoft.com/office/drawing/2014/main" id="{EABCC7F4-1499-498D-9D7E-C89B6902779D}"/>
              </a:ext>
            </a:extLst>
          </p:cNvPr>
          <p:cNvSpPr>
            <a:spLocks xmlns:a="http://schemas.openxmlformats.org/drawingml/2006/main" noGrp="1"/>
          </p:cNvSpPr>
          <p:nvPr/>
        </p:nvSpPr>
        <p:spPr>
          <a:xfrm xmlns:a="http://schemas.openxmlformats.org/drawingml/2006/main">
            <a:off x="13782675" y="3038475"/>
            <a:ext cx="361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2334B"/>
                </a:solidFill>
                <a:latin typeface="DejaVu Sans"/>
                <a:ea typeface="DejaVu Sans"/>
                <a:cs typeface="DejaVu Sans"/>
              </a:defRPr>
            </a:defPPr>
          </a:lstStyle>
          <a:p xmlns:a="http://schemas.openxmlformats.org/drawingml/2006/main">
            <a:pPr>
              <a:defRPr sz="2025" b="1">
                <a:solidFill>
                  <a:srgbClr val="12334B"/>
                </a:solidFill>
                <a:latin typeface="DejaVu Sans"/>
                <a:ea typeface="DejaVu Sans"/>
                <a:cs typeface="DejaVu Sans"/>
              </a:defRPr>
            </a:pPr>
            <a:r>
              <a:rPr sz="2025" b="1">
                <a:solidFill>
                  <a:srgbClr val="12334B"/>
                </a:solidFill>
                <a:latin typeface="DejaVu Sans"/>
                <a:ea typeface="DejaVu Sans"/>
                <a:cs typeface="DejaVu Sans"/>
              </a:rPr>
              <a:t>Track and adapt</a:t>
            </a:r>
          </a:p>
        </p:txBody>
      </p:sp>
      <p:sp>
        <p:nvSpPr>
          <p:cNvPr id="18" name="">
            <a:extLst xmlns:a="http://schemas.openxmlformats.org/drawingml/2006/main">
              <a:ext uri="{FF2B5EF4-FFF2-40B4-BE49-F238E27FC236}">
                <a16:creationId xmlns:a16="http://schemas.microsoft.com/office/drawing/2014/main" id="{E2A2AD7E-3B82-4E13-8EB0-FA52F5AA041C}"/>
              </a:ext>
            </a:extLst>
          </p:cNvPr>
          <p:cNvSpPr>
            <a:spLocks xmlns:a="http://schemas.openxmlformats.org/drawingml/2006/main" noGrp="1"/>
          </p:cNvSpPr>
          <p:nvPr/>
        </p:nvSpPr>
        <p:spPr>
          <a:xfrm xmlns:a="http://schemas.openxmlformats.org/drawingml/2006/main">
            <a:off x="13782675" y="3609975"/>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B7D"/>
                </a:solidFill>
                <a:latin typeface="DejaVu Sans"/>
                <a:ea typeface="DejaVu Sans"/>
                <a:cs typeface="DejaVu Sans"/>
              </a:defRPr>
            </a:defPPr>
          </a:lstStyle>
          <a:p xmlns:a="http://schemas.openxmlformats.org/drawingml/2006/main">
            <a:pPr>
              <a:defRPr sz="1800" b="0">
                <a:solidFill>
                  <a:srgbClr val="526B7D"/>
                </a:solidFill>
                <a:latin typeface="DejaVu Sans"/>
                <a:ea typeface="DejaVu Sans"/>
                <a:cs typeface="DejaVu Sans"/>
              </a:defRPr>
            </a:pPr>
            <a:r>
              <a:rPr sz="1800" b="0">
                <a:solidFill>
                  <a:srgbClr val="526B7D"/>
                </a:solidFill>
                <a:latin typeface="DejaVu Sans"/>
                <a:ea typeface="DejaVu Sans"/>
                <a:cs typeface="DejaVu Sans"/>
              </a:rPr>
              <a:t>Feedback and replanning</a:t>
            </a:r>
          </a:p>
        </p:txBody>
      </p:sp>
      <p:sp>
        <p:nvSpPr>
          <p:cNvPr id="22" name="">
            <a:extLst xmlns:a="http://schemas.openxmlformats.org/drawingml/2006/main">
              <a:ext uri="{FF2B5EF4-FFF2-40B4-BE49-F238E27FC236}">
                <a16:creationId xmlns:a16="http://schemas.microsoft.com/office/drawing/2014/main" id="{7A2614A9-651F-48C8-ADD7-A0E719D1D119}"/>
              </a:ext>
            </a:extLst>
          </p:cNvPr>
          <p:cNvSpPr>
            <a:spLocks xmlns:a="http://schemas.openxmlformats.org/drawingml/2006/main" noGrp="1"/>
          </p:cNvSpPr>
          <p:nvPr/>
        </p:nvSpPr>
        <p:spPr>
          <a:xfrm xmlns:a="http://schemas.openxmlformats.org/drawingml/2006/main">
            <a:off x="704850" y="4591050"/>
            <a:ext cx="1657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08243D"/>
                </a:solidFill>
                <a:latin typeface="DejaVu Sans"/>
                <a:ea typeface="DejaVu Sans"/>
                <a:cs typeface="DejaVu Sans"/>
              </a:defRPr>
            </a:defPPr>
          </a:lstStyle>
          <a:p xmlns:a="http://schemas.openxmlformats.org/drawingml/2006/main">
            <a:pPr>
              <a:defRPr sz="2625" b="1">
                <a:solidFill>
                  <a:srgbClr val="08243D"/>
                </a:solidFill>
                <a:latin typeface="DejaVu Sans"/>
                <a:ea typeface="DejaVu Sans"/>
                <a:cs typeface="DejaVu Sans"/>
              </a:defRPr>
            </a:pPr>
            <a:r>
              <a:rPr sz="2625" b="1">
                <a:solidFill>
                  <a:srgbClr val="08243D"/>
                </a:solidFill>
                <a:latin typeface="DejaVu Sans"/>
                <a:ea typeface="DejaVu Sans"/>
                <a:cs typeface="DejaVu Sans"/>
              </a:rPr>
              <a:t>Project foundations</a:t>
            </a:r>
          </a:p>
        </p:txBody>
      </p:sp>
      <p:sp>
        <p:nvSpPr>
          <p:cNvPr id="23" name="">
            <a:extLst xmlns:a="http://schemas.openxmlformats.org/drawingml/2006/main">
              <a:ext uri="{FF2B5EF4-FFF2-40B4-BE49-F238E27FC236}">
                <a16:creationId xmlns:a16="http://schemas.microsoft.com/office/drawing/2014/main" id="{B15681F5-FF58-42BA-B698-6EFF13D61DD4}"/>
              </a:ext>
            </a:extLst>
          </p:cNvPr>
          <p:cNvSpPr>
            <a:spLocks xmlns:a="http://schemas.openxmlformats.org/drawingml/2006/main" noGrp="1"/>
          </p:cNvSpPr>
          <p:nvPr/>
        </p:nvSpPr>
        <p:spPr>
          <a:xfrm xmlns:a="http://schemas.openxmlformats.org/drawingml/2006/main">
            <a:off x="704850" y="5248275"/>
            <a:ext cx="523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05EAA"/>
                </a:solidFill>
                <a:latin typeface="DejaVu Sans"/>
                <a:ea typeface="DejaVu Sans"/>
                <a:cs typeface="DejaVu Sans"/>
              </a:defRPr>
            </a:defPPr>
          </a:lstStyle>
          <a:p xmlns:a="http://schemas.openxmlformats.org/drawingml/2006/main">
            <a:pPr>
              <a:defRPr sz="2250" b="1">
                <a:solidFill>
                  <a:srgbClr val="005EAA"/>
                </a:solidFill>
                <a:latin typeface="DejaVu Sans"/>
                <a:ea typeface="DejaVu Sans"/>
                <a:cs typeface="DejaVu Sans"/>
              </a:defRPr>
            </a:pPr>
            <a:r>
              <a:rPr sz="2250" b="1">
                <a:solidFill>
                  <a:srgbClr val="005EAA"/>
                </a:solidFill>
                <a:latin typeface="DejaVu Sans"/>
                <a:ea typeface="DejaVu Sans"/>
                <a:cs typeface="DejaVu Sans"/>
              </a:rPr>
              <a:t>REACT</a:t>
            </a:r>
          </a:p>
        </p:txBody>
      </p:sp>
      <p:sp>
        <p:nvSpPr>
          <p:cNvPr id="24" name="">
            <a:extLst xmlns:a="http://schemas.openxmlformats.org/drawingml/2006/main">
              <a:ext uri="{FF2B5EF4-FFF2-40B4-BE49-F238E27FC236}">
                <a16:creationId xmlns:a16="http://schemas.microsoft.com/office/drawing/2014/main" id="{1403918A-8A82-4240-8F8E-23F93A26FDBF}"/>
              </a:ext>
            </a:extLst>
          </p:cNvPr>
          <p:cNvSpPr>
            <a:spLocks xmlns:a="http://schemas.openxmlformats.org/drawingml/2006/main" noGrp="1"/>
          </p:cNvSpPr>
          <p:nvPr/>
        </p:nvSpPr>
        <p:spPr>
          <a:xfrm xmlns:a="http://schemas.openxmlformats.org/drawingml/2006/main">
            <a:off x="704850" y="6010275"/>
            <a:ext cx="5238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2334B"/>
                </a:solidFill>
                <a:latin typeface="DejaVu Sans"/>
                <a:ea typeface="DejaVu Sans"/>
                <a:cs typeface="DejaVu Sans"/>
              </a:defRPr>
            </a:defPPr>
          </a:lstStyle>
          <a:p xmlns:a="http://schemas.openxmlformats.org/drawingml/2006/main">
            <a:pPr>
              <a:defRPr sz="2100" b="0">
                <a:solidFill>
                  <a:srgbClr val="12334B"/>
                </a:solidFill>
                <a:latin typeface="DejaVu Sans"/>
                <a:ea typeface="DejaVu Sans"/>
                <a:cs typeface="DejaVu Sans"/>
              </a:defRPr>
            </a:pPr>
            <a:r>
              <a:rPr sz="2100" b="0">
                <a:solidFill>
                  <a:srgbClr val="12334B"/>
                </a:solidFill>
                <a:latin typeface="DejaVu Sans"/>
                <a:ea typeface="DejaVu Sans"/>
                <a:cs typeface="DejaVu Sans"/>
              </a:rPr>
              <a:t>HPP experience</a:t>
            </a:r>
          </a:p>
          <a:p xmlns:a="http://schemas.openxmlformats.org/drawingml/2006/main">
            <a:pPr>
              <a:defRPr sz="2100" b="0">
                <a:solidFill>
                  <a:srgbClr val="12334B"/>
                </a:solidFill>
                <a:latin typeface="DejaVu Sans"/>
                <a:ea typeface="DejaVu Sans"/>
                <a:cs typeface="DejaVu Sans"/>
              </a:defRPr>
            </a:pPr>
            <a:r>
              <a:rPr sz="2100" b="0">
                <a:solidFill>
                  <a:srgbClr val="12334B"/>
                </a:solidFill>
                <a:latin typeface="DejaVu Sans"/>
                <a:ea typeface="DejaVu Sans"/>
                <a:cs typeface="DejaVu Sans"/>
              </a:rPr>
              <a:t>Perception, constrained planning</a:t>
            </a:r>
          </a:p>
          <a:p xmlns:a="http://schemas.openxmlformats.org/drawingml/2006/main">
            <a:pPr>
              <a:defRPr sz="2100" b="0">
                <a:solidFill>
                  <a:srgbClr val="12334B"/>
                </a:solidFill>
                <a:latin typeface="DejaVu Sans"/>
                <a:ea typeface="DejaVu Sans"/>
                <a:cs typeface="DejaVu Sans"/>
              </a:defRPr>
            </a:pPr>
            <a:r>
              <a:rPr sz="2100" b="0">
                <a:solidFill>
                  <a:srgbClr val="12334B"/>
                </a:solidFill>
                <a:latin typeface="DejaVu Sans"/>
                <a:ea typeface="DejaVu Sans"/>
                <a:cs typeface="DejaVu Sans"/>
              </a:rPr>
              <a:t>and task supervision</a:t>
            </a:r>
          </a:p>
        </p:txBody>
      </p:sp>
      <p:sp>
        <p:nvSpPr>
          <p:cNvPr id="25" name="">
            <a:extLst xmlns:a="http://schemas.openxmlformats.org/drawingml/2006/main">
              <a:ext uri="{FF2B5EF4-FFF2-40B4-BE49-F238E27FC236}">
                <a16:creationId xmlns:a16="http://schemas.microsoft.com/office/drawing/2014/main" id="{489BB173-40BA-4CA5-9381-4F0DE051819E}"/>
              </a:ext>
            </a:extLst>
          </p:cNvPr>
          <p:cNvSpPr>
            <a:spLocks xmlns:a="http://schemas.openxmlformats.org/drawingml/2006/main" noGrp="1"/>
          </p:cNvSpPr>
          <p:nvPr/>
        </p:nvSpPr>
        <p:spPr>
          <a:xfrm xmlns:a="http://schemas.openxmlformats.org/drawingml/2006/main">
            <a:off x="6391275" y="5248275"/>
            <a:ext cx="523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05EAA"/>
                </a:solidFill>
                <a:latin typeface="DejaVu Sans"/>
                <a:ea typeface="DejaVu Sans"/>
                <a:cs typeface="DejaVu Sans"/>
              </a:defRPr>
            </a:defPPr>
          </a:lstStyle>
          <a:p xmlns:a="http://schemas.openxmlformats.org/drawingml/2006/main">
            <a:pPr>
              <a:defRPr sz="2250" b="1">
                <a:solidFill>
                  <a:srgbClr val="005EAA"/>
                </a:solidFill>
                <a:latin typeface="DejaVu Sans"/>
                <a:ea typeface="DejaVu Sans"/>
                <a:cs typeface="DejaVu Sans"/>
              </a:defRPr>
            </a:pPr>
            <a:r>
              <a:rPr sz="2250" b="1">
                <a:solidFill>
                  <a:srgbClr val="005EAA"/>
                </a:solidFill>
                <a:latin typeface="DejaVu Sans"/>
                <a:ea typeface="DejaVu Sans"/>
                <a:cs typeface="DejaVu Sans"/>
              </a:rPr>
              <a:t>Primer-skin NDT inspection</a:t>
            </a:r>
          </a:p>
        </p:txBody>
      </p:sp>
      <p:sp>
        <p:nvSpPr>
          <p:cNvPr id="26" name="">
            <a:extLst xmlns:a="http://schemas.openxmlformats.org/drawingml/2006/main">
              <a:ext uri="{FF2B5EF4-FFF2-40B4-BE49-F238E27FC236}">
                <a16:creationId xmlns:a16="http://schemas.microsoft.com/office/drawing/2014/main" id="{EF028DC6-05E1-4F89-A30E-FD0D8D151A5A}"/>
              </a:ext>
            </a:extLst>
          </p:cNvPr>
          <p:cNvSpPr>
            <a:spLocks xmlns:a="http://schemas.openxmlformats.org/drawingml/2006/main" noGrp="1"/>
          </p:cNvSpPr>
          <p:nvPr/>
        </p:nvSpPr>
        <p:spPr>
          <a:xfrm xmlns:a="http://schemas.openxmlformats.org/drawingml/2006/main">
            <a:off x="6391275" y="6010275"/>
            <a:ext cx="5238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2334B"/>
                </a:solidFill>
                <a:latin typeface="DejaVu Sans"/>
                <a:ea typeface="DejaVu Sans"/>
                <a:cs typeface="DejaVu Sans"/>
              </a:defRPr>
            </a:defPPr>
          </a:lstStyle>
          <a:p xmlns:a="http://schemas.openxmlformats.org/drawingml/2006/main">
            <a:pPr>
              <a:defRPr sz="2100" b="0">
                <a:solidFill>
                  <a:srgbClr val="12334B"/>
                </a:solidFill>
                <a:latin typeface="DejaVu Sans"/>
                <a:ea typeface="DejaVu Sans"/>
                <a:cs typeface="DejaVu Sans"/>
              </a:defRPr>
            </a:pPr>
            <a:r>
              <a:rPr sz="2100" b="0">
                <a:solidFill>
                  <a:srgbClr val="12334B"/>
                </a:solidFill>
                <a:latin typeface="DejaVu Sans"/>
                <a:ea typeface="DejaVu Sans"/>
                <a:cs typeface="DejaVu Sans"/>
              </a:rPr>
              <a:t>Automatic robot motion</a:t>
            </a:r>
          </a:p>
          <a:p xmlns:a="http://schemas.openxmlformats.org/drawingml/2006/main">
            <a:pPr>
              <a:defRPr sz="2100" b="0">
                <a:solidFill>
                  <a:srgbClr val="12334B"/>
                </a:solidFill>
                <a:latin typeface="DejaVu Sans"/>
                <a:ea typeface="DejaVu Sans"/>
                <a:cs typeface="DejaVu Sans"/>
              </a:defRPr>
            </a:pPr>
            <a:r>
              <a:rPr sz="2100" b="0">
                <a:solidFill>
                  <a:srgbClr val="12334B"/>
                </a:solidFill>
                <a:latin typeface="DejaVu Sans"/>
                <a:ea typeface="DejaVu Sans"/>
                <a:cs typeface="DejaVu Sans"/>
              </a:rPr>
              <a:t>Process constraints and</a:t>
            </a:r>
          </a:p>
          <a:p xmlns:a="http://schemas.openxmlformats.org/drawingml/2006/main">
            <a:pPr>
              <a:defRPr sz="2100" b="0">
                <a:solidFill>
                  <a:srgbClr val="12334B"/>
                </a:solidFill>
                <a:latin typeface="DejaVu Sans"/>
                <a:ea typeface="DejaVu Sans"/>
                <a:cs typeface="DejaVu Sans"/>
              </a:defRPr>
            </a:pPr>
            <a:r>
              <a:rPr sz="2100" b="0">
                <a:solidFill>
                  <a:srgbClr val="12334B"/>
                </a:solidFill>
                <a:latin typeface="DejaVu Sans"/>
                <a:ea typeface="DejaVu Sans"/>
                <a:cs typeface="DejaVu Sans"/>
              </a:rPr>
              <a:t>inspection coverage</a:t>
            </a:r>
          </a:p>
        </p:txBody>
      </p:sp>
      <p:sp>
        <p:nvSpPr>
          <p:cNvPr id="27" name="">
            <a:extLst xmlns:a="http://schemas.openxmlformats.org/drawingml/2006/main">
              <a:ext uri="{FF2B5EF4-FFF2-40B4-BE49-F238E27FC236}">
                <a16:creationId xmlns:a16="http://schemas.microsoft.com/office/drawing/2014/main" id="{D6D8812E-FC95-4CB1-99E2-AE03D519873A}"/>
              </a:ext>
            </a:extLst>
          </p:cNvPr>
          <p:cNvSpPr>
            <a:spLocks xmlns:a="http://schemas.openxmlformats.org/drawingml/2006/main" noGrp="1"/>
          </p:cNvSpPr>
          <p:nvPr/>
        </p:nvSpPr>
        <p:spPr>
          <a:xfrm xmlns:a="http://schemas.openxmlformats.org/drawingml/2006/main">
            <a:off x="12077700" y="5248275"/>
            <a:ext cx="523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05EAA"/>
                </a:solidFill>
                <a:latin typeface="DejaVu Sans"/>
                <a:ea typeface="DejaVu Sans"/>
                <a:cs typeface="DejaVu Sans"/>
              </a:defRPr>
            </a:defPPr>
          </a:lstStyle>
          <a:p xmlns:a="http://schemas.openxmlformats.org/drawingml/2006/main">
            <a:pPr>
              <a:defRPr sz="2250" b="1">
                <a:solidFill>
                  <a:srgbClr val="005EAA"/>
                </a:solidFill>
                <a:latin typeface="DejaVu Sans"/>
                <a:ea typeface="DejaVu Sans"/>
                <a:cs typeface="DejaVu Sans"/>
              </a:defRPr>
            </a:pPr>
            <a:r>
              <a:rPr sz="2250" b="1">
                <a:solidFill>
                  <a:srgbClr val="005EAA"/>
                </a:solidFill>
                <a:latin typeface="DejaVu Sans"/>
                <a:ea typeface="DejaVu Sans"/>
                <a:cs typeface="DejaVu Sans"/>
              </a:rPr>
              <a:t>Intelligent scan plan</a:t>
            </a:r>
          </a:p>
        </p:txBody>
      </p:sp>
      <p:sp>
        <p:nvSpPr>
          <p:cNvPr id="28" name="">
            <a:extLst xmlns:a="http://schemas.openxmlformats.org/drawingml/2006/main">
              <a:ext uri="{FF2B5EF4-FFF2-40B4-BE49-F238E27FC236}">
                <a16:creationId xmlns:a16="http://schemas.microsoft.com/office/drawing/2014/main" id="{F31FA6B9-037B-44B1-9866-334A7D44F314}"/>
              </a:ext>
            </a:extLst>
          </p:cNvPr>
          <p:cNvSpPr>
            <a:spLocks xmlns:a="http://schemas.openxmlformats.org/drawingml/2006/main" noGrp="1"/>
          </p:cNvSpPr>
          <p:nvPr/>
        </p:nvSpPr>
        <p:spPr>
          <a:xfrm xmlns:a="http://schemas.openxmlformats.org/drawingml/2006/main">
            <a:off x="12077700" y="6010275"/>
            <a:ext cx="5238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2334B"/>
                </a:solidFill>
                <a:latin typeface="DejaVu Sans"/>
                <a:ea typeface="DejaVu Sans"/>
                <a:cs typeface="DejaVu Sans"/>
              </a:defRPr>
            </a:defPPr>
          </a:lstStyle>
          <a:p xmlns:a="http://schemas.openxmlformats.org/drawingml/2006/main">
            <a:pPr>
              <a:defRPr sz="2100" b="0">
                <a:solidFill>
                  <a:srgbClr val="12334B"/>
                </a:solidFill>
                <a:latin typeface="DejaVu Sans"/>
                <a:ea typeface="DejaVu Sans"/>
                <a:cs typeface="DejaVu Sans"/>
              </a:defRPr>
            </a:pPr>
            <a:r>
              <a:rPr sz="2100" b="0">
                <a:solidFill>
                  <a:srgbClr val="12334B"/>
                </a:solidFill>
                <a:latin typeface="DejaVu Sans"/>
                <a:ea typeface="DejaVu Sans"/>
                <a:cs typeface="DejaVu Sans"/>
              </a:rPr>
              <a:t>Configurable scanning</a:t>
            </a:r>
          </a:p>
          <a:p xmlns:a="http://schemas.openxmlformats.org/drawingml/2006/main">
            <a:pPr>
              <a:defRPr sz="2100" b="0">
                <a:solidFill>
                  <a:srgbClr val="12334B"/>
                </a:solidFill>
                <a:latin typeface="DejaVu Sans"/>
                <a:ea typeface="DejaVu Sans"/>
                <a:cs typeface="DejaVu Sans"/>
              </a:defRPr>
            </a:pPr>
            <a:r>
              <a:rPr sz="2100" b="0">
                <a:solidFill>
                  <a:srgbClr val="12334B"/>
                </a:solidFill>
                <a:latin typeface="DejaVu Sans"/>
                <a:ea typeface="DejaVu Sans"/>
                <a:cs typeface="DejaVu Sans"/>
              </a:rPr>
              <a:t>Defect visit sequencing</a:t>
            </a:r>
          </a:p>
          <a:p xmlns:a="http://schemas.openxmlformats.org/drawingml/2006/main">
            <a:pPr>
              <a:defRPr sz="2100" b="0">
                <a:solidFill>
                  <a:srgbClr val="12334B"/>
                </a:solidFill>
                <a:latin typeface="DejaVu Sans"/>
                <a:ea typeface="DejaVu Sans"/>
                <a:cs typeface="DejaVu Sans"/>
              </a:defRPr>
            </a:pPr>
            <a:r>
              <a:rPr sz="2100" b="0">
                <a:solidFill>
                  <a:srgbClr val="12334B"/>
                </a:solidFill>
                <a:latin typeface="DejaVu Sans"/>
                <a:ea typeface="DejaVu Sans"/>
                <a:cs typeface="DejaVu Sans"/>
              </a:rPr>
              <a:t>and targeted rescanning</a:t>
            </a:r>
          </a:p>
        </p:txBody>
      </p:sp>
      <p:cxnSp>
        <p:nvCxnSpPr>
          <p:cNvPr id="29" name="">
            <a:extLst xmlns:a="http://schemas.openxmlformats.org/drawingml/2006/main">
              <a:ext uri="{FF2B5EF4-FFF2-40B4-BE49-F238E27FC236}">
                <a16:creationId xmlns:a16="http://schemas.microsoft.com/office/drawing/2014/main" id="{BACFCE73-C41D-4A8E-AB24-5F32DF849FFA}"/>
              </a:ext>
            </a:extLst>
          </p:cNvPr>
          <p:cNvCxnSpPr/>
          <p:nvPr/>
        </p:nvCxnSpPr>
        <p:spPr>
          <a:xfrm xmlns:a="http://schemas.openxmlformats.org/drawingml/2006/main">
            <a:off x="704850" y="7496175"/>
            <a:ext cx="16878300" cy="0"/>
          </a:xfrm>
          <a:prstGeom xmlns:a="http://schemas.openxmlformats.org/drawingml/2006/main" prst="straightConnector1">
            <a:avLst/>
          </a:prstGeom>
          <a:ln xmlns:a="http://schemas.openxmlformats.org/drawingml/2006/main" w="19050">
            <a:solidFill>
              <a:srgbClr val="C9D8E2"/>
            </a:solidFill>
          </a:ln>
        </p:spPr>
      </p:cxnSp>
      <p:sp>
        <p:nvSpPr>
          <p:cNvPr id="30" name="">
            <a:extLst xmlns:a="http://schemas.openxmlformats.org/drawingml/2006/main">
              <a:ext uri="{FF2B5EF4-FFF2-40B4-BE49-F238E27FC236}">
                <a16:creationId xmlns:a16="http://schemas.microsoft.com/office/drawing/2014/main" id="{F972978B-9844-44E5-90D0-CA3261BE3CFF}"/>
              </a:ext>
            </a:extLst>
          </p:cNvPr>
          <p:cNvSpPr>
            <a:spLocks xmlns:a="http://schemas.openxmlformats.org/drawingml/2006/main" noGrp="1"/>
          </p:cNvSpPr>
          <p:nvPr/>
        </p:nvSpPr>
        <p:spPr>
          <a:xfrm xmlns:a="http://schemas.openxmlformats.org/drawingml/2006/main">
            <a:off x="704850" y="7743825"/>
            <a:ext cx="16878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8243D"/>
                </a:solidFill>
                <a:latin typeface="DejaVu Sans"/>
                <a:ea typeface="DejaVu Sans"/>
                <a:cs typeface="DejaVu Sans"/>
              </a:defRPr>
            </a:defPPr>
          </a:lstStyle>
          <a:p xmlns:a="http://schemas.openxmlformats.org/drawingml/2006/main">
            <a:pPr>
              <a:defRPr sz="2850" b="1">
                <a:solidFill>
                  <a:srgbClr val="08243D"/>
                </a:solidFill>
                <a:latin typeface="DejaVu Sans"/>
                <a:ea typeface="DejaVu Sans"/>
                <a:cs typeface="DejaVu Sans"/>
              </a:defRPr>
            </a:pPr>
            <a:r>
              <a:rPr sz="2850" b="1">
                <a:solidFill>
                  <a:srgbClr val="08243D"/>
                </a:solidFill>
                <a:latin typeface="DejaVu Sans"/>
                <a:ea typeface="DejaVu Sans"/>
                <a:cs typeface="DejaVu Sans"/>
              </a:rPr>
              <a:t>Reuse framework capabilities through stepwise integration</a:t>
            </a:r>
          </a:p>
        </p:txBody>
      </p:sp>
      <p:sp>
        <p:nvSpPr>
          <p:cNvPr id="31" name="">
            <a:extLst xmlns:a="http://schemas.openxmlformats.org/drawingml/2006/main">
              <a:ext uri="{FF2B5EF4-FFF2-40B4-BE49-F238E27FC236}">
                <a16:creationId xmlns:a16="http://schemas.microsoft.com/office/drawing/2014/main" id="{A5C3FF98-1E0E-4565-B8A8-D43745595DD0}"/>
              </a:ext>
            </a:extLst>
          </p:cNvPr>
          <p:cNvSpPr>
            <a:spLocks xmlns:a="http://schemas.openxmlformats.org/drawingml/2006/main" noGrp="1"/>
          </p:cNvSpPr>
          <p:nvPr/>
        </p:nvSpPr>
        <p:spPr>
          <a:xfrm xmlns:a="http://schemas.openxmlformats.org/drawingml/2006/main">
            <a:off x="704850" y="8391525"/>
            <a:ext cx="16878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2334B"/>
                </a:solidFill>
                <a:latin typeface="DejaVu Sans"/>
                <a:ea typeface="DejaVu Sans"/>
                <a:cs typeface="DejaVu Sans"/>
              </a:defRPr>
            </a:defPPr>
          </a:lstStyle>
          <a:p xmlns:a="http://schemas.openxmlformats.org/drawingml/2006/main">
            <a:pPr>
              <a:defRPr sz="2175" b="0">
                <a:solidFill>
                  <a:srgbClr val="12334B"/>
                </a:solidFill>
                <a:latin typeface="DejaVu Sans"/>
                <a:ea typeface="DejaVu Sans"/>
                <a:cs typeface="DejaVu Sans"/>
              </a:defRPr>
            </a:pPr>
            <a:r>
              <a:rPr sz="2175" b="0">
                <a:solidFill>
                  <a:srgbClr val="12334B"/>
                </a:solidFill>
                <a:latin typeface="DejaVu Sans"/>
                <a:ea typeface="DejaVu Sans"/>
                <a:cs typeface="DejaVu Sans"/>
              </a:rPr>
              <a:t>Select HPP, MoveIt2 or Tesseract for each application and integrate its supported capabilities.</a:t>
            </a:r>
          </a:p>
          <a:p xmlns:a="http://schemas.openxmlformats.org/drawingml/2006/main">
            <a:pPr>
              <a:defRPr sz="2175" b="0">
                <a:solidFill>
                  <a:srgbClr val="12334B"/>
                </a:solidFill>
                <a:latin typeface="DejaVu Sans"/>
                <a:ea typeface="DejaVu Sans"/>
                <a:cs typeface="DejaVu Sans"/>
              </a:defRPr>
            </a:pPr>
            <a:r>
              <a:rPr sz="2175" b="0">
                <a:solidFill>
                  <a:srgbClr val="12334B"/>
                </a:solidFill>
                <a:latin typeface="DejaVu Sans"/>
                <a:ea typeface="DejaVu Sans"/>
                <a:cs typeface="DejaVu Sans"/>
              </a:rPr>
              <a:t>Build adapters, configuration and validation evidence. Develop algorithms only for confirmed gaps.</a:t>
            </a:r>
          </a:p>
        </p:txBody>
      </p:sp>
      <p:sp>
        <p:nvSpPr>
          <p:cNvPr id="32" name="">
            <a:extLst xmlns:a="http://schemas.openxmlformats.org/drawingml/2006/main">
              <a:ext uri="{FF2B5EF4-FFF2-40B4-BE49-F238E27FC236}">
                <a16:creationId xmlns:a16="http://schemas.microsoft.com/office/drawing/2014/main" id="{5D9C9158-5909-4A3E-9CF8-9945937A98E0}"/>
              </a:ext>
            </a:extLst>
          </p:cNvPr>
          <p:cNvSpPr>
            <a:spLocks xmlns:a="http://schemas.openxmlformats.org/drawingml/2006/main" noGrp="1"/>
          </p:cNvSpPr>
          <p:nvPr/>
        </p:nvSpPr>
        <p:spPr>
          <a:xfrm xmlns:a="http://schemas.openxmlformats.org/drawingml/2006/main">
            <a:off x="704850" y="9782175"/>
            <a:ext cx="1609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B7D"/>
                </a:solidFill>
                <a:latin typeface="DejaVu Sans"/>
                <a:ea typeface="DejaVu Sans"/>
                <a:cs typeface="DejaVu Sans"/>
              </a:defRPr>
            </a:defPPr>
          </a:lstStyle>
          <a:p xmlns:a="http://schemas.openxmlformats.org/drawingml/2006/main">
            <a:pPr>
              <a:defRPr sz="1425" b="0">
                <a:solidFill>
                  <a:srgbClr val="526B7D"/>
                </a:solidFill>
                <a:latin typeface="DejaVu Sans"/>
                <a:ea typeface="DejaVu Sans"/>
                <a:cs typeface="DejaVu Sans"/>
              </a:defRPr>
            </a:pPr>
            <a:r>
              <a:rPr sz="1425" b="0">
                <a:solidFill>
                  <a:srgbClr val="526B7D"/>
                </a:solidFill>
                <a:latin typeface="DejaVu Sans"/>
                <a:ea typeface="DejaVu Sans"/>
                <a:cs typeface="DejaVu Sans"/>
              </a:rPr>
              <a:t>Goal: less manual programming, configurable process paths and reusable planning across robots.</a:t>
            </a:r>
          </a:p>
        </p:txBody>
      </p:sp>
      <p:sp>
        <p:nvSpPr>
          <p:cNvPr id="33" name="">
            <a:extLst xmlns:a="http://schemas.openxmlformats.org/drawingml/2006/main">
              <a:ext uri="{FF2B5EF4-FFF2-40B4-BE49-F238E27FC236}">
                <a16:creationId xmlns:a16="http://schemas.microsoft.com/office/drawing/2014/main" id="{134296A5-955C-45C2-A39E-F273EF25BC7B}"/>
              </a:ext>
            </a:extLst>
          </p:cNvPr>
          <p:cNvSpPr>
            <a:spLocks xmlns:a="http://schemas.openxmlformats.org/drawingml/2006/main" noGrp="1"/>
          </p:cNvSpPr>
          <p:nvPr/>
        </p:nvSpPr>
        <p:spPr>
          <a:xfrm xmlns:a="http://schemas.openxmlformats.org/drawingml/2006/main">
            <a:off x="17145000" y="9782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26B7D"/>
                </a:solidFill>
                <a:latin typeface="DejaVu Sans"/>
                <a:ea typeface="DejaVu Sans"/>
                <a:cs typeface="DejaVu Sans"/>
              </a:defRPr>
            </a:defPPr>
          </a:lstStyle>
          <a:p xmlns:a="http://schemas.openxmlformats.org/drawingml/2006/main">
            <a:pPr>
              <a:defRPr sz="1500" b="0">
                <a:solidFill>
                  <a:srgbClr val="526B7D"/>
                </a:solidFill>
                <a:latin typeface="DejaVu Sans"/>
                <a:ea typeface="DejaVu Sans"/>
                <a:cs typeface="DejaVu Sans"/>
              </a:defRPr>
            </a:pPr>
            <a:r>
              <a:rPr sz="1500" b="0">
                <a:solidFill>
                  <a:srgbClr val="526B7D"/>
                </a:solidFill>
                <a:latin typeface="DejaVu Sans"/>
                <a:ea typeface="DejaVu Sans"/>
                <a:cs typeface="DejaVu Sans"/>
              </a:rPr>
              <a:t>1</a:t>
            </a:r>
          </a:p>
        </p:txBody>
      </p:sp>
    </p:spTree>
    <p:extLst>
      <p:ext uri="{BB962C8B-B14F-4D97-AF65-F5344CB8AC3E}">
        <p14:creationId xmlns:p14="http://schemas.microsoft.com/office/powerpoint/2010/main" val="84167223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188200A-D25D-43F9-8DD4-3FFE21854BA5}"/>
              </a:ext>
            </a:extLst>
          </p:cNvPr>
          <p:cNvSpPr>
            <a:spLocks xmlns:a="http://schemas.openxmlformats.org/drawingml/2006/main" noGrp="1"/>
          </p:cNvSpPr>
          <p:nvPr/>
        </p:nvSpPr>
        <p:spPr>
          <a:xfrm xmlns:a="http://schemas.openxmlformats.org/drawingml/2006/main">
            <a:off x="685800" y="419100"/>
            <a:ext cx="16859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08243D"/>
                </a:solidFill>
                <a:latin typeface="DejaVu Sans"/>
                <a:ea typeface="DejaVu Sans"/>
                <a:cs typeface="DejaVu Sans"/>
              </a:defRPr>
            </a:defPPr>
          </a:lstStyle>
          <a:p xmlns:a="http://schemas.openxmlformats.org/drawingml/2006/main">
            <a:pPr>
              <a:defRPr sz="3900" b="1">
                <a:solidFill>
                  <a:srgbClr val="08243D"/>
                </a:solidFill>
                <a:latin typeface="DejaVu Sans"/>
                <a:ea typeface="DejaVu Sans"/>
                <a:cs typeface="DejaVu Sans"/>
              </a:defRPr>
            </a:pPr>
            <a:r>
              <a:rPr sz="3900" b="1">
                <a:solidFill>
                  <a:srgbClr val="08243D"/>
                </a:solidFill>
                <a:latin typeface="DejaVu Sans"/>
                <a:ea typeface="DejaVu Sans"/>
                <a:cs typeface="DejaVu Sans"/>
              </a:rPr>
              <a:t>Integration stages 1–4: data, tool paths and motion</a:t>
            </a:r>
          </a:p>
        </p:txBody>
      </p:sp>
      <p:sp>
        <p:nvSpPr>
          <p:cNvPr id="2" name="">
            <a:extLst xmlns:a="http://schemas.openxmlformats.org/drawingml/2006/main">
              <a:ext uri="{FF2B5EF4-FFF2-40B4-BE49-F238E27FC236}">
                <a16:creationId xmlns:a16="http://schemas.microsoft.com/office/drawing/2014/main" id="{E20659DA-DCDA-48F7-8240-B455F78E292D}"/>
              </a:ext>
            </a:extLst>
          </p:cNvPr>
          <p:cNvSpPr>
            <a:spLocks xmlns:a="http://schemas.openxmlformats.org/drawingml/2006/main" noGrp="1"/>
          </p:cNvSpPr>
          <p:nvPr/>
        </p:nvSpPr>
        <p:spPr>
          <a:xfrm xmlns:a="http://schemas.openxmlformats.org/drawingml/2006/main">
            <a:off x="704850" y="1285875"/>
            <a:ext cx="16764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26B7D"/>
                </a:solidFill>
                <a:latin typeface="DejaVu Sans"/>
                <a:ea typeface="DejaVu Sans"/>
                <a:cs typeface="DejaVu Sans"/>
              </a:defRPr>
            </a:defPPr>
          </a:lstStyle>
          <a:p xmlns:a="http://schemas.openxmlformats.org/drawingml/2006/main">
            <a:pPr>
              <a:defRPr sz="2100" b="0">
                <a:solidFill>
                  <a:srgbClr val="526B7D"/>
                </a:solidFill>
                <a:latin typeface="DejaVu Sans"/>
                <a:ea typeface="DejaVu Sans"/>
                <a:cs typeface="DejaVu Sans"/>
              </a:defRPr>
            </a:pPr>
            <a:r>
              <a:rPr sz="2100" b="0">
                <a:solidFill>
                  <a:srgbClr val="526B7D"/>
                </a:solidFill>
                <a:latin typeface="DejaVu Sans"/>
                <a:ea typeface="DejaVu Sans"/>
                <a:cs typeface="DejaVu Sans"/>
              </a:rPr>
              <a:t>Each stage reuses available implementations, adds an interface and verifies the integrated result</a:t>
            </a:r>
          </a:p>
        </p:txBody>
      </p:sp>
      <p:graphicFrame>
        <p:nvGraphicFramePr>
          <p:cNvPr id="3" name="">
            <a:extLst xmlns:a="http://schemas.openxmlformats.org/drawingml/2006/main">
              <a:ext uri="{FF2B5EF4-FFF2-40B4-BE49-F238E27FC236}">
                <a16:creationId xmlns:a16="http://schemas.microsoft.com/office/drawing/2014/main" id="{74168ADE-8E48-4C5E-A94C-D67511380B58}"/>
              </a:ext>
            </a:extLst>
          </p:cNvPr>
          <p:cNvGraphicFramePr/>
          <p:nvPr/>
        </p:nvGraphicFramePr>
        <p:xfrm>
          <a:off xmlns:a="http://schemas.openxmlformats.org/drawingml/2006/main" x="704850" y="2133600"/>
          <a:ext xmlns:a="http://schemas.openxmlformats.org/drawingml/2006/main" cx="16878300" cy="6505575"/>
        </p:xfrm>
        <a:graphic xmlns:a="http://schemas.openxmlformats.org/drawingml/2006/main">
          <a:graphicData uri="http://schemas.openxmlformats.org/drawingml/2006/table">
            <a:tbl>
              <a:tblPr/>
              <a:tblGrid>
                <a:gridCol w="3476625"/>
                <a:gridCol w="9334500"/>
                <a:gridCol w="4067175"/>
              </a:tblGrid>
              <a:tr h="590550">
                <a:tc>
                  <a:txBody>
                    <a:bodyPr/>
                    <a:lstStyle/>
                    <a:p>
                      <a:r>
                        <a:rPr sz="1875" b="1">
                          <a:solidFill>
                            <a:srgbClr val="FFFFFF"/>
                          </a:solidFill>
                          <a:latin typeface="DejaVu Sans"/>
                          <a:ea typeface="DejaVu Sans"/>
                          <a:cs typeface="DejaVu Sans"/>
                        </a:rPr>
                        <a:t>Integration stage</a:t>
                      </a:r>
                    </a:p>
                  </a:txBody>
                  <a:tcPr marL="91440" marR="91440" marT="45720" marB="45720">
                    <a:solidFill>
                      <a:srgbClr val="08243D"/>
                    </a:solidFill>
                  </a:tcPr>
                </a:tc>
                <a:tc>
                  <a:txBody>
                    <a:bodyPr/>
                    <a:lstStyle/>
                    <a:p>
                      <a:r>
                        <a:rPr sz="1875" b="1">
                          <a:solidFill>
                            <a:srgbClr val="FFFFFF"/>
                          </a:solidFill>
                          <a:latin typeface="DejaVu Sans"/>
                          <a:ea typeface="DejaVu Sans"/>
                          <a:cs typeface="DejaVu Sans"/>
                        </a:rPr>
                        <a:t>Capability to reuse and integration work</a:t>
                      </a:r>
                    </a:p>
                  </a:txBody>
                  <a:tcPr marL="91440" marR="91440" marT="45720" marB="45720">
                    <a:solidFill>
                      <a:srgbClr val="08243D"/>
                    </a:solidFill>
                  </a:tcPr>
                </a:tc>
                <a:tc>
                  <a:txBody>
                    <a:bodyPr/>
                    <a:lstStyle/>
                    <a:p>
                      <a:r>
                        <a:rPr sz="1875" b="1">
                          <a:solidFill>
                            <a:srgbClr val="FFFFFF"/>
                          </a:solidFill>
                          <a:latin typeface="DejaVu Sans"/>
                          <a:ea typeface="DejaVu Sans"/>
                          <a:cs typeface="DejaVu Sans"/>
                        </a:rPr>
                        <a:t>Integration acceptance</a:t>
                      </a:r>
                    </a:p>
                  </a:txBody>
                  <a:tcPr marL="91440" marR="91440" marT="45720" marB="45720">
                    <a:solidFill>
                      <a:srgbClr val="08243D"/>
                    </a:solidFill>
                  </a:tcPr>
                </a:tc>
              </a:tr>
              <a:tr h="1295400">
                <a:tc>
                  <a:txBody>
                    <a:bodyPr/>
                    <a:lstStyle/>
                    <a:p>
                      <a:r>
                        <a:rPr sz="1950" b="1">
                          <a:solidFill>
                            <a:srgbClr val="12334B"/>
                          </a:solidFill>
                          <a:latin typeface="DejaVu Sans"/>
                          <a:ea typeface="DejaVu Sans"/>
                          <a:cs typeface="DejaVu Sans"/>
                        </a:rPr>
                        <a:t>1  Data adapters</a:t>
                      </a:r>
                    </a:p>
                  </a:txBody>
                  <a:tcPr marL="91440" marR="91440" marT="45720" marB="45720">
                    <a:solidFill>
                      <a:srgbClr val="EFF5F8"/>
                    </a:solidFill>
                  </a:tcPr>
                </a:tc>
                <a:tc>
                  <a:txBody>
                    <a:bodyPr/>
                    <a:lstStyle/>
                    <a:p>
                      <a:r>
                        <a:rPr sz="1950" b="0">
                          <a:solidFill>
                            <a:srgbClr val="12334B"/>
                          </a:solidFill>
                          <a:latin typeface="DejaVu Sans"/>
                          <a:ea typeface="DejaVu Sans"/>
                          <a:cs typeface="DejaVu Sans"/>
                        </a:rPr>
                        <a:t>Reuse framework importers for robot, panel, tool and scene data.</a:t>
                      </a:r>
                    </a:p>
                    <a:p>
                      <a:r>
                        <a:rPr sz="1950" b="0">
                          <a:solidFill>
                            <a:srgbClr val="12334B"/>
                          </a:solidFill>
                          <a:latin typeface="DejaVu Sans"/>
                          <a:ea typeface="DejaVu Sans"/>
                          <a:cs typeface="DejaVu Sans"/>
                        </a:rPr>
                        <a:t>Map common frames / units to URDF, CAD / point clouds, MJCF and USD.</a:t>
                      </a:r>
                    </a:p>
                  </a:txBody>
                  <a:tcPr marL="91440" marR="91440" marT="45720" marB="45720">
                    <a:solidFill>
                      <a:srgbClr val="EFF5F8"/>
                    </a:solidFill>
                  </a:tcPr>
                </a:tc>
                <a:tc>
                  <a:txBody>
                    <a:bodyPr/>
                    <a:lstStyle/>
                    <a:p>
                      <a:r>
                        <a:rPr sz="1950" b="0">
                          <a:solidFill>
                            <a:srgbClr val="12334B"/>
                          </a:solidFill>
                          <a:latin typeface="DejaVu Sans"/>
                          <a:ea typeface="DejaVu Sans"/>
                          <a:cs typeface="DejaVu Sans"/>
                        </a:rPr>
                        <a:t>Equivalent geometry, joints, limits</a:t>
                      </a:r>
                    </a:p>
                    <a:p>
                      <a:r>
                        <a:rPr sz="1950" b="0">
                          <a:solidFill>
                            <a:srgbClr val="12334B"/>
                          </a:solidFill>
                          <a:latin typeface="DejaVu Sans"/>
                          <a:ea typeface="DejaVu Sans"/>
                          <a:cs typeface="DejaVu Sans"/>
                        </a:rPr>
                        <a:t>and frames in selected tools</a:t>
                      </a:r>
                    </a:p>
                  </a:txBody>
                  <a:tcPr marL="91440" marR="91440" marT="45720" marB="45720">
                    <a:solidFill>
                      <a:srgbClr val="EFF5F8"/>
                    </a:solidFill>
                  </a:tcPr>
                </a:tc>
              </a:tr>
              <a:tr h="1571625">
                <a:tc>
                  <a:txBody>
                    <a:bodyPr/>
                    <a:lstStyle/>
                    <a:p>
                      <a:r>
                        <a:rPr sz="1950" b="1">
                          <a:solidFill>
                            <a:srgbClr val="12334B"/>
                          </a:solidFill>
                          <a:latin typeface="DejaVu Sans"/>
                          <a:ea typeface="DejaVu Sans"/>
                          <a:cs typeface="DejaVu Sans"/>
                        </a:rPr>
                        <a:t>2  Toolpath interface</a:t>
                      </a:r>
                    </a:p>
                  </a:txBody>
                  <a:tcPr marL="91440" marR="91440" marT="45720" marB="45720">
                    <a:solidFill>
                      <a:srgbClr val="FFFFFF"/>
                    </a:solidFill>
                  </a:tcPr>
                </a:tc>
                <a:tc>
                  <a:txBody>
                    <a:bodyPr/>
                    <a:lstStyle/>
                    <a:p>
                      <a:r>
                        <a:rPr sz="1950" b="0">
                          <a:solidFill>
                            <a:srgbClr val="12334B"/>
                          </a:solidFill>
                          <a:latin typeface="DejaVu Sans"/>
                          <a:ea typeface="DejaVu Sans"/>
                          <a:cs typeface="DejaVu Sans"/>
                        </a:rPr>
                        <a:t>Wrap IRT Open CASCADE / point-cloud and HPP-project GMM options.</a:t>
                      </a:r>
                    </a:p>
                    <a:p>
                      <a:r>
                        <a:rPr sz="1950" b="0">
                          <a:solidFill>
                            <a:srgbClr val="12334B"/>
                          </a:solidFill>
                          <a:latin typeface="DejaVu Sans"/>
                          <a:ea typeface="DejaVu Sans"/>
                          <a:cs typeface="DejaVu Sans"/>
                        </a:rPr>
                        <a:t>Expose a common configuration for pattern, size, area and swathe.</a:t>
                      </a:r>
                    </a:p>
                    <a:p>
                      <a:r>
                        <a:rPr sz="1950" b="0">
                          <a:solidFill>
                            <a:srgbClr val="12334B"/>
                          </a:solidFill>
                          <a:latin typeface="DejaVu Sans"/>
                          <a:ea typeface="DejaVu Sans"/>
                          <a:cs typeface="DejaVu Sans"/>
                        </a:rPr>
                        <a:t>Map supported parameters and return a common TCP toolpath.</a:t>
                      </a:r>
                    </a:p>
                  </a:txBody>
                  <a:tcPr marL="91440" marR="91440" marT="45720" marB="45720">
                    <a:solidFill>
                      <a:srgbClr val="FFFFFF"/>
                    </a:solidFill>
                  </a:tcPr>
                </a:tc>
                <a:tc>
                  <a:txBody>
                    <a:bodyPr/>
                    <a:lstStyle/>
                    <a:p>
                      <a:r>
                        <a:rPr sz="1950" b="0">
                          <a:solidFill>
                            <a:srgbClr val="12334B"/>
                          </a:solidFill>
                          <a:latin typeface="DejaVu Sans"/>
                          <a:ea typeface="DejaVu Sans"/>
                          <a:cs typeface="DejaVu Sans"/>
                        </a:rPr>
                        <a:t>Configurable coverage / tool path</a:t>
                      </a:r>
                    </a:p>
                    <a:p>
                      <a:r>
                        <a:rPr sz="1950" b="0">
                          <a:solidFill>
                            <a:srgbClr val="12334B"/>
                          </a:solidFill>
                          <a:latin typeface="DejaVu Sans"/>
                          <a:ea typeface="DejaVu Sans"/>
                          <a:cs typeface="DejaVu Sans"/>
                        </a:rPr>
                        <a:t>meets process requirements</a:t>
                      </a:r>
                    </a:p>
                  </a:txBody>
                  <a:tcPr marL="91440" marR="91440" marT="45720" marB="45720">
                    <a:solidFill>
                      <a:srgbClr val="FFFFFF"/>
                    </a:solidFill>
                  </a:tcPr>
                </a:tc>
              </a:tr>
              <a:tr h="1571625">
                <a:tc>
                  <a:txBody>
                    <a:bodyPr/>
                    <a:lstStyle/>
                    <a:p>
                      <a:r>
                        <a:rPr sz="1950" b="1">
                          <a:solidFill>
                            <a:srgbClr val="12334B"/>
                          </a:solidFill>
                          <a:latin typeface="DejaVu Sans"/>
                          <a:ea typeface="DejaVu Sans"/>
                          <a:cs typeface="DejaVu Sans"/>
                        </a:rPr>
                        <a:t>3  Planner adapters</a:t>
                      </a:r>
                    </a:p>
                  </a:txBody>
                  <a:tcPr marL="91440" marR="91440" marT="45720" marB="45720">
                    <a:solidFill>
                      <a:srgbClr val="EFF5F8"/>
                    </a:solidFill>
                  </a:tcPr>
                </a:tc>
                <a:tc>
                  <a:txBody>
                    <a:bodyPr/>
                    <a:lstStyle/>
                    <a:p>
                      <a:r>
                        <a:rPr sz="1950" b="0">
                          <a:solidFill>
                            <a:srgbClr val="12334B"/>
                          </a:solidFill>
                          <a:latin typeface="DejaVu Sans"/>
                          <a:ea typeface="DejaVu Sans"/>
                          <a:cs typeface="DejaVu Sans"/>
                        </a:rPr>
                        <a:t>Connect HPP / MoveIt2 / Tesseract through a capability-based API.</a:t>
                      </a:r>
                    </a:p>
                    <a:p>
                      <a:r>
                        <a:rPr sz="1950" b="0">
                          <a:solidFill>
                            <a:srgbClr val="12334B"/>
                          </a:solidFill>
                          <a:latin typeface="DejaVu Sans"/>
                          <a:ea typeface="DejaVu Sans"/>
                          <a:cs typeface="DejaVu Sans"/>
                        </a:rPr>
                        <a:t>Expose supported PRM / RRT, graph search and Cartesian options.</a:t>
                      </a:r>
                    </a:p>
                    <a:p>
                      <a:r>
                        <a:rPr sz="1950" b="0">
                          <a:solidFill>
                            <a:srgbClr val="12334B"/>
                          </a:solidFill>
                          <a:latin typeface="DejaVu Sans"/>
                          <a:ea typeface="DejaVu Sans"/>
                          <a:cs typeface="DejaVu Sans"/>
                        </a:rPr>
                        <a:t>Map Pilz PTP / LIN / CIRC and supported spline orders by backend.</a:t>
                      </a:r>
                    </a:p>
                    <a:p>
                      <a:r>
                        <a:rPr sz="1950" b="0">
                          <a:solidFill>
                            <a:srgbClr val="12334B"/>
                          </a:solidFill>
                          <a:latin typeface="DejaVu Sans"/>
                          <a:ea typeface="DejaVu Sans"/>
                          <a:cs typeface="DejaVu Sans"/>
                        </a:rPr>
                        <a:t>Keep RMPflow / cuRobo as candidate dynamic extensions.</a:t>
                      </a:r>
                    </a:p>
                  </a:txBody>
                  <a:tcPr marL="91440" marR="91440" marT="45720" marB="45720">
                    <a:solidFill>
                      <a:srgbClr val="EFF5F8"/>
                    </a:solidFill>
                  </a:tcPr>
                </a:tc>
                <a:tc>
                  <a:txBody>
                    <a:bodyPr/>
                    <a:lstStyle/>
                    <a:p>
                      <a:r>
                        <a:rPr sz="1950" b="0">
                          <a:solidFill>
                            <a:srgbClr val="12334B"/>
                          </a:solidFill>
                          <a:latin typeface="DejaVu Sans"/>
                          <a:ea typeface="DejaVu Sans"/>
                          <a:cs typeface="DejaVu Sans"/>
                        </a:rPr>
                        <a:t>Feasible motion plus documented</a:t>
                      </a:r>
                    </a:p>
                    <a:p>
                      <a:r>
                        <a:rPr sz="1950" b="0">
                          <a:solidFill>
                            <a:srgbClr val="12334B"/>
                          </a:solidFill>
                          <a:latin typeface="DejaVu Sans"/>
                          <a:ea typeface="DejaVu Sans"/>
                          <a:cs typeface="DejaVu Sans"/>
                        </a:rPr>
                        <a:t>capabilities, limits and failures</a:t>
                      </a:r>
                    </a:p>
                  </a:txBody>
                  <a:tcPr marL="91440" marR="91440" marT="45720" marB="45720">
                    <a:solidFill>
                      <a:srgbClr val="EFF5F8"/>
                    </a:solidFill>
                  </a:tcPr>
                </a:tc>
              </a:tr>
              <a:tr h="1476375">
                <a:tc>
                  <a:txBody>
                    <a:bodyPr/>
                    <a:lstStyle/>
                    <a:p>
                      <a:r>
                        <a:rPr sz="1950" b="1">
                          <a:solidFill>
                            <a:srgbClr val="12334B"/>
                          </a:solidFill>
                          <a:latin typeface="DejaVu Sans"/>
                          <a:ea typeface="DejaVu Sans"/>
                          <a:cs typeface="DejaVu Sans"/>
                        </a:rPr>
                        <a:t>4  Validation interface</a:t>
                      </a:r>
                    </a:p>
                  </a:txBody>
                  <a:tcPr marL="91440" marR="91440" marT="45720" marB="45720">
                    <a:solidFill>
                      <a:srgbClr val="FFFFFF"/>
                    </a:solidFill>
                  </a:tcPr>
                </a:tc>
                <a:tc>
                  <a:txBody>
                    <a:bodyPr/>
                    <a:lstStyle/>
                    <a:p>
                      <a:r>
                        <a:rPr sz="1950" b="0">
                          <a:solidFill>
                            <a:srgbClr val="12334B"/>
                          </a:solidFill>
                          <a:latin typeface="DejaVu Sans"/>
                          <a:ea typeface="DejaVu Sans"/>
                          <a:cs typeface="DejaVu Sans"/>
                        </a:rPr>
                        <a:t>Reuse backend collision / kinematic checks and add process checks.</a:t>
                      </a:r>
                    </a:p>
                    <a:p>
                      <a:r>
                        <a:rPr sz="1950" b="0">
                          <a:solidFill>
                            <a:srgbClr val="12334B"/>
                          </a:solidFill>
                          <a:latin typeface="DejaVu Sans"/>
                          <a:ea typeface="DejaVu Sans"/>
                          <a:cs typeface="DejaVu Sans"/>
                        </a:rPr>
                        <a:t>Normalize clearance, singularity, planning-time and coverage results.</a:t>
                      </a:r>
                    </a:p>
                    <a:p>
                      <a:r>
                        <a:rPr sz="1950" b="0">
                          <a:solidFill>
                            <a:srgbClr val="12334B"/>
                          </a:solidFill>
                          <a:latin typeface="DejaVu Sans"/>
                          <a:ea typeface="DejaVu Sans"/>
                          <a:cs typeface="DejaVu Sans"/>
                        </a:rPr>
                        <a:t>Retain Gepetto, Tesseract viewers and RViz for inspection.</a:t>
                      </a:r>
                    </a:p>
                  </a:txBody>
                  <a:tcPr marL="91440" marR="91440" marT="45720" marB="45720">
                    <a:solidFill>
                      <a:srgbClr val="FFFFFF"/>
                    </a:solidFill>
                  </a:tcPr>
                </a:tc>
                <a:tc>
                  <a:txBody>
                    <a:bodyPr/>
                    <a:lstStyle/>
                    <a:p>
                      <a:r>
                        <a:rPr sz="1950" b="0">
                          <a:solidFill>
                            <a:srgbClr val="12334B"/>
                          </a:solidFill>
                          <a:latin typeface="DejaVu Sans"/>
                          <a:ea typeface="DejaVu Sans"/>
                          <a:cs typeface="DejaVu Sans"/>
                        </a:rPr>
                        <a:t>Path and process checks pass</a:t>
                      </a:r>
                    </a:p>
                    <a:p>
                      <a:r>
                        <a:rPr sz="1950" b="0">
                          <a:solidFill>
                            <a:srgbClr val="12334B"/>
                          </a:solidFill>
                          <a:latin typeface="DejaVu Sans"/>
                          <a:ea typeface="DejaVu Sans"/>
                          <a:cs typeface="DejaVu Sans"/>
                        </a:rPr>
                        <a:t>before sequence optimization</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BE85DF4-DC58-46C3-B2A4-56451F58B0D8}"/>
              </a:ext>
            </a:extLst>
          </p:cNvPr>
          <p:cNvSpPr>
            <a:spLocks xmlns:a="http://schemas.openxmlformats.org/drawingml/2006/main" noGrp="1"/>
          </p:cNvSpPr>
          <p:nvPr/>
        </p:nvSpPr>
        <p:spPr>
          <a:xfrm xmlns:a="http://schemas.openxmlformats.org/drawingml/2006/main">
            <a:off x="704850" y="8934450"/>
            <a:ext cx="30956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05EAA"/>
                </a:solidFill>
                <a:latin typeface="DejaVu Sans"/>
                <a:ea typeface="DejaVu Sans"/>
                <a:cs typeface="DejaVu Sans"/>
              </a:defRPr>
            </a:defPPr>
          </a:lstStyle>
          <a:p xmlns:a="http://schemas.openxmlformats.org/drawingml/2006/main">
            <a:pPr>
              <a:defRPr sz="2025" b="1">
                <a:solidFill>
                  <a:srgbClr val="005EAA"/>
                </a:solidFill>
                <a:latin typeface="DejaVu Sans"/>
                <a:ea typeface="DejaVu Sans"/>
                <a:cs typeface="DejaVu Sans"/>
              </a:defRPr>
            </a:pPr>
            <a:r>
              <a:rPr sz="2025" b="1">
                <a:solidFill>
                  <a:srgbClr val="005EAA"/>
                </a:solidFill>
                <a:latin typeface="DejaVu Sans"/>
                <a:ea typeface="DejaVu Sans"/>
                <a:cs typeface="DejaVu Sans"/>
              </a:rPr>
              <a:t>Task supervision</a:t>
            </a:r>
          </a:p>
        </p:txBody>
      </p:sp>
      <p:sp>
        <p:nvSpPr>
          <p:cNvPr id="5" name="">
            <a:extLst xmlns:a="http://schemas.openxmlformats.org/drawingml/2006/main">
              <a:ext uri="{FF2B5EF4-FFF2-40B4-BE49-F238E27FC236}">
                <a16:creationId xmlns:a16="http://schemas.microsoft.com/office/drawing/2014/main" id="{4912FDF2-FA22-4B21-A3AD-8FA3464098ED}"/>
              </a:ext>
            </a:extLst>
          </p:cNvPr>
          <p:cNvSpPr>
            <a:spLocks xmlns:a="http://schemas.openxmlformats.org/drawingml/2006/main" noGrp="1"/>
          </p:cNvSpPr>
          <p:nvPr/>
        </p:nvSpPr>
        <p:spPr>
          <a:xfrm xmlns:a="http://schemas.openxmlformats.org/drawingml/2006/main">
            <a:off x="3905250" y="8934450"/>
            <a:ext cx="1362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2334B"/>
                </a:solidFill>
                <a:latin typeface="DejaVu Sans"/>
                <a:ea typeface="DejaVu Sans"/>
                <a:cs typeface="DejaVu Sans"/>
              </a:defRPr>
            </a:defPPr>
          </a:lstStyle>
          <a:p xmlns:a="http://schemas.openxmlformats.org/drawingml/2006/main">
            <a:pPr>
              <a:defRPr sz="1950" b="0">
                <a:solidFill>
                  <a:srgbClr val="12334B"/>
                </a:solidFill>
                <a:latin typeface="DejaVu Sans"/>
                <a:ea typeface="DejaVu Sans"/>
                <a:cs typeface="DejaVu Sans"/>
              </a:defRPr>
            </a:pPr>
            <a:r>
              <a:rPr sz="1950" b="0">
                <a:solidFill>
                  <a:srgbClr val="12334B"/>
                </a:solidFill>
                <a:latin typeface="DejaVu Sans"/>
                <a:ea typeface="DejaVu Sans"/>
                <a:cs typeface="DejaVu Sans"/>
              </a:rPr>
              <a:t>BT / state machine handles state changes and retries. HPP dynamic-BT integration is a planned option.</a:t>
            </a:r>
          </a:p>
        </p:txBody>
      </p:sp>
      <p:sp>
        <p:nvSpPr>
          <p:cNvPr id="6" name="">
            <a:extLst xmlns:a="http://schemas.openxmlformats.org/drawingml/2006/main">
              <a:ext uri="{FF2B5EF4-FFF2-40B4-BE49-F238E27FC236}">
                <a16:creationId xmlns:a16="http://schemas.microsoft.com/office/drawing/2014/main" id="{0E96D228-45C1-4A19-86CB-5E8757E77DCE}"/>
              </a:ext>
            </a:extLst>
          </p:cNvPr>
          <p:cNvSpPr>
            <a:spLocks xmlns:a="http://schemas.openxmlformats.org/drawingml/2006/main" noGrp="1"/>
          </p:cNvSpPr>
          <p:nvPr/>
        </p:nvSpPr>
        <p:spPr>
          <a:xfrm xmlns:a="http://schemas.openxmlformats.org/drawingml/2006/main">
            <a:off x="704850" y="9782175"/>
            <a:ext cx="1609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B7D"/>
                </a:solidFill>
                <a:latin typeface="DejaVu Sans"/>
                <a:ea typeface="DejaVu Sans"/>
                <a:cs typeface="DejaVu Sans"/>
              </a:defRPr>
            </a:defPPr>
          </a:lstStyle>
          <a:p xmlns:a="http://schemas.openxmlformats.org/drawingml/2006/main">
            <a:pPr>
              <a:defRPr sz="1425" b="0">
                <a:solidFill>
                  <a:srgbClr val="526B7D"/>
                </a:solidFill>
                <a:latin typeface="DejaVu Sans"/>
                <a:ea typeface="DejaVu Sans"/>
                <a:cs typeface="DejaVu Sans"/>
              </a:defRPr>
            </a:pPr>
            <a:r>
              <a:rPr sz="1425" b="0">
                <a:solidFill>
                  <a:srgbClr val="526B7D"/>
                </a:solidFill>
                <a:latin typeface="DejaVu Sans"/>
                <a:ea typeface="DejaVu Sans"/>
                <a:cs typeface="DejaVu Sans"/>
              </a:rPr>
              <a:t>Capability support varies by backend and version. GMM and HPP dynamic-BT items follow project-specific descriptions.</a:t>
            </a:r>
          </a:p>
        </p:txBody>
      </p:sp>
      <p:sp>
        <p:nvSpPr>
          <p:cNvPr id="7" name="">
            <a:extLst xmlns:a="http://schemas.openxmlformats.org/drawingml/2006/main">
              <a:ext uri="{FF2B5EF4-FFF2-40B4-BE49-F238E27FC236}">
                <a16:creationId xmlns:a16="http://schemas.microsoft.com/office/drawing/2014/main" id="{B0FB8C49-1DDB-4FC9-9E00-7F4A26D20A62}"/>
              </a:ext>
            </a:extLst>
          </p:cNvPr>
          <p:cNvSpPr>
            <a:spLocks xmlns:a="http://schemas.openxmlformats.org/drawingml/2006/main" noGrp="1"/>
          </p:cNvSpPr>
          <p:nvPr/>
        </p:nvSpPr>
        <p:spPr>
          <a:xfrm xmlns:a="http://schemas.openxmlformats.org/drawingml/2006/main">
            <a:off x="17145000" y="9782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26B7D"/>
                </a:solidFill>
                <a:latin typeface="DejaVu Sans"/>
                <a:ea typeface="DejaVu Sans"/>
                <a:cs typeface="DejaVu Sans"/>
              </a:defRPr>
            </a:defPPr>
          </a:lstStyle>
          <a:p xmlns:a="http://schemas.openxmlformats.org/drawingml/2006/main">
            <a:pPr>
              <a:defRPr sz="1500" b="0">
                <a:solidFill>
                  <a:srgbClr val="526B7D"/>
                </a:solidFill>
                <a:latin typeface="DejaVu Sans"/>
                <a:ea typeface="DejaVu Sans"/>
                <a:cs typeface="DejaVu Sans"/>
              </a:defRPr>
            </a:pPr>
            <a:r>
              <a:rPr sz="1500" b="0">
                <a:solidFill>
                  <a:srgbClr val="526B7D"/>
                </a:solidFill>
                <a:latin typeface="DejaVu Sans"/>
                <a:ea typeface="DejaVu Sans"/>
                <a:cs typeface="DejaVu Sans"/>
              </a:rPr>
              <a:t>2</a:t>
            </a:r>
          </a:p>
        </p:txBody>
      </p:sp>
    </p:spTree>
    <p:extLst>
      <p:ext uri="{BB962C8B-B14F-4D97-AF65-F5344CB8AC3E}">
        <p14:creationId xmlns:p14="http://schemas.microsoft.com/office/powerpoint/2010/main" val="40655048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62B1561-942E-4547-A1DE-938C92255A5B}"/>
              </a:ext>
            </a:extLst>
          </p:cNvPr>
          <p:cNvSpPr>
            <a:spLocks xmlns:a="http://schemas.openxmlformats.org/drawingml/2006/main" noGrp="1"/>
          </p:cNvSpPr>
          <p:nvPr/>
        </p:nvSpPr>
        <p:spPr>
          <a:xfrm xmlns:a="http://schemas.openxmlformats.org/drawingml/2006/main">
            <a:off x="685800" y="419100"/>
            <a:ext cx="16859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08243D"/>
                </a:solidFill>
                <a:latin typeface="DejaVu Sans"/>
                <a:ea typeface="DejaVu Sans"/>
                <a:cs typeface="DejaVu Sans"/>
              </a:defRPr>
            </a:defPPr>
          </a:lstStyle>
          <a:p xmlns:a="http://schemas.openxmlformats.org/drawingml/2006/main">
            <a:pPr>
              <a:defRPr sz="3900" b="1">
                <a:solidFill>
                  <a:srgbClr val="08243D"/>
                </a:solidFill>
                <a:latin typeface="DejaVu Sans"/>
                <a:ea typeface="DejaVu Sans"/>
                <a:cs typeface="DejaVu Sans"/>
              </a:defRPr>
            </a:pPr>
            <a:r>
              <a:rPr sz="3900" b="1">
                <a:solidFill>
                  <a:srgbClr val="08243D"/>
                </a:solidFill>
                <a:latin typeface="DejaVu Sans"/>
                <a:ea typeface="DejaVu Sans"/>
                <a:cs typeface="DejaVu Sans"/>
              </a:rPr>
              <a:t>Integration stages 5–8: optimization to execution</a:t>
            </a:r>
          </a:p>
        </p:txBody>
      </p:sp>
      <p:sp>
        <p:nvSpPr>
          <p:cNvPr id="2" name="">
            <a:extLst xmlns:a="http://schemas.openxmlformats.org/drawingml/2006/main">
              <a:ext uri="{FF2B5EF4-FFF2-40B4-BE49-F238E27FC236}">
                <a16:creationId xmlns:a16="http://schemas.microsoft.com/office/drawing/2014/main" id="{885D74B4-0A71-4910-9E34-911033526E6F}"/>
              </a:ext>
            </a:extLst>
          </p:cNvPr>
          <p:cNvSpPr>
            <a:spLocks xmlns:a="http://schemas.openxmlformats.org/drawingml/2006/main" noGrp="1"/>
          </p:cNvSpPr>
          <p:nvPr/>
        </p:nvSpPr>
        <p:spPr>
          <a:xfrm xmlns:a="http://schemas.openxmlformats.org/drawingml/2006/main">
            <a:off x="704850" y="1285875"/>
            <a:ext cx="16764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26B7D"/>
                </a:solidFill>
                <a:latin typeface="DejaVu Sans"/>
                <a:ea typeface="DejaVu Sans"/>
                <a:cs typeface="DejaVu Sans"/>
              </a:defRPr>
            </a:defPPr>
          </a:lstStyle>
          <a:p xmlns:a="http://schemas.openxmlformats.org/drawingml/2006/main">
            <a:pPr>
              <a:defRPr sz="2100" b="0">
                <a:solidFill>
                  <a:srgbClr val="526B7D"/>
                </a:solidFill>
                <a:latin typeface="DejaVu Sans"/>
                <a:ea typeface="DejaVu Sans"/>
                <a:cs typeface="DejaVu Sans"/>
              </a:defRPr>
            </a:pPr>
            <a:r>
              <a:rPr sz="2100" b="0">
                <a:solidFill>
                  <a:srgbClr val="526B7D"/>
                </a:solidFill>
                <a:latin typeface="DejaVu Sans"/>
                <a:ea typeface="DejaVu Sans"/>
                <a:cs typeface="DejaVu Sans"/>
              </a:rPr>
              <a:t>Connect the existing optimization and execution capabilities to the common pipeline</a:t>
            </a:r>
          </a:p>
        </p:txBody>
      </p:sp>
      <p:graphicFrame>
        <p:nvGraphicFramePr>
          <p:cNvPr id="3" name="">
            <a:extLst xmlns:a="http://schemas.openxmlformats.org/drawingml/2006/main">
              <a:ext uri="{FF2B5EF4-FFF2-40B4-BE49-F238E27FC236}">
                <a16:creationId xmlns:a16="http://schemas.microsoft.com/office/drawing/2014/main" id="{C404BD7F-2652-4EAF-AFC8-C75C6916D946}"/>
              </a:ext>
            </a:extLst>
          </p:cNvPr>
          <p:cNvGraphicFramePr/>
          <p:nvPr/>
        </p:nvGraphicFramePr>
        <p:xfrm>
          <a:off xmlns:a="http://schemas.openxmlformats.org/drawingml/2006/main" x="704850" y="2076450"/>
          <a:ext xmlns:a="http://schemas.openxmlformats.org/drawingml/2006/main" cx="16878300" cy="5829300"/>
        </p:xfrm>
        <a:graphic xmlns:a="http://schemas.openxmlformats.org/drawingml/2006/main">
          <a:graphicData uri="http://schemas.openxmlformats.org/drawingml/2006/table">
            <a:tbl>
              <a:tblPr/>
              <a:tblGrid>
                <a:gridCol w="3476625"/>
                <a:gridCol w="9334500"/>
                <a:gridCol w="4067175"/>
              </a:tblGrid>
              <a:tr h="590550">
                <a:tc>
                  <a:txBody>
                    <a:bodyPr/>
                    <a:lstStyle/>
                    <a:p>
                      <a:r>
                        <a:rPr sz="1875" b="1">
                          <a:solidFill>
                            <a:srgbClr val="FFFFFF"/>
                          </a:solidFill>
                          <a:latin typeface="DejaVu Sans"/>
                          <a:ea typeface="DejaVu Sans"/>
                          <a:cs typeface="DejaVu Sans"/>
                        </a:rPr>
                        <a:t>Integration stage</a:t>
                      </a:r>
                    </a:p>
                  </a:txBody>
                  <a:tcPr marL="91440" marR="91440" marT="45720" marB="45720">
                    <a:solidFill>
                      <a:srgbClr val="08243D"/>
                    </a:solidFill>
                  </a:tcPr>
                </a:tc>
                <a:tc>
                  <a:txBody>
                    <a:bodyPr/>
                    <a:lstStyle/>
                    <a:p>
                      <a:r>
                        <a:rPr sz="1875" b="1">
                          <a:solidFill>
                            <a:srgbClr val="FFFFFF"/>
                          </a:solidFill>
                          <a:latin typeface="DejaVu Sans"/>
                          <a:ea typeface="DejaVu Sans"/>
                          <a:cs typeface="DejaVu Sans"/>
                        </a:rPr>
                        <a:t>Capability to reuse and integration work</a:t>
                      </a:r>
                    </a:p>
                  </a:txBody>
                  <a:tcPr marL="91440" marR="91440" marT="45720" marB="45720">
                    <a:solidFill>
                      <a:srgbClr val="08243D"/>
                    </a:solidFill>
                  </a:tcPr>
                </a:tc>
                <a:tc>
                  <a:txBody>
                    <a:bodyPr/>
                    <a:lstStyle/>
                    <a:p>
                      <a:r>
                        <a:rPr sz="1875" b="1">
                          <a:solidFill>
                            <a:srgbClr val="FFFFFF"/>
                          </a:solidFill>
                          <a:latin typeface="DejaVu Sans"/>
                          <a:ea typeface="DejaVu Sans"/>
                          <a:cs typeface="DejaVu Sans"/>
                        </a:rPr>
                        <a:t>Integration acceptance</a:t>
                      </a:r>
                    </a:p>
                  </a:txBody>
                  <a:tcPr marL="91440" marR="91440" marT="45720" marB="45720">
                    <a:solidFill>
                      <a:srgbClr val="08243D"/>
                    </a:solidFill>
                  </a:tcPr>
                </a:tc>
              </a:tr>
              <a:tr h="1181100">
                <a:tc>
                  <a:txBody>
                    <a:bodyPr/>
                    <a:lstStyle/>
                    <a:p>
                      <a:r>
                        <a:rPr sz="1950" b="1">
                          <a:solidFill>
                            <a:srgbClr val="12334B"/>
                          </a:solidFill>
                          <a:latin typeface="DejaVu Sans"/>
                          <a:ea typeface="DejaVu Sans"/>
                          <a:cs typeface="DejaVu Sans"/>
                        </a:rPr>
                        <a:t>5  Sequencing</a:t>
                      </a:r>
                    </a:p>
                    <a:p>
                      <a:r>
                        <a:rPr sz="1950" b="1">
                          <a:solidFill>
                            <a:srgbClr val="12334B"/>
                          </a:solidFill>
                          <a:latin typeface="DejaVu Sans"/>
                          <a:ea typeface="DejaVu Sans"/>
                          <a:cs typeface="DejaVu Sans"/>
                        </a:rPr>
                        <a:t>adapter</a:t>
                      </a:r>
                    </a:p>
                  </a:txBody>
                  <a:tcPr marL="91440" marR="91440" marT="45720" marB="45720">
                    <a:solidFill>
                      <a:srgbClr val="EFF5F8"/>
                    </a:solidFill>
                  </a:tcPr>
                </a:tc>
                <a:tc>
                  <a:txBody>
                    <a:bodyPr/>
                    <a:lstStyle/>
                    <a:p>
                      <a:r>
                        <a:rPr sz="1950" b="0">
                          <a:solidFill>
                            <a:srgbClr val="12334B"/>
                          </a:solidFill>
                          <a:latin typeface="DejaVu Sans"/>
                          <a:ea typeface="DejaVu Sans"/>
                          <a:cs typeface="DejaVu Sans"/>
                        </a:rPr>
                        <a:t>Wrap existing TSP / GTSP project implementations.</a:t>
                      </a:r>
                    </a:p>
                    <a:p>
                      <a:r>
                        <a:rPr sz="1950" b="0">
                          <a:solidFill>
                            <a:srgbClr val="12334B"/>
                          </a:solidFill>
                          <a:latin typeface="DejaVu Sans"/>
                          <a:ea typeface="DejaVu Sans"/>
                          <a:cs typeface="DejaVu Sans"/>
                        </a:rPr>
                        <a:t>Map feasible transition costs, visit groups and optimized task order.</a:t>
                      </a:r>
                    </a:p>
                  </a:txBody>
                  <a:tcPr marL="91440" marR="91440" marT="45720" marB="45720">
                    <a:solidFill>
                      <a:srgbClr val="EFF5F8"/>
                    </a:solidFill>
                  </a:tcPr>
                </a:tc>
                <a:tc>
                  <a:txBody>
                    <a:bodyPr/>
                    <a:lstStyle/>
                    <a:p>
                      <a:r>
                        <a:rPr sz="1950" b="0">
                          <a:solidFill>
                            <a:srgbClr val="12334B"/>
                          </a:solidFill>
                          <a:latin typeface="DejaVu Sans"/>
                          <a:ea typeface="DejaVu Sans"/>
                          <a:cs typeface="DejaVu Sans"/>
                        </a:rPr>
                        <a:t>Feasible task order with reduced</a:t>
                      </a:r>
                    </a:p>
                    <a:p>
                      <a:r>
                        <a:rPr sz="1950" b="0">
                          <a:solidFill>
                            <a:srgbClr val="12334B"/>
                          </a:solidFill>
                          <a:latin typeface="DejaVu Sans"/>
                          <a:ea typeface="DejaVu Sans"/>
                          <a:cs typeface="DejaVu Sans"/>
                        </a:rPr>
                        <a:t>travel / cycle-time cost</a:t>
                      </a:r>
                    </a:p>
                  </a:txBody>
                  <a:tcPr marL="91440" marR="91440" marT="45720" marB="45720">
                    <a:solidFill>
                      <a:srgbClr val="EFF5F8"/>
                    </a:solidFill>
                  </a:tcPr>
                </a:tc>
              </a:tr>
              <a:tr h="1181100">
                <a:tc>
                  <a:txBody>
                    <a:bodyPr/>
                    <a:lstStyle/>
                    <a:p>
                      <a:r>
                        <a:rPr sz="1950" b="1">
                          <a:solidFill>
                            <a:srgbClr val="12334B"/>
                          </a:solidFill>
                          <a:latin typeface="DejaVu Sans"/>
                          <a:ea typeface="DejaVu Sans"/>
                          <a:cs typeface="DejaVu Sans"/>
                        </a:rPr>
                        <a:t>6  Optimization adapter</a:t>
                      </a:r>
                    </a:p>
                  </a:txBody>
                  <a:tcPr marL="91440" marR="91440" marT="45720" marB="45720">
                    <a:solidFill>
                      <a:srgbClr val="FFFFFF"/>
                    </a:solidFill>
                  </a:tcPr>
                </a:tc>
                <a:tc>
                  <a:txBody>
                    <a:bodyPr/>
                    <a:lstStyle/>
                    <a:p>
                      <a:r>
                        <a:rPr sz="1950" b="0">
                          <a:solidFill>
                            <a:srgbClr val="12334B"/>
                          </a:solidFill>
                          <a:latin typeface="DejaVu Sans"/>
                          <a:ea typeface="DejaVu Sans"/>
                          <a:cs typeface="DejaVu Sans"/>
                        </a:rPr>
                        <a:t>Expose backend smoothing, blending and time-parameterization.</a:t>
                      </a:r>
                    </a:p>
                    <a:p>
                      <a:r>
                        <a:rPr sz="1950" b="0">
                          <a:solidFill>
                            <a:srgbClr val="12334B"/>
                          </a:solidFill>
                          <a:latin typeface="DejaVu Sans"/>
                          <a:ea typeface="DejaVu Sans"/>
                          <a:cs typeface="DejaVu Sans"/>
                        </a:rPr>
                        <a:t>Normalize limits / objectives and revalidate the modified trajectory.</a:t>
                      </a:r>
                    </a:p>
                  </a:txBody>
                  <a:tcPr marL="91440" marR="91440" marT="45720" marB="45720">
                    <a:solidFill>
                      <a:srgbClr val="FFFFFF"/>
                    </a:solidFill>
                  </a:tcPr>
                </a:tc>
                <a:tc>
                  <a:txBody>
                    <a:bodyPr/>
                    <a:lstStyle/>
                    <a:p>
                      <a:r>
                        <a:rPr sz="1950" b="0">
                          <a:solidFill>
                            <a:srgbClr val="12334B"/>
                          </a:solidFill>
                          <a:latin typeface="DejaVu Sans"/>
                          <a:ea typeface="DejaVu Sans"/>
                          <a:cs typeface="DejaVu Sans"/>
                        </a:rPr>
                        <a:t>Continuous timed trajectory</a:t>
                      </a:r>
                    </a:p>
                    <a:p>
                      <a:r>
                        <a:rPr sz="1950" b="0">
                          <a:solidFill>
                            <a:srgbClr val="12334B"/>
                          </a:solidFill>
                          <a:latin typeface="DejaVu Sans"/>
                          <a:ea typeface="DejaVu Sans"/>
                          <a:cs typeface="DejaVu Sans"/>
                        </a:rPr>
                        <a:t>with all constraints rechecked</a:t>
                      </a:r>
                    </a:p>
                  </a:txBody>
                  <a:tcPr marL="91440" marR="91440" marT="45720" marB="45720">
                    <a:solidFill>
                      <a:srgbClr val="FFFFFF"/>
                    </a:solidFill>
                  </a:tcPr>
                </a:tc>
              </a:tr>
              <a:tr h="1438275">
                <a:tc>
                  <a:txBody>
                    <a:bodyPr/>
                    <a:lstStyle/>
                    <a:p>
                      <a:r>
                        <a:rPr sz="1950" b="1">
                          <a:solidFill>
                            <a:srgbClr val="12334B"/>
                          </a:solidFill>
                          <a:latin typeface="DejaVu Sans"/>
                          <a:ea typeface="DejaVu Sans"/>
                          <a:cs typeface="DejaVu Sans"/>
                        </a:rPr>
                        <a:t>7  Simulation adapters</a:t>
                      </a:r>
                    </a:p>
                  </a:txBody>
                  <a:tcPr marL="91440" marR="91440" marT="45720" marB="45720">
                    <a:solidFill>
                      <a:srgbClr val="EFF5F8"/>
                    </a:solidFill>
                  </a:tcPr>
                </a:tc>
                <a:tc>
                  <a:txBody>
                    <a:bodyPr/>
                    <a:lstStyle/>
                    <a:p>
                      <a:r>
                        <a:rPr sz="1950" b="0">
                          <a:solidFill>
                            <a:srgbClr val="12334B"/>
                          </a:solidFill>
                          <a:latin typeface="DejaVu Sans"/>
                          <a:ea typeface="DejaVu Sans"/>
                          <a:cs typeface="DejaVu Sans"/>
                        </a:rPr>
                        <a:t>Connect a selected simulator and controller interface first.</a:t>
                      </a:r>
                    </a:p>
                    <a:p>
                      <a:r>
                        <a:rPr sz="1950" b="0">
                          <a:solidFill>
                            <a:srgbClr val="12334B"/>
                          </a:solidFill>
                          <a:latin typeface="DejaVu Sans"/>
                          <a:ea typeface="DejaVu Sans"/>
                          <a:cs typeface="DejaVu Sans"/>
                        </a:rPr>
                        <a:t>Extend to Isaac Sim / MuJoCo / Genesis and virtual controllers</a:t>
                      </a:r>
                    </a:p>
                    <a:p>
                      <a:r>
                        <a:rPr sz="1950" b="0">
                          <a:solidFill>
                            <a:srgbClr val="12334B"/>
                          </a:solidFill>
                          <a:latin typeface="DejaVu Sans"/>
                          <a:ea typeface="DejaVu Sans"/>
                          <a:cs typeface="DejaVu Sans"/>
                        </a:rPr>
                        <a:t>such as ROBOGUIDE through supported RXU connections.</a:t>
                      </a:r>
                    </a:p>
                  </a:txBody>
                  <a:tcPr marL="91440" marR="91440" marT="45720" marB="45720">
                    <a:solidFill>
                      <a:srgbClr val="EFF5F8"/>
                    </a:solidFill>
                  </a:tcPr>
                </a:tc>
                <a:tc>
                  <a:txBody>
                    <a:bodyPr/>
                    <a:lstStyle/>
                    <a:p>
                      <a:r>
                        <a:rPr sz="1950" b="0">
                          <a:solidFill>
                            <a:srgbClr val="12334B"/>
                          </a:solidFill>
                          <a:latin typeface="DejaVu Sans"/>
                          <a:ea typeface="DejaVu Sans"/>
                          <a:cs typeface="DejaVu Sans"/>
                        </a:rPr>
                        <a:t>Collision / dynamics / tracking</a:t>
                      </a:r>
                    </a:p>
                    <a:p>
                      <a:r>
                        <a:rPr sz="1950" b="0">
                          <a:solidFill>
                            <a:srgbClr val="12334B"/>
                          </a:solidFill>
                          <a:latin typeface="DejaVu Sans"/>
                          <a:ea typeface="DejaVu Sans"/>
                          <a:cs typeface="DejaVu Sans"/>
                        </a:rPr>
                        <a:t>and controller-handoff evidence</a:t>
                      </a:r>
                    </a:p>
                  </a:txBody>
                  <a:tcPr marL="91440" marR="91440" marT="45720" marB="45720">
                    <a:solidFill>
                      <a:srgbClr val="EFF5F8"/>
                    </a:solidFill>
                  </a:tcPr>
                </a:tc>
              </a:tr>
              <a:tr h="1438275">
                <a:tc>
                  <a:txBody>
                    <a:bodyPr/>
                    <a:lstStyle/>
                    <a:p>
                      <a:r>
                        <a:rPr sz="1950" b="1">
                          <a:solidFill>
                            <a:srgbClr val="12334B"/>
                          </a:solidFill>
                          <a:latin typeface="DejaVu Sans"/>
                          <a:ea typeface="DejaVu Sans"/>
                          <a:cs typeface="DejaVu Sans"/>
                        </a:rPr>
                        <a:t>8  Execution adapters</a:t>
                      </a:r>
                    </a:p>
                  </a:txBody>
                  <a:tcPr marL="91440" marR="91440" marT="45720" marB="45720">
                    <a:solidFill>
                      <a:srgbClr val="FFFFFF"/>
                    </a:solidFill>
                  </a:tcPr>
                </a:tc>
                <a:tc>
                  <a:txBody>
                    <a:bodyPr/>
                    <a:lstStyle/>
                    <a:p>
                      <a:r>
                        <a:rPr sz="1950" b="0">
                          <a:solidFill>
                            <a:srgbClr val="12334B"/>
                          </a:solidFill>
                          <a:latin typeface="DejaVu Sans"/>
                          <a:ea typeface="DejaVu Sans"/>
                          <a:cs typeface="DejaVu Sans"/>
                        </a:rPr>
                        <a:t>Connect rxu.connectivity ROS / vendor protocol adapters.</a:t>
                      </a:r>
                    </a:p>
                    <a:p>
                      <a:r>
                        <a:rPr sz="1950" b="0">
                          <a:solidFill>
                            <a:srgbClr val="12334B"/>
                          </a:solidFill>
                          <a:latin typeface="DejaVu Sans"/>
                          <a:ea typeface="DejaVu Sans"/>
                          <a:cs typeface="DejaVu Sans"/>
                        </a:rPr>
                        <a:t>Map trajectory commands and state feedback to RXU control.</a:t>
                      </a:r>
                    </a:p>
                    <a:p>
                      <a:r>
                        <a:rPr sz="1950" b="0">
                          <a:solidFill>
                            <a:srgbClr val="12334B"/>
                          </a:solidFill>
                          <a:latin typeface="DejaVu Sans"/>
                          <a:ea typeface="DejaVu Sans"/>
                          <a:cs typeface="DejaVu Sans"/>
                        </a:rPr>
                        <a:t>Verify buffering, cancellation, stop and recovery on the robot.</a:t>
                      </a:r>
                    </a:p>
                  </a:txBody>
                  <a:tcPr marL="91440" marR="91440" marT="45720" marB="45720">
                    <a:solidFill>
                      <a:srgbClr val="FFFFFF"/>
                    </a:solidFill>
                  </a:tcPr>
                </a:tc>
                <a:tc>
                  <a:txBody>
                    <a:bodyPr/>
                    <a:lstStyle/>
                    <a:p>
                      <a:r>
                        <a:rPr sz="1950" b="0">
                          <a:solidFill>
                            <a:srgbClr val="12334B"/>
                          </a:solidFill>
                          <a:latin typeface="DejaVu Sans"/>
                          <a:ea typeface="DejaVu Sans"/>
                          <a:cs typeface="DejaVu Sans"/>
                        </a:rPr>
                        <a:t>Controlled robot trials, process</a:t>
                      </a:r>
                    </a:p>
                    <a:p>
                      <a:r>
                        <a:rPr sz="1950" b="0">
                          <a:solidFill>
                            <a:srgbClr val="12334B"/>
                          </a:solidFill>
                          <a:latin typeface="DejaVu Sans"/>
                          <a:ea typeface="DejaVu Sans"/>
                          <a:cs typeface="DejaVu Sans"/>
                        </a:rPr>
                        <a:t>quality and recovery evidence</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93A33F2-48D0-4CD9-83BA-E1D2581DBC37}"/>
              </a:ext>
            </a:extLst>
          </p:cNvPr>
          <p:cNvSpPr>
            <a:spLocks xmlns:a="http://schemas.openxmlformats.org/drawingml/2006/main" noGrp="1"/>
          </p:cNvSpPr>
          <p:nvPr/>
        </p:nvSpPr>
        <p:spPr>
          <a:xfrm xmlns:a="http://schemas.openxmlformats.org/drawingml/2006/main">
            <a:off x="704850" y="8115300"/>
            <a:ext cx="1685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05EAA"/>
                </a:solidFill>
                <a:latin typeface="DejaVu Sans"/>
                <a:ea typeface="DejaVu Sans"/>
                <a:cs typeface="DejaVu Sans"/>
              </a:defRPr>
            </a:defPPr>
          </a:lstStyle>
          <a:p xmlns:a="http://schemas.openxmlformats.org/drawingml/2006/main">
            <a:pPr>
              <a:defRPr sz="2400" b="1">
                <a:solidFill>
                  <a:srgbClr val="005EAA"/>
                </a:solidFill>
                <a:latin typeface="DejaVu Sans"/>
                <a:ea typeface="DejaVu Sans"/>
                <a:cs typeface="DejaVu Sans"/>
              </a:defRPr>
            </a:pPr>
            <a:r>
              <a:rPr sz="2400" b="1">
                <a:solidFill>
                  <a:srgbClr val="005EAA"/>
                </a:solidFill>
                <a:latin typeface="DejaVu Sans"/>
                <a:ea typeface="DejaVu Sans"/>
                <a:cs typeface="DejaVu Sans"/>
              </a:rPr>
              <a:t>RXU path planner integration</a:t>
            </a:r>
          </a:p>
        </p:txBody>
      </p:sp>
      <p:sp>
        <p:nvSpPr>
          <p:cNvPr id="5" name="">
            <a:extLst xmlns:a="http://schemas.openxmlformats.org/drawingml/2006/main">
              <a:ext uri="{FF2B5EF4-FFF2-40B4-BE49-F238E27FC236}">
                <a16:creationId xmlns:a16="http://schemas.microsoft.com/office/drawing/2014/main" id="{BB4BD013-4544-409C-9F72-CC4DF705CF7C}"/>
              </a:ext>
            </a:extLst>
          </p:cNvPr>
          <p:cNvSpPr>
            <a:spLocks xmlns:a="http://schemas.openxmlformats.org/drawingml/2006/main" noGrp="1"/>
          </p:cNvSpPr>
          <p:nvPr/>
        </p:nvSpPr>
        <p:spPr>
          <a:xfrm xmlns:a="http://schemas.openxmlformats.org/drawingml/2006/main">
            <a:off x="704850" y="8658225"/>
            <a:ext cx="16859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2334B"/>
                </a:solidFill>
                <a:latin typeface="DejaVu Sans"/>
                <a:ea typeface="DejaVu Sans"/>
                <a:cs typeface="DejaVu Sans"/>
              </a:defRPr>
            </a:defPPr>
          </a:lstStyle>
          <a:p xmlns:a="http://schemas.openxmlformats.org/drawingml/2006/main">
            <a:pPr>
              <a:defRPr sz="2025" b="0">
                <a:solidFill>
                  <a:srgbClr val="12334B"/>
                </a:solidFill>
                <a:latin typeface="DejaVu Sans"/>
                <a:ea typeface="DejaVu Sans"/>
                <a:cs typeface="DejaVu Sans"/>
              </a:defRPr>
            </a:pPr>
            <a:r>
              <a:rPr sz="2025" b="0">
                <a:solidFill>
                  <a:srgbClr val="12334B"/>
                </a:solidFill>
                <a:latin typeface="DejaVu Sans"/>
                <a:ea typeface="DejaVu Sans"/>
                <a:cs typeface="DejaVu Sans"/>
              </a:rPr>
              <a:t>Common request / trajectory / status contract. MoveIt2 remains in a ROS2 runtime behind an adapter.</a:t>
            </a:r>
          </a:p>
          <a:p xmlns:a="http://schemas.openxmlformats.org/drawingml/2006/main">
            <a:pPr>
              <a:defRPr sz="2025" b="0">
                <a:solidFill>
                  <a:srgbClr val="12334B"/>
                </a:solidFill>
                <a:latin typeface="DejaVu Sans"/>
                <a:ea typeface="DejaVu Sans"/>
                <a:cs typeface="DejaVu Sans"/>
              </a:defRPr>
            </a:pPr>
            <a:r>
              <a:rPr sz="2025" b="0">
                <a:solidFill>
                  <a:srgbClr val="12334B"/>
                </a:solidFill>
                <a:latin typeface="DejaVu Sans"/>
                <a:ea typeface="DejaVu Sans"/>
                <a:cs typeface="DejaVu Sans"/>
              </a:rPr>
              <a:t>The adapter maps scene updates, cancellation and feedback to RXU control / connectivity.</a:t>
            </a:r>
          </a:p>
        </p:txBody>
      </p:sp>
      <p:sp>
        <p:nvSpPr>
          <p:cNvPr id="6" name="">
            <a:extLst xmlns:a="http://schemas.openxmlformats.org/drawingml/2006/main">
              <a:ext uri="{FF2B5EF4-FFF2-40B4-BE49-F238E27FC236}">
                <a16:creationId xmlns:a16="http://schemas.microsoft.com/office/drawing/2014/main" id="{D7CE0548-9EB0-47F8-9562-44520B285F6D}"/>
              </a:ext>
            </a:extLst>
          </p:cNvPr>
          <p:cNvSpPr>
            <a:spLocks xmlns:a="http://schemas.openxmlformats.org/drawingml/2006/main" noGrp="1"/>
          </p:cNvSpPr>
          <p:nvPr/>
        </p:nvSpPr>
        <p:spPr>
          <a:xfrm xmlns:a="http://schemas.openxmlformats.org/drawingml/2006/main">
            <a:off x="704850" y="9782175"/>
            <a:ext cx="1609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B7D"/>
                </a:solidFill>
                <a:latin typeface="DejaVu Sans"/>
                <a:ea typeface="DejaVu Sans"/>
                <a:cs typeface="DejaVu Sans"/>
              </a:defRPr>
            </a:defPPr>
          </a:lstStyle>
          <a:p xmlns:a="http://schemas.openxmlformats.org/drawingml/2006/main">
            <a:pPr>
              <a:defRPr sz="1425" b="0">
                <a:solidFill>
                  <a:srgbClr val="526B7D"/>
                </a:solidFill>
                <a:latin typeface="DejaVu Sans"/>
                <a:ea typeface="DejaVu Sans"/>
                <a:cs typeface="DejaVu Sans"/>
              </a:defRPr>
            </a:pPr>
            <a:r>
              <a:rPr sz="1425" b="0">
                <a:solidFill>
                  <a:srgbClr val="526B7D"/>
                </a:solidFill>
                <a:latin typeface="DejaVu Sans"/>
                <a:ea typeface="DejaVu Sans"/>
                <a:cs typeface="DejaVu Sans"/>
              </a:rPr>
              <a:t>Simulation supports validation. Physical commissioning and the cell safety system remain necessary.</a:t>
            </a:r>
          </a:p>
        </p:txBody>
      </p:sp>
      <p:sp>
        <p:nvSpPr>
          <p:cNvPr id="7" name="">
            <a:extLst xmlns:a="http://schemas.openxmlformats.org/drawingml/2006/main">
              <a:ext uri="{FF2B5EF4-FFF2-40B4-BE49-F238E27FC236}">
                <a16:creationId xmlns:a16="http://schemas.microsoft.com/office/drawing/2014/main" id="{290149FE-6CA4-4091-B449-13FA08F49427}"/>
              </a:ext>
            </a:extLst>
          </p:cNvPr>
          <p:cNvSpPr>
            <a:spLocks xmlns:a="http://schemas.openxmlformats.org/drawingml/2006/main" noGrp="1"/>
          </p:cNvSpPr>
          <p:nvPr/>
        </p:nvSpPr>
        <p:spPr>
          <a:xfrm xmlns:a="http://schemas.openxmlformats.org/drawingml/2006/main">
            <a:off x="17145000" y="9782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26B7D"/>
                </a:solidFill>
                <a:latin typeface="DejaVu Sans"/>
                <a:ea typeface="DejaVu Sans"/>
                <a:cs typeface="DejaVu Sans"/>
              </a:defRPr>
            </a:defPPr>
          </a:lstStyle>
          <a:p xmlns:a="http://schemas.openxmlformats.org/drawingml/2006/main">
            <a:pPr>
              <a:defRPr sz="1500" b="0">
                <a:solidFill>
                  <a:srgbClr val="526B7D"/>
                </a:solidFill>
                <a:latin typeface="DejaVu Sans"/>
                <a:ea typeface="DejaVu Sans"/>
                <a:cs typeface="DejaVu Sans"/>
              </a:defRPr>
            </a:pPr>
            <a:r>
              <a:rPr sz="1500" b="0">
                <a:solidFill>
                  <a:srgbClr val="526B7D"/>
                </a:solidFill>
                <a:latin typeface="DejaVu Sans"/>
                <a:ea typeface="DejaVu Sans"/>
                <a:cs typeface="DejaVu Sans"/>
              </a:rPr>
              <a:t>3</a:t>
            </a:r>
          </a:p>
        </p:txBody>
      </p:sp>
    </p:spTree>
    <p:extLst>
      <p:ext uri="{BB962C8B-B14F-4D97-AF65-F5344CB8AC3E}">
        <p14:creationId xmlns:p14="http://schemas.microsoft.com/office/powerpoint/2010/main" val="1393124593"/>
      </p:ext>
    </p:extLst>
  </p:cSld>
</p:sld>
</file>

<file path=ppt/slides/slide4.xml><?xml version="1.0" encoding="utf-8"?>
<p:sld xmlns:p="http://schemas.openxmlformats.org/presentationml/2006/main">
  <p:cSld>
    <p:bg>
      <p:bgPr>
        <a:solidFill xmlns:a="http://schemas.openxmlformats.org/drawingml/2006/main">
          <a:srgbClr val="08243D"/>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D5C3C749-3280-496D-A726-79A5626167E2}"/>
              </a:ext>
            </a:extLst>
          </p:cNvPr>
          <p:cNvSpPr>
            <a:spLocks xmlns:a="http://schemas.openxmlformats.org/drawingml/2006/main" noGrp="1"/>
          </p:cNvSpPr>
          <p:nvPr/>
        </p:nvSpPr>
        <p:spPr>
          <a:xfrm xmlns:a="http://schemas.openxmlformats.org/drawingml/2006/main">
            <a:off x="685800" y="419100"/>
            <a:ext cx="16859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FFFFFF"/>
                </a:solidFill>
                <a:latin typeface="DejaVu Sans"/>
                <a:ea typeface="DejaVu Sans"/>
                <a:cs typeface="DejaVu Sans"/>
              </a:defRPr>
            </a:defPPr>
          </a:lstStyle>
          <a:p xmlns:a="http://schemas.openxmlformats.org/drawingml/2006/main">
            <a:pPr>
              <a:defRPr sz="3900" b="1">
                <a:solidFill>
                  <a:srgbClr val="FFFFFF"/>
                </a:solidFill>
                <a:latin typeface="DejaVu Sans"/>
                <a:ea typeface="DejaVu Sans"/>
                <a:cs typeface="DejaVu Sans"/>
              </a:defRPr>
            </a:pPr>
            <a:r>
              <a:rPr sz="3900" b="1">
                <a:solidFill>
                  <a:srgbClr val="FFFFFF"/>
                </a:solidFill>
                <a:latin typeface="DejaVu Sans"/>
                <a:ea typeface="DejaVu Sans"/>
                <a:cs typeface="DejaVu Sans"/>
              </a:rPr>
              <a:t>Stepwise framework integration roadmap</a:t>
            </a:r>
          </a:p>
        </p:txBody>
      </p:sp>
      <p:sp>
        <p:nvSpPr>
          <p:cNvPr id="2" name="">
            <a:extLst xmlns:a="http://schemas.openxmlformats.org/drawingml/2006/main">
              <a:ext uri="{FF2B5EF4-FFF2-40B4-BE49-F238E27FC236}">
                <a16:creationId xmlns:a16="http://schemas.microsoft.com/office/drawing/2014/main" id="{54F2CEB4-3EEA-45BA-9252-600DFD9002BC}"/>
              </a:ext>
            </a:extLst>
          </p:cNvPr>
          <p:cNvSpPr>
            <a:spLocks xmlns:a="http://schemas.openxmlformats.org/drawingml/2006/main" noGrp="1"/>
          </p:cNvSpPr>
          <p:nvPr/>
        </p:nvSpPr>
        <p:spPr>
          <a:xfrm xmlns:a="http://schemas.openxmlformats.org/drawingml/2006/main">
            <a:off x="704850" y="1285875"/>
            <a:ext cx="16764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BDCFDD"/>
                </a:solidFill>
                <a:latin typeface="DejaVu Sans"/>
                <a:ea typeface="DejaVu Sans"/>
                <a:cs typeface="DejaVu Sans"/>
              </a:defRPr>
            </a:defPPr>
          </a:lstStyle>
          <a:p xmlns:a="http://schemas.openxmlformats.org/drawingml/2006/main">
            <a:pPr>
              <a:defRPr sz="2100" b="0">
                <a:solidFill>
                  <a:srgbClr val="BDCFDD"/>
                </a:solidFill>
                <a:latin typeface="DejaVu Sans"/>
                <a:ea typeface="DejaVu Sans"/>
                <a:cs typeface="DejaVu Sans"/>
              </a:defRPr>
            </a:pPr>
            <a:r>
              <a:rPr sz="2100" b="0">
                <a:solidFill>
                  <a:srgbClr val="BDCFDD"/>
                </a:solidFill>
                <a:latin typeface="DejaVu Sans"/>
                <a:ea typeface="DejaVu Sans"/>
                <a:cs typeface="DejaVu Sans"/>
              </a:rPr>
              <a:t>2027 integrates and verifies existing capabilities. Later R&amp;T extends the supported operating conditions.</a:t>
            </a:r>
          </a:p>
        </p:txBody>
      </p:sp>
      <p:cxnSp>
        <p:nvCxnSpPr>
          <p:cNvPr id="3" name="">
            <a:extLst xmlns:a="http://schemas.openxmlformats.org/drawingml/2006/main">
              <a:ext uri="{FF2B5EF4-FFF2-40B4-BE49-F238E27FC236}">
                <a16:creationId xmlns:a16="http://schemas.microsoft.com/office/drawing/2014/main" id="{7F82CFD1-F4C1-4ABB-8E38-568667127D4F}"/>
              </a:ext>
            </a:extLst>
          </p:cNvPr>
          <p:cNvCxnSpPr/>
          <p:nvPr/>
        </p:nvCxnSpPr>
        <p:spPr>
          <a:xfrm xmlns:a="http://schemas.openxmlformats.org/drawingml/2006/main">
            <a:off x="704850" y="2743200"/>
            <a:ext cx="16878300" cy="0"/>
          </a:xfrm>
          <a:prstGeom xmlns:a="http://schemas.openxmlformats.org/drawingml/2006/main" prst="straightConnector1">
            <a:avLst/>
          </a:prstGeom>
          <a:ln xmlns:a="http://schemas.openxmlformats.org/drawingml/2006/main" w="28575">
            <a:solidFill>
              <a:srgbClr val="55758B"/>
            </a:solidFill>
          </a:ln>
        </p:spPr>
      </p:cxnSp>
      <p:sp>
        <p:nvSpPr>
          <p:cNvPr id="4" name="">
            <a:extLst xmlns:a="http://schemas.openxmlformats.org/drawingml/2006/main">
              <a:ext uri="{FF2B5EF4-FFF2-40B4-BE49-F238E27FC236}">
                <a16:creationId xmlns:a16="http://schemas.microsoft.com/office/drawing/2014/main" id="{988349BE-B703-4A95-A467-91E974D20D39}"/>
              </a:ext>
            </a:extLst>
          </p:cNvPr>
          <p:cNvSpPr>
            <a:spLocks xmlns:a="http://schemas.openxmlformats.org/drawingml/2006/main" noGrp="1"/>
          </p:cNvSpPr>
          <p:nvPr/>
        </p:nvSpPr>
        <p:spPr>
          <a:xfrm xmlns:a="http://schemas.openxmlformats.org/drawingml/2006/main">
            <a:off x="704850" y="2085975"/>
            <a:ext cx="4000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4FD1C5"/>
                </a:solidFill>
                <a:latin typeface="DejaVu Sans"/>
                <a:ea typeface="DejaVu Sans"/>
                <a:cs typeface="DejaVu Sans"/>
              </a:defRPr>
            </a:defPPr>
          </a:lstStyle>
          <a:p xmlns:a="http://schemas.openxmlformats.org/drawingml/2006/main">
            <a:pPr>
              <a:defRPr sz="2850" b="1">
                <a:solidFill>
                  <a:srgbClr val="4FD1C5"/>
                </a:solidFill>
                <a:latin typeface="DejaVu Sans"/>
                <a:ea typeface="DejaVu Sans"/>
                <a:cs typeface="DejaVu Sans"/>
              </a:defRPr>
            </a:pPr>
            <a:r>
              <a:rPr sz="2850" b="1">
                <a:solidFill>
                  <a:srgbClr val="4FD1C5"/>
                </a:solidFill>
                <a:latin typeface="DejaVu Sans"/>
                <a:ea typeface="DejaVu Sans"/>
                <a:cs typeface="DejaVu Sans"/>
              </a:rPr>
              <a:t>Q1 2027</a:t>
            </a:r>
          </a:p>
        </p:txBody>
      </p:sp>
      <p:sp>
        <p:nvSpPr>
          <p:cNvPr id="5" name="">
            <a:extLst xmlns:a="http://schemas.openxmlformats.org/drawingml/2006/main">
              <a:ext uri="{FF2B5EF4-FFF2-40B4-BE49-F238E27FC236}">
                <a16:creationId xmlns:a16="http://schemas.microsoft.com/office/drawing/2014/main" id="{B737B1C5-AA43-4993-9726-84317BBD0ED7}"/>
              </a:ext>
            </a:extLst>
          </p:cNvPr>
          <p:cNvSpPr>
            <a:spLocks xmlns:a="http://schemas.openxmlformats.org/drawingml/2006/main" noGrp="1"/>
          </p:cNvSpPr>
          <p:nvPr/>
        </p:nvSpPr>
        <p:spPr>
          <a:xfrm xmlns:a="http://schemas.openxmlformats.org/drawingml/2006/main">
            <a:off x="704850" y="3076575"/>
            <a:ext cx="4000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FFFFFF"/>
                </a:solidFill>
                <a:latin typeface="DejaVu Sans"/>
                <a:ea typeface="DejaVu Sans"/>
                <a:cs typeface="DejaVu Sans"/>
              </a:defRPr>
            </a:defPPr>
          </a:lstStyle>
          <a:p xmlns:a="http://schemas.openxmlformats.org/drawingml/2006/main">
            <a:pP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M1  Connect data adapters</a:t>
            </a:r>
          </a:p>
        </p:txBody>
      </p:sp>
      <p:sp>
        <p:nvSpPr>
          <p:cNvPr id="6" name="">
            <a:extLst xmlns:a="http://schemas.openxmlformats.org/drawingml/2006/main">
              <a:ext uri="{FF2B5EF4-FFF2-40B4-BE49-F238E27FC236}">
                <a16:creationId xmlns:a16="http://schemas.microsoft.com/office/drawing/2014/main" id="{A9119396-AC40-454F-9533-D403A8A74832}"/>
              </a:ext>
            </a:extLst>
          </p:cNvPr>
          <p:cNvSpPr>
            <a:spLocks xmlns:a="http://schemas.openxmlformats.org/drawingml/2006/main" noGrp="1"/>
          </p:cNvSpPr>
          <p:nvPr/>
        </p:nvSpPr>
        <p:spPr>
          <a:xfrm xmlns:a="http://schemas.openxmlformats.org/drawingml/2006/main">
            <a:off x="704850" y="3962400"/>
            <a:ext cx="4000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DejaVu Sans"/>
                <a:ea typeface="DejaVu Sans"/>
                <a:cs typeface="DejaVu Sans"/>
              </a:defRPr>
            </a:defPPr>
          </a:lstStyle>
          <a:p xmlns:a="http://schemas.openxmlformats.org/drawingml/2006/main">
            <a:pPr>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M2  Wrap toolpath options</a:t>
            </a:r>
          </a:p>
        </p:txBody>
      </p:sp>
      <p:sp>
        <p:nvSpPr>
          <p:cNvPr id="7" name="">
            <a:extLst xmlns:a="http://schemas.openxmlformats.org/drawingml/2006/main">
              <a:ext uri="{FF2B5EF4-FFF2-40B4-BE49-F238E27FC236}">
                <a16:creationId xmlns:a16="http://schemas.microsoft.com/office/drawing/2014/main" id="{04B6658F-1B41-4534-AA6F-A2A449F25D48}"/>
              </a:ext>
            </a:extLst>
          </p:cNvPr>
          <p:cNvSpPr>
            <a:spLocks xmlns:a="http://schemas.openxmlformats.org/drawingml/2006/main" noGrp="1"/>
          </p:cNvSpPr>
          <p:nvPr/>
        </p:nvSpPr>
        <p:spPr>
          <a:xfrm xmlns:a="http://schemas.openxmlformats.org/drawingml/2006/main">
            <a:off x="704850" y="4981575"/>
            <a:ext cx="4000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BED5E2"/>
                </a:solidFill>
                <a:latin typeface="DejaVu Sans"/>
                <a:ea typeface="DejaVu Sans"/>
                <a:cs typeface="DejaVu Sans"/>
              </a:defRPr>
            </a:defPPr>
          </a:lstStyle>
          <a:p xmlns:a="http://schemas.openxmlformats.org/drawingml/2006/main">
            <a:pPr>
              <a:defRPr sz="1800" b="0">
                <a:solidFill>
                  <a:srgbClr val="BED5E2"/>
                </a:solidFill>
                <a:latin typeface="DejaVu Sans"/>
                <a:ea typeface="DejaVu Sans"/>
                <a:cs typeface="DejaVu Sans"/>
              </a:defRPr>
            </a:pPr>
            <a:r>
              <a:rPr sz="1800" b="0">
                <a:solidFill>
                  <a:srgbClr val="BED5E2"/>
                </a:solidFill>
                <a:latin typeface="DejaVu Sans"/>
                <a:ea typeface="DejaVu Sans"/>
                <a:cs typeface="DejaVu Sans"/>
              </a:rPr>
              <a:t>Gate: toolpath through common API</a:t>
            </a:r>
          </a:p>
        </p:txBody>
      </p:sp>
      <p:sp>
        <p:nvSpPr>
          <p:cNvPr id="8" name="">
            <a:extLst xmlns:a="http://schemas.openxmlformats.org/drawingml/2006/main">
              <a:ext uri="{FF2B5EF4-FFF2-40B4-BE49-F238E27FC236}">
                <a16:creationId xmlns:a16="http://schemas.microsoft.com/office/drawing/2014/main" id="{F71A7F44-45C4-48D2-A60F-BF17D9E55D4A}"/>
              </a:ext>
            </a:extLst>
          </p:cNvPr>
          <p:cNvSpPr>
            <a:spLocks xmlns:a="http://schemas.openxmlformats.org/drawingml/2006/main" noGrp="1"/>
          </p:cNvSpPr>
          <p:nvPr/>
        </p:nvSpPr>
        <p:spPr>
          <a:xfrm xmlns:a="http://schemas.openxmlformats.org/drawingml/2006/main">
            <a:off x="5000625" y="2085975"/>
            <a:ext cx="4000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4FD1C5"/>
                </a:solidFill>
                <a:latin typeface="DejaVu Sans"/>
                <a:ea typeface="DejaVu Sans"/>
                <a:cs typeface="DejaVu Sans"/>
              </a:defRPr>
            </a:defPPr>
          </a:lstStyle>
          <a:p xmlns:a="http://schemas.openxmlformats.org/drawingml/2006/main">
            <a:pPr>
              <a:defRPr sz="2850" b="1">
                <a:solidFill>
                  <a:srgbClr val="4FD1C5"/>
                </a:solidFill>
                <a:latin typeface="DejaVu Sans"/>
                <a:ea typeface="DejaVu Sans"/>
                <a:cs typeface="DejaVu Sans"/>
              </a:defRPr>
            </a:pPr>
            <a:r>
              <a:rPr sz="2850" b="1">
                <a:solidFill>
                  <a:srgbClr val="4FD1C5"/>
                </a:solidFill>
                <a:latin typeface="DejaVu Sans"/>
                <a:ea typeface="DejaVu Sans"/>
                <a:cs typeface="DejaVu Sans"/>
              </a:rPr>
              <a:t>Q2 2027</a:t>
            </a:r>
          </a:p>
        </p:txBody>
      </p:sp>
      <p:sp>
        <p:nvSpPr>
          <p:cNvPr id="9" name="">
            <a:extLst xmlns:a="http://schemas.openxmlformats.org/drawingml/2006/main">
              <a:ext uri="{FF2B5EF4-FFF2-40B4-BE49-F238E27FC236}">
                <a16:creationId xmlns:a16="http://schemas.microsoft.com/office/drawing/2014/main" id="{4533DA1D-57A6-4D15-9B56-D63A3C71D612}"/>
              </a:ext>
            </a:extLst>
          </p:cNvPr>
          <p:cNvSpPr>
            <a:spLocks xmlns:a="http://schemas.openxmlformats.org/drawingml/2006/main" noGrp="1"/>
          </p:cNvSpPr>
          <p:nvPr/>
        </p:nvSpPr>
        <p:spPr>
          <a:xfrm xmlns:a="http://schemas.openxmlformats.org/drawingml/2006/main">
            <a:off x="5000625" y="3076575"/>
            <a:ext cx="4000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FFFFFF"/>
                </a:solidFill>
                <a:latin typeface="DejaVu Sans"/>
                <a:ea typeface="DejaVu Sans"/>
                <a:cs typeface="DejaVu Sans"/>
              </a:defRPr>
            </a:defPPr>
          </a:lstStyle>
          <a:p xmlns:a="http://schemas.openxmlformats.org/drawingml/2006/main">
            <a:pP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M3  Integrate planner APIs</a:t>
            </a:r>
          </a:p>
        </p:txBody>
      </p:sp>
      <p:sp>
        <p:nvSpPr>
          <p:cNvPr id="10" name="">
            <a:extLst xmlns:a="http://schemas.openxmlformats.org/drawingml/2006/main">
              <a:ext uri="{FF2B5EF4-FFF2-40B4-BE49-F238E27FC236}">
                <a16:creationId xmlns:a16="http://schemas.microsoft.com/office/drawing/2014/main" id="{E32741F7-3C4E-4DD7-A829-B59855CA477B}"/>
              </a:ext>
            </a:extLst>
          </p:cNvPr>
          <p:cNvSpPr>
            <a:spLocks xmlns:a="http://schemas.openxmlformats.org/drawingml/2006/main" noGrp="1"/>
          </p:cNvSpPr>
          <p:nvPr/>
        </p:nvSpPr>
        <p:spPr>
          <a:xfrm xmlns:a="http://schemas.openxmlformats.org/drawingml/2006/main">
            <a:off x="5000625" y="3962400"/>
            <a:ext cx="4000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DejaVu Sans"/>
                <a:ea typeface="DejaVu Sans"/>
                <a:cs typeface="DejaVu Sans"/>
              </a:defRPr>
            </a:defPPr>
          </a:lstStyle>
          <a:p xmlns:a="http://schemas.openxmlformats.org/drawingml/2006/main">
            <a:pPr>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M4  Unify path checks</a:t>
            </a:r>
          </a:p>
        </p:txBody>
      </p:sp>
      <p:sp>
        <p:nvSpPr>
          <p:cNvPr id="11" name="">
            <a:extLst xmlns:a="http://schemas.openxmlformats.org/drawingml/2006/main">
              <a:ext uri="{FF2B5EF4-FFF2-40B4-BE49-F238E27FC236}">
                <a16:creationId xmlns:a16="http://schemas.microsoft.com/office/drawing/2014/main" id="{78C66D6F-7002-477E-B9B7-94A4E24C4E15}"/>
              </a:ext>
            </a:extLst>
          </p:cNvPr>
          <p:cNvSpPr>
            <a:spLocks xmlns:a="http://schemas.openxmlformats.org/drawingml/2006/main" noGrp="1"/>
          </p:cNvSpPr>
          <p:nvPr/>
        </p:nvSpPr>
        <p:spPr>
          <a:xfrm xmlns:a="http://schemas.openxmlformats.org/drawingml/2006/main">
            <a:off x="5000625" y="4981575"/>
            <a:ext cx="4000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BED5E2"/>
                </a:solidFill>
                <a:latin typeface="DejaVu Sans"/>
                <a:ea typeface="DejaVu Sans"/>
                <a:cs typeface="DejaVu Sans"/>
              </a:defRPr>
            </a:defPPr>
          </a:lstStyle>
          <a:p xmlns:a="http://schemas.openxmlformats.org/drawingml/2006/main">
            <a:pPr>
              <a:defRPr sz="1800" b="0">
                <a:solidFill>
                  <a:srgbClr val="BED5E2"/>
                </a:solidFill>
                <a:latin typeface="DejaVu Sans"/>
                <a:ea typeface="DejaVu Sans"/>
                <a:cs typeface="DejaVu Sans"/>
              </a:defRPr>
            </a:pPr>
            <a:r>
              <a:rPr sz="1800" b="0">
                <a:solidFill>
                  <a:srgbClr val="BED5E2"/>
                </a:solidFill>
                <a:latin typeface="DejaVu Sans"/>
                <a:ea typeface="DejaVu Sans"/>
                <a:cs typeface="DejaVu Sans"/>
              </a:rPr>
              <a:t>Gate: validated planner output</a:t>
            </a:r>
          </a:p>
        </p:txBody>
      </p:sp>
      <p:sp>
        <p:nvSpPr>
          <p:cNvPr id="12" name="">
            <a:extLst xmlns:a="http://schemas.openxmlformats.org/drawingml/2006/main">
              <a:ext uri="{FF2B5EF4-FFF2-40B4-BE49-F238E27FC236}">
                <a16:creationId xmlns:a16="http://schemas.microsoft.com/office/drawing/2014/main" id="{7791FD71-B37F-4088-AB93-3E80AD6427FA}"/>
              </a:ext>
            </a:extLst>
          </p:cNvPr>
          <p:cNvSpPr>
            <a:spLocks xmlns:a="http://schemas.openxmlformats.org/drawingml/2006/main" noGrp="1"/>
          </p:cNvSpPr>
          <p:nvPr/>
        </p:nvSpPr>
        <p:spPr>
          <a:xfrm xmlns:a="http://schemas.openxmlformats.org/drawingml/2006/main">
            <a:off x="9296400" y="2085975"/>
            <a:ext cx="4000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4FD1C5"/>
                </a:solidFill>
                <a:latin typeface="DejaVu Sans"/>
                <a:ea typeface="DejaVu Sans"/>
                <a:cs typeface="DejaVu Sans"/>
              </a:defRPr>
            </a:defPPr>
          </a:lstStyle>
          <a:p xmlns:a="http://schemas.openxmlformats.org/drawingml/2006/main">
            <a:pPr>
              <a:defRPr sz="2850" b="1">
                <a:solidFill>
                  <a:srgbClr val="4FD1C5"/>
                </a:solidFill>
                <a:latin typeface="DejaVu Sans"/>
                <a:ea typeface="DejaVu Sans"/>
                <a:cs typeface="DejaVu Sans"/>
              </a:defRPr>
            </a:pPr>
            <a:r>
              <a:rPr sz="2850" b="1">
                <a:solidFill>
                  <a:srgbClr val="4FD1C5"/>
                </a:solidFill>
                <a:latin typeface="DejaVu Sans"/>
                <a:ea typeface="DejaVu Sans"/>
                <a:cs typeface="DejaVu Sans"/>
              </a:rPr>
              <a:t>Q3 2027</a:t>
            </a:r>
          </a:p>
        </p:txBody>
      </p:sp>
      <p:sp>
        <p:nvSpPr>
          <p:cNvPr id="13" name="">
            <a:extLst xmlns:a="http://schemas.openxmlformats.org/drawingml/2006/main">
              <a:ext uri="{FF2B5EF4-FFF2-40B4-BE49-F238E27FC236}">
                <a16:creationId xmlns:a16="http://schemas.microsoft.com/office/drawing/2014/main" id="{CE987C08-D60A-44A6-9C61-EBA694305FD8}"/>
              </a:ext>
            </a:extLst>
          </p:cNvPr>
          <p:cNvSpPr>
            <a:spLocks xmlns:a="http://schemas.openxmlformats.org/drawingml/2006/main" noGrp="1"/>
          </p:cNvSpPr>
          <p:nvPr/>
        </p:nvSpPr>
        <p:spPr>
          <a:xfrm xmlns:a="http://schemas.openxmlformats.org/drawingml/2006/main">
            <a:off x="9296400" y="3076575"/>
            <a:ext cx="4000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FFFFFF"/>
                </a:solidFill>
                <a:latin typeface="DejaVu Sans"/>
                <a:ea typeface="DejaVu Sans"/>
                <a:cs typeface="DejaVu Sans"/>
              </a:defRPr>
            </a:defPPr>
          </a:lstStyle>
          <a:p xmlns:a="http://schemas.openxmlformats.org/drawingml/2006/main">
            <a:pP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M5  Connect sequencing</a:t>
            </a:r>
          </a:p>
        </p:txBody>
      </p:sp>
      <p:sp>
        <p:nvSpPr>
          <p:cNvPr id="14" name="">
            <a:extLst xmlns:a="http://schemas.openxmlformats.org/drawingml/2006/main">
              <a:ext uri="{FF2B5EF4-FFF2-40B4-BE49-F238E27FC236}">
                <a16:creationId xmlns:a16="http://schemas.microsoft.com/office/drawing/2014/main" id="{CC5474B9-699F-4492-8D62-4DE26B8D85AE}"/>
              </a:ext>
            </a:extLst>
          </p:cNvPr>
          <p:cNvSpPr>
            <a:spLocks xmlns:a="http://schemas.openxmlformats.org/drawingml/2006/main" noGrp="1"/>
          </p:cNvSpPr>
          <p:nvPr/>
        </p:nvSpPr>
        <p:spPr>
          <a:xfrm xmlns:a="http://schemas.openxmlformats.org/drawingml/2006/main">
            <a:off x="9296400" y="3962400"/>
            <a:ext cx="4000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DejaVu Sans"/>
                <a:ea typeface="DejaVu Sans"/>
                <a:cs typeface="DejaVu Sans"/>
              </a:defRPr>
            </a:defPPr>
          </a:lstStyle>
          <a:p xmlns:a="http://schemas.openxmlformats.org/drawingml/2006/main">
            <a:pPr>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M6  Expose optimization</a:t>
            </a:r>
          </a:p>
        </p:txBody>
      </p:sp>
      <p:sp>
        <p:nvSpPr>
          <p:cNvPr id="15" name="">
            <a:extLst xmlns:a="http://schemas.openxmlformats.org/drawingml/2006/main">
              <a:ext uri="{FF2B5EF4-FFF2-40B4-BE49-F238E27FC236}">
                <a16:creationId xmlns:a16="http://schemas.microsoft.com/office/drawing/2014/main" id="{FA7A1C25-FD8A-49AE-B0CD-74BD7274D6D5}"/>
              </a:ext>
            </a:extLst>
          </p:cNvPr>
          <p:cNvSpPr>
            <a:spLocks xmlns:a="http://schemas.openxmlformats.org/drawingml/2006/main" noGrp="1"/>
          </p:cNvSpPr>
          <p:nvPr/>
        </p:nvSpPr>
        <p:spPr>
          <a:xfrm xmlns:a="http://schemas.openxmlformats.org/drawingml/2006/main">
            <a:off x="9296400" y="4981575"/>
            <a:ext cx="4000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BED5E2"/>
                </a:solidFill>
                <a:latin typeface="DejaVu Sans"/>
                <a:ea typeface="DejaVu Sans"/>
                <a:cs typeface="DejaVu Sans"/>
              </a:defRPr>
            </a:defPPr>
          </a:lstStyle>
          <a:p xmlns:a="http://schemas.openxmlformats.org/drawingml/2006/main">
            <a:pPr>
              <a:defRPr sz="1800" b="0">
                <a:solidFill>
                  <a:srgbClr val="BED5E2"/>
                </a:solidFill>
                <a:latin typeface="DejaVu Sans"/>
                <a:ea typeface="DejaVu Sans"/>
                <a:cs typeface="DejaVu Sans"/>
              </a:defRPr>
            </a:pPr>
            <a:r>
              <a:rPr sz="1800" b="0">
                <a:solidFill>
                  <a:srgbClr val="BED5E2"/>
                </a:solidFill>
                <a:latin typeface="DejaVu Sans"/>
                <a:ea typeface="DejaVu Sans"/>
                <a:cs typeface="DejaVu Sans"/>
              </a:rPr>
              <a:t>Gate: optimized output revalidated</a:t>
            </a:r>
          </a:p>
        </p:txBody>
      </p:sp>
      <p:sp>
        <p:nvSpPr>
          <p:cNvPr id="16" name="">
            <a:extLst xmlns:a="http://schemas.openxmlformats.org/drawingml/2006/main">
              <a:ext uri="{FF2B5EF4-FFF2-40B4-BE49-F238E27FC236}">
                <a16:creationId xmlns:a16="http://schemas.microsoft.com/office/drawing/2014/main" id="{EB63468E-4AA1-4137-85F4-441367845968}"/>
              </a:ext>
            </a:extLst>
          </p:cNvPr>
          <p:cNvSpPr>
            <a:spLocks xmlns:a="http://schemas.openxmlformats.org/drawingml/2006/main" noGrp="1"/>
          </p:cNvSpPr>
          <p:nvPr/>
        </p:nvSpPr>
        <p:spPr>
          <a:xfrm xmlns:a="http://schemas.openxmlformats.org/drawingml/2006/main">
            <a:off x="13592175" y="2085975"/>
            <a:ext cx="4000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4FD1C5"/>
                </a:solidFill>
                <a:latin typeface="DejaVu Sans"/>
                <a:ea typeface="DejaVu Sans"/>
                <a:cs typeface="DejaVu Sans"/>
              </a:defRPr>
            </a:defPPr>
          </a:lstStyle>
          <a:p xmlns:a="http://schemas.openxmlformats.org/drawingml/2006/main">
            <a:pPr>
              <a:defRPr sz="2850" b="1">
                <a:solidFill>
                  <a:srgbClr val="4FD1C5"/>
                </a:solidFill>
                <a:latin typeface="DejaVu Sans"/>
                <a:ea typeface="DejaVu Sans"/>
                <a:cs typeface="DejaVu Sans"/>
              </a:defRPr>
            </a:pPr>
            <a:r>
              <a:rPr sz="2850" b="1">
                <a:solidFill>
                  <a:srgbClr val="4FD1C5"/>
                </a:solidFill>
                <a:latin typeface="DejaVu Sans"/>
                <a:ea typeface="DejaVu Sans"/>
                <a:cs typeface="DejaVu Sans"/>
              </a:rPr>
              <a:t>Q4 2027</a:t>
            </a:r>
          </a:p>
        </p:txBody>
      </p:sp>
      <p:sp>
        <p:nvSpPr>
          <p:cNvPr id="17" name="">
            <a:extLst xmlns:a="http://schemas.openxmlformats.org/drawingml/2006/main">
              <a:ext uri="{FF2B5EF4-FFF2-40B4-BE49-F238E27FC236}">
                <a16:creationId xmlns:a16="http://schemas.microsoft.com/office/drawing/2014/main" id="{6DF5DE50-1B18-445B-AD0B-B126126ABD6B}"/>
              </a:ext>
            </a:extLst>
          </p:cNvPr>
          <p:cNvSpPr>
            <a:spLocks xmlns:a="http://schemas.openxmlformats.org/drawingml/2006/main" noGrp="1"/>
          </p:cNvSpPr>
          <p:nvPr/>
        </p:nvSpPr>
        <p:spPr>
          <a:xfrm xmlns:a="http://schemas.openxmlformats.org/drawingml/2006/main">
            <a:off x="13592175" y="3076575"/>
            <a:ext cx="4000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FFFFFF"/>
                </a:solidFill>
                <a:latin typeface="DejaVu Sans"/>
                <a:ea typeface="DejaVu Sans"/>
                <a:cs typeface="DejaVu Sans"/>
              </a:defRPr>
            </a:defPPr>
          </a:lstStyle>
          <a:p xmlns:a="http://schemas.openxmlformats.org/drawingml/2006/main">
            <a:pP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M7  Connect simulation</a:t>
            </a:r>
          </a:p>
        </p:txBody>
      </p:sp>
      <p:sp>
        <p:nvSpPr>
          <p:cNvPr id="18" name="">
            <a:extLst xmlns:a="http://schemas.openxmlformats.org/drawingml/2006/main">
              <a:ext uri="{FF2B5EF4-FFF2-40B4-BE49-F238E27FC236}">
                <a16:creationId xmlns:a16="http://schemas.microsoft.com/office/drawing/2014/main" id="{B4937D1F-2FD2-4F13-B979-B9D92FBDF525}"/>
              </a:ext>
            </a:extLst>
          </p:cNvPr>
          <p:cNvSpPr>
            <a:spLocks xmlns:a="http://schemas.openxmlformats.org/drawingml/2006/main" noGrp="1"/>
          </p:cNvSpPr>
          <p:nvPr/>
        </p:nvSpPr>
        <p:spPr>
          <a:xfrm xmlns:a="http://schemas.openxmlformats.org/drawingml/2006/main">
            <a:off x="13592175" y="3962400"/>
            <a:ext cx="4000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DejaVu Sans"/>
                <a:ea typeface="DejaVu Sans"/>
                <a:cs typeface="DejaVu Sans"/>
              </a:defRPr>
            </a:defPPr>
          </a:lstStyle>
          <a:p xmlns:a="http://schemas.openxmlformats.org/drawingml/2006/main">
            <a:pPr>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M8  Connect robot execution</a:t>
            </a:r>
          </a:p>
        </p:txBody>
      </p:sp>
      <p:sp>
        <p:nvSpPr>
          <p:cNvPr id="19" name="">
            <a:extLst xmlns:a="http://schemas.openxmlformats.org/drawingml/2006/main">
              <a:ext uri="{FF2B5EF4-FFF2-40B4-BE49-F238E27FC236}">
                <a16:creationId xmlns:a16="http://schemas.microsoft.com/office/drawing/2014/main" id="{0C39236A-CB75-46B8-AC3B-C9EC7BBBDD12}"/>
              </a:ext>
            </a:extLst>
          </p:cNvPr>
          <p:cNvSpPr>
            <a:spLocks xmlns:a="http://schemas.openxmlformats.org/drawingml/2006/main" noGrp="1"/>
          </p:cNvSpPr>
          <p:nvPr/>
        </p:nvSpPr>
        <p:spPr>
          <a:xfrm xmlns:a="http://schemas.openxmlformats.org/drawingml/2006/main">
            <a:off x="13592175" y="4981575"/>
            <a:ext cx="4000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BED5E2"/>
                </a:solidFill>
                <a:latin typeface="DejaVu Sans"/>
                <a:ea typeface="DejaVu Sans"/>
                <a:cs typeface="DejaVu Sans"/>
              </a:defRPr>
            </a:defPPr>
          </a:lstStyle>
          <a:p xmlns:a="http://schemas.openxmlformats.org/drawingml/2006/main">
            <a:pPr>
              <a:defRPr sz="1800" b="0">
                <a:solidFill>
                  <a:srgbClr val="BED5E2"/>
                </a:solidFill>
                <a:latin typeface="DejaVu Sans"/>
                <a:ea typeface="DejaVu Sans"/>
                <a:cs typeface="DejaVu Sans"/>
              </a:defRPr>
            </a:pPr>
            <a:r>
              <a:rPr sz="1800" b="0">
                <a:solidFill>
                  <a:srgbClr val="BED5E2"/>
                </a:solidFill>
                <a:latin typeface="DejaVu Sans"/>
                <a:ea typeface="DejaVu Sans"/>
                <a:cs typeface="DejaVu Sans"/>
              </a:rPr>
              <a:t>Gate: simulation-to-robot evidence</a:t>
            </a:r>
          </a:p>
        </p:txBody>
      </p:sp>
      <p:sp>
        <p:nvSpPr>
          <p:cNvPr id="20" name="">
            <a:extLst xmlns:a="http://schemas.openxmlformats.org/drawingml/2006/main">
              <a:ext uri="{FF2B5EF4-FFF2-40B4-BE49-F238E27FC236}">
                <a16:creationId xmlns:a16="http://schemas.microsoft.com/office/drawing/2014/main" id="{3E4CDA3B-2501-4C3E-86BE-7CDF97B9151D}"/>
              </a:ext>
            </a:extLst>
          </p:cNvPr>
          <p:cNvSpPr>
            <a:spLocks xmlns:a="http://schemas.openxmlformats.org/drawingml/2006/main" noGrp="1"/>
          </p:cNvSpPr>
          <p:nvPr/>
        </p:nvSpPr>
        <p:spPr>
          <a:xfrm xmlns:a="http://schemas.openxmlformats.org/drawingml/2006/main">
            <a:off x="704850" y="5972175"/>
            <a:ext cx="342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4FD1C5"/>
                </a:solidFill>
                <a:latin typeface="DejaVu Sans"/>
                <a:ea typeface="DejaVu Sans"/>
                <a:cs typeface="DejaVu Sans"/>
              </a:defRPr>
            </a:defPPr>
          </a:lstStyle>
          <a:p xmlns:a="http://schemas.openxmlformats.org/drawingml/2006/main">
            <a:pPr>
              <a:defRPr sz="2025" b="1">
                <a:solidFill>
                  <a:srgbClr val="4FD1C5"/>
                </a:solidFill>
                <a:latin typeface="DejaVu Sans"/>
                <a:ea typeface="DejaVu Sans"/>
                <a:cs typeface="DejaVu Sans"/>
              </a:defRPr>
            </a:pPr>
            <a:r>
              <a:rPr sz="2025" b="1">
                <a:solidFill>
                  <a:srgbClr val="4FD1C5"/>
                </a:solidFill>
                <a:latin typeface="DejaVu Sans"/>
                <a:ea typeface="DejaVu Sans"/>
                <a:cs typeface="DejaVu Sans"/>
              </a:rPr>
              <a:t>2027 supporting work</a:t>
            </a:r>
          </a:p>
        </p:txBody>
      </p:sp>
      <p:sp>
        <p:nvSpPr>
          <p:cNvPr id="21" name="">
            <a:extLst xmlns:a="http://schemas.openxmlformats.org/drawingml/2006/main">
              <a:ext uri="{FF2B5EF4-FFF2-40B4-BE49-F238E27FC236}">
                <a16:creationId xmlns:a16="http://schemas.microsoft.com/office/drawing/2014/main" id="{B02F2DC1-E292-4D5C-8D46-4181E2B9C9A7}"/>
              </a:ext>
            </a:extLst>
          </p:cNvPr>
          <p:cNvSpPr>
            <a:spLocks xmlns:a="http://schemas.openxmlformats.org/drawingml/2006/main" noGrp="1"/>
          </p:cNvSpPr>
          <p:nvPr/>
        </p:nvSpPr>
        <p:spPr>
          <a:xfrm xmlns:a="http://schemas.openxmlformats.org/drawingml/2006/main">
            <a:off x="4400550" y="5924550"/>
            <a:ext cx="13144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DejaVu Sans"/>
                <a:ea typeface="DejaVu Sans"/>
                <a:cs typeface="DejaVu Sans"/>
              </a:defRPr>
            </a:defPPr>
          </a:lstStyle>
          <a:p xmlns:a="http://schemas.openxmlformats.org/drawingml/2006/main">
            <a:pPr>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Start with one application / backend, then add alternatives through the same contracts.</a:t>
            </a:r>
          </a:p>
          <a:p xmlns:a="http://schemas.openxmlformats.org/drawingml/2006/main">
            <a:pPr>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RXU / ROS2 adapters, BT supervision and regression tests support every integration stage.</a:t>
            </a:r>
          </a:p>
        </p:txBody>
      </p:sp>
      <p:cxnSp>
        <p:nvCxnSpPr>
          <p:cNvPr id="22" name="">
            <a:extLst xmlns:a="http://schemas.openxmlformats.org/drawingml/2006/main">
              <a:ext uri="{FF2B5EF4-FFF2-40B4-BE49-F238E27FC236}">
                <a16:creationId xmlns:a16="http://schemas.microsoft.com/office/drawing/2014/main" id="{FA53DFDB-E24A-4926-B7DE-4226A80A5349}"/>
              </a:ext>
            </a:extLst>
          </p:cNvPr>
          <p:cNvCxnSpPr/>
          <p:nvPr/>
        </p:nvCxnSpPr>
        <p:spPr>
          <a:xfrm xmlns:a="http://schemas.openxmlformats.org/drawingml/2006/main">
            <a:off x="704850" y="7000875"/>
            <a:ext cx="16878300" cy="0"/>
          </a:xfrm>
          <a:prstGeom xmlns:a="http://schemas.openxmlformats.org/drawingml/2006/main" prst="straightConnector1">
            <a:avLst/>
          </a:prstGeom>
          <a:ln xmlns:a="http://schemas.openxmlformats.org/drawingml/2006/main" w="19050">
            <a:solidFill>
              <a:srgbClr val="345269"/>
            </a:solidFill>
          </a:ln>
        </p:spPr>
      </p:cxnSp>
      <p:sp>
        <p:nvSpPr>
          <p:cNvPr id="23" name="">
            <a:extLst xmlns:a="http://schemas.openxmlformats.org/drawingml/2006/main">
              <a:ext uri="{FF2B5EF4-FFF2-40B4-BE49-F238E27FC236}">
                <a16:creationId xmlns:a16="http://schemas.microsoft.com/office/drawing/2014/main" id="{E7614951-6369-4010-9A2B-AE8EC1341BFD}"/>
              </a:ext>
            </a:extLst>
          </p:cNvPr>
          <p:cNvSpPr>
            <a:spLocks xmlns:a="http://schemas.openxmlformats.org/drawingml/2006/main" noGrp="1"/>
          </p:cNvSpPr>
          <p:nvPr/>
        </p:nvSpPr>
        <p:spPr>
          <a:xfrm xmlns:a="http://schemas.openxmlformats.org/drawingml/2006/main">
            <a:off x="704850" y="7305675"/>
            <a:ext cx="228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E3B763"/>
                </a:solidFill>
                <a:latin typeface="DejaVu Sans"/>
                <a:ea typeface="DejaVu Sans"/>
                <a:cs typeface="DejaVu Sans"/>
              </a:defRPr>
            </a:defPPr>
          </a:lstStyle>
          <a:p xmlns:a="http://schemas.openxmlformats.org/drawingml/2006/main">
            <a:pPr>
              <a:defRPr sz="3150" b="1">
                <a:solidFill>
                  <a:srgbClr val="E3B763"/>
                </a:solidFill>
                <a:latin typeface="DejaVu Sans"/>
                <a:ea typeface="DejaVu Sans"/>
                <a:cs typeface="DejaVu Sans"/>
              </a:defRPr>
            </a:pPr>
            <a:r>
              <a:rPr sz="3150" b="1">
                <a:solidFill>
                  <a:srgbClr val="E3B763"/>
                </a:solidFill>
                <a:latin typeface="DejaVu Sans"/>
                <a:ea typeface="DejaVu Sans"/>
                <a:cs typeface="DejaVu Sans"/>
              </a:rPr>
              <a:t>2028</a:t>
            </a:r>
          </a:p>
        </p:txBody>
      </p:sp>
      <p:sp>
        <p:nvSpPr>
          <p:cNvPr id="24" name="">
            <a:extLst xmlns:a="http://schemas.openxmlformats.org/drawingml/2006/main">
              <a:ext uri="{FF2B5EF4-FFF2-40B4-BE49-F238E27FC236}">
                <a16:creationId xmlns:a16="http://schemas.microsoft.com/office/drawing/2014/main" id="{9EC14EB2-0571-43CB-9BAA-F1D6FFEF1D17}"/>
              </a:ext>
            </a:extLst>
          </p:cNvPr>
          <p:cNvSpPr>
            <a:spLocks xmlns:a="http://schemas.openxmlformats.org/drawingml/2006/main" noGrp="1"/>
          </p:cNvSpPr>
          <p:nvPr/>
        </p:nvSpPr>
        <p:spPr>
          <a:xfrm xmlns:a="http://schemas.openxmlformats.org/drawingml/2006/main">
            <a:off x="3219450" y="7353300"/>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FFFFFF"/>
                </a:solidFill>
                <a:latin typeface="DejaVu Sans"/>
                <a:ea typeface="DejaVu Sans"/>
                <a:cs typeface="DejaVu Sans"/>
              </a:defRPr>
            </a:defPPr>
          </a:lstStyle>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Dynamic adaptation</a:t>
            </a:r>
          </a:p>
        </p:txBody>
      </p:sp>
      <p:sp>
        <p:nvSpPr>
          <p:cNvPr id="25" name="">
            <a:extLst xmlns:a="http://schemas.openxmlformats.org/drawingml/2006/main">
              <a:ext uri="{FF2B5EF4-FFF2-40B4-BE49-F238E27FC236}">
                <a16:creationId xmlns:a16="http://schemas.microsoft.com/office/drawing/2014/main" id="{F6E1081D-0A96-4B6A-A969-B214B520CF84}"/>
              </a:ext>
            </a:extLst>
          </p:cNvPr>
          <p:cNvSpPr>
            <a:spLocks xmlns:a="http://schemas.openxmlformats.org/drawingml/2006/main" noGrp="1"/>
          </p:cNvSpPr>
          <p:nvPr/>
        </p:nvSpPr>
        <p:spPr>
          <a:xfrm xmlns:a="http://schemas.openxmlformats.org/drawingml/2006/main">
            <a:off x="3219450" y="790575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E3EDF4"/>
                </a:solidFill>
                <a:latin typeface="DejaVu Sans"/>
                <a:ea typeface="DejaVu Sans"/>
                <a:cs typeface="DejaVu Sans"/>
              </a:defRPr>
            </a:defPPr>
          </a:lstStyle>
          <a:p xmlns:a="http://schemas.openxmlformats.org/drawingml/2006/main">
            <a:pPr>
              <a:defRPr sz="1950" b="0">
                <a:solidFill>
                  <a:srgbClr val="E3EDF4"/>
                </a:solidFill>
                <a:latin typeface="DejaVu Sans"/>
                <a:ea typeface="DejaVu Sans"/>
                <a:cs typeface="DejaVu Sans"/>
              </a:defRPr>
            </a:pPr>
            <a:r>
              <a:rPr sz="1950" b="0">
                <a:solidFill>
                  <a:srgbClr val="E3EDF4"/>
                </a:solidFill>
                <a:latin typeface="DejaVu Sans"/>
                <a:ea typeface="DejaVu Sans"/>
                <a:cs typeface="DejaVu Sans"/>
              </a:rPr>
              <a:t>Scene-driven replanning, local correction and process-aware recovery.</a:t>
            </a:r>
          </a:p>
          <a:p xmlns:a="http://schemas.openxmlformats.org/drawingml/2006/main">
            <a:pPr>
              <a:defRPr sz="1950" b="0">
                <a:solidFill>
                  <a:srgbClr val="E3EDF4"/>
                </a:solidFill>
                <a:latin typeface="DejaVu Sans"/>
                <a:ea typeface="DejaVu Sans"/>
                <a:cs typeface="DejaVu Sans"/>
              </a:defRPr>
            </a:pPr>
            <a:r>
              <a:rPr sz="1950" b="0">
                <a:solidFill>
                  <a:srgbClr val="E3EDF4"/>
                </a:solidFill>
                <a:latin typeface="DejaVu Sans"/>
                <a:ea typeface="DejaVu Sans"/>
                <a:cs typeface="DejaVu Sans"/>
              </a:rPr>
              <a:t>Evaluate RMPflow / cuRobo and planned HPP dynamic-BT integration.</a:t>
            </a:r>
          </a:p>
        </p:txBody>
      </p:sp>
      <p:sp>
        <p:nvSpPr>
          <p:cNvPr id="26" name="">
            <a:extLst xmlns:a="http://schemas.openxmlformats.org/drawingml/2006/main">
              <a:ext uri="{FF2B5EF4-FFF2-40B4-BE49-F238E27FC236}">
                <a16:creationId xmlns:a16="http://schemas.microsoft.com/office/drawing/2014/main" id="{4241228A-9CB4-4C28-A1E0-8C16BFD25FFB}"/>
              </a:ext>
            </a:extLst>
          </p:cNvPr>
          <p:cNvSpPr>
            <a:spLocks xmlns:a="http://schemas.openxmlformats.org/drawingml/2006/main" noGrp="1"/>
          </p:cNvSpPr>
          <p:nvPr/>
        </p:nvSpPr>
        <p:spPr>
          <a:xfrm xmlns:a="http://schemas.openxmlformats.org/drawingml/2006/main">
            <a:off x="704850" y="8810625"/>
            <a:ext cx="228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8BB7F0"/>
                </a:solidFill>
                <a:latin typeface="DejaVu Sans"/>
                <a:ea typeface="DejaVu Sans"/>
                <a:cs typeface="DejaVu Sans"/>
              </a:defRPr>
            </a:defPPr>
          </a:lstStyle>
          <a:p xmlns:a="http://schemas.openxmlformats.org/drawingml/2006/main">
            <a:pPr>
              <a:defRPr sz="3150" b="1">
                <a:solidFill>
                  <a:srgbClr val="8BB7F0"/>
                </a:solidFill>
                <a:latin typeface="DejaVu Sans"/>
                <a:ea typeface="DejaVu Sans"/>
                <a:cs typeface="DejaVu Sans"/>
              </a:defRPr>
            </a:pPr>
            <a:r>
              <a:rPr sz="3150" b="1">
                <a:solidFill>
                  <a:srgbClr val="8BB7F0"/>
                </a:solidFill>
                <a:latin typeface="DejaVu Sans"/>
                <a:ea typeface="DejaVu Sans"/>
                <a:cs typeface="DejaVu Sans"/>
              </a:rPr>
              <a:t>2029+</a:t>
            </a:r>
          </a:p>
        </p:txBody>
      </p:sp>
      <p:sp>
        <p:nvSpPr>
          <p:cNvPr id="27" name="">
            <a:extLst xmlns:a="http://schemas.openxmlformats.org/drawingml/2006/main">
              <a:ext uri="{FF2B5EF4-FFF2-40B4-BE49-F238E27FC236}">
                <a16:creationId xmlns:a16="http://schemas.microsoft.com/office/drawing/2014/main" id="{8F3DAF94-CF01-49B2-AC8A-8A2FCFFDABDB}"/>
              </a:ext>
            </a:extLst>
          </p:cNvPr>
          <p:cNvSpPr>
            <a:spLocks xmlns:a="http://schemas.openxmlformats.org/drawingml/2006/main" noGrp="1"/>
          </p:cNvSpPr>
          <p:nvPr/>
        </p:nvSpPr>
        <p:spPr>
          <a:xfrm xmlns:a="http://schemas.openxmlformats.org/drawingml/2006/main">
            <a:off x="3219450" y="8810625"/>
            <a:ext cx="5476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FFFFFF"/>
                </a:solidFill>
                <a:latin typeface="DejaVu Sans"/>
                <a:ea typeface="DejaVu Sans"/>
                <a:cs typeface="DejaVu Sans"/>
              </a:defRPr>
            </a:defPPr>
          </a:lstStyle>
          <a:p xmlns:a="http://schemas.openxmlformats.org/drawingml/2006/main">
            <a:pPr>
              <a:defRPr sz="2325" b="1">
                <a:solidFill>
                  <a:srgbClr val="FFFFFF"/>
                </a:solidFill>
                <a:latin typeface="DejaVu Sans"/>
                <a:ea typeface="DejaVu Sans"/>
                <a:cs typeface="DejaVu Sans"/>
              </a:defRPr>
            </a:pPr>
            <a:r>
              <a:rPr sz="2325" b="1">
                <a:solidFill>
                  <a:srgbClr val="FFFFFF"/>
                </a:solidFill>
                <a:latin typeface="DejaVu Sans"/>
                <a:ea typeface="DejaVu Sans"/>
                <a:cs typeface="DejaVu Sans"/>
              </a:rPr>
              <a:t>Learning under uncertainty</a:t>
            </a:r>
          </a:p>
        </p:txBody>
      </p:sp>
      <p:sp>
        <p:nvSpPr>
          <p:cNvPr id="28" name="">
            <a:extLst xmlns:a="http://schemas.openxmlformats.org/drawingml/2006/main">
              <a:ext uri="{FF2B5EF4-FFF2-40B4-BE49-F238E27FC236}">
                <a16:creationId xmlns:a16="http://schemas.microsoft.com/office/drawing/2014/main" id="{D7415D2F-AA69-42D9-B3E4-0F93FBC3F58A}"/>
              </a:ext>
            </a:extLst>
          </p:cNvPr>
          <p:cNvSpPr>
            <a:spLocks xmlns:a="http://schemas.openxmlformats.org/drawingml/2006/main" noGrp="1"/>
          </p:cNvSpPr>
          <p:nvPr/>
        </p:nvSpPr>
        <p:spPr>
          <a:xfrm xmlns:a="http://schemas.openxmlformats.org/drawingml/2006/main">
            <a:off x="9048750" y="8763000"/>
            <a:ext cx="8477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E3EDF4"/>
                </a:solidFill>
                <a:latin typeface="DejaVu Sans"/>
                <a:ea typeface="DejaVu Sans"/>
                <a:cs typeface="DejaVu Sans"/>
              </a:defRPr>
            </a:defPPr>
          </a:lstStyle>
          <a:p xmlns:a="http://schemas.openxmlformats.org/drawingml/2006/main">
            <a:pPr>
              <a:defRPr sz="1875" b="0">
                <a:solidFill>
                  <a:srgbClr val="E3EDF4"/>
                </a:solidFill>
                <a:latin typeface="DejaVu Sans"/>
                <a:ea typeface="DejaVu Sans"/>
                <a:cs typeface="DejaVu Sans"/>
              </a:defRPr>
            </a:pPr>
            <a:r>
              <a:rPr sz="1875" b="0">
                <a:solidFill>
                  <a:srgbClr val="E3EDF4"/>
                </a:solidFill>
                <a:latin typeface="DejaVu Sans"/>
                <a:ea typeface="DejaVu Sans"/>
                <a:cs typeface="DejaVu Sans"/>
              </a:rPr>
              <a:t>Cloth / deformables and varied-object grasping:</a:t>
            </a:r>
          </a:p>
          <a:p xmlns:a="http://schemas.openxmlformats.org/drawingml/2006/main">
            <a:pPr>
              <a:defRPr sz="1875" b="0">
                <a:solidFill>
                  <a:srgbClr val="E3EDF4"/>
                </a:solidFill>
                <a:latin typeface="DejaVu Sans"/>
                <a:ea typeface="DejaVu Sans"/>
                <a:cs typeface="DejaVu Sans"/>
              </a:defRPr>
            </a:pPr>
            <a:r>
              <a:rPr sz="1875" b="0">
                <a:solidFill>
                  <a:srgbClr val="E3EDF4"/>
                </a:solidFill>
                <a:latin typeface="DejaVu Sans"/>
                <a:ea typeface="DejaVu Sans"/>
                <a:cs typeface="DejaVu Sans"/>
              </a:rPr>
              <a:t>compare VLA / imitation learning and RL with conventional baselines.</a:t>
            </a:r>
          </a:p>
        </p:txBody>
      </p:sp>
      <p:sp>
        <p:nvSpPr>
          <p:cNvPr id="29" name="">
            <a:extLst xmlns:a="http://schemas.openxmlformats.org/drawingml/2006/main">
              <a:ext uri="{FF2B5EF4-FFF2-40B4-BE49-F238E27FC236}">
                <a16:creationId xmlns:a16="http://schemas.microsoft.com/office/drawing/2014/main" id="{59F6E2BD-7330-407A-9647-E09AE9D7EB8A}"/>
              </a:ext>
            </a:extLst>
          </p:cNvPr>
          <p:cNvSpPr>
            <a:spLocks xmlns:a="http://schemas.openxmlformats.org/drawingml/2006/main" noGrp="1"/>
          </p:cNvSpPr>
          <p:nvPr/>
        </p:nvSpPr>
        <p:spPr>
          <a:xfrm xmlns:a="http://schemas.openxmlformats.org/drawingml/2006/main">
            <a:off x="704850" y="9782175"/>
            <a:ext cx="1609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BDCFDD"/>
                </a:solidFill>
                <a:latin typeface="DejaVu Sans"/>
                <a:ea typeface="DejaVu Sans"/>
                <a:cs typeface="DejaVu Sans"/>
              </a:defRPr>
            </a:defPPr>
          </a:lstStyle>
          <a:p xmlns:a="http://schemas.openxmlformats.org/drawingml/2006/main">
            <a:pPr>
              <a:defRPr sz="1425" b="0">
                <a:solidFill>
                  <a:srgbClr val="BDCFDD"/>
                </a:solidFill>
                <a:latin typeface="DejaVu Sans"/>
                <a:ea typeface="DejaVu Sans"/>
                <a:cs typeface="DejaVu Sans"/>
              </a:defRPr>
            </a:pPr>
            <a:r>
              <a:rPr sz="1425" b="0">
                <a:solidFill>
                  <a:srgbClr val="BDCFDD"/>
                </a:solidFill>
                <a:latin typeface="DejaVu Sans"/>
                <a:ea typeface="DejaVu Sans"/>
                <a:cs typeface="DejaVu Sans"/>
              </a:rPr>
              <a:t>Proposed dates depend on resources and robot access. 2028 expansion targets potential LuFo funding. Learning data preparation starts in 2027.</a:t>
            </a:r>
          </a:p>
        </p:txBody>
      </p:sp>
      <p:sp>
        <p:nvSpPr>
          <p:cNvPr id="30" name="">
            <a:extLst xmlns:a="http://schemas.openxmlformats.org/drawingml/2006/main">
              <a:ext uri="{FF2B5EF4-FFF2-40B4-BE49-F238E27FC236}">
                <a16:creationId xmlns:a16="http://schemas.microsoft.com/office/drawing/2014/main" id="{D85CDD80-696A-494F-8844-F41F5AFFBF3C}"/>
              </a:ext>
            </a:extLst>
          </p:cNvPr>
          <p:cNvSpPr>
            <a:spLocks xmlns:a="http://schemas.openxmlformats.org/drawingml/2006/main" noGrp="1"/>
          </p:cNvSpPr>
          <p:nvPr/>
        </p:nvSpPr>
        <p:spPr>
          <a:xfrm xmlns:a="http://schemas.openxmlformats.org/drawingml/2006/main">
            <a:off x="17145000" y="9782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FFFFFF"/>
                </a:solidFill>
                <a:latin typeface="DejaVu Sans"/>
                <a:ea typeface="DejaVu Sans"/>
                <a:cs typeface="DejaVu Sans"/>
              </a:defRPr>
            </a:defPPr>
          </a:lstStyle>
          <a:p xmlns:a="http://schemas.openxmlformats.org/drawingml/2006/main">
            <a:pPr>
              <a:defRPr sz="1500" b="0">
                <a:solidFill>
                  <a:srgbClr val="FFFFFF"/>
                </a:solidFill>
                <a:latin typeface="DejaVu Sans"/>
                <a:ea typeface="DejaVu Sans"/>
                <a:cs typeface="DejaVu Sans"/>
              </a:defRPr>
            </a:pPr>
            <a:r>
              <a:rPr sz="1500" b="0">
                <a:solidFill>
                  <a:srgbClr val="FFFFFF"/>
                </a:solidFill>
                <a:latin typeface="DejaVu Sans"/>
                <a:ea typeface="DejaVu Sans"/>
                <a:cs typeface="DejaVu Sans"/>
              </a:rPr>
              <a:t>4</a:t>
            </a:r>
          </a:p>
        </p:txBody>
      </p:sp>
    </p:spTree>
    <p:extLst>
      <p:ext uri="{BB962C8B-B14F-4D97-AF65-F5344CB8AC3E}">
        <p14:creationId xmlns:p14="http://schemas.microsoft.com/office/powerpoint/2010/main" val="678951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2026-10-09T12:20:55.7210000Z</dcterms:created>
  <dcterms:modified xsi:type="dcterms:W3CDTF">2026-10-09T12:20:55.7210000Z</dcterms:modified>
</coreProperties>
</file>