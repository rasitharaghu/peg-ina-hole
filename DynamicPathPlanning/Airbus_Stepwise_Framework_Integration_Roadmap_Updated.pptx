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104f54387c84208" /><Relationship Type="http://schemas.openxmlformats.org/officeDocument/2006/relationships/extended-properties" Target="/docProps/app.xml" Id="R48feed575d3b435e" /><Relationship Type="http://schemas.openxmlformats.org/officeDocument/2006/relationships/officeDocument" Target="/ppt/presentation.xml" Id="Rf7e4264d36be492a" /></Relationships>
</file>

<file path=ppt/presentation.xml><?xml version="1.0" encoding="utf-8"?>
<p:presentation xmlns:p="http://schemas.openxmlformats.org/presentationml/2006/main">
  <p:sldMasterIdLst>
    <p:sldMasterId xmlns:r="http://schemas.openxmlformats.org/officeDocument/2006/relationships" id="2147483648" r:id="R7bc1c7169781440a"/>
  </p:sldMasterIdLst>
  <p:notesMasterIdLst>
    <p:notesMasterId xmlns:r="http://schemas.openxmlformats.org/officeDocument/2006/relationships" r:id="R8022d64b3a304421"/>
  </p:notesMasterIdLst>
  <p:sldIdLst>
    <p:sldId xmlns:r="http://schemas.openxmlformats.org/officeDocument/2006/relationships" id="256" r:id="R1fbb6deea13d428f"/>
    <p:sldId xmlns:r="http://schemas.openxmlformats.org/officeDocument/2006/relationships" id="257" r:id="R58b95edc0fa4430d"/>
    <p:sldId xmlns:r="http://schemas.openxmlformats.org/officeDocument/2006/relationships" id="258" r:id="R6c659922ec634a1a"/>
    <p:sldId xmlns:r="http://schemas.openxmlformats.org/officeDocument/2006/relationships" id="259" r:id="R58b42cbef8fe4e2b"/>
    <p:sldId xmlns:r="http://schemas.openxmlformats.org/officeDocument/2006/relationships" id="260" r:id="Re639fb70bfc14333"/>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da69e18284b49f1" /><Relationship Type="http://schemas.openxmlformats.org/officeDocument/2006/relationships/slideMaster" Target="/ppt/slideMasters/slideMaster1.xml" Id="R7bc1c7169781440a" /><Relationship Type="http://schemas.openxmlformats.org/officeDocument/2006/relationships/notesMaster" Target="/ppt/notesMasters/notesMaster1.xml" Id="R8022d64b3a304421" /><Relationship Type="http://schemas.openxmlformats.org/officeDocument/2006/relationships/presProps" Target="/ppt/presProps.xml" Id="R1a5dbeeaf04a4056" /><Relationship Type="http://schemas.openxmlformats.org/officeDocument/2006/relationships/tableStyles" Target="/ppt/tableStyles.xml" Id="Rcd4e8b40e02d447a" /><Relationship Type="http://schemas.openxmlformats.org/officeDocument/2006/relationships/slide" Target="/ppt/slides/slide1.xml" Id="R1fbb6deea13d428f" /><Relationship Type="http://schemas.openxmlformats.org/officeDocument/2006/relationships/slide" Target="/ppt/slides/slide2.xml" Id="R58b95edc0fa4430d" /><Relationship Type="http://schemas.openxmlformats.org/officeDocument/2006/relationships/slide" Target="/ppt/slides/slide3.xml" Id="R6c659922ec634a1a" /><Relationship Type="http://schemas.openxmlformats.org/officeDocument/2006/relationships/slide" Target="/ppt/slides/slide4.xml" Id="R58b42cbef8fe4e2b" /><Relationship Type="http://schemas.openxmlformats.org/officeDocument/2006/relationships/slide" Target="/ppt/slides/slide5.xml" Id="Re639fb70bfc1433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4303476984e485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06c15daf40c4018" /><Relationship Type="http://schemas.openxmlformats.org/officeDocument/2006/relationships/notesMaster" Target="/ppt/notesMasters/notesMaster1.xml" Id="Rb20e9196db0d42eb"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3921d3a89d4d08" /><Relationship Type="http://schemas.openxmlformats.org/officeDocument/2006/relationships/notesMaster" Target="/ppt/notesMasters/notesMaster1.xml" Id="R191d6ddbadc4452d" /></Relationships>
</file>

<file path=ppt/notesSlides/_rels/notesSlide3.xml.rels>&#65279;<?xml version="1.0" encoding="utf-8"?><Relationships xmlns="http://schemas.openxmlformats.org/package/2006/relationships"><Relationship Type="http://schemas.openxmlformats.org/officeDocument/2006/relationships/slide" Target="/ppt/slides/slide3.xml" Id="R9b8d95e4c7374ed3" /><Relationship Type="http://schemas.openxmlformats.org/officeDocument/2006/relationships/notesMaster" Target="/ppt/notesMasters/notesMaster1.xml" Id="R6c7d9e8bd0ad4ad2" /></Relationships>
</file>

<file path=ppt/notesSlides/_rels/notesSlide4.xml.rels>&#65279;<?xml version="1.0" encoding="utf-8"?><Relationships xmlns="http://schemas.openxmlformats.org/package/2006/relationships"><Relationship Type="http://schemas.openxmlformats.org/officeDocument/2006/relationships/slide" Target="/ppt/slides/slide4.xml" Id="R34267940781945f2" /><Relationship Type="http://schemas.openxmlformats.org/officeDocument/2006/relationships/notesMaster" Target="/ppt/notesMasters/notesMaster1.xml" Id="R8997bc4a85bc464f" /></Relationships>
</file>

<file path=ppt/notesSlides/_rels/notesSlide5.xml.rels>&#65279;<?xml version="1.0" encoding="utf-8"?><Relationships xmlns="http://schemas.openxmlformats.org/package/2006/relationships"><Relationship Type="http://schemas.openxmlformats.org/officeDocument/2006/relationships/slide" Target="/ppt/slides/slide5.xml" Id="R2dfe964a3846448b" /><Relationship Type="http://schemas.openxmlformats.org/officeDocument/2006/relationships/notesMaster" Target="/ppt/notesMasters/notesMaster1.xml" Id="Rad964ef3eee5491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context: user discussion and milestone specification, 9 October 2026. Project-specific status reflects user descriptions, not an independent maturity assessment. Toolpath generation defines a desired TCP path relative to the workpiece. Robot path generation resolves inverse kinematics, constraints, reachability and collision avoidance. Trajectory generation adds time and dynamic limits. Execution feeds actual state back to control and supervision. q(s) denotes robot configuration along a geometric path, and q(t) is configuration as a function of time. Route/task optimization orders the visits and may call motion planning repeatedly. These layers interact and do not have to be implemented by one library. The three project foundations identify relevant experience and work, not three fully released products. The broader team roadmap retains both conventional planning and a parallel research track for uncertain manipulation.</a:t>
            </a:r>
          </a:p>
          <a:p xmlns:a="http://schemas.openxmlformats.org/drawingml/2006/main">
            <a:r>
              <a:t>Integration principle: these stages are acceptance checkpoints for existing framework or project capabilities, not eight algorithm-development work packages. Inventory the exact backend/version first. Reuse supported functions, build adapters and common contracts, verify against native outputs, then run an end-to-end regression. Keep unsupported capabilities explicit and retain backend-specific configuration where a common abstraction would lose required semantics. Implement new algorithms only for demonstrated gaps. Start with a thin end-to-end application where existing assets permit, then extend capabilities in the numbered sequence; do not defer all integration testing to Q4. Dates remain proposed and depend on the capability inventory.</a:t>
            </a:r>
          </a:p>
          <a:p xmlns:a="http://schemas.openxmlformats.org/drawingml/2006/main">
            <a:r>
              <a:t/>
            </a:r>
          </a:p>
          <a:p xmlns:a="http://schemas.openxmlformats.org/drawingml/2006/main">
            <a:r>
              <a:t>Benchmark qualification: use the same robot, tool, workpiece, scene, constraints and hardware budget across candidates. Report median and tail latency, planning success, clearance, continuity, coverage, process quality, cycle time and recovery performance over repeated trials. Separate native capabilities, external integrations, project extensions and measured results. Do not imply all frameworks implement every planner.</a:t>
            </a:r>
          </a:p>
          <a:p xmlns:a="http://schemas.openxmlformats.org/drawingml/2006/main">
            <a:r>
              <a:t>HPP: use the current Python binding approach (hpp-python / pyhpp), not a blanket CORBA dependency. Treat GMM toolpaths, dynamic behavior trees and memory-based path reuse as project/release-specific capabilities until the exact build and API are demonstrated. Revalidate cached paths after robot, tool, scene or process changes.</a:t>
            </a:r>
          </a:p>
          <a:p xmlns:a="http://schemas.openxmlformats.org/drawingml/2006/main">
            <a:r>
              <a:t>Two benchmark levels: compare framework capability and RXU integration effort; then qualify planner / pipeline choices for each use case. Include maintenance, licensing, deployment, determinism, compute cost and support. See Airbus_Robotics_Complete_Benchmark_Study.docx for the detailed criteria and evidence register.</a:t>
            </a:r>
          </a:p>
          <a:p xmlns:a="http://schemas.openxmlformats.org/drawingml/2006/main">
            <a:r>
              <a:t>2027 is a staged integration target, subject to resources, not a commitment to every framework, simulator and robot protocol. Establish one thin end-to-end flow early, benchmark continuously, and expand by qualification gates. Simulation supports validation but does not establish physical robot safety; cell risk assessment, controller safeguards and controlled commissioning remain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context: user discussion and milestone specification, 9 October 2026. Project-specific status reflects user descriptions, not an independent maturity assessment. Milestones follow the exact order requested by the user. M1: retain one canonical semantic data contract and write import/export adapters, rather than assuming URDF, MJCF and USD preserve identical physics. Check coordinate conventions, units, inertias, collision geometry, joints and limits after conversion. MuJoCo uses MJCF natively and supports URDF; Isaac Sim uses OpenUSD assets. M2: the IRT Open CASCADE / point-cloud approach and HPP Gaussian-mixture-model approach are user-reported project implementations, not blanket upstream-library claims. Toolpath configuration should include pattern, region boundary, size, swathe, overlap, direction, stand-off and orientation where required. M3: PRM is itself sampling-based; RRT is another sampling family. Grid/graph search is a candidate capability where suitable, not a capability guaranteed in every framework. LIN, CIRC and polynomial splines need backend-specific mapping and continuity checks. Expose only supported spline orders. Pilz supports PTP/LIN/CIRC; MoveIt Cartesian waypoint interpolation is a separate option. RMPflow is a reactive local motion policy and cuRobo offers motion generation, trajectory optimization and MPC APIs; neither label guarantees end-to-end hard real-time execution. For a mobile base, evaluate DWA/DWB in the navigation stack if that was intended by DWM; it is not a generic arm-planning default. BT/state-machine supervision belongs to task orchestration, not necessarily inside a planner. HPP dynamic behavior-tree availability remains a project dependency. M4: viewers display results, while collision, kinematics and coverage-checking components produce the evidence. Sources: https://moveit.picknik.ai/main/doc/how_to_guides/pilz_industrial_motion_planner/pilz_industrial_motion_planner.html ; https://mujoco.readthedocs.io/en/stable/modeling.html ; https://docs.isaacsim.omniverse.nvidia.com/latest/openusd_tuning_tutorials/tutorial_01_asset_structure.html ; https://curobo.org/get_started/7_api.html ; https://docs.isaacsim.omniverse.nvidia.com/6.0.1/manipulators/motion_generation_overview.html . The current Isaac documentation marks the legacy motion-generation API deprecated, so pin and review the selected version when integrating RMPflow.</a:t>
            </a:r>
          </a:p>
          <a:p xmlns:a="http://schemas.openxmlformats.org/drawingml/2006/main">
            <a:r>
              <a:t>Integration principle: these stages are acceptance checkpoints for existing framework or project capabilities, not eight algorithm-development work packages. Inventory the exact backend/version first. Reuse supported functions, build adapters and common contracts, verify against native outputs, then run an end-to-end regression. Keep unsupported capabilities explicit and retain backend-specific configuration where a common abstraction would lose required semantics. Implement new algorithms only for demonstrated gaps. Start with a thin end-to-end application where existing assets permit, then extend capabilities in the numbered sequence; do not defer all integration testing to Q4. Dates remain proposed and depend on the capability inventory.</a:t>
            </a:r>
          </a:p>
          <a:p xmlns:a="http://schemas.openxmlformats.org/drawingml/2006/main">
            <a:r>
              <a:t/>
            </a:r>
          </a:p>
          <a:p xmlns:a="http://schemas.openxmlformats.org/drawingml/2006/main">
            <a:r>
              <a:t>Benchmark qualification: use the same robot, tool, workpiece, scene, constraints and hardware budget across candidates. Report median and tail latency, planning success, clearance, continuity, coverage, process quality, cycle time and recovery performance over repeated trials. Separate native capabilities, external integrations, project extensions and measured results. Do not imply all frameworks implement every planner.</a:t>
            </a:r>
          </a:p>
          <a:p xmlns:a="http://schemas.openxmlformats.org/drawingml/2006/main">
            <a:r>
              <a:t>HPP: use the current Python binding approach (hpp-python / pyhpp), not a blanket CORBA dependency. Treat GMM toolpaths, dynamic behavior trees and memory-based path reuse as project/release-specific capabilities until the exact build and API are demonstrated. Revalidate cached paths after robot, tool, scene or process changes.</a:t>
            </a:r>
          </a:p>
          <a:p xmlns:a="http://schemas.openxmlformats.org/drawingml/2006/main">
            <a:r>
              <a:t>Two benchmark levels: compare framework capability and RXU integration effort; then qualify planner / pipeline choices for each use case. Include maintenance, licensing, deployment, determinism, compute cost and support. See Airbus_Robotics_Complete_Benchmark_Study.docx for the detailed criteria and evidence register.</a:t>
            </a:r>
          </a:p>
          <a:p xmlns:a="http://schemas.openxmlformats.org/drawingml/2006/main">
            <a:r>
              <a:t>2027 is a staged integration target, subject to resources, not a commitment to every framework, simulator and robot protocol. Establish one thin end-to-end flow early, benchmark continuously, and expand by qualification gates. Simulation supports validation but does not establish physical robot safety; cell risk assessment, controller safeguards and controlled commissioning remain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context: user discussion and milestone specification, 9 October 2026. Project-specific status reflects user descriptions, not an independent maturity assessment. M5 preserves the user-requested sequencing after initial path validation. Build a cost matrix from feasible motion transitions, optimize order and then regenerate/revalidate changed transitions; sequencing and motion may iterate. TSP/GTSP are route/task optimizers. HPP availability refers to project integration, not a claim that every HPP installation includes them. Investigate reuse in other frameworks rather than assume availability. M6 reruns collision, process and joint-limit checks after smoothing, blending or retiming. Smooth geometry does not imply smooth timing. M7 uses simulator adapters for robot model loading, timed command playback and measured state. Virtual controllers expose different supported protocols and licensing; confirm ROBOGUIDE or other vendor-controller connectivity before committing. Simulation cannot establish complete safety; use commissioning, risk assessment and independent cell safety functions. M8 protocol adapters must support correct units, modes, timestamp semantics, buffering, cancellation and stop acknowledgement. Preserve rail/arm exclusivity for the NDT cell where required. The principal MoveIt2 integration challenge is isolating ROS2 dependency. Proposed solution: a separate ROS2 component/process behind a stable RXU service boundary, mapping canonical requests to MoveIt messages and results back to a common trajectory contract. This isolates dependency without claiming to remove ROS2 from MoveIt2. Versioned robot and scene snapshots, timeout/error codes and execution feedback belong to this contract. Sources: https://moveit.picknik.ai/main/doc/concepts/hybrid_planning/hybrid_planning.html ; https://github.com/tesseract-robotics/tesseract_planning . Simulation and connectivity entries are proposed integration targets, not claims that every protocol currently works.</a:t>
            </a:r>
          </a:p>
          <a:p xmlns:a="http://schemas.openxmlformats.org/drawingml/2006/main">
            <a:r>
              <a:t>Integration principle: these stages are acceptance checkpoints for existing framework or project capabilities, not eight algorithm-development work packages. Inventory the exact backend/version first. Reuse supported functions, build adapters and common contracts, verify against native outputs, then run an end-to-end regression. Keep unsupported capabilities explicit and retain backend-specific configuration where a common abstraction would lose required semantics. Implement new algorithms only for demonstrated gaps. Start with a thin end-to-end application where existing assets permit, then extend capabilities in the numbered sequence; do not defer all integration testing to Q4. Dates remain proposed and depend on the capability inventory.</a:t>
            </a:r>
          </a:p>
          <a:p xmlns:a="http://schemas.openxmlformats.org/drawingml/2006/main">
            <a:r>
              <a:t/>
            </a:r>
          </a:p>
          <a:p xmlns:a="http://schemas.openxmlformats.org/drawingml/2006/main">
            <a:r>
              <a:t>Benchmark qualification: use the same robot, tool, workpiece, scene, constraints and hardware budget across candidates. Report median and tail latency, planning success, clearance, continuity, coverage, process quality, cycle time and recovery performance over repeated trials. Separate native capabilities, external integrations, project extensions and measured results. Do not imply all frameworks implement every planner.</a:t>
            </a:r>
          </a:p>
          <a:p xmlns:a="http://schemas.openxmlformats.org/drawingml/2006/main">
            <a:r>
              <a:t>HPP: use the current Python binding approach (hpp-python / pyhpp), not a blanket CORBA dependency. Treat GMM toolpaths, dynamic behavior trees and memory-based path reuse as project/release-specific capabilities until the exact build and API are demonstrated. Revalidate cached paths after robot, tool, scene or process changes.</a:t>
            </a:r>
          </a:p>
          <a:p xmlns:a="http://schemas.openxmlformats.org/drawingml/2006/main">
            <a:r>
              <a:t>Two benchmark levels: compare framework capability and RXU integration effort; then qualify planner / pipeline choices for each use case. Include maintenance, licensing, deployment, determinism, compute cost and support. See Airbus_Robotics_Complete_Benchmark_Study.docx for the detailed criteria and evidence register.</a:t>
            </a:r>
          </a:p>
          <a:p xmlns:a="http://schemas.openxmlformats.org/drawingml/2006/main">
            <a:r>
              <a:t>2027 is a staged integration target, subject to resources, not a commitment to every framework, simulator and robot protocol. Establish one thin end-to-end flow early, benchmark continuously, and expand by qualification gates. Simulation supports validation but does not establish physical robot safety; cell risk assessment, controller safeguards and controlled commissioning remain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context: user discussion and milestone specification, 9 October 2026. Project-specific status reflects user descriptions, not an independent maturity assessment. This is a proposed planning sequence, not a funded delivery promise. Q1: establish model/data contracts and coverage configuration. Q2: integrate and compare a primary backend and a justified second backend, preserving the architecture for HPP, MoveIt2 and Tesseract. Q3: sequence tasks and optimize timing/paths with revalidation. Q4: validate a selected simulator/controller route, then demonstrate on the physical robot. Every framework, simulator and vendor protocol need not be production-ready in 2027; prioritize reference implementations and versioned adapter contracts. RXU integration is one cross-cutting workstream, not the overall roadmap. 2028: use the potential LuFo boost for event-driven replanning, bounded online correction and process-aware recovery. Dynamic BT supervision is a proposed project option, subject to availability. For learning, start task selection, conventional baselines and data collection in 2027; run a bounded pilot if funding permits in 2028; evaluate transfer to unseen cloth configurations, deformable materials and varied objects in 2029+. VLA refers to a vision-language-action policy; RL is a training method, and they can be combined. Uncertainty alone does not prove learning will outperform conventional methods. Compare completion rate, generalization, interventions, recovery, latency and process accuracy. Across all phases measure planning time, TCP error, coverage, continuity and manual programming effort; set numerical thresholds with the application owners. Sources: https://www.physicalintelligence.company/blog/pi0 ; https://curobo.org/ ; https://research.nvidia.com/publication/2020-11_rmpflow-geometric-framework-generation-multi-task-motion-policies .</a:t>
            </a:r>
          </a:p>
          <a:p xmlns:a="http://schemas.openxmlformats.org/drawingml/2006/main">
            <a:r>
              <a:t>Integration principle: these stages are acceptance checkpoints for existing framework or project capabilities, not eight algorithm-development work packages. Inventory the exact backend/version first. Reuse supported functions, build adapters and common contracts, verify against native outputs, then run an end-to-end regression. Keep unsupported capabilities explicit and retain backend-specific configuration where a common abstraction would lose required semantics. Implement new algorithms only for demonstrated gaps. Start with a thin end-to-end application where existing assets permit, then extend capabilities in the numbered sequence; do not defer all integration testing to Q4. Dates remain proposed and depend on the capability inventory.</a:t>
            </a:r>
          </a:p>
          <a:p xmlns:a="http://schemas.openxmlformats.org/drawingml/2006/main">
            <a:r>
              <a:t/>
            </a:r>
          </a:p>
          <a:p xmlns:a="http://schemas.openxmlformats.org/drawingml/2006/main">
            <a:r>
              <a:t>Benchmark qualification: use the same robot, tool, workpiece, scene, constraints and hardware budget across candidates. Report median and tail latency, planning success, clearance, continuity, coverage, process quality, cycle time and recovery performance over repeated trials. Separate native capabilities, external integrations, project extensions and measured results. Do not imply all frameworks implement every planner.</a:t>
            </a:r>
          </a:p>
          <a:p xmlns:a="http://schemas.openxmlformats.org/drawingml/2006/main">
            <a:r>
              <a:t>HPP: use the current Python binding approach (hpp-python / pyhpp), not a blanket CORBA dependency. Treat GMM toolpaths, dynamic behavior trees and memory-based path reuse as project/release-specific capabilities until the exact build and API are demonstrated. Revalidate cached paths after robot, tool, scene or process changes.</a:t>
            </a:r>
          </a:p>
          <a:p xmlns:a="http://schemas.openxmlformats.org/drawingml/2006/main">
            <a:r>
              <a:t>Two benchmark levels: compare framework capability and RXU integration effort; then qualify planner / pipeline choices for each use case. Include maintenance, licensing, deployment, determinism, compute cost and support. See Airbus_Robotics_Complete_Benchmark_Study.docx for the detailed criteria and evidence register.</a:t>
            </a:r>
          </a:p>
          <a:p xmlns:a="http://schemas.openxmlformats.org/drawingml/2006/main">
            <a:r>
              <a:t>2027 is a staged integration target, subject to resources, not a commitment to every framework, simulator and robot protocol. Establish one thin end-to-end flow early, benchmark continuously, and expand by qualification gates. Simulation supports validation but does not establish physical robot safety; cell risk assessment, controller safeguards and controlled commissioning remain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three demonstrators are proposals and require dataset, robot, process-owner and resource agreement. Freeze quantitative acceptance thresholds with stakeholders before trials. Curved-panel inspection validates configurable coverage; targeted inspection tests ordering and posture choices; drilling with cleaning tests process precedence, tool I/O and recovery. Subsequent qualification includes assembly, auto rigging, painting, sanding, drilling, logistics, pick and place, cleaning, masking and resin deposition. No universal best planner is asserted. Select candidates by the measured use-case requirements and maintain a fallback execution strategy. For contact processes, qualify the force-control loop and its integration independently from geometric planning.</a:t>
            </a:r>
          </a:p>
          <a:p xmlns:a="http://schemas.openxmlformats.org/drawingml/2006/main">
            <a:r>
              <a:t/>
            </a:r>
          </a:p>
          <a:p xmlns:a="http://schemas.openxmlformats.org/drawingml/2006/main">
            <a:r>
              <a:t>Benchmark qualification: use the same robot, tool, workpiece, scene, constraints and hardware budget across candidates. Report median and tail latency, planning success, clearance, continuity, coverage, process quality, cycle time and recovery performance over repeated trials. Separate native capabilities, external integrations, project extensions and measured results. Do not imply all frameworks implement every planner.</a:t>
            </a:r>
          </a:p>
          <a:p xmlns:a="http://schemas.openxmlformats.org/drawingml/2006/main">
            <a:r>
              <a:t>HPP: use the current Python binding approach (hpp-python / pyhpp), not a blanket CORBA dependency. Treat GMM toolpaths, dynamic behavior trees and memory-based path reuse as project/release-specific capabilities until the exact build and API are demonstrated. Revalidate cached paths after robot, tool, scene or process changes.</a:t>
            </a:r>
          </a:p>
          <a:p xmlns:a="http://schemas.openxmlformats.org/drawingml/2006/main">
            <a:r>
              <a:t>Two benchmark levels: compare framework capability and RXU integration effort; then qualify planner / pipeline choices for each use case. Include maintenance, licensing, deployment, determinism, compute cost and support. See Airbus_Robotics_Complete_Benchmark_Study.docx for the detailed criteria and evidence register.</a:t>
            </a:r>
          </a:p>
          <a:p xmlns:a="http://schemas.openxmlformats.org/drawingml/2006/main">
            <a:r>
              <a:t>2027 is a staged integration target, subject to resources, not a commitment to every framework, simulator and robot protocol. Establish one thin end-to-end flow early, benchmark continuously, and expand by qualification gates. Simulation supports validation but does not establish physical robot safety; cell risk assessment, controller safeguards and controlled commissioning remain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440148b0379402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729722f9a0d4c5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63f06ef60244f1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5818640dc974f9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173352acb2f486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bb07a11570e463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458CDE0-6073-466F-9C70-A0E541B6AFCD}"/>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74ED58E-E2EA-4B9C-BAE1-A456CE3EF2A8}"/>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277EF84-B468-453B-A102-283782953D77}"/>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406B34D-9F29-47F0-BCE6-31F967BAFC73}"/>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938B129-13F2-4401-951A-A40CFADEE928}"/>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701B93A-4938-4F51-99AD-DE2D4697F16F}"/>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636AD67-5769-4078-9CBB-CBA0A79A0EF9}"/>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CFF554C-7A8D-4738-8A03-0749AE718403}"/>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D5A046B-E903-4A8E-A337-071DAA07E2D1}"/>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ECD510D-AA83-48CC-877E-430D0AF52CC7}"/>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af55486bfd34a0c" /><Relationship Type="http://schemas.openxmlformats.org/officeDocument/2006/relationships/slideLayout" Target="/ppt/slideLayouts/slideLayout1.xml" Id="Rd7011fb434334faa" /><Relationship Type="http://schemas.openxmlformats.org/officeDocument/2006/relationships/slideLayout" Target="/ppt/slideLayouts/slideLayout2.xml" Id="Rfc3ae1e139a244dd" /><Relationship Type="http://schemas.openxmlformats.org/officeDocument/2006/relationships/slideLayout" Target="/ppt/slideLayouts/slideLayout3.xml" Id="Rdb979cb5b2954cb5" /><Relationship Type="http://schemas.openxmlformats.org/officeDocument/2006/relationships/slideLayout" Target="/ppt/slideLayouts/slideLayout4.xml" Id="Ra908936c59dc42ee" /><Relationship Type="http://schemas.openxmlformats.org/officeDocument/2006/relationships/slideLayout" Target="/ppt/slideLayouts/slideLayout5.xml" Id="Rb0ea902bdae14c0b" /><Relationship Type="http://schemas.openxmlformats.org/officeDocument/2006/relationships/slideLayout" Target="/ppt/slideLayouts/slideLayout6.xml" Id="Rd614e0f5eec84ca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7011fb434334faa"/>
    <p:sldLayoutId xmlns:r="http://schemas.openxmlformats.org/officeDocument/2006/relationships" id="2147483650" r:id="Rfc3ae1e139a244dd"/>
    <p:sldLayoutId xmlns:r="http://schemas.openxmlformats.org/officeDocument/2006/relationships" id="2147483651" r:id="Rdb979cb5b2954cb5"/>
    <p:sldLayoutId xmlns:r="http://schemas.openxmlformats.org/officeDocument/2006/relationships" id="2147483652" r:id="Ra908936c59dc42ee"/>
    <p:sldLayoutId xmlns:r="http://schemas.openxmlformats.org/officeDocument/2006/relationships" id="2147483653" r:id="Rb0ea902bdae14c0b"/>
    <p:sldLayoutId xmlns:r="http://schemas.openxmlformats.org/officeDocument/2006/relationships" id="2147483654" r:id="Rd614e0f5eec84ca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ab4950ea71947f9" /><Relationship Type="http://schemas.openxmlformats.org/officeDocument/2006/relationships/notesSlide" Target="/ppt/notesSlides/notesSlide1.xml" Id="Rb243beedc880418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0709558145d4fa8" /><Relationship Type="http://schemas.openxmlformats.org/officeDocument/2006/relationships/notesSlide" Target="/ppt/notesSlides/notesSlide2.xml" Id="Rf0faf4c2d9eb4f3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cc991e5e5a24c14" /><Relationship Type="http://schemas.openxmlformats.org/officeDocument/2006/relationships/notesSlide" Target="/ppt/notesSlides/notesSlide3.xml" Id="Rb6647f87f8be457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0ea7ae307f848f8" /><Relationship Type="http://schemas.openxmlformats.org/officeDocument/2006/relationships/notesSlide" Target="/ppt/notesSlides/notesSlide4.xml" Id="Rcd952fdddacb492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e5c4cec53bb4099" /><Relationship Type="http://schemas.openxmlformats.org/officeDocument/2006/relationships/notesSlide" Target="/ppt/notesSlides/notesSlide5.xml" Id="Rb2078c5d98d045a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C41BC4E1-511B-4E81-8290-1EB75C7DDDC9}"/>
              </a:ext>
            </a:extLst>
          </p:cNvPr>
          <p:cNvCxnSpPr>
            <a:stCxn xmlns:a="http://schemas.openxmlformats.org/drawingml/2006/main" id="11" idx="3"/>
            <a:endCxn xmlns:a="http://schemas.openxmlformats.org/drawingml/2006/main" id="15" idx="1"/>
          </p:cNvCxnSpPr>
          <p:nvPr/>
        </p:nvCxnSpPr>
        <p:spPr>
          <a:xfrm xmlns:a="http://schemas.openxmlformats.org/drawingml/2006/main">
            <a:off x="13287375" y="3209925"/>
            <a:ext cx="304800" cy="0"/>
          </a:xfrm>
          <a:prstGeom xmlns:a="http://schemas.openxmlformats.org/drawingml/2006/main" prst="straightConnector1">
            <a:avLst/>
          </a:prstGeom>
          <a:ln xmlns:a="http://schemas.openxmlformats.org/drawingml/2006/main" w="19050">
            <a:solidFill>
              <a:srgbClr val="005EAA"/>
            </a:solidFill>
            <a:tailEnd type="arrow" w="med" len="med"/>
          </a:ln>
        </p:spPr>
      </p:cxnSp>
      <p:cxnSp>
        <p:nvCxnSpPr>
          <p:cNvPr id="20" name="">
            <a:extLst xmlns:a="http://schemas.openxmlformats.org/drawingml/2006/main">
              <a:ext uri="{FF2B5EF4-FFF2-40B4-BE49-F238E27FC236}">
                <a16:creationId xmlns:a16="http://schemas.microsoft.com/office/drawing/2014/main" id="{0247D806-A9B0-4E0A-BB13-C9461CD88276}"/>
              </a:ext>
            </a:extLst>
          </p:cNvPr>
          <p:cNvCxnSpPr>
            <a:stCxn xmlns:a="http://schemas.openxmlformats.org/drawingml/2006/main" id="7" idx="3"/>
            <a:endCxn xmlns:a="http://schemas.openxmlformats.org/drawingml/2006/main" id="11" idx="1"/>
          </p:cNvCxnSpPr>
          <p:nvPr/>
        </p:nvCxnSpPr>
        <p:spPr>
          <a:xfrm xmlns:a="http://schemas.openxmlformats.org/drawingml/2006/main">
            <a:off x="8991600" y="3209925"/>
            <a:ext cx="304800" cy="0"/>
          </a:xfrm>
          <a:prstGeom xmlns:a="http://schemas.openxmlformats.org/drawingml/2006/main" prst="straightConnector1">
            <a:avLst/>
          </a:prstGeom>
          <a:ln xmlns:a="http://schemas.openxmlformats.org/drawingml/2006/main" w="19050">
            <a:solidFill>
              <a:srgbClr val="005EAA"/>
            </a:solidFill>
            <a:tailEnd type="arrow" w="med" len="med"/>
          </a:ln>
        </p:spPr>
      </p:cxnSp>
      <p:cxnSp>
        <p:nvCxnSpPr>
          <p:cNvPr id="19" name="">
            <a:extLst xmlns:a="http://schemas.openxmlformats.org/drawingml/2006/main">
              <a:ext uri="{FF2B5EF4-FFF2-40B4-BE49-F238E27FC236}">
                <a16:creationId xmlns:a16="http://schemas.microsoft.com/office/drawing/2014/main" id="{32852C9B-87A8-4A99-A302-D185F408B08C}"/>
              </a:ext>
            </a:extLst>
          </p:cNvPr>
          <p:cNvCxnSpPr>
            <a:stCxn xmlns:a="http://schemas.openxmlformats.org/drawingml/2006/main" id="3" idx="3"/>
            <a:endCxn xmlns:a="http://schemas.openxmlformats.org/drawingml/2006/main" id="7" idx="1"/>
          </p:cNvCxnSpPr>
          <p:nvPr/>
        </p:nvCxnSpPr>
        <p:spPr>
          <a:xfrm xmlns:a="http://schemas.openxmlformats.org/drawingml/2006/main">
            <a:off x="4695825" y="3209925"/>
            <a:ext cx="304800" cy="0"/>
          </a:xfrm>
          <a:prstGeom xmlns:a="http://schemas.openxmlformats.org/drawingml/2006/main" prst="straightConnector1">
            <a:avLst/>
          </a:prstGeom>
          <a:ln xmlns:a="http://schemas.openxmlformats.org/drawingml/2006/main" w="19050">
            <a:solidFill>
              <a:srgbClr val="005EAA"/>
            </a:solidFill>
            <a:tailEnd type="arrow" w="med" len="med"/>
          </a:ln>
        </p:spPr>
      </p:cxnSp>
      <p:sp>
        <p:nvSpPr>
          <p:cNvPr id="34" name="">
            <a:extLst xmlns:a="http://schemas.openxmlformats.org/drawingml/2006/main">
              <a:ext uri="{FF2B5EF4-FFF2-40B4-BE49-F238E27FC236}">
                <a16:creationId xmlns:a16="http://schemas.microsoft.com/office/drawing/2014/main" id="{F96C057B-DA40-4B89-8A2D-57F57B9A3D47}"/>
              </a:ext>
            </a:extLst>
          </p:cNvPr>
          <p:cNvSpPr>
            <a:spLocks xmlns:a="http://schemas.openxmlformats.org/drawingml/2006/main" noGrp="1"/>
          </p:cNvSpPr>
          <p:nvPr/>
        </p:nvSpPr>
        <p:spPr>
          <a:xfrm xmlns:a="http://schemas.openxmlformats.org/drawingml/2006/main">
            <a:off x="685800" y="419100"/>
            <a:ext cx="16859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08243D"/>
                </a:solidFill>
                <a:latin typeface="DejaVu Sans"/>
                <a:ea typeface="DejaVu Sans"/>
                <a:cs typeface="DejaVu Sans"/>
              </a:defRPr>
            </a:defPPr>
          </a:lstStyle>
          <a:p xmlns:a="http://schemas.openxmlformats.org/drawingml/2006/main">
            <a:pPr>
              <a:buNone/>
              <a:defRPr sz="3900" b="1">
                <a:solidFill>
                  <a:srgbClr val="08243D"/>
                </a:solidFill>
                <a:latin typeface="DejaVu Sans"/>
                <a:ea typeface="DejaVu Sans"/>
                <a:cs typeface="DejaVu Sans"/>
              </a:defRPr>
            </a:pPr>
            <a:r>
              <a:rPr sz="3900" b="1">
                <a:solidFill>
                  <a:srgbClr val="08243D"/>
                </a:solidFill>
                <a:latin typeface="DejaVu Sans"/>
                <a:ea typeface="DejaVu Sans"/>
                <a:cs typeface="DejaVu Sans"/>
              </a:rPr>
              <a:t>Motion generation in robotics</a:t>
            </a:r>
          </a:p>
        </p:txBody>
      </p:sp>
      <p:sp>
        <p:nvSpPr>
          <p:cNvPr id="2" name="">
            <a:extLst xmlns:a="http://schemas.openxmlformats.org/drawingml/2006/main">
              <a:ext uri="{FF2B5EF4-FFF2-40B4-BE49-F238E27FC236}">
                <a16:creationId xmlns:a16="http://schemas.microsoft.com/office/drawing/2014/main" id="{5C7D16F2-4D13-4948-BA89-851FC9073565}"/>
              </a:ext>
            </a:extLst>
          </p:cNvPr>
          <p:cNvSpPr>
            <a:spLocks xmlns:a="http://schemas.openxmlformats.org/drawingml/2006/main" noGrp="1"/>
          </p:cNvSpPr>
          <p:nvPr/>
        </p:nvSpPr>
        <p:spPr>
          <a:xfrm xmlns:a="http://schemas.openxmlformats.org/drawingml/2006/main">
            <a:off x="704850" y="1285875"/>
            <a:ext cx="16764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26B7D"/>
                </a:solidFill>
                <a:latin typeface="DejaVu Sans"/>
                <a:ea typeface="DejaVu Sans"/>
                <a:cs typeface="DejaVu Sans"/>
              </a:defRPr>
            </a:defPPr>
          </a:lstStyle>
          <a:p xmlns:a="http://schemas.openxmlformats.org/drawingml/2006/main">
            <a:pPr>
              <a:buNone/>
              <a:defRPr sz="2100" b="0">
                <a:solidFill>
                  <a:srgbClr val="526B7D"/>
                </a:solidFill>
                <a:latin typeface="DejaVu Sans"/>
                <a:ea typeface="DejaVu Sans"/>
                <a:cs typeface="DejaVu Sans"/>
              </a:defRPr>
            </a:pPr>
            <a:r>
              <a:rPr sz="2100" b="0">
                <a:solidFill>
                  <a:srgbClr val="526B7D"/>
                </a:solidFill>
                <a:latin typeface="DejaVu Sans"/>
                <a:ea typeface="DejaVu Sans"/>
                <a:cs typeface="DejaVu Sans"/>
              </a:rPr>
              <a:t>Existing framework capabilities connected through configurable, tested interfaces</a:t>
            </a:r>
          </a:p>
        </p:txBody>
      </p:sp>
      <p:sp>
        <p:nvSpPr>
          <p:cNvPr id="3" name="">
            <a:extLst xmlns:a="http://schemas.openxmlformats.org/drawingml/2006/main">
              <a:ext uri="{FF2B5EF4-FFF2-40B4-BE49-F238E27FC236}">
                <a16:creationId xmlns:a16="http://schemas.microsoft.com/office/drawing/2014/main" id="{68A936BF-99C9-419B-A665-40D9D904F556}"/>
              </a:ext>
            </a:extLst>
          </p:cNvPr>
          <p:cNvSpPr>
            <a:spLocks xmlns:a="http://schemas.openxmlformats.org/drawingml/2006/main" noGrp="1"/>
          </p:cNvSpPr>
          <p:nvPr/>
        </p:nvSpPr>
        <p:spPr>
          <a:xfrm xmlns:a="http://schemas.openxmlformats.org/drawingml/2006/main">
            <a:off x="704850" y="2286000"/>
            <a:ext cx="3990975" cy="1847850"/>
          </a:xfrm>
          <a:prstGeom xmlns:a="http://schemas.openxmlformats.org/drawingml/2006/main" prst="rect">
            <a:avLst/>
          </a:prstGeom>
          <a:solidFill xmlns:a="http://schemas.openxmlformats.org/drawingml/2006/main">
            <a:srgbClr val="EFF5F8"/>
          </a:solidFill>
          <a:ln xmlns:a="http://schemas.openxmlformats.org/drawingml/2006/main" w="9525">
            <a:solidFill>
              <a:srgbClr val="C9D8E2"/>
            </a:solidFill>
          </a:ln>
        </p:spPr>
      </p:sp>
      <p:sp>
        <p:nvSpPr>
          <p:cNvPr id="4" name="">
            <a:extLst xmlns:a="http://schemas.openxmlformats.org/drawingml/2006/main">
              <a:ext uri="{FF2B5EF4-FFF2-40B4-BE49-F238E27FC236}">
                <a16:creationId xmlns:a16="http://schemas.microsoft.com/office/drawing/2014/main" id="{480684A9-71BC-4E76-ACF2-A09EAB5EAF6D}"/>
              </a:ext>
            </a:extLst>
          </p:cNvPr>
          <p:cNvSpPr>
            <a:spLocks xmlns:a="http://schemas.openxmlformats.org/drawingml/2006/main" noGrp="1"/>
          </p:cNvSpPr>
          <p:nvPr/>
        </p:nvSpPr>
        <p:spPr>
          <a:xfrm xmlns:a="http://schemas.openxmlformats.org/drawingml/2006/main">
            <a:off x="895350" y="2476500"/>
            <a:ext cx="361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05EAA"/>
                </a:solidFill>
                <a:latin typeface="DejaVu Sans"/>
                <a:ea typeface="DejaVu Sans"/>
                <a:cs typeface="DejaVu Sans"/>
              </a:defRPr>
            </a:defPPr>
          </a:lstStyle>
          <a:p xmlns:a="http://schemas.openxmlformats.org/drawingml/2006/main">
            <a:pPr>
              <a:buNone/>
              <a:defRPr sz="2325" b="1">
                <a:solidFill>
                  <a:srgbClr val="005EAA"/>
                </a:solidFill>
                <a:latin typeface="DejaVu Sans"/>
                <a:ea typeface="DejaVu Sans"/>
                <a:cs typeface="DejaVu Sans"/>
              </a:defRPr>
            </a:pPr>
            <a:r>
              <a:rPr sz="2325" b="1">
                <a:solidFill>
                  <a:srgbClr val="005EAA"/>
                </a:solidFill>
                <a:latin typeface="DejaVu Sans"/>
                <a:ea typeface="DejaVu Sans"/>
                <a:cs typeface="DejaVu Sans"/>
              </a:rPr>
              <a:t>Tool path</a:t>
            </a:r>
          </a:p>
        </p:txBody>
      </p:sp>
      <p:sp>
        <p:nvSpPr>
          <p:cNvPr id="5" name="">
            <a:extLst xmlns:a="http://schemas.openxmlformats.org/drawingml/2006/main">
              <a:ext uri="{FF2B5EF4-FFF2-40B4-BE49-F238E27FC236}">
                <a16:creationId xmlns:a16="http://schemas.microsoft.com/office/drawing/2014/main" id="{24659EF2-377A-4A1F-920C-96EE0E45E55D}"/>
              </a:ext>
            </a:extLst>
          </p:cNvPr>
          <p:cNvSpPr>
            <a:spLocks xmlns:a="http://schemas.openxmlformats.org/drawingml/2006/main" noGrp="1"/>
          </p:cNvSpPr>
          <p:nvPr/>
        </p:nvSpPr>
        <p:spPr>
          <a:xfrm xmlns:a="http://schemas.openxmlformats.org/drawingml/2006/main">
            <a:off x="895350" y="3038475"/>
            <a:ext cx="361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2334B"/>
                </a:solidFill>
                <a:latin typeface="DejaVu Sans"/>
                <a:ea typeface="DejaVu Sans"/>
                <a:cs typeface="DejaVu Sans"/>
              </a:defRPr>
            </a:defPPr>
          </a:lstStyle>
          <a:p xmlns:a="http://schemas.openxmlformats.org/drawingml/2006/main">
            <a:pPr>
              <a:buNone/>
              <a:defRPr sz="2025" b="1">
                <a:solidFill>
                  <a:srgbClr val="12334B"/>
                </a:solidFill>
                <a:latin typeface="DejaVu Sans"/>
                <a:ea typeface="DejaVu Sans"/>
                <a:cs typeface="DejaVu Sans"/>
              </a:defRPr>
            </a:pPr>
            <a:r>
              <a:rPr sz="2025" b="1">
                <a:solidFill>
                  <a:srgbClr val="12334B"/>
                </a:solidFill>
                <a:latin typeface="DejaVu Sans"/>
                <a:ea typeface="DejaVu Sans"/>
                <a:cs typeface="DejaVu Sans"/>
              </a:rPr>
              <a:t>TCP poses on the part</a:t>
            </a:r>
          </a:p>
        </p:txBody>
      </p:sp>
      <p:sp>
        <p:nvSpPr>
          <p:cNvPr id="6" name="">
            <a:extLst xmlns:a="http://schemas.openxmlformats.org/drawingml/2006/main">
              <a:ext uri="{FF2B5EF4-FFF2-40B4-BE49-F238E27FC236}">
                <a16:creationId xmlns:a16="http://schemas.microsoft.com/office/drawing/2014/main" id="{C5C9E6E7-122D-47CA-8FD8-7169422EC292}"/>
              </a:ext>
            </a:extLst>
          </p:cNvPr>
          <p:cNvSpPr>
            <a:spLocks xmlns:a="http://schemas.openxmlformats.org/drawingml/2006/main" noGrp="1"/>
          </p:cNvSpPr>
          <p:nvPr/>
        </p:nvSpPr>
        <p:spPr>
          <a:xfrm xmlns:a="http://schemas.openxmlformats.org/drawingml/2006/main">
            <a:off x="895350" y="3609975"/>
            <a:ext cx="361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B7D"/>
                </a:solidFill>
                <a:latin typeface="DejaVu Sans"/>
                <a:ea typeface="DejaVu Sans"/>
                <a:cs typeface="DejaVu Sans"/>
              </a:defRPr>
            </a:defPPr>
          </a:lstStyle>
          <a:p xmlns:a="http://schemas.openxmlformats.org/drawingml/2006/main">
            <a:pPr>
              <a:buNone/>
              <a:defRPr sz="1800" b="0">
                <a:solidFill>
                  <a:srgbClr val="526B7D"/>
                </a:solidFill>
                <a:latin typeface="DejaVu Sans"/>
                <a:ea typeface="DejaVu Sans"/>
                <a:cs typeface="DejaVu Sans"/>
              </a:defRPr>
            </a:pPr>
            <a:r>
              <a:rPr sz="1800" b="0">
                <a:solidFill>
                  <a:srgbClr val="526B7D"/>
                </a:solidFill>
                <a:latin typeface="DejaVu Sans"/>
                <a:ea typeface="DejaVu Sans"/>
                <a:cs typeface="DejaVu Sans"/>
              </a:rPr>
              <a:t>Pattern, area and swathe</a:t>
            </a:r>
          </a:p>
        </p:txBody>
      </p:sp>
      <p:sp>
        <p:nvSpPr>
          <p:cNvPr id="7" name="">
            <a:extLst xmlns:a="http://schemas.openxmlformats.org/drawingml/2006/main">
              <a:ext uri="{FF2B5EF4-FFF2-40B4-BE49-F238E27FC236}">
                <a16:creationId xmlns:a16="http://schemas.microsoft.com/office/drawing/2014/main" id="{635B81F8-C934-41EF-A4D9-CC86207B1D45}"/>
              </a:ext>
            </a:extLst>
          </p:cNvPr>
          <p:cNvSpPr>
            <a:spLocks xmlns:a="http://schemas.openxmlformats.org/drawingml/2006/main" noGrp="1"/>
          </p:cNvSpPr>
          <p:nvPr/>
        </p:nvSpPr>
        <p:spPr>
          <a:xfrm xmlns:a="http://schemas.openxmlformats.org/drawingml/2006/main">
            <a:off x="5000625" y="2286000"/>
            <a:ext cx="3990975" cy="1847850"/>
          </a:xfrm>
          <a:prstGeom xmlns:a="http://schemas.openxmlformats.org/drawingml/2006/main" prst="rect">
            <a:avLst/>
          </a:prstGeom>
          <a:solidFill xmlns:a="http://schemas.openxmlformats.org/drawingml/2006/main">
            <a:srgbClr val="EFF5F8"/>
          </a:solidFill>
          <a:ln xmlns:a="http://schemas.openxmlformats.org/drawingml/2006/main" w="9525">
            <a:solidFill>
              <a:srgbClr val="C9D8E2"/>
            </a:solidFill>
          </a:ln>
        </p:spPr>
      </p:sp>
      <p:sp>
        <p:nvSpPr>
          <p:cNvPr id="8" name="">
            <a:extLst xmlns:a="http://schemas.openxmlformats.org/drawingml/2006/main">
              <a:ext uri="{FF2B5EF4-FFF2-40B4-BE49-F238E27FC236}">
                <a16:creationId xmlns:a16="http://schemas.microsoft.com/office/drawing/2014/main" id="{DFC5943A-5B43-4AE2-B099-A5C22F988BD7}"/>
              </a:ext>
            </a:extLst>
          </p:cNvPr>
          <p:cNvSpPr>
            <a:spLocks xmlns:a="http://schemas.openxmlformats.org/drawingml/2006/main" noGrp="1"/>
          </p:cNvSpPr>
          <p:nvPr/>
        </p:nvSpPr>
        <p:spPr>
          <a:xfrm xmlns:a="http://schemas.openxmlformats.org/drawingml/2006/main">
            <a:off x="5191125" y="2476500"/>
            <a:ext cx="361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05EAA"/>
                </a:solidFill>
                <a:latin typeface="DejaVu Sans"/>
                <a:ea typeface="DejaVu Sans"/>
                <a:cs typeface="DejaVu Sans"/>
              </a:defRPr>
            </a:defPPr>
          </a:lstStyle>
          <a:p xmlns:a="http://schemas.openxmlformats.org/drawingml/2006/main">
            <a:pPr>
              <a:buNone/>
              <a:defRPr sz="2325" b="1">
                <a:solidFill>
                  <a:srgbClr val="005EAA"/>
                </a:solidFill>
                <a:latin typeface="DejaVu Sans"/>
                <a:ea typeface="DejaVu Sans"/>
                <a:cs typeface="DejaVu Sans"/>
              </a:defRPr>
            </a:pPr>
            <a:r>
              <a:rPr sz="2325" b="1">
                <a:solidFill>
                  <a:srgbClr val="005EAA"/>
                </a:solidFill>
                <a:latin typeface="DejaVu Sans"/>
                <a:ea typeface="DejaVu Sans"/>
                <a:cs typeface="DejaVu Sans"/>
              </a:rPr>
              <a:t>Robot path</a:t>
            </a:r>
          </a:p>
        </p:txBody>
      </p:sp>
      <p:sp>
        <p:nvSpPr>
          <p:cNvPr id="9" name="">
            <a:extLst xmlns:a="http://schemas.openxmlformats.org/drawingml/2006/main">
              <a:ext uri="{FF2B5EF4-FFF2-40B4-BE49-F238E27FC236}">
                <a16:creationId xmlns:a16="http://schemas.microsoft.com/office/drawing/2014/main" id="{90D3CC82-855D-4BFD-9B67-35D05D2EFD23}"/>
              </a:ext>
            </a:extLst>
          </p:cNvPr>
          <p:cNvSpPr>
            <a:spLocks xmlns:a="http://schemas.openxmlformats.org/drawingml/2006/main" noGrp="1"/>
          </p:cNvSpPr>
          <p:nvPr/>
        </p:nvSpPr>
        <p:spPr>
          <a:xfrm xmlns:a="http://schemas.openxmlformats.org/drawingml/2006/main">
            <a:off x="5191125" y="3038475"/>
            <a:ext cx="361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2334B"/>
                </a:solidFill>
                <a:latin typeface="DejaVu Sans"/>
                <a:ea typeface="DejaVu Sans"/>
                <a:cs typeface="DejaVu Sans"/>
              </a:defRPr>
            </a:defPPr>
          </a:lstStyle>
          <a:p xmlns:a="http://schemas.openxmlformats.org/drawingml/2006/main">
            <a:pPr>
              <a:buNone/>
              <a:defRPr sz="2025" b="1">
                <a:solidFill>
                  <a:srgbClr val="12334B"/>
                </a:solidFill>
                <a:latin typeface="DejaVu Sans"/>
                <a:ea typeface="DejaVu Sans"/>
                <a:cs typeface="DejaVu Sans"/>
              </a:defRPr>
            </a:pPr>
            <a:r>
              <a:rPr sz="2025" b="1">
                <a:solidFill>
                  <a:srgbClr val="12334B"/>
                </a:solidFill>
                <a:latin typeface="DejaVu Sans"/>
                <a:ea typeface="DejaVu Sans"/>
                <a:cs typeface="DejaVu Sans"/>
              </a:rPr>
              <a:t>Joint path q(s)</a:t>
            </a:r>
          </a:p>
        </p:txBody>
      </p:sp>
      <p:sp>
        <p:nvSpPr>
          <p:cNvPr id="10" name="">
            <a:extLst xmlns:a="http://schemas.openxmlformats.org/drawingml/2006/main">
              <a:ext uri="{FF2B5EF4-FFF2-40B4-BE49-F238E27FC236}">
                <a16:creationId xmlns:a16="http://schemas.microsoft.com/office/drawing/2014/main" id="{F226B946-7FB9-4627-98A7-710E0DE0F61A}"/>
              </a:ext>
            </a:extLst>
          </p:cNvPr>
          <p:cNvSpPr>
            <a:spLocks xmlns:a="http://schemas.openxmlformats.org/drawingml/2006/main" noGrp="1"/>
          </p:cNvSpPr>
          <p:nvPr/>
        </p:nvSpPr>
        <p:spPr>
          <a:xfrm xmlns:a="http://schemas.openxmlformats.org/drawingml/2006/main">
            <a:off x="5191125" y="3609975"/>
            <a:ext cx="361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B7D"/>
                </a:solidFill>
                <a:latin typeface="DejaVu Sans"/>
                <a:ea typeface="DejaVu Sans"/>
                <a:cs typeface="DejaVu Sans"/>
              </a:defRPr>
            </a:defPPr>
          </a:lstStyle>
          <a:p xmlns:a="http://schemas.openxmlformats.org/drawingml/2006/main">
            <a:pPr>
              <a:buNone/>
              <a:defRPr sz="1800" b="0">
                <a:solidFill>
                  <a:srgbClr val="526B7D"/>
                </a:solidFill>
                <a:latin typeface="DejaVu Sans"/>
                <a:ea typeface="DejaVu Sans"/>
                <a:cs typeface="DejaVu Sans"/>
              </a:defRPr>
            </a:pPr>
            <a:r>
              <a:rPr sz="1800" b="0">
                <a:solidFill>
                  <a:srgbClr val="526B7D"/>
                </a:solidFill>
                <a:latin typeface="DejaVu Sans"/>
                <a:ea typeface="DejaVu Sans"/>
                <a:cs typeface="DejaVu Sans"/>
              </a:rPr>
              <a:t>IK, constraints and collisions</a:t>
            </a:r>
          </a:p>
        </p:txBody>
      </p:sp>
      <p:sp>
        <p:nvSpPr>
          <p:cNvPr id="11" name="">
            <a:extLst xmlns:a="http://schemas.openxmlformats.org/drawingml/2006/main">
              <a:ext uri="{FF2B5EF4-FFF2-40B4-BE49-F238E27FC236}">
                <a16:creationId xmlns:a16="http://schemas.microsoft.com/office/drawing/2014/main" id="{F942909C-2A41-4FCC-80CC-5D9394414DD0}"/>
              </a:ext>
            </a:extLst>
          </p:cNvPr>
          <p:cNvSpPr>
            <a:spLocks xmlns:a="http://schemas.openxmlformats.org/drawingml/2006/main" noGrp="1"/>
          </p:cNvSpPr>
          <p:nvPr/>
        </p:nvSpPr>
        <p:spPr>
          <a:xfrm xmlns:a="http://schemas.openxmlformats.org/drawingml/2006/main">
            <a:off x="9296400" y="2286000"/>
            <a:ext cx="3990975" cy="1847850"/>
          </a:xfrm>
          <a:prstGeom xmlns:a="http://schemas.openxmlformats.org/drawingml/2006/main" prst="rect">
            <a:avLst/>
          </a:prstGeom>
          <a:solidFill xmlns:a="http://schemas.openxmlformats.org/drawingml/2006/main">
            <a:srgbClr val="EFF5F8"/>
          </a:solidFill>
          <a:ln xmlns:a="http://schemas.openxmlformats.org/drawingml/2006/main" w="9525">
            <a:solidFill>
              <a:srgbClr val="C9D8E2"/>
            </a:solidFill>
          </a:ln>
        </p:spPr>
      </p:sp>
      <p:sp>
        <p:nvSpPr>
          <p:cNvPr id="12" name="">
            <a:extLst xmlns:a="http://schemas.openxmlformats.org/drawingml/2006/main">
              <a:ext uri="{FF2B5EF4-FFF2-40B4-BE49-F238E27FC236}">
                <a16:creationId xmlns:a16="http://schemas.microsoft.com/office/drawing/2014/main" id="{CB0F9B19-AD41-4A7E-A054-DFF1053318EF}"/>
              </a:ext>
            </a:extLst>
          </p:cNvPr>
          <p:cNvSpPr>
            <a:spLocks xmlns:a="http://schemas.openxmlformats.org/drawingml/2006/main" noGrp="1"/>
          </p:cNvSpPr>
          <p:nvPr/>
        </p:nvSpPr>
        <p:spPr>
          <a:xfrm xmlns:a="http://schemas.openxmlformats.org/drawingml/2006/main">
            <a:off x="9486900" y="2476500"/>
            <a:ext cx="361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05EAA"/>
                </a:solidFill>
                <a:latin typeface="DejaVu Sans"/>
                <a:ea typeface="DejaVu Sans"/>
                <a:cs typeface="DejaVu Sans"/>
              </a:defRPr>
            </a:defPPr>
          </a:lstStyle>
          <a:p xmlns:a="http://schemas.openxmlformats.org/drawingml/2006/main">
            <a:pPr>
              <a:buNone/>
              <a:defRPr sz="2325" b="1">
                <a:solidFill>
                  <a:srgbClr val="005EAA"/>
                </a:solidFill>
                <a:latin typeface="DejaVu Sans"/>
                <a:ea typeface="DejaVu Sans"/>
                <a:cs typeface="DejaVu Sans"/>
              </a:defRPr>
            </a:pPr>
            <a:r>
              <a:rPr sz="2325" b="1">
                <a:solidFill>
                  <a:srgbClr val="005EAA"/>
                </a:solidFill>
                <a:latin typeface="DejaVu Sans"/>
                <a:ea typeface="DejaVu Sans"/>
                <a:cs typeface="DejaVu Sans"/>
              </a:rPr>
              <a:t>Robot trajectory</a:t>
            </a:r>
          </a:p>
        </p:txBody>
      </p:sp>
      <p:sp>
        <p:nvSpPr>
          <p:cNvPr id="13" name="">
            <a:extLst xmlns:a="http://schemas.openxmlformats.org/drawingml/2006/main">
              <a:ext uri="{FF2B5EF4-FFF2-40B4-BE49-F238E27FC236}">
                <a16:creationId xmlns:a16="http://schemas.microsoft.com/office/drawing/2014/main" id="{097A9693-3BED-432B-B621-7DF9BC5322AC}"/>
              </a:ext>
            </a:extLst>
          </p:cNvPr>
          <p:cNvSpPr>
            <a:spLocks xmlns:a="http://schemas.openxmlformats.org/drawingml/2006/main" noGrp="1"/>
          </p:cNvSpPr>
          <p:nvPr/>
        </p:nvSpPr>
        <p:spPr>
          <a:xfrm xmlns:a="http://schemas.openxmlformats.org/drawingml/2006/main">
            <a:off x="9486900" y="3038475"/>
            <a:ext cx="361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2334B"/>
                </a:solidFill>
                <a:latin typeface="DejaVu Sans"/>
                <a:ea typeface="DejaVu Sans"/>
                <a:cs typeface="DejaVu Sans"/>
              </a:defRPr>
            </a:defPPr>
          </a:lstStyle>
          <a:p xmlns:a="http://schemas.openxmlformats.org/drawingml/2006/main">
            <a:pPr>
              <a:buNone/>
              <a:defRPr sz="2025" b="1">
                <a:solidFill>
                  <a:srgbClr val="12334B"/>
                </a:solidFill>
                <a:latin typeface="DejaVu Sans"/>
                <a:ea typeface="DejaVu Sans"/>
                <a:cs typeface="DejaVu Sans"/>
              </a:defRPr>
            </a:pPr>
            <a:r>
              <a:rPr sz="2025" b="1">
                <a:solidFill>
                  <a:srgbClr val="12334B"/>
                </a:solidFill>
                <a:latin typeface="DejaVu Sans"/>
                <a:ea typeface="DejaVu Sans"/>
                <a:cs typeface="DejaVu Sans"/>
              </a:rPr>
              <a:t>Timed motion q(t)</a:t>
            </a:r>
          </a:p>
        </p:txBody>
      </p:sp>
      <p:sp>
        <p:nvSpPr>
          <p:cNvPr id="14" name="">
            <a:extLst xmlns:a="http://schemas.openxmlformats.org/drawingml/2006/main">
              <a:ext uri="{FF2B5EF4-FFF2-40B4-BE49-F238E27FC236}">
                <a16:creationId xmlns:a16="http://schemas.microsoft.com/office/drawing/2014/main" id="{976C3A12-D13D-4B2C-91F1-9BFE2251F75D}"/>
              </a:ext>
            </a:extLst>
          </p:cNvPr>
          <p:cNvSpPr>
            <a:spLocks xmlns:a="http://schemas.openxmlformats.org/drawingml/2006/main" noGrp="1"/>
          </p:cNvSpPr>
          <p:nvPr/>
        </p:nvSpPr>
        <p:spPr>
          <a:xfrm xmlns:a="http://schemas.openxmlformats.org/drawingml/2006/main">
            <a:off x="9486900" y="3609975"/>
            <a:ext cx="361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B7D"/>
                </a:solidFill>
                <a:latin typeface="DejaVu Sans"/>
                <a:ea typeface="DejaVu Sans"/>
                <a:cs typeface="DejaVu Sans"/>
              </a:defRPr>
            </a:defPPr>
          </a:lstStyle>
          <a:p xmlns:a="http://schemas.openxmlformats.org/drawingml/2006/main">
            <a:pPr>
              <a:buNone/>
              <a:defRPr sz="1800" b="0">
                <a:solidFill>
                  <a:srgbClr val="526B7D"/>
                </a:solidFill>
                <a:latin typeface="DejaVu Sans"/>
                <a:ea typeface="DejaVu Sans"/>
                <a:cs typeface="DejaVu Sans"/>
              </a:defRPr>
            </a:pPr>
            <a:r>
              <a:rPr sz="1800" b="0">
                <a:solidFill>
                  <a:srgbClr val="526B7D"/>
                </a:solidFill>
                <a:latin typeface="DejaVu Sans"/>
                <a:ea typeface="DejaVu Sans"/>
                <a:cs typeface="DejaVu Sans"/>
              </a:rPr>
              <a:t>Speed, acceleration and jerk</a:t>
            </a:r>
          </a:p>
        </p:txBody>
      </p:sp>
      <p:sp>
        <p:nvSpPr>
          <p:cNvPr id="15" name="">
            <a:extLst xmlns:a="http://schemas.openxmlformats.org/drawingml/2006/main">
              <a:ext uri="{FF2B5EF4-FFF2-40B4-BE49-F238E27FC236}">
                <a16:creationId xmlns:a16="http://schemas.microsoft.com/office/drawing/2014/main" id="{B7ADA34F-C60F-4E2B-B936-4353A0E370A5}"/>
              </a:ext>
            </a:extLst>
          </p:cNvPr>
          <p:cNvSpPr>
            <a:spLocks xmlns:a="http://schemas.openxmlformats.org/drawingml/2006/main" noGrp="1"/>
          </p:cNvSpPr>
          <p:nvPr/>
        </p:nvSpPr>
        <p:spPr>
          <a:xfrm xmlns:a="http://schemas.openxmlformats.org/drawingml/2006/main">
            <a:off x="13592175" y="2286000"/>
            <a:ext cx="3990975" cy="1847850"/>
          </a:xfrm>
          <a:prstGeom xmlns:a="http://schemas.openxmlformats.org/drawingml/2006/main" prst="rect">
            <a:avLst/>
          </a:prstGeom>
          <a:solidFill xmlns:a="http://schemas.openxmlformats.org/drawingml/2006/main">
            <a:srgbClr val="EFF5F8"/>
          </a:solidFill>
          <a:ln xmlns:a="http://schemas.openxmlformats.org/drawingml/2006/main" w="9525">
            <a:solidFill>
              <a:srgbClr val="C9D8E2"/>
            </a:solidFill>
          </a:ln>
        </p:spPr>
      </p:sp>
      <p:sp>
        <p:nvSpPr>
          <p:cNvPr id="16" name="">
            <a:extLst xmlns:a="http://schemas.openxmlformats.org/drawingml/2006/main">
              <a:ext uri="{FF2B5EF4-FFF2-40B4-BE49-F238E27FC236}">
                <a16:creationId xmlns:a16="http://schemas.microsoft.com/office/drawing/2014/main" id="{BCFFE2A1-F11D-4DCA-9522-36D09C25519C}"/>
              </a:ext>
            </a:extLst>
          </p:cNvPr>
          <p:cNvSpPr>
            <a:spLocks xmlns:a="http://schemas.openxmlformats.org/drawingml/2006/main" noGrp="1"/>
          </p:cNvSpPr>
          <p:nvPr/>
        </p:nvSpPr>
        <p:spPr>
          <a:xfrm xmlns:a="http://schemas.openxmlformats.org/drawingml/2006/main">
            <a:off x="13782675" y="2476500"/>
            <a:ext cx="361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05EAA"/>
                </a:solidFill>
                <a:latin typeface="DejaVu Sans"/>
                <a:ea typeface="DejaVu Sans"/>
                <a:cs typeface="DejaVu Sans"/>
              </a:defRPr>
            </a:defPPr>
          </a:lstStyle>
          <a:p xmlns:a="http://schemas.openxmlformats.org/drawingml/2006/main">
            <a:pPr>
              <a:buNone/>
              <a:defRPr sz="2325" b="1">
                <a:solidFill>
                  <a:srgbClr val="005EAA"/>
                </a:solidFill>
                <a:latin typeface="DejaVu Sans"/>
                <a:ea typeface="DejaVu Sans"/>
                <a:cs typeface="DejaVu Sans"/>
              </a:defRPr>
            </a:pPr>
            <a:r>
              <a:rPr sz="2325" b="1">
                <a:solidFill>
                  <a:srgbClr val="005EAA"/>
                </a:solidFill>
                <a:latin typeface="DejaVu Sans"/>
                <a:ea typeface="DejaVu Sans"/>
                <a:cs typeface="DejaVu Sans"/>
              </a:rPr>
              <a:t>Execution</a:t>
            </a:r>
          </a:p>
        </p:txBody>
      </p:sp>
      <p:sp>
        <p:nvSpPr>
          <p:cNvPr id="17" name="">
            <a:extLst xmlns:a="http://schemas.openxmlformats.org/drawingml/2006/main">
              <a:ext uri="{FF2B5EF4-FFF2-40B4-BE49-F238E27FC236}">
                <a16:creationId xmlns:a16="http://schemas.microsoft.com/office/drawing/2014/main" id="{EABCC7F4-1499-498D-9D7E-C89B6902779D}"/>
              </a:ext>
            </a:extLst>
          </p:cNvPr>
          <p:cNvSpPr>
            <a:spLocks xmlns:a="http://schemas.openxmlformats.org/drawingml/2006/main" noGrp="1"/>
          </p:cNvSpPr>
          <p:nvPr/>
        </p:nvSpPr>
        <p:spPr>
          <a:xfrm xmlns:a="http://schemas.openxmlformats.org/drawingml/2006/main">
            <a:off x="13782675" y="3038475"/>
            <a:ext cx="361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2334B"/>
                </a:solidFill>
                <a:latin typeface="DejaVu Sans"/>
                <a:ea typeface="DejaVu Sans"/>
                <a:cs typeface="DejaVu Sans"/>
              </a:defRPr>
            </a:defPPr>
          </a:lstStyle>
          <a:p xmlns:a="http://schemas.openxmlformats.org/drawingml/2006/main">
            <a:pPr>
              <a:buNone/>
              <a:defRPr sz="2025" b="1">
                <a:solidFill>
                  <a:srgbClr val="12334B"/>
                </a:solidFill>
                <a:latin typeface="DejaVu Sans"/>
                <a:ea typeface="DejaVu Sans"/>
                <a:cs typeface="DejaVu Sans"/>
              </a:defRPr>
            </a:pPr>
            <a:r>
              <a:rPr sz="2025" b="1">
                <a:solidFill>
                  <a:srgbClr val="12334B"/>
                </a:solidFill>
                <a:latin typeface="DejaVu Sans"/>
                <a:ea typeface="DejaVu Sans"/>
                <a:cs typeface="DejaVu Sans"/>
              </a:rPr>
              <a:t>Track and adapt</a:t>
            </a:r>
          </a:p>
        </p:txBody>
      </p:sp>
      <p:sp>
        <p:nvSpPr>
          <p:cNvPr id="18" name="">
            <a:extLst xmlns:a="http://schemas.openxmlformats.org/drawingml/2006/main">
              <a:ext uri="{FF2B5EF4-FFF2-40B4-BE49-F238E27FC236}">
                <a16:creationId xmlns:a16="http://schemas.microsoft.com/office/drawing/2014/main" id="{E2A2AD7E-3B82-4E13-8EB0-FA52F5AA041C}"/>
              </a:ext>
            </a:extLst>
          </p:cNvPr>
          <p:cNvSpPr>
            <a:spLocks xmlns:a="http://schemas.openxmlformats.org/drawingml/2006/main" noGrp="1"/>
          </p:cNvSpPr>
          <p:nvPr/>
        </p:nvSpPr>
        <p:spPr>
          <a:xfrm xmlns:a="http://schemas.openxmlformats.org/drawingml/2006/main">
            <a:off x="13782675" y="3609975"/>
            <a:ext cx="361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B7D"/>
                </a:solidFill>
                <a:latin typeface="DejaVu Sans"/>
                <a:ea typeface="DejaVu Sans"/>
                <a:cs typeface="DejaVu Sans"/>
              </a:defRPr>
            </a:defPPr>
          </a:lstStyle>
          <a:p xmlns:a="http://schemas.openxmlformats.org/drawingml/2006/main">
            <a:pPr>
              <a:buNone/>
              <a:defRPr sz="1800" b="0">
                <a:solidFill>
                  <a:srgbClr val="526B7D"/>
                </a:solidFill>
                <a:latin typeface="DejaVu Sans"/>
                <a:ea typeface="DejaVu Sans"/>
                <a:cs typeface="DejaVu Sans"/>
              </a:defRPr>
            </a:pPr>
            <a:r>
              <a:rPr sz="1800" b="0">
                <a:solidFill>
                  <a:srgbClr val="526B7D"/>
                </a:solidFill>
                <a:latin typeface="DejaVu Sans"/>
                <a:ea typeface="DejaVu Sans"/>
                <a:cs typeface="DejaVu Sans"/>
              </a:rPr>
              <a:t>Feedback and replanning</a:t>
            </a:r>
          </a:p>
        </p:txBody>
      </p:sp>
      <p:sp>
        <p:nvSpPr>
          <p:cNvPr id="22" name="">
            <a:extLst xmlns:a="http://schemas.openxmlformats.org/drawingml/2006/main">
              <a:ext uri="{FF2B5EF4-FFF2-40B4-BE49-F238E27FC236}">
                <a16:creationId xmlns:a16="http://schemas.microsoft.com/office/drawing/2014/main" id="{7A2614A9-651F-48C8-ADD7-A0E719D1D119}"/>
              </a:ext>
            </a:extLst>
          </p:cNvPr>
          <p:cNvSpPr>
            <a:spLocks xmlns:a="http://schemas.openxmlformats.org/drawingml/2006/main" noGrp="1"/>
          </p:cNvSpPr>
          <p:nvPr/>
        </p:nvSpPr>
        <p:spPr>
          <a:xfrm xmlns:a="http://schemas.openxmlformats.org/drawingml/2006/main">
            <a:off x="704850" y="4591050"/>
            <a:ext cx="1657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08243D"/>
                </a:solidFill>
                <a:latin typeface="DejaVu Sans"/>
                <a:ea typeface="DejaVu Sans"/>
                <a:cs typeface="DejaVu Sans"/>
              </a:defRPr>
            </a:defPPr>
          </a:lstStyle>
          <a:p xmlns:a="http://schemas.openxmlformats.org/drawingml/2006/main">
            <a:pPr>
              <a:buNone/>
              <a:defRPr sz="2625" b="1">
                <a:solidFill>
                  <a:srgbClr val="08243D"/>
                </a:solidFill>
                <a:latin typeface="DejaVu Sans"/>
                <a:ea typeface="DejaVu Sans"/>
                <a:cs typeface="DejaVu Sans"/>
              </a:defRPr>
            </a:pPr>
            <a:r>
              <a:rPr sz="2625" b="1">
                <a:solidFill>
                  <a:srgbClr val="08243D"/>
                </a:solidFill>
                <a:latin typeface="DejaVu Sans"/>
                <a:ea typeface="DejaVu Sans"/>
                <a:cs typeface="DejaVu Sans"/>
              </a:rPr>
              <a:t>Project foundations</a:t>
            </a:r>
          </a:p>
        </p:txBody>
      </p:sp>
      <p:sp>
        <p:nvSpPr>
          <p:cNvPr id="23" name="">
            <a:extLst xmlns:a="http://schemas.openxmlformats.org/drawingml/2006/main">
              <a:ext uri="{FF2B5EF4-FFF2-40B4-BE49-F238E27FC236}">
                <a16:creationId xmlns:a16="http://schemas.microsoft.com/office/drawing/2014/main" id="{B15681F5-FF58-42BA-B698-6EFF13D61DD4}"/>
              </a:ext>
            </a:extLst>
          </p:cNvPr>
          <p:cNvSpPr>
            <a:spLocks xmlns:a="http://schemas.openxmlformats.org/drawingml/2006/main" noGrp="1"/>
          </p:cNvSpPr>
          <p:nvPr/>
        </p:nvSpPr>
        <p:spPr>
          <a:xfrm xmlns:a="http://schemas.openxmlformats.org/drawingml/2006/main">
            <a:off x="704850" y="5248275"/>
            <a:ext cx="523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05EAA"/>
                </a:solidFill>
                <a:latin typeface="DejaVu Sans"/>
                <a:ea typeface="DejaVu Sans"/>
                <a:cs typeface="DejaVu Sans"/>
              </a:defRPr>
            </a:defPPr>
          </a:lstStyle>
          <a:p xmlns:a="http://schemas.openxmlformats.org/drawingml/2006/main">
            <a:pPr>
              <a:buNone/>
              <a:defRPr sz="2250" b="1">
                <a:solidFill>
                  <a:srgbClr val="005EAA"/>
                </a:solidFill>
                <a:latin typeface="DejaVu Sans"/>
                <a:ea typeface="DejaVu Sans"/>
                <a:cs typeface="DejaVu Sans"/>
              </a:defRPr>
            </a:pPr>
            <a:r>
              <a:rPr sz="2250" b="1">
                <a:solidFill>
                  <a:srgbClr val="005EAA"/>
                </a:solidFill>
                <a:latin typeface="DejaVu Sans"/>
                <a:ea typeface="DejaVu Sans"/>
                <a:cs typeface="DejaVu Sans"/>
              </a:rPr>
              <a:t>REACT</a:t>
            </a:r>
          </a:p>
        </p:txBody>
      </p:sp>
      <p:sp>
        <p:nvSpPr>
          <p:cNvPr id="24" name="">
            <a:extLst xmlns:a="http://schemas.openxmlformats.org/drawingml/2006/main">
              <a:ext uri="{FF2B5EF4-FFF2-40B4-BE49-F238E27FC236}">
                <a16:creationId xmlns:a16="http://schemas.microsoft.com/office/drawing/2014/main" id="{1403918A-8A82-4240-8F8E-23F93A26FDBF}"/>
              </a:ext>
            </a:extLst>
          </p:cNvPr>
          <p:cNvSpPr>
            <a:spLocks xmlns:a="http://schemas.openxmlformats.org/drawingml/2006/main" noGrp="1"/>
          </p:cNvSpPr>
          <p:nvPr/>
        </p:nvSpPr>
        <p:spPr>
          <a:xfrm xmlns:a="http://schemas.openxmlformats.org/drawingml/2006/main">
            <a:off x="704850" y="6010275"/>
            <a:ext cx="5238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2334B"/>
                </a:solidFill>
                <a:latin typeface="DejaVu Sans"/>
                <a:ea typeface="DejaVu Sans"/>
                <a:cs typeface="DejaVu Sans"/>
              </a:defRPr>
            </a:defPPr>
          </a:lstStyle>
          <a:p xmlns:a="http://schemas.openxmlformats.org/drawingml/2006/main">
            <a:pPr>
              <a:buNone/>
              <a:defRPr sz="2100" b="0">
                <a:solidFill>
                  <a:srgbClr val="12334B"/>
                </a:solidFill>
                <a:latin typeface="DejaVu Sans"/>
                <a:ea typeface="DejaVu Sans"/>
                <a:cs typeface="DejaVu Sans"/>
              </a:defRPr>
            </a:pPr>
            <a:r>
              <a:rPr sz="2100" b="0">
                <a:solidFill>
                  <a:srgbClr val="12334B"/>
                </a:solidFill>
                <a:latin typeface="DejaVu Sans"/>
                <a:ea typeface="DejaVu Sans"/>
                <a:cs typeface="DejaVu Sans"/>
              </a:rPr>
              <a:t>HPP experience</a:t>
            </a:r>
          </a:p>
          <a:p xmlns:a="http://schemas.openxmlformats.org/drawingml/2006/main">
            <a:pPr>
              <a:buNone/>
              <a:defRPr sz="2100" b="0">
                <a:solidFill>
                  <a:srgbClr val="12334B"/>
                </a:solidFill>
                <a:latin typeface="DejaVu Sans"/>
                <a:ea typeface="DejaVu Sans"/>
                <a:cs typeface="DejaVu Sans"/>
              </a:defRPr>
            </a:pPr>
            <a:r>
              <a:rPr sz="2100" b="0">
                <a:solidFill>
                  <a:srgbClr val="12334B"/>
                </a:solidFill>
                <a:latin typeface="DejaVu Sans"/>
                <a:ea typeface="DejaVu Sans"/>
                <a:cs typeface="DejaVu Sans"/>
              </a:rPr>
              <a:t>Perception, constrained planning</a:t>
            </a:r>
          </a:p>
          <a:p xmlns:a="http://schemas.openxmlformats.org/drawingml/2006/main">
            <a:pPr>
              <a:buNone/>
              <a:defRPr sz="2100" b="0">
                <a:solidFill>
                  <a:srgbClr val="12334B"/>
                </a:solidFill>
                <a:latin typeface="DejaVu Sans"/>
                <a:ea typeface="DejaVu Sans"/>
                <a:cs typeface="DejaVu Sans"/>
              </a:defRPr>
            </a:pPr>
            <a:r>
              <a:rPr sz="2100" b="0">
                <a:solidFill>
                  <a:srgbClr val="12334B"/>
                </a:solidFill>
                <a:latin typeface="DejaVu Sans"/>
                <a:ea typeface="DejaVu Sans"/>
                <a:cs typeface="DejaVu Sans"/>
              </a:rPr>
              <a:t>and task supervision</a:t>
            </a:r>
          </a:p>
        </p:txBody>
      </p:sp>
      <p:sp>
        <p:nvSpPr>
          <p:cNvPr id="25" name="">
            <a:extLst xmlns:a="http://schemas.openxmlformats.org/drawingml/2006/main">
              <a:ext uri="{FF2B5EF4-FFF2-40B4-BE49-F238E27FC236}">
                <a16:creationId xmlns:a16="http://schemas.microsoft.com/office/drawing/2014/main" id="{489BB173-40BA-4CA5-9381-4F0DE051819E}"/>
              </a:ext>
            </a:extLst>
          </p:cNvPr>
          <p:cNvSpPr>
            <a:spLocks xmlns:a="http://schemas.openxmlformats.org/drawingml/2006/main" noGrp="1"/>
          </p:cNvSpPr>
          <p:nvPr/>
        </p:nvSpPr>
        <p:spPr>
          <a:xfrm xmlns:a="http://schemas.openxmlformats.org/drawingml/2006/main">
            <a:off x="6391275" y="5248275"/>
            <a:ext cx="523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05EAA"/>
                </a:solidFill>
                <a:latin typeface="DejaVu Sans"/>
                <a:ea typeface="DejaVu Sans"/>
                <a:cs typeface="DejaVu Sans"/>
              </a:defRPr>
            </a:defPPr>
          </a:lstStyle>
          <a:p xmlns:a="http://schemas.openxmlformats.org/drawingml/2006/main">
            <a:pPr>
              <a:buNone/>
              <a:defRPr sz="2250" b="1">
                <a:solidFill>
                  <a:srgbClr val="005EAA"/>
                </a:solidFill>
                <a:latin typeface="DejaVu Sans"/>
                <a:ea typeface="DejaVu Sans"/>
                <a:cs typeface="DejaVu Sans"/>
              </a:defRPr>
            </a:pPr>
            <a:r>
              <a:rPr sz="2250" b="1">
                <a:solidFill>
                  <a:srgbClr val="005EAA"/>
                </a:solidFill>
                <a:latin typeface="DejaVu Sans"/>
                <a:ea typeface="DejaVu Sans"/>
                <a:cs typeface="DejaVu Sans"/>
              </a:rPr>
              <a:t>Primer-skin NDT inspection</a:t>
            </a:r>
          </a:p>
        </p:txBody>
      </p:sp>
      <p:sp>
        <p:nvSpPr>
          <p:cNvPr id="26" name="">
            <a:extLst xmlns:a="http://schemas.openxmlformats.org/drawingml/2006/main">
              <a:ext uri="{FF2B5EF4-FFF2-40B4-BE49-F238E27FC236}">
                <a16:creationId xmlns:a16="http://schemas.microsoft.com/office/drawing/2014/main" id="{EF028DC6-05E1-4F89-A30E-FD0D8D151A5A}"/>
              </a:ext>
            </a:extLst>
          </p:cNvPr>
          <p:cNvSpPr>
            <a:spLocks xmlns:a="http://schemas.openxmlformats.org/drawingml/2006/main" noGrp="1"/>
          </p:cNvSpPr>
          <p:nvPr/>
        </p:nvSpPr>
        <p:spPr>
          <a:xfrm xmlns:a="http://schemas.openxmlformats.org/drawingml/2006/main">
            <a:off x="6391275" y="6010275"/>
            <a:ext cx="5238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2334B"/>
                </a:solidFill>
                <a:latin typeface="DejaVu Sans"/>
                <a:ea typeface="DejaVu Sans"/>
                <a:cs typeface="DejaVu Sans"/>
              </a:defRPr>
            </a:defPPr>
          </a:lstStyle>
          <a:p xmlns:a="http://schemas.openxmlformats.org/drawingml/2006/main">
            <a:pPr>
              <a:buNone/>
              <a:defRPr sz="2100" b="0">
                <a:solidFill>
                  <a:srgbClr val="12334B"/>
                </a:solidFill>
                <a:latin typeface="DejaVu Sans"/>
                <a:ea typeface="DejaVu Sans"/>
                <a:cs typeface="DejaVu Sans"/>
              </a:defRPr>
            </a:pPr>
            <a:r>
              <a:rPr sz="2100" b="0">
                <a:solidFill>
                  <a:srgbClr val="12334B"/>
                </a:solidFill>
                <a:latin typeface="DejaVu Sans"/>
                <a:ea typeface="DejaVu Sans"/>
                <a:cs typeface="DejaVu Sans"/>
              </a:rPr>
              <a:t>Automatic robot motion</a:t>
            </a:r>
          </a:p>
          <a:p xmlns:a="http://schemas.openxmlformats.org/drawingml/2006/main">
            <a:pPr>
              <a:buNone/>
              <a:defRPr sz="2100" b="0">
                <a:solidFill>
                  <a:srgbClr val="12334B"/>
                </a:solidFill>
                <a:latin typeface="DejaVu Sans"/>
                <a:ea typeface="DejaVu Sans"/>
                <a:cs typeface="DejaVu Sans"/>
              </a:defRPr>
            </a:pPr>
            <a:r>
              <a:rPr sz="2100" b="0">
                <a:solidFill>
                  <a:srgbClr val="12334B"/>
                </a:solidFill>
                <a:latin typeface="DejaVu Sans"/>
                <a:ea typeface="DejaVu Sans"/>
                <a:cs typeface="DejaVu Sans"/>
              </a:rPr>
              <a:t>Process constraints and</a:t>
            </a:r>
          </a:p>
          <a:p xmlns:a="http://schemas.openxmlformats.org/drawingml/2006/main">
            <a:pPr>
              <a:buNone/>
              <a:defRPr sz="2100" b="0">
                <a:solidFill>
                  <a:srgbClr val="12334B"/>
                </a:solidFill>
                <a:latin typeface="DejaVu Sans"/>
                <a:ea typeface="DejaVu Sans"/>
                <a:cs typeface="DejaVu Sans"/>
              </a:defRPr>
            </a:pPr>
            <a:r>
              <a:rPr sz="2100" b="0">
                <a:solidFill>
                  <a:srgbClr val="12334B"/>
                </a:solidFill>
                <a:latin typeface="DejaVu Sans"/>
                <a:ea typeface="DejaVu Sans"/>
                <a:cs typeface="DejaVu Sans"/>
              </a:rPr>
              <a:t>inspection coverage</a:t>
            </a:r>
          </a:p>
        </p:txBody>
      </p:sp>
      <p:sp>
        <p:nvSpPr>
          <p:cNvPr id="27" name="">
            <a:extLst xmlns:a="http://schemas.openxmlformats.org/drawingml/2006/main">
              <a:ext uri="{FF2B5EF4-FFF2-40B4-BE49-F238E27FC236}">
                <a16:creationId xmlns:a16="http://schemas.microsoft.com/office/drawing/2014/main" id="{D6D8812E-FC95-4CB1-99E2-AE03D519873A}"/>
              </a:ext>
            </a:extLst>
          </p:cNvPr>
          <p:cNvSpPr>
            <a:spLocks xmlns:a="http://schemas.openxmlformats.org/drawingml/2006/main" noGrp="1"/>
          </p:cNvSpPr>
          <p:nvPr/>
        </p:nvSpPr>
        <p:spPr>
          <a:xfrm xmlns:a="http://schemas.openxmlformats.org/drawingml/2006/main">
            <a:off x="12077700" y="5248275"/>
            <a:ext cx="523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05EAA"/>
                </a:solidFill>
                <a:latin typeface="DejaVu Sans"/>
                <a:ea typeface="DejaVu Sans"/>
                <a:cs typeface="DejaVu Sans"/>
              </a:defRPr>
            </a:defPPr>
          </a:lstStyle>
          <a:p xmlns:a="http://schemas.openxmlformats.org/drawingml/2006/main">
            <a:pPr>
              <a:buNone/>
              <a:defRPr sz="2250" b="1">
                <a:solidFill>
                  <a:srgbClr val="005EAA"/>
                </a:solidFill>
                <a:latin typeface="DejaVu Sans"/>
                <a:ea typeface="DejaVu Sans"/>
                <a:cs typeface="DejaVu Sans"/>
              </a:defRPr>
            </a:pPr>
            <a:r>
              <a:rPr sz="2250" b="1">
                <a:solidFill>
                  <a:srgbClr val="005EAA"/>
                </a:solidFill>
                <a:latin typeface="DejaVu Sans"/>
                <a:ea typeface="DejaVu Sans"/>
                <a:cs typeface="DejaVu Sans"/>
              </a:rPr>
              <a:t>Intelligent scan plan</a:t>
            </a:r>
          </a:p>
        </p:txBody>
      </p:sp>
      <p:sp>
        <p:nvSpPr>
          <p:cNvPr id="28" name="">
            <a:extLst xmlns:a="http://schemas.openxmlformats.org/drawingml/2006/main">
              <a:ext uri="{FF2B5EF4-FFF2-40B4-BE49-F238E27FC236}">
                <a16:creationId xmlns:a16="http://schemas.microsoft.com/office/drawing/2014/main" id="{F31FA6B9-037B-44B1-9866-334A7D44F314}"/>
              </a:ext>
            </a:extLst>
          </p:cNvPr>
          <p:cNvSpPr>
            <a:spLocks xmlns:a="http://schemas.openxmlformats.org/drawingml/2006/main" noGrp="1"/>
          </p:cNvSpPr>
          <p:nvPr/>
        </p:nvSpPr>
        <p:spPr>
          <a:xfrm xmlns:a="http://schemas.openxmlformats.org/drawingml/2006/main">
            <a:off x="12077700" y="6010275"/>
            <a:ext cx="5238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2334B"/>
                </a:solidFill>
                <a:latin typeface="DejaVu Sans"/>
                <a:ea typeface="DejaVu Sans"/>
                <a:cs typeface="DejaVu Sans"/>
              </a:defRPr>
            </a:defPPr>
          </a:lstStyle>
          <a:p xmlns:a="http://schemas.openxmlformats.org/drawingml/2006/main">
            <a:pPr>
              <a:buNone/>
              <a:defRPr sz="2100" b="0">
                <a:solidFill>
                  <a:srgbClr val="12334B"/>
                </a:solidFill>
                <a:latin typeface="DejaVu Sans"/>
                <a:ea typeface="DejaVu Sans"/>
                <a:cs typeface="DejaVu Sans"/>
              </a:defRPr>
            </a:pPr>
            <a:r>
              <a:rPr sz="2100" b="0">
                <a:solidFill>
                  <a:srgbClr val="12334B"/>
                </a:solidFill>
                <a:latin typeface="DejaVu Sans"/>
                <a:ea typeface="DejaVu Sans"/>
                <a:cs typeface="DejaVu Sans"/>
              </a:rPr>
              <a:t>Configurable scanning</a:t>
            </a:r>
          </a:p>
          <a:p xmlns:a="http://schemas.openxmlformats.org/drawingml/2006/main">
            <a:pPr>
              <a:buNone/>
              <a:defRPr sz="2100" b="0">
                <a:solidFill>
                  <a:srgbClr val="12334B"/>
                </a:solidFill>
                <a:latin typeface="DejaVu Sans"/>
                <a:ea typeface="DejaVu Sans"/>
                <a:cs typeface="DejaVu Sans"/>
              </a:defRPr>
            </a:pPr>
            <a:r>
              <a:rPr sz="2100" b="0">
                <a:solidFill>
                  <a:srgbClr val="12334B"/>
                </a:solidFill>
                <a:latin typeface="DejaVu Sans"/>
                <a:ea typeface="DejaVu Sans"/>
                <a:cs typeface="DejaVu Sans"/>
              </a:rPr>
              <a:t>Defect visit sequencing</a:t>
            </a:r>
          </a:p>
          <a:p xmlns:a="http://schemas.openxmlformats.org/drawingml/2006/main">
            <a:pPr>
              <a:buNone/>
              <a:defRPr sz="2100" b="0">
                <a:solidFill>
                  <a:srgbClr val="12334B"/>
                </a:solidFill>
                <a:latin typeface="DejaVu Sans"/>
                <a:ea typeface="DejaVu Sans"/>
                <a:cs typeface="DejaVu Sans"/>
              </a:defRPr>
            </a:pPr>
            <a:r>
              <a:rPr sz="2100" b="0">
                <a:solidFill>
                  <a:srgbClr val="12334B"/>
                </a:solidFill>
                <a:latin typeface="DejaVu Sans"/>
                <a:ea typeface="DejaVu Sans"/>
                <a:cs typeface="DejaVu Sans"/>
              </a:rPr>
              <a:t>and targeted rescanning</a:t>
            </a:r>
          </a:p>
        </p:txBody>
      </p:sp>
      <p:cxnSp>
        <p:nvCxnSpPr>
          <p:cNvPr id="29" name="">
            <a:extLst xmlns:a="http://schemas.openxmlformats.org/drawingml/2006/main">
              <a:ext uri="{FF2B5EF4-FFF2-40B4-BE49-F238E27FC236}">
                <a16:creationId xmlns:a16="http://schemas.microsoft.com/office/drawing/2014/main" id="{B01912E7-B1E9-45D2-BC27-10EE4BC0B1E3}"/>
              </a:ext>
            </a:extLst>
          </p:cNvPr>
          <p:cNvCxnSpPr/>
          <p:nvPr/>
        </p:nvCxnSpPr>
        <p:spPr>
          <a:xfrm xmlns:a="http://schemas.openxmlformats.org/drawingml/2006/main">
            <a:off x="704850" y="7496175"/>
            <a:ext cx="16878300" cy="0"/>
          </a:xfrm>
          <a:prstGeom xmlns:a="http://schemas.openxmlformats.org/drawingml/2006/main" prst="straightConnector1">
            <a:avLst/>
          </a:prstGeom>
          <a:ln xmlns:a="http://schemas.openxmlformats.org/drawingml/2006/main" w="19050">
            <a:solidFill>
              <a:srgbClr val="C9D8E2"/>
            </a:solidFill>
          </a:ln>
        </p:spPr>
      </p:cxnSp>
      <p:sp>
        <p:nvSpPr>
          <p:cNvPr id="30" name="">
            <a:extLst xmlns:a="http://schemas.openxmlformats.org/drawingml/2006/main">
              <a:ext uri="{FF2B5EF4-FFF2-40B4-BE49-F238E27FC236}">
                <a16:creationId xmlns:a16="http://schemas.microsoft.com/office/drawing/2014/main" id="{F972978B-9844-44E5-90D0-CA3261BE3CFF}"/>
              </a:ext>
            </a:extLst>
          </p:cNvPr>
          <p:cNvSpPr>
            <a:spLocks xmlns:a="http://schemas.openxmlformats.org/drawingml/2006/main" noGrp="1"/>
          </p:cNvSpPr>
          <p:nvPr/>
        </p:nvSpPr>
        <p:spPr>
          <a:xfrm xmlns:a="http://schemas.openxmlformats.org/drawingml/2006/main">
            <a:off x="704850" y="7743825"/>
            <a:ext cx="16878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08243D"/>
                </a:solidFill>
                <a:latin typeface="DejaVu Sans"/>
                <a:ea typeface="DejaVu Sans"/>
                <a:cs typeface="DejaVu Sans"/>
              </a:defRPr>
            </a:defPPr>
          </a:lstStyle>
          <a:p xmlns:a="http://schemas.openxmlformats.org/drawingml/2006/main">
            <a:pPr>
              <a:buNone/>
              <a:defRPr sz="2850" b="1">
                <a:solidFill>
                  <a:srgbClr val="08243D"/>
                </a:solidFill>
                <a:latin typeface="DejaVu Sans"/>
                <a:ea typeface="DejaVu Sans"/>
                <a:cs typeface="DejaVu Sans"/>
              </a:defRPr>
            </a:pPr>
            <a:r>
              <a:rPr sz="2850" b="1">
                <a:solidFill>
                  <a:srgbClr val="08243D"/>
                </a:solidFill>
                <a:latin typeface="DejaVu Sans"/>
                <a:ea typeface="DejaVu Sans"/>
                <a:cs typeface="DejaVu Sans"/>
              </a:rPr>
              <a:t>Framework capability and use case benchmarks</a:t>
            </a:r>
          </a:p>
        </p:txBody>
      </p:sp>
      <p:sp>
        <p:nvSpPr>
          <p:cNvPr id="31" name="">
            <a:extLst xmlns:a="http://schemas.openxmlformats.org/drawingml/2006/main">
              <a:ext uri="{FF2B5EF4-FFF2-40B4-BE49-F238E27FC236}">
                <a16:creationId xmlns:a16="http://schemas.microsoft.com/office/drawing/2014/main" id="{A5C3FF98-1E0E-4565-B8A8-D43745595DD0}"/>
              </a:ext>
            </a:extLst>
          </p:cNvPr>
          <p:cNvSpPr>
            <a:spLocks xmlns:a="http://schemas.openxmlformats.org/drawingml/2006/main" noGrp="1"/>
          </p:cNvSpPr>
          <p:nvPr/>
        </p:nvSpPr>
        <p:spPr>
          <a:xfrm xmlns:a="http://schemas.openxmlformats.org/drawingml/2006/main">
            <a:off x="704850" y="8391525"/>
            <a:ext cx="16878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2334B"/>
                </a:solidFill>
                <a:latin typeface="DejaVu Sans"/>
                <a:ea typeface="DejaVu Sans"/>
                <a:cs typeface="DejaVu Sans"/>
              </a:defRPr>
            </a:defPPr>
          </a:lstStyle>
          <a:p xmlns:a="http://schemas.openxmlformats.org/drawingml/2006/main">
            <a:pPr>
              <a:buNone/>
              <a:defRPr sz="2175" b="0">
                <a:solidFill>
                  <a:srgbClr val="12334B"/>
                </a:solidFill>
                <a:latin typeface="DejaVu Sans"/>
                <a:ea typeface="DejaVu Sans"/>
                <a:cs typeface="DejaVu Sans"/>
              </a:defRPr>
            </a:pPr>
            <a:r>
              <a:rPr sz="2175" b="0">
                <a:solidFill>
                  <a:srgbClr val="12334B"/>
                </a:solidFill>
                <a:latin typeface="DejaVu Sans"/>
                <a:ea typeface="DejaVu Sans"/>
                <a:cs typeface="DejaVu Sans"/>
              </a:rPr>
              <a:t>Compare HPP, MoveIt2, Tesseract and Drake; qualify planner choices per process.</a:t>
            </a:r>
          </a:p>
          <a:p xmlns:a="http://schemas.openxmlformats.org/drawingml/2006/main">
            <a:pPr>
              <a:buNone/>
              <a:defRPr sz="2175" b="0">
                <a:solidFill>
                  <a:srgbClr val="12334B"/>
                </a:solidFill>
                <a:latin typeface="DejaVu Sans"/>
                <a:ea typeface="DejaVu Sans"/>
                <a:cs typeface="DejaVu Sans"/>
              </a:defRPr>
            </a:pPr>
            <a:r>
              <a:rPr sz="2175" b="0">
                <a:solidFill>
                  <a:srgbClr val="12334B"/>
                </a:solidFill>
                <a:latin typeface="DejaVu Sans"/>
                <a:ea typeface="DejaVu Sans"/>
                <a:cs typeface="DejaVu Sans"/>
              </a:rPr>
              <a:t>Reuse proven capabilities through common interfaces, staged validation and RXU connectivity.</a:t>
            </a:r>
          </a:p>
        </p:txBody>
      </p:sp>
      <p:sp>
        <p:nvSpPr>
          <p:cNvPr id="32" name="">
            <a:extLst xmlns:a="http://schemas.openxmlformats.org/drawingml/2006/main">
              <a:ext uri="{FF2B5EF4-FFF2-40B4-BE49-F238E27FC236}">
                <a16:creationId xmlns:a16="http://schemas.microsoft.com/office/drawing/2014/main" id="{5D9C9158-5909-4A3E-9CF8-9945937A98E0}"/>
              </a:ext>
            </a:extLst>
          </p:cNvPr>
          <p:cNvSpPr>
            <a:spLocks xmlns:a="http://schemas.openxmlformats.org/drawingml/2006/main" noGrp="1"/>
          </p:cNvSpPr>
          <p:nvPr/>
        </p:nvSpPr>
        <p:spPr>
          <a:xfrm xmlns:a="http://schemas.openxmlformats.org/drawingml/2006/main">
            <a:off x="704850" y="9782175"/>
            <a:ext cx="1609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B7D"/>
                </a:solidFill>
                <a:latin typeface="DejaVu Sans"/>
                <a:ea typeface="DejaVu Sans"/>
                <a:cs typeface="DejaVu Sans"/>
              </a:defRPr>
            </a:defPPr>
          </a:lstStyle>
          <a:p xmlns:a="http://schemas.openxmlformats.org/drawingml/2006/main">
            <a:pPr>
              <a:buNone/>
              <a:defRPr sz="1425" b="0">
                <a:solidFill>
                  <a:srgbClr val="526B7D"/>
                </a:solidFill>
                <a:latin typeface="DejaVu Sans"/>
                <a:ea typeface="DejaVu Sans"/>
                <a:cs typeface="DejaVu Sans"/>
              </a:defRPr>
            </a:pPr>
            <a:r>
              <a:rPr sz="1425" b="0">
                <a:solidFill>
                  <a:srgbClr val="526B7D"/>
                </a:solidFill>
                <a:latin typeface="DejaVu Sans"/>
                <a:ea typeface="DejaVu Sans"/>
                <a:cs typeface="DejaVu Sans"/>
              </a:rPr>
              <a:t>Goal: less manual programming, configurable process paths and reusable planning across robots.</a:t>
            </a:r>
          </a:p>
        </p:txBody>
      </p:sp>
      <p:sp>
        <p:nvSpPr>
          <p:cNvPr id="33" name="">
            <a:extLst xmlns:a="http://schemas.openxmlformats.org/drawingml/2006/main">
              <a:ext uri="{FF2B5EF4-FFF2-40B4-BE49-F238E27FC236}">
                <a16:creationId xmlns:a16="http://schemas.microsoft.com/office/drawing/2014/main" id="{134296A5-955C-45C2-A39E-F273EF25BC7B}"/>
              </a:ext>
            </a:extLst>
          </p:cNvPr>
          <p:cNvSpPr>
            <a:spLocks xmlns:a="http://schemas.openxmlformats.org/drawingml/2006/main" noGrp="1"/>
          </p:cNvSpPr>
          <p:nvPr/>
        </p:nvSpPr>
        <p:spPr>
          <a:xfrm xmlns:a="http://schemas.openxmlformats.org/drawingml/2006/main">
            <a:off x="17145000" y="9782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26B7D"/>
                </a:solidFill>
                <a:latin typeface="DejaVu Sans"/>
                <a:ea typeface="DejaVu Sans"/>
                <a:cs typeface="DejaVu Sans"/>
              </a:defRPr>
            </a:defPPr>
          </a:lstStyle>
          <a:p xmlns:a="http://schemas.openxmlformats.org/drawingml/2006/main">
            <a:pPr>
              <a:buNone/>
              <a:defRPr sz="1500" b="0">
                <a:solidFill>
                  <a:srgbClr val="526B7D"/>
                </a:solidFill>
                <a:latin typeface="DejaVu Sans"/>
                <a:ea typeface="DejaVu Sans"/>
                <a:cs typeface="DejaVu Sans"/>
              </a:defRPr>
            </a:pPr>
            <a:r>
              <a:rPr sz="1500" b="0">
                <a:solidFill>
                  <a:srgbClr val="526B7D"/>
                </a:solidFill>
                <a:latin typeface="DejaVu Sans"/>
                <a:ea typeface="DejaVu Sans"/>
                <a:cs typeface="DejaVu Sans"/>
              </a:rPr>
              <a:t>1</a:t>
            </a:r>
          </a:p>
        </p:txBody>
      </p:sp>
    </p:spTree>
    <p:extLst>
      <p:ext uri="{BB962C8B-B14F-4D97-AF65-F5344CB8AC3E}">
        <p14:creationId xmlns:p14="http://schemas.microsoft.com/office/powerpoint/2010/main" val="84167223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188200A-D25D-43F9-8DD4-3FFE21854BA5}"/>
              </a:ext>
            </a:extLst>
          </p:cNvPr>
          <p:cNvSpPr>
            <a:spLocks xmlns:a="http://schemas.openxmlformats.org/drawingml/2006/main" noGrp="1"/>
          </p:cNvSpPr>
          <p:nvPr/>
        </p:nvSpPr>
        <p:spPr>
          <a:xfrm xmlns:a="http://schemas.openxmlformats.org/drawingml/2006/main">
            <a:off x="685800" y="419100"/>
            <a:ext cx="16859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08243D"/>
                </a:solidFill>
                <a:latin typeface="DejaVu Sans"/>
                <a:ea typeface="DejaVu Sans"/>
                <a:cs typeface="DejaVu Sans"/>
              </a:defRPr>
            </a:defPPr>
          </a:lstStyle>
          <a:p xmlns:a="http://schemas.openxmlformats.org/drawingml/2006/main">
            <a:pPr>
              <a:buNone/>
              <a:defRPr sz="3900" b="1">
                <a:solidFill>
                  <a:srgbClr val="08243D"/>
                </a:solidFill>
                <a:latin typeface="DejaVu Sans"/>
                <a:ea typeface="DejaVu Sans"/>
                <a:cs typeface="DejaVu Sans"/>
              </a:defRPr>
            </a:pPr>
            <a:r>
              <a:rPr sz="3900" b="1">
                <a:solidFill>
                  <a:srgbClr val="08243D"/>
                </a:solidFill>
                <a:latin typeface="DejaVu Sans"/>
                <a:ea typeface="DejaVu Sans"/>
                <a:cs typeface="DejaVu Sans"/>
              </a:rPr>
              <a:t>Integration stages 1–4: data, tool paths and motion</a:t>
            </a:r>
          </a:p>
        </p:txBody>
      </p:sp>
      <p:sp>
        <p:nvSpPr>
          <p:cNvPr id="2" name="">
            <a:extLst xmlns:a="http://schemas.openxmlformats.org/drawingml/2006/main">
              <a:ext uri="{FF2B5EF4-FFF2-40B4-BE49-F238E27FC236}">
                <a16:creationId xmlns:a16="http://schemas.microsoft.com/office/drawing/2014/main" id="{E20659DA-DCDA-48F7-8240-B455F78E292D}"/>
              </a:ext>
            </a:extLst>
          </p:cNvPr>
          <p:cNvSpPr>
            <a:spLocks xmlns:a="http://schemas.openxmlformats.org/drawingml/2006/main" noGrp="1"/>
          </p:cNvSpPr>
          <p:nvPr/>
        </p:nvSpPr>
        <p:spPr>
          <a:xfrm xmlns:a="http://schemas.openxmlformats.org/drawingml/2006/main">
            <a:off x="704850" y="1285875"/>
            <a:ext cx="16764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26B7D"/>
                </a:solidFill>
                <a:latin typeface="DejaVu Sans"/>
                <a:ea typeface="DejaVu Sans"/>
                <a:cs typeface="DejaVu Sans"/>
              </a:defRPr>
            </a:defPPr>
          </a:lstStyle>
          <a:p xmlns:a="http://schemas.openxmlformats.org/drawingml/2006/main">
            <a:pPr>
              <a:buNone/>
              <a:defRPr sz="2100" b="0">
                <a:solidFill>
                  <a:srgbClr val="526B7D"/>
                </a:solidFill>
                <a:latin typeface="DejaVu Sans"/>
                <a:ea typeface="DejaVu Sans"/>
                <a:cs typeface="DejaVu Sans"/>
              </a:defRPr>
            </a:pPr>
            <a:r>
              <a:rPr sz="2100" b="0">
                <a:solidFill>
                  <a:srgbClr val="526B7D"/>
                </a:solidFill>
                <a:latin typeface="DejaVu Sans"/>
                <a:ea typeface="DejaVu Sans"/>
                <a:cs typeface="DejaVu Sans"/>
              </a:rPr>
              <a:t>Each stage reuses available implementations, adds an interface and verifies the integrated result</a:t>
            </a:r>
          </a:p>
        </p:txBody>
      </p:sp>
      <p:graphicFrame>
        <p:nvGraphicFramePr>
          <p:cNvPr id="3" name="">
            <a:extLst xmlns:a="http://schemas.openxmlformats.org/drawingml/2006/main">
              <a:ext uri="{FF2B5EF4-FFF2-40B4-BE49-F238E27FC236}">
                <a16:creationId xmlns:a16="http://schemas.microsoft.com/office/drawing/2014/main" id="{24F6FA7A-9EDC-4DE2-9645-B54CA60973B9}"/>
              </a:ext>
            </a:extLst>
          </p:cNvPr>
          <p:cNvGraphicFramePr/>
          <p:nvPr/>
        </p:nvGraphicFramePr>
        <p:xfrm>
          <a:off xmlns:a="http://schemas.openxmlformats.org/drawingml/2006/main" x="704850" y="2133600"/>
          <a:ext xmlns:a="http://schemas.openxmlformats.org/drawingml/2006/main" cx="16878300" cy="6505575"/>
        </p:xfrm>
        <a:graphic xmlns:a="http://schemas.openxmlformats.org/drawingml/2006/main">
          <a:graphicData uri="http://schemas.openxmlformats.org/drawingml/2006/table">
            <a:tbl>
              <a:tblPr/>
              <a:tblGrid>
                <a:gridCol w="3476625"/>
                <a:gridCol w="9334500"/>
                <a:gridCol w="4067175"/>
              </a:tblGrid>
              <a:tr h="590550">
                <a:tc>
                  <a:txBody>
                    <a:bodyPr/>
                    <a:lstStyle/>
                    <a:p>
                      <a:r>
                        <a:rPr sz="1875" b="1">
                          <a:solidFill>
                            <a:srgbClr val="FFFFFF"/>
                          </a:solidFill>
                          <a:latin typeface="DejaVu Sans"/>
                          <a:ea typeface="DejaVu Sans"/>
                          <a:cs typeface="DejaVu Sans"/>
                        </a:rPr>
                        <a:t>Integration stage</a:t>
                      </a:r>
                    </a:p>
                  </a:txBody>
                  <a:tcPr marL="91440" marR="91440" marT="45720" marB="45720">
                    <a:solidFill>
                      <a:srgbClr val="08243D"/>
                    </a:solidFill>
                  </a:tcPr>
                </a:tc>
                <a:tc>
                  <a:txBody>
                    <a:bodyPr/>
                    <a:lstStyle/>
                    <a:p>
                      <a:r>
                        <a:rPr sz="1875" b="1">
                          <a:solidFill>
                            <a:srgbClr val="FFFFFF"/>
                          </a:solidFill>
                          <a:latin typeface="DejaVu Sans"/>
                          <a:ea typeface="DejaVu Sans"/>
                          <a:cs typeface="DejaVu Sans"/>
                        </a:rPr>
                        <a:t>Capability to reuse and integration work</a:t>
                      </a:r>
                    </a:p>
                  </a:txBody>
                  <a:tcPr marL="91440" marR="91440" marT="45720" marB="45720">
                    <a:solidFill>
                      <a:srgbClr val="08243D"/>
                    </a:solidFill>
                  </a:tcPr>
                </a:tc>
                <a:tc>
                  <a:txBody>
                    <a:bodyPr/>
                    <a:lstStyle/>
                    <a:p>
                      <a:r>
                        <a:rPr sz="1875" b="1">
                          <a:solidFill>
                            <a:srgbClr val="FFFFFF"/>
                          </a:solidFill>
                          <a:latin typeface="DejaVu Sans"/>
                          <a:ea typeface="DejaVu Sans"/>
                          <a:cs typeface="DejaVu Sans"/>
                        </a:rPr>
                        <a:t>Integration acceptance</a:t>
                      </a:r>
                    </a:p>
                  </a:txBody>
                  <a:tcPr marL="91440" marR="91440" marT="45720" marB="45720">
                    <a:solidFill>
                      <a:srgbClr val="08243D"/>
                    </a:solidFill>
                  </a:tcPr>
                </a:tc>
              </a:tr>
              <a:tr h="1295400">
                <a:tc>
                  <a:txBody>
                    <a:bodyPr/>
                    <a:lstStyle/>
                    <a:p>
                      <a:r>
                        <a:rPr sz="1950" b="1">
                          <a:solidFill>
                            <a:srgbClr val="12334B"/>
                          </a:solidFill>
                          <a:latin typeface="DejaVu Sans"/>
                          <a:ea typeface="DejaVu Sans"/>
                          <a:cs typeface="DejaVu Sans"/>
                        </a:rPr>
                        <a:t>M1  Data interfaces</a:t>
                      </a:r>
                    </a:p>
                  </a:txBody>
                  <a:tcPr marL="91440" marR="91440" marT="45720" marB="45720">
                    <a:solidFill>
                      <a:srgbClr val="EFF5F8"/>
                    </a:solidFill>
                  </a:tcPr>
                </a:tc>
                <a:tc>
                  <a:txBody>
                    <a:bodyPr/>
                    <a:lstStyle/>
                    <a:p>
                      <a:r>
                        <a:rPr sz="1950" b="0">
                          <a:solidFill>
                            <a:srgbClr val="12334B"/>
                          </a:solidFill>
                          <a:latin typeface="DejaVu Sans"/>
                          <a:ea typeface="DejaVu Sans"/>
                          <a:cs typeface="DejaVu Sans"/>
                        </a:rPr>
                        <a:t>Common robot, tool and panel model: frames, units, joints, limits, CAD and point clouds. Convert URDF / MJCF / USD as needed.</a:t>
                      </a:r>
                    </a:p>
                  </a:txBody>
                  <a:tcPr marL="91440" marR="91440" marT="45720" marB="45720">
                    <a:solidFill>
                      <a:srgbClr val="EFF5F8"/>
                    </a:solidFill>
                  </a:tcPr>
                </a:tc>
                <a:tc>
                  <a:txBody>
                    <a:bodyPr/>
                    <a:lstStyle/>
                    <a:p>
                      <a:r>
                        <a:rPr sz="1950" b="0">
                          <a:solidFill>
                            <a:srgbClr val="12334B"/>
                          </a:solidFill>
                          <a:latin typeface="DejaVu Sans"/>
                          <a:ea typeface="DejaVu Sans"/>
                          <a:cs typeface="DejaVu Sans"/>
                        </a:rPr>
                        <a:t>Geometry, calibration and model uncertainty checked.</a:t>
                      </a:r>
                    </a:p>
                  </a:txBody>
                  <a:tcPr marL="91440" marR="91440" marT="45720" marB="45720">
                    <a:solidFill>
                      <a:srgbClr val="EFF5F8"/>
                    </a:solidFill>
                  </a:tcPr>
                </a:tc>
              </a:tr>
              <a:tr h="1571625">
                <a:tc>
                  <a:txBody>
                    <a:bodyPr/>
                    <a:lstStyle/>
                    <a:p>
                      <a:r>
                        <a:rPr sz="1950" b="1">
                          <a:solidFill>
                            <a:srgbClr val="12334B"/>
                          </a:solidFill>
                          <a:latin typeface="DejaVu Sans"/>
                          <a:ea typeface="DejaVu Sans"/>
                          <a:cs typeface="DejaVu Sans"/>
                        </a:rPr>
                        <a:t>M2  Toolpath interface</a:t>
                      </a:r>
                    </a:p>
                  </a:txBody>
                  <a:tcPr marL="91440" marR="91440" marT="45720" marB="45720">
                    <a:solidFill>
                      <a:srgbClr val="FFFFFF"/>
                    </a:solidFill>
                  </a:tcPr>
                </a:tc>
                <a:tc>
                  <a:txBody>
                    <a:bodyPr/>
                    <a:lstStyle/>
                    <a:p>
                      <a:r>
                        <a:rPr sz="1950" b="0">
                          <a:solidFill>
                            <a:srgbClr val="12334B"/>
                          </a:solidFill>
                          <a:latin typeface="DejaVu Sans"/>
                          <a:ea typeface="DejaVu Sans"/>
                          <a:cs typeface="DejaVu Sans"/>
                        </a:rPr>
                        <a:t>Wrap IRT CAD / point-cloud and project GMM approaches. Configure pattern, area, size, swathe, overlap, tool orientation and standoff.</a:t>
                      </a:r>
                    </a:p>
                  </a:txBody>
                  <a:tcPr marL="91440" marR="91440" marT="45720" marB="45720">
                    <a:solidFill>
                      <a:srgbClr val="FFFFFF"/>
                    </a:solidFill>
                  </a:tcPr>
                </a:tc>
                <a:tc>
                  <a:txBody>
                    <a:bodyPr/>
                    <a:lstStyle/>
                    <a:p>
                      <a:r>
                        <a:rPr sz="1950" b="0">
                          <a:solidFill>
                            <a:srgbClr val="12334B"/>
                          </a:solidFill>
                          <a:latin typeface="DejaVu Sans"/>
                          <a:ea typeface="DejaVu Sans"/>
                          <a:cs typeface="DejaVu Sans"/>
                        </a:rPr>
                        <a:t>Coverage, reachability and process constraints met.</a:t>
                      </a:r>
                    </a:p>
                  </a:txBody>
                  <a:tcPr marL="91440" marR="91440" marT="45720" marB="45720">
                    <a:solidFill>
                      <a:srgbClr val="FFFFFF"/>
                    </a:solidFill>
                  </a:tcPr>
                </a:tc>
              </a:tr>
              <a:tr h="1571625">
                <a:tc>
                  <a:txBody>
                    <a:bodyPr/>
                    <a:lstStyle/>
                    <a:p>
                      <a:r>
                        <a:rPr sz="1950" b="1">
                          <a:solidFill>
                            <a:srgbClr val="12334B"/>
                          </a:solidFill>
                          <a:latin typeface="DejaVu Sans"/>
                          <a:ea typeface="DejaVu Sans"/>
                          <a:cs typeface="DejaVu Sans"/>
                        </a:rPr>
                        <a:t>M3  Planner adapters</a:t>
                      </a:r>
                    </a:p>
                  </a:txBody>
                  <a:tcPr marL="91440" marR="91440" marT="45720" marB="45720">
                    <a:solidFill>
                      <a:srgbClr val="EFF5F8"/>
                    </a:solidFill>
                  </a:tcPr>
                </a:tc>
                <a:tc>
                  <a:txBody>
                    <a:bodyPr/>
                    <a:lstStyle/>
                    <a:p>
                      <a:r>
                        <a:rPr sz="1950" b="0">
                          <a:solidFill>
                            <a:srgbClr val="12334B"/>
                          </a:solidFill>
                          <a:latin typeface="DejaVu Sans"/>
                          <a:ea typeface="DejaVu Sans"/>
                          <a:cs typeface="DejaVu Sans"/>
                        </a:rPr>
                        <a:t>Common API for HPP, MoveIt2, Tesseract and Drake. Qualify sampling, graph, Cartesian and optimization options; evaluate reactive backends separately.</a:t>
                      </a:r>
                    </a:p>
                  </a:txBody>
                  <a:tcPr marL="91440" marR="91440" marT="45720" marB="45720">
                    <a:solidFill>
                      <a:srgbClr val="EFF5F8"/>
                    </a:solidFill>
                  </a:tcPr>
                </a:tc>
                <a:tc>
                  <a:txBody>
                    <a:bodyPr/>
                    <a:lstStyle/>
                    <a:p>
                      <a:r>
                        <a:rPr sz="1950" b="0">
                          <a:solidFill>
                            <a:srgbClr val="12334B"/>
                          </a:solidFill>
                          <a:latin typeface="DejaVu Sans"/>
                          <a:ea typeface="DejaVu Sans"/>
                          <a:cs typeface="DejaVu Sans"/>
                        </a:rPr>
                        <a:t>Feasible motion; latency, limits and RXU effort recorded.</a:t>
                      </a:r>
                    </a:p>
                  </a:txBody>
                  <a:tcPr marL="91440" marR="91440" marT="45720" marB="45720">
                    <a:solidFill>
                      <a:srgbClr val="EFF5F8"/>
                    </a:solidFill>
                  </a:tcPr>
                </a:tc>
              </a:tr>
              <a:tr h="1476375">
                <a:tc>
                  <a:txBody>
                    <a:bodyPr/>
                    <a:lstStyle/>
                    <a:p>
                      <a:r>
                        <a:rPr sz="1950" b="1">
                          <a:solidFill>
                            <a:srgbClr val="12334B"/>
                          </a:solidFill>
                          <a:latin typeface="DejaVu Sans"/>
                          <a:ea typeface="DejaVu Sans"/>
                          <a:cs typeface="DejaVu Sans"/>
                        </a:rPr>
                        <a:t>M4  Initial validation</a:t>
                      </a:r>
                    </a:p>
                  </a:txBody>
                  <a:tcPr marL="91440" marR="91440" marT="45720" marB="45720">
                    <a:solidFill>
                      <a:srgbClr val="FFFFFF"/>
                    </a:solidFill>
                  </a:tcPr>
                </a:tc>
                <a:tc>
                  <a:txBody>
                    <a:bodyPr/>
                    <a:lstStyle/>
                    <a:p>
                      <a:r>
                        <a:rPr sz="1950" b="0">
                          <a:solidFill>
                            <a:srgbClr val="12334B"/>
                          </a:solidFill>
                          <a:latin typeface="DejaVu Sans"/>
                          <a:ea typeface="DejaVu Sans"/>
                          <a:cs typeface="DejaVu Sans"/>
                        </a:rPr>
                        <a:t>Collision, clearance, IK / posture continuity, singularity and process checks. Record generation time and coverage; inspect with suitable viewers.</a:t>
                      </a:r>
                    </a:p>
                  </a:txBody>
                  <a:tcPr marL="91440" marR="91440" marT="45720" marB="45720">
                    <a:solidFill>
                      <a:srgbClr val="FFFFFF"/>
                    </a:solidFill>
                  </a:tcPr>
                </a:tc>
                <a:tc>
                  <a:txBody>
                    <a:bodyPr/>
                    <a:lstStyle/>
                    <a:p>
                      <a:r>
                        <a:rPr sz="1950" b="0">
                          <a:solidFill>
                            <a:srgbClr val="12334B"/>
                          </a:solidFill>
                          <a:latin typeface="DejaVu Sans"/>
                          <a:ea typeface="DejaVu Sans"/>
                          <a:cs typeface="DejaVu Sans"/>
                        </a:rPr>
                        <a:t>Repeatable path checks before sequencing.</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BE85DF4-DC58-46C3-B2A4-56451F58B0D8}"/>
              </a:ext>
            </a:extLst>
          </p:cNvPr>
          <p:cNvSpPr>
            <a:spLocks xmlns:a="http://schemas.openxmlformats.org/drawingml/2006/main" noGrp="1"/>
          </p:cNvSpPr>
          <p:nvPr/>
        </p:nvSpPr>
        <p:spPr>
          <a:xfrm xmlns:a="http://schemas.openxmlformats.org/drawingml/2006/main">
            <a:off x="704850" y="8934450"/>
            <a:ext cx="30956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05EAA"/>
                </a:solidFill>
                <a:latin typeface="DejaVu Sans"/>
                <a:ea typeface="DejaVu Sans"/>
                <a:cs typeface="DejaVu Sans"/>
              </a:defRPr>
            </a:defPPr>
          </a:lstStyle>
          <a:p xmlns:a="http://schemas.openxmlformats.org/drawingml/2006/main">
            <a:pPr>
              <a:buNone/>
              <a:defRPr sz="2025" b="1">
                <a:solidFill>
                  <a:srgbClr val="005EAA"/>
                </a:solidFill>
                <a:latin typeface="DejaVu Sans"/>
                <a:ea typeface="DejaVu Sans"/>
                <a:cs typeface="DejaVu Sans"/>
              </a:defRPr>
            </a:pPr>
            <a:r>
              <a:rPr sz="2025" b="1">
                <a:solidFill>
                  <a:srgbClr val="005EAA"/>
                </a:solidFill>
                <a:latin typeface="DejaVu Sans"/>
                <a:ea typeface="DejaVu Sans"/>
                <a:cs typeface="DejaVu Sans"/>
              </a:rPr>
              <a:t>Task supervision</a:t>
            </a:r>
          </a:p>
        </p:txBody>
      </p:sp>
      <p:sp>
        <p:nvSpPr>
          <p:cNvPr id="5" name="">
            <a:extLst xmlns:a="http://schemas.openxmlformats.org/drawingml/2006/main">
              <a:ext uri="{FF2B5EF4-FFF2-40B4-BE49-F238E27FC236}">
                <a16:creationId xmlns:a16="http://schemas.microsoft.com/office/drawing/2014/main" id="{4912FDF2-FA22-4B21-A3AD-8FA3464098ED}"/>
              </a:ext>
            </a:extLst>
          </p:cNvPr>
          <p:cNvSpPr>
            <a:spLocks xmlns:a="http://schemas.openxmlformats.org/drawingml/2006/main" noGrp="1"/>
          </p:cNvSpPr>
          <p:nvPr/>
        </p:nvSpPr>
        <p:spPr>
          <a:xfrm xmlns:a="http://schemas.openxmlformats.org/drawingml/2006/main">
            <a:off x="3905250" y="8934450"/>
            <a:ext cx="13620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2334B"/>
                </a:solidFill>
                <a:latin typeface="DejaVu Sans"/>
                <a:ea typeface="DejaVu Sans"/>
                <a:cs typeface="DejaVu Sans"/>
              </a:defRPr>
            </a:defPPr>
          </a:lstStyle>
          <a:p xmlns:a="http://schemas.openxmlformats.org/drawingml/2006/main">
            <a:pPr>
              <a:buNone/>
              <a:defRPr sz="1950" b="0">
                <a:solidFill>
                  <a:srgbClr val="12334B"/>
                </a:solidFill>
                <a:latin typeface="DejaVu Sans"/>
                <a:ea typeface="DejaVu Sans"/>
                <a:cs typeface="DejaVu Sans"/>
              </a:defRPr>
            </a:pPr>
            <a:r>
              <a:rPr sz="1950" b="0">
                <a:solidFill>
                  <a:srgbClr val="12334B"/>
                </a:solidFill>
                <a:latin typeface="DejaVu Sans"/>
                <a:ea typeface="DejaVu Sans"/>
                <a:cs typeface="DejaVu Sans"/>
              </a:rPr>
              <a:t>BT / state-machine orchestration across stages: monitor scene and execution state, handle failures and log decisions.</a:t>
            </a:r>
          </a:p>
        </p:txBody>
      </p:sp>
      <p:sp>
        <p:nvSpPr>
          <p:cNvPr id="6" name="">
            <a:extLst xmlns:a="http://schemas.openxmlformats.org/drawingml/2006/main">
              <a:ext uri="{FF2B5EF4-FFF2-40B4-BE49-F238E27FC236}">
                <a16:creationId xmlns:a16="http://schemas.microsoft.com/office/drawing/2014/main" id="{0E96D228-45C1-4A19-86CB-5E8757E77DCE}"/>
              </a:ext>
            </a:extLst>
          </p:cNvPr>
          <p:cNvSpPr>
            <a:spLocks xmlns:a="http://schemas.openxmlformats.org/drawingml/2006/main" noGrp="1"/>
          </p:cNvSpPr>
          <p:nvPr/>
        </p:nvSpPr>
        <p:spPr>
          <a:xfrm xmlns:a="http://schemas.openxmlformats.org/drawingml/2006/main">
            <a:off x="704850" y="9782175"/>
            <a:ext cx="1609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B7D"/>
                </a:solidFill>
                <a:latin typeface="DejaVu Sans"/>
                <a:ea typeface="DejaVu Sans"/>
                <a:cs typeface="DejaVu Sans"/>
              </a:defRPr>
            </a:defPPr>
          </a:lstStyle>
          <a:p xmlns:a="http://schemas.openxmlformats.org/drawingml/2006/main">
            <a:pPr>
              <a:buNone/>
              <a:defRPr sz="1425" b="0">
                <a:solidFill>
                  <a:srgbClr val="526B7D"/>
                </a:solidFill>
                <a:latin typeface="DejaVu Sans"/>
                <a:ea typeface="DejaVu Sans"/>
                <a:cs typeface="DejaVu Sans"/>
              </a:defRPr>
            </a:pPr>
            <a:r>
              <a:rPr sz="1425" b="0">
                <a:solidFill>
                  <a:srgbClr val="526B7D"/>
                </a:solidFill>
                <a:latin typeface="DejaVu Sans"/>
                <a:ea typeface="DejaVu Sans"/>
                <a:cs typeface="DejaVu Sans"/>
              </a:rPr>
              <a:t>Capability support varies by backend and version. GMM and HPP dynamic-BT items follow project-specific descriptions.</a:t>
            </a:r>
          </a:p>
        </p:txBody>
      </p:sp>
      <p:sp>
        <p:nvSpPr>
          <p:cNvPr id="7" name="">
            <a:extLst xmlns:a="http://schemas.openxmlformats.org/drawingml/2006/main">
              <a:ext uri="{FF2B5EF4-FFF2-40B4-BE49-F238E27FC236}">
                <a16:creationId xmlns:a16="http://schemas.microsoft.com/office/drawing/2014/main" id="{B0FB8C49-1DDB-4FC9-9E00-7F4A26D20A62}"/>
              </a:ext>
            </a:extLst>
          </p:cNvPr>
          <p:cNvSpPr>
            <a:spLocks xmlns:a="http://schemas.openxmlformats.org/drawingml/2006/main" noGrp="1"/>
          </p:cNvSpPr>
          <p:nvPr/>
        </p:nvSpPr>
        <p:spPr>
          <a:xfrm xmlns:a="http://schemas.openxmlformats.org/drawingml/2006/main">
            <a:off x="17145000" y="9782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26B7D"/>
                </a:solidFill>
                <a:latin typeface="DejaVu Sans"/>
                <a:ea typeface="DejaVu Sans"/>
                <a:cs typeface="DejaVu Sans"/>
              </a:defRPr>
            </a:defPPr>
          </a:lstStyle>
          <a:p xmlns:a="http://schemas.openxmlformats.org/drawingml/2006/main">
            <a:pPr>
              <a:buNone/>
              <a:defRPr sz="1500" b="0">
                <a:solidFill>
                  <a:srgbClr val="526B7D"/>
                </a:solidFill>
                <a:latin typeface="DejaVu Sans"/>
                <a:ea typeface="DejaVu Sans"/>
                <a:cs typeface="DejaVu Sans"/>
              </a:defRPr>
            </a:pPr>
            <a:r>
              <a:rPr sz="1500" b="0">
                <a:solidFill>
                  <a:srgbClr val="526B7D"/>
                </a:solidFill>
                <a:latin typeface="DejaVu Sans"/>
                <a:ea typeface="DejaVu Sans"/>
                <a:cs typeface="DejaVu Sans"/>
              </a:rPr>
              <a:t>2</a:t>
            </a:r>
          </a:p>
        </p:txBody>
      </p:sp>
    </p:spTree>
    <p:extLst>
      <p:ext uri="{BB962C8B-B14F-4D97-AF65-F5344CB8AC3E}">
        <p14:creationId xmlns:p14="http://schemas.microsoft.com/office/powerpoint/2010/main" val="40655048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62B1561-942E-4547-A1DE-938C92255A5B}"/>
              </a:ext>
            </a:extLst>
          </p:cNvPr>
          <p:cNvSpPr>
            <a:spLocks xmlns:a="http://schemas.openxmlformats.org/drawingml/2006/main" noGrp="1"/>
          </p:cNvSpPr>
          <p:nvPr/>
        </p:nvSpPr>
        <p:spPr>
          <a:xfrm xmlns:a="http://schemas.openxmlformats.org/drawingml/2006/main">
            <a:off x="685800" y="419100"/>
            <a:ext cx="16859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08243D"/>
                </a:solidFill>
                <a:latin typeface="DejaVu Sans"/>
                <a:ea typeface="DejaVu Sans"/>
                <a:cs typeface="DejaVu Sans"/>
              </a:defRPr>
            </a:defPPr>
          </a:lstStyle>
          <a:p xmlns:a="http://schemas.openxmlformats.org/drawingml/2006/main">
            <a:pPr>
              <a:buNone/>
              <a:defRPr sz="3900" b="1">
                <a:solidFill>
                  <a:srgbClr val="08243D"/>
                </a:solidFill>
                <a:latin typeface="DejaVu Sans"/>
                <a:ea typeface="DejaVu Sans"/>
                <a:cs typeface="DejaVu Sans"/>
              </a:defRPr>
            </a:pPr>
            <a:r>
              <a:rPr sz="3900" b="1">
                <a:solidFill>
                  <a:srgbClr val="08243D"/>
                </a:solidFill>
                <a:latin typeface="DejaVu Sans"/>
                <a:ea typeface="DejaVu Sans"/>
                <a:cs typeface="DejaVu Sans"/>
              </a:rPr>
              <a:t>Integration stages 5–8: optimization to execution</a:t>
            </a:r>
          </a:p>
        </p:txBody>
      </p:sp>
      <p:sp>
        <p:nvSpPr>
          <p:cNvPr id="2" name="">
            <a:extLst xmlns:a="http://schemas.openxmlformats.org/drawingml/2006/main">
              <a:ext uri="{FF2B5EF4-FFF2-40B4-BE49-F238E27FC236}">
                <a16:creationId xmlns:a16="http://schemas.microsoft.com/office/drawing/2014/main" id="{885D74B4-0A71-4910-9E34-911033526E6F}"/>
              </a:ext>
            </a:extLst>
          </p:cNvPr>
          <p:cNvSpPr>
            <a:spLocks xmlns:a="http://schemas.openxmlformats.org/drawingml/2006/main" noGrp="1"/>
          </p:cNvSpPr>
          <p:nvPr/>
        </p:nvSpPr>
        <p:spPr>
          <a:xfrm xmlns:a="http://schemas.openxmlformats.org/drawingml/2006/main">
            <a:off x="704850" y="1285875"/>
            <a:ext cx="16764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26B7D"/>
                </a:solidFill>
                <a:latin typeface="DejaVu Sans"/>
                <a:ea typeface="DejaVu Sans"/>
                <a:cs typeface="DejaVu Sans"/>
              </a:defRPr>
            </a:defPPr>
          </a:lstStyle>
          <a:p xmlns:a="http://schemas.openxmlformats.org/drawingml/2006/main">
            <a:pPr>
              <a:buNone/>
              <a:defRPr sz="2100" b="0">
                <a:solidFill>
                  <a:srgbClr val="526B7D"/>
                </a:solidFill>
                <a:latin typeface="DejaVu Sans"/>
                <a:ea typeface="DejaVu Sans"/>
                <a:cs typeface="DejaVu Sans"/>
              </a:defRPr>
            </a:pPr>
            <a:r>
              <a:rPr sz="2100" b="0">
                <a:solidFill>
                  <a:srgbClr val="526B7D"/>
                </a:solidFill>
                <a:latin typeface="DejaVu Sans"/>
                <a:ea typeface="DejaVu Sans"/>
                <a:cs typeface="DejaVu Sans"/>
              </a:rPr>
              <a:t>Connect the existing optimization and execution capabilities to the common pipeline</a:t>
            </a:r>
          </a:p>
        </p:txBody>
      </p:sp>
      <p:graphicFrame>
        <p:nvGraphicFramePr>
          <p:cNvPr id="3" name="">
            <a:extLst xmlns:a="http://schemas.openxmlformats.org/drawingml/2006/main">
              <a:ext uri="{FF2B5EF4-FFF2-40B4-BE49-F238E27FC236}">
                <a16:creationId xmlns:a16="http://schemas.microsoft.com/office/drawing/2014/main" id="{6A9E021D-B76F-45A0-8F18-55558B24A7D7}"/>
              </a:ext>
            </a:extLst>
          </p:cNvPr>
          <p:cNvGraphicFramePr/>
          <p:nvPr/>
        </p:nvGraphicFramePr>
        <p:xfrm>
          <a:off xmlns:a="http://schemas.openxmlformats.org/drawingml/2006/main" x="704850" y="2076450"/>
          <a:ext xmlns:a="http://schemas.openxmlformats.org/drawingml/2006/main" cx="16878300" cy="5829300"/>
        </p:xfrm>
        <a:graphic xmlns:a="http://schemas.openxmlformats.org/drawingml/2006/main">
          <a:graphicData uri="http://schemas.openxmlformats.org/drawingml/2006/table">
            <a:tbl>
              <a:tblPr/>
              <a:tblGrid>
                <a:gridCol w="3476625"/>
                <a:gridCol w="9334500"/>
                <a:gridCol w="4067175"/>
              </a:tblGrid>
              <a:tr h="590550">
                <a:tc>
                  <a:txBody>
                    <a:bodyPr/>
                    <a:lstStyle/>
                    <a:p>
                      <a:r>
                        <a:rPr sz="1875" b="1">
                          <a:solidFill>
                            <a:srgbClr val="FFFFFF"/>
                          </a:solidFill>
                          <a:latin typeface="DejaVu Sans"/>
                          <a:ea typeface="DejaVu Sans"/>
                          <a:cs typeface="DejaVu Sans"/>
                        </a:rPr>
                        <a:t>Integration stage</a:t>
                      </a:r>
                    </a:p>
                  </a:txBody>
                  <a:tcPr marL="91440" marR="91440" marT="45720" marB="45720">
                    <a:solidFill>
                      <a:srgbClr val="08243D"/>
                    </a:solidFill>
                  </a:tcPr>
                </a:tc>
                <a:tc>
                  <a:txBody>
                    <a:bodyPr/>
                    <a:lstStyle/>
                    <a:p>
                      <a:r>
                        <a:rPr sz="1875" b="1">
                          <a:solidFill>
                            <a:srgbClr val="FFFFFF"/>
                          </a:solidFill>
                          <a:latin typeface="DejaVu Sans"/>
                          <a:ea typeface="DejaVu Sans"/>
                          <a:cs typeface="DejaVu Sans"/>
                        </a:rPr>
                        <a:t>Capability to reuse and integration work</a:t>
                      </a:r>
                    </a:p>
                  </a:txBody>
                  <a:tcPr marL="91440" marR="91440" marT="45720" marB="45720">
                    <a:solidFill>
                      <a:srgbClr val="08243D"/>
                    </a:solidFill>
                  </a:tcPr>
                </a:tc>
                <a:tc>
                  <a:txBody>
                    <a:bodyPr/>
                    <a:lstStyle/>
                    <a:p>
                      <a:r>
                        <a:rPr sz="1875" b="1">
                          <a:solidFill>
                            <a:srgbClr val="FFFFFF"/>
                          </a:solidFill>
                          <a:latin typeface="DejaVu Sans"/>
                          <a:ea typeface="DejaVu Sans"/>
                          <a:cs typeface="DejaVu Sans"/>
                        </a:rPr>
                        <a:t>Integration acceptance</a:t>
                      </a:r>
                    </a:p>
                  </a:txBody>
                  <a:tcPr marL="91440" marR="91440" marT="45720" marB="45720">
                    <a:solidFill>
                      <a:srgbClr val="08243D"/>
                    </a:solidFill>
                  </a:tcPr>
                </a:tc>
              </a:tr>
              <a:tr h="1181100">
                <a:tc>
                  <a:txBody>
                    <a:bodyPr/>
                    <a:lstStyle/>
                    <a:p>
                      <a:r>
                        <a:rPr sz="1950" b="1">
                          <a:solidFill>
                            <a:srgbClr val="12334B"/>
                          </a:solidFill>
                          <a:latin typeface="DejaVu Sans"/>
                          <a:ea typeface="DejaVu Sans"/>
                          <a:cs typeface="DejaVu Sans"/>
                        </a:rPr>
                        <a:t>M5  Task / route order</a:t>
                      </a:r>
                    </a:p>
                  </a:txBody>
                  <a:tcPr marL="91440" marR="91440" marT="45720" marB="45720">
                    <a:solidFill>
                      <a:srgbClr val="EFF5F8"/>
                    </a:solidFill>
                  </a:tcPr>
                </a:tc>
                <a:tc>
                  <a:txBody>
                    <a:bodyPr/>
                    <a:lstStyle/>
                    <a:p>
                      <a:r>
                        <a:rPr sz="1950" b="0">
                          <a:solidFill>
                            <a:srgbClr val="12334B"/>
                          </a:solidFill>
                          <a:latin typeface="DejaVu Sans"/>
                          <a:ea typeface="DejaVu Sans"/>
                          <a:cs typeface="DejaVu Sans"/>
                        </a:rPr>
                        <a:t>TSP / GTSP or scheduling adapters. Include robot travel cost, process precedence, tool changes and shared resources.</a:t>
                      </a:r>
                    </a:p>
                  </a:txBody>
                  <a:tcPr marL="91440" marR="91440" marT="45720" marB="45720">
                    <a:solidFill>
                      <a:srgbClr val="EFF5F8"/>
                    </a:solidFill>
                  </a:tcPr>
                </a:tc>
                <a:tc>
                  <a:txBody>
                    <a:bodyPr/>
                    <a:lstStyle/>
                    <a:p>
                      <a:r>
                        <a:rPr sz="1950" b="0">
                          <a:solidFill>
                            <a:srgbClr val="12334B"/>
                          </a:solidFill>
                          <a:latin typeface="DejaVu Sans"/>
                          <a:ea typeface="DejaVu Sans"/>
                          <a:cs typeface="DejaVu Sans"/>
                        </a:rPr>
                        <a:t>Feasible order; cycle-time benefit vs baseline.</a:t>
                      </a:r>
                    </a:p>
                  </a:txBody>
                  <a:tcPr marL="91440" marR="91440" marT="45720" marB="45720">
                    <a:solidFill>
                      <a:srgbClr val="EFF5F8"/>
                    </a:solidFill>
                  </a:tcPr>
                </a:tc>
              </a:tr>
              <a:tr h="1181100">
                <a:tc>
                  <a:txBody>
                    <a:bodyPr/>
                    <a:lstStyle/>
                    <a:p>
                      <a:r>
                        <a:rPr sz="1950" b="1">
                          <a:solidFill>
                            <a:srgbClr val="12334B"/>
                          </a:solidFill>
                          <a:latin typeface="DejaVu Sans"/>
                          <a:ea typeface="DejaVu Sans"/>
                          <a:cs typeface="DejaVu Sans"/>
                        </a:rPr>
                        <a:t>M6  Path / trajectory</a:t>
                      </a:r>
                    </a:p>
                  </a:txBody>
                  <a:tcPr marL="91440" marR="91440" marT="45720" marB="45720">
                    <a:solidFill>
                      <a:srgbClr val="FFFFFF"/>
                    </a:solidFill>
                  </a:tcPr>
                </a:tc>
                <a:tc>
                  <a:txBody>
                    <a:bodyPr/>
                    <a:lstStyle/>
                    <a:p>
                      <a:r>
                        <a:rPr sz="1950" b="0">
                          <a:solidFill>
                            <a:srgbClr val="12334B"/>
                          </a:solidFill>
                          <a:latin typeface="DejaVu Sans"/>
                          <a:ea typeface="DejaVu Sans"/>
                          <a:cs typeface="DejaVu Sans"/>
                        </a:rPr>
                        <a:t>Optimize geometry and timing under joint, process and smoothness limits. Reuse cached paths only after scene / model / tool revalidation.</a:t>
                      </a:r>
                    </a:p>
                  </a:txBody>
                  <a:tcPr marL="91440" marR="91440" marT="45720" marB="45720">
                    <a:solidFill>
                      <a:srgbClr val="FFFFFF"/>
                    </a:solidFill>
                  </a:tcPr>
                </a:tc>
                <a:tc>
                  <a:txBody>
                    <a:bodyPr/>
                    <a:lstStyle/>
                    <a:p>
                      <a:r>
                        <a:rPr sz="1950" b="0">
                          <a:solidFill>
                            <a:srgbClr val="12334B"/>
                          </a:solidFill>
                          <a:latin typeface="DejaVu Sans"/>
                          <a:ea typeface="DejaVu Sans"/>
                          <a:cs typeface="DejaVu Sans"/>
                        </a:rPr>
                        <a:t>Limits, continuity and quality preserved.</a:t>
                      </a:r>
                    </a:p>
                  </a:txBody>
                  <a:tcPr marL="91440" marR="91440" marT="45720" marB="45720">
                    <a:solidFill>
                      <a:srgbClr val="FFFFFF"/>
                    </a:solidFill>
                  </a:tcPr>
                </a:tc>
              </a:tr>
              <a:tr h="1438275">
                <a:tc>
                  <a:txBody>
                    <a:bodyPr/>
                    <a:lstStyle/>
                    <a:p>
                      <a:r>
                        <a:rPr sz="1950" b="1">
                          <a:solidFill>
                            <a:srgbClr val="12334B"/>
                          </a:solidFill>
                          <a:latin typeface="DejaVu Sans"/>
                          <a:ea typeface="DejaVu Sans"/>
                          <a:cs typeface="DejaVu Sans"/>
                        </a:rPr>
                        <a:t>M7  Simulation validation</a:t>
                      </a:r>
                    </a:p>
                  </a:txBody>
                  <a:tcPr marL="91440" marR="91440" marT="45720" marB="45720">
                    <a:solidFill>
                      <a:srgbClr val="EFF5F8"/>
                    </a:solidFill>
                  </a:tcPr>
                </a:tc>
                <a:tc>
                  <a:txBody>
                    <a:bodyPr/>
                    <a:lstStyle/>
                    <a:p>
                      <a:r>
                        <a:rPr sz="1950" b="0">
                          <a:solidFill>
                            <a:srgbClr val="12334B"/>
                          </a:solidFill>
                          <a:latin typeface="DejaVu Sans"/>
                          <a:ea typeface="DejaVu Sans"/>
                          <a:cs typeface="DejaVu Sans"/>
                        </a:rPr>
                        <a:t>Connect selected physics simulator and vendor virtual controller via RXU. Check timing, tracking, I/O and process behavior.</a:t>
                      </a:r>
                    </a:p>
                  </a:txBody>
                  <a:tcPr marL="91440" marR="91440" marT="45720" marB="45720">
                    <a:solidFill>
                      <a:srgbClr val="EFF5F8"/>
                    </a:solidFill>
                  </a:tcPr>
                </a:tc>
                <a:tc>
                  <a:txBody>
                    <a:bodyPr/>
                    <a:lstStyle/>
                    <a:p>
                      <a:r>
                        <a:rPr sz="1950" b="0">
                          <a:solidFill>
                            <a:srgbClr val="12334B"/>
                          </a:solidFill>
                          <a:latin typeface="DejaVu Sans"/>
                          <a:ea typeface="DejaVu Sans"/>
                          <a:cs typeface="DejaVu Sans"/>
                        </a:rPr>
                        <a:t>Execution fidelity checked; simulation is not safety proof.</a:t>
                      </a:r>
                    </a:p>
                  </a:txBody>
                  <a:tcPr marL="91440" marR="91440" marT="45720" marB="45720">
                    <a:solidFill>
                      <a:srgbClr val="EFF5F8"/>
                    </a:solidFill>
                  </a:tcPr>
                </a:tc>
              </a:tr>
              <a:tr h="1438275">
                <a:tc>
                  <a:txBody>
                    <a:bodyPr/>
                    <a:lstStyle/>
                    <a:p>
                      <a:r>
                        <a:rPr sz="1950" b="1">
                          <a:solidFill>
                            <a:srgbClr val="12334B"/>
                          </a:solidFill>
                          <a:latin typeface="DejaVu Sans"/>
                          <a:ea typeface="DejaVu Sans"/>
                          <a:cs typeface="DejaVu Sans"/>
                        </a:rPr>
                        <a:t>M8  RXU execution</a:t>
                      </a:r>
                    </a:p>
                  </a:txBody>
                  <a:tcPr marL="91440" marR="91440" marT="45720" marB="45720">
                    <a:solidFill>
                      <a:srgbClr val="FFFFFF"/>
                    </a:solidFill>
                  </a:tcPr>
                </a:tc>
                <a:tc>
                  <a:txBody>
                    <a:bodyPr/>
                    <a:lstStyle/>
                    <a:p>
                      <a:r>
                        <a:rPr sz="1950" b="0">
                          <a:solidFill>
                            <a:srgbClr val="12334B"/>
                          </a:solidFill>
                          <a:latin typeface="DejaVu Sans"/>
                          <a:ea typeface="DejaVu Sans"/>
                          <a:cs typeface="DejaVu Sans"/>
                        </a:rPr>
                        <a:t>Map trajectories to robot protocols and controller limits. Monitor feedback, buffering and tracking; verify stop / resume and recovery.</a:t>
                      </a:r>
                    </a:p>
                  </a:txBody>
                  <a:tcPr marL="91440" marR="91440" marT="45720" marB="45720">
                    <a:solidFill>
                      <a:srgbClr val="FFFFFF"/>
                    </a:solidFill>
                  </a:tcPr>
                </a:tc>
                <a:tc>
                  <a:txBody>
                    <a:bodyPr/>
                    <a:lstStyle/>
                    <a:p>
                      <a:r>
                        <a:rPr sz="1950" b="0">
                          <a:solidFill>
                            <a:srgbClr val="12334B"/>
                          </a:solidFill>
                          <a:latin typeface="DejaVu Sans"/>
                          <a:ea typeface="DejaVu Sans"/>
                          <a:cs typeface="DejaVu Sans"/>
                        </a:rPr>
                        <a:t>Controlled cell trials and acceptance gates passed.</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93A33F2-48D0-4CD9-83BA-E1D2581DBC37}"/>
              </a:ext>
            </a:extLst>
          </p:cNvPr>
          <p:cNvSpPr>
            <a:spLocks xmlns:a="http://schemas.openxmlformats.org/drawingml/2006/main" noGrp="1"/>
          </p:cNvSpPr>
          <p:nvPr/>
        </p:nvSpPr>
        <p:spPr>
          <a:xfrm xmlns:a="http://schemas.openxmlformats.org/drawingml/2006/main">
            <a:off x="704850" y="8115300"/>
            <a:ext cx="1685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05EAA"/>
                </a:solidFill>
                <a:latin typeface="DejaVu Sans"/>
                <a:ea typeface="DejaVu Sans"/>
                <a:cs typeface="DejaVu Sans"/>
              </a:defRPr>
            </a:defPPr>
          </a:lstStyle>
          <a:p xmlns:a="http://schemas.openxmlformats.org/drawingml/2006/main">
            <a:pPr>
              <a:buNone/>
              <a:defRPr sz="2400" b="1">
                <a:solidFill>
                  <a:srgbClr val="005EAA"/>
                </a:solidFill>
                <a:latin typeface="DejaVu Sans"/>
                <a:ea typeface="DejaVu Sans"/>
                <a:cs typeface="DejaVu Sans"/>
              </a:defRPr>
            </a:pPr>
            <a:r>
              <a:rPr sz="2400" b="1">
                <a:solidFill>
                  <a:srgbClr val="005EAA"/>
                </a:solidFill>
                <a:latin typeface="DejaVu Sans"/>
                <a:ea typeface="DejaVu Sans"/>
                <a:cs typeface="DejaVu Sans"/>
              </a:rPr>
              <a:t>RXU path planner integration</a:t>
            </a:r>
          </a:p>
        </p:txBody>
      </p:sp>
      <p:sp>
        <p:nvSpPr>
          <p:cNvPr id="5" name="">
            <a:extLst xmlns:a="http://schemas.openxmlformats.org/drawingml/2006/main">
              <a:ext uri="{FF2B5EF4-FFF2-40B4-BE49-F238E27FC236}">
                <a16:creationId xmlns:a16="http://schemas.microsoft.com/office/drawing/2014/main" id="{BB4BD013-4544-409C-9F72-CC4DF705CF7C}"/>
              </a:ext>
            </a:extLst>
          </p:cNvPr>
          <p:cNvSpPr>
            <a:spLocks xmlns:a="http://schemas.openxmlformats.org/drawingml/2006/main" noGrp="1"/>
          </p:cNvSpPr>
          <p:nvPr/>
        </p:nvSpPr>
        <p:spPr>
          <a:xfrm xmlns:a="http://schemas.openxmlformats.org/drawingml/2006/main">
            <a:off x="704850" y="8658225"/>
            <a:ext cx="16859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2334B"/>
                </a:solidFill>
                <a:latin typeface="DejaVu Sans"/>
                <a:ea typeface="DejaVu Sans"/>
                <a:cs typeface="DejaVu Sans"/>
              </a:defRPr>
            </a:defPPr>
          </a:lstStyle>
          <a:p xmlns:a="http://schemas.openxmlformats.org/drawingml/2006/main">
            <a:pPr>
              <a:buNone/>
              <a:defRPr sz="2025" b="0">
                <a:solidFill>
                  <a:srgbClr val="12334B"/>
                </a:solidFill>
                <a:latin typeface="DejaVu Sans"/>
                <a:ea typeface="DejaVu Sans"/>
                <a:cs typeface="DejaVu Sans"/>
              </a:defRPr>
            </a:pPr>
            <a:r>
              <a:rPr sz="2025" b="0">
                <a:solidFill>
                  <a:srgbClr val="12334B"/>
                </a:solidFill>
                <a:latin typeface="DejaVu Sans"/>
                <a:ea typeface="DejaVu Sans"/>
                <a:cs typeface="DejaVu Sans"/>
              </a:rPr>
              <a:t>RXU owns connectivity and execution feedback. Planner adapters share contracts; simulator and controller support are qualified per robot / process.</a:t>
            </a:r>
          </a:p>
        </p:txBody>
      </p:sp>
      <p:sp>
        <p:nvSpPr>
          <p:cNvPr id="6" name="">
            <a:extLst xmlns:a="http://schemas.openxmlformats.org/drawingml/2006/main">
              <a:ext uri="{FF2B5EF4-FFF2-40B4-BE49-F238E27FC236}">
                <a16:creationId xmlns:a16="http://schemas.microsoft.com/office/drawing/2014/main" id="{D7CE0548-9EB0-47F8-9562-44520B285F6D}"/>
              </a:ext>
            </a:extLst>
          </p:cNvPr>
          <p:cNvSpPr>
            <a:spLocks xmlns:a="http://schemas.openxmlformats.org/drawingml/2006/main" noGrp="1"/>
          </p:cNvSpPr>
          <p:nvPr/>
        </p:nvSpPr>
        <p:spPr>
          <a:xfrm xmlns:a="http://schemas.openxmlformats.org/drawingml/2006/main">
            <a:off x="704850" y="9782175"/>
            <a:ext cx="1609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B7D"/>
                </a:solidFill>
                <a:latin typeface="DejaVu Sans"/>
                <a:ea typeface="DejaVu Sans"/>
                <a:cs typeface="DejaVu Sans"/>
              </a:defRPr>
            </a:defPPr>
          </a:lstStyle>
          <a:p xmlns:a="http://schemas.openxmlformats.org/drawingml/2006/main">
            <a:pPr>
              <a:buNone/>
              <a:defRPr sz="1425" b="0">
                <a:solidFill>
                  <a:srgbClr val="526B7D"/>
                </a:solidFill>
                <a:latin typeface="DejaVu Sans"/>
                <a:ea typeface="DejaVu Sans"/>
                <a:cs typeface="DejaVu Sans"/>
              </a:defRPr>
            </a:pPr>
            <a:r>
              <a:rPr sz="1425" b="0">
                <a:solidFill>
                  <a:srgbClr val="526B7D"/>
                </a:solidFill>
                <a:latin typeface="DejaVu Sans"/>
                <a:ea typeface="DejaVu Sans"/>
                <a:cs typeface="DejaVu Sans"/>
              </a:rPr>
              <a:t>Simulation supports validation. Physical commissioning and the cell safety system remain necessary.</a:t>
            </a:r>
          </a:p>
        </p:txBody>
      </p:sp>
      <p:sp>
        <p:nvSpPr>
          <p:cNvPr id="7" name="">
            <a:extLst xmlns:a="http://schemas.openxmlformats.org/drawingml/2006/main">
              <a:ext uri="{FF2B5EF4-FFF2-40B4-BE49-F238E27FC236}">
                <a16:creationId xmlns:a16="http://schemas.microsoft.com/office/drawing/2014/main" id="{290149FE-6CA4-4091-B449-13FA08F49427}"/>
              </a:ext>
            </a:extLst>
          </p:cNvPr>
          <p:cNvSpPr>
            <a:spLocks xmlns:a="http://schemas.openxmlformats.org/drawingml/2006/main" noGrp="1"/>
          </p:cNvSpPr>
          <p:nvPr/>
        </p:nvSpPr>
        <p:spPr>
          <a:xfrm xmlns:a="http://schemas.openxmlformats.org/drawingml/2006/main">
            <a:off x="17145000" y="9782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26B7D"/>
                </a:solidFill>
                <a:latin typeface="DejaVu Sans"/>
                <a:ea typeface="DejaVu Sans"/>
                <a:cs typeface="DejaVu Sans"/>
              </a:defRPr>
            </a:defPPr>
          </a:lstStyle>
          <a:p xmlns:a="http://schemas.openxmlformats.org/drawingml/2006/main">
            <a:pPr>
              <a:buNone/>
              <a:defRPr sz="1500" b="0">
                <a:solidFill>
                  <a:srgbClr val="526B7D"/>
                </a:solidFill>
                <a:latin typeface="DejaVu Sans"/>
                <a:ea typeface="DejaVu Sans"/>
                <a:cs typeface="DejaVu Sans"/>
              </a:defRPr>
            </a:pPr>
            <a:r>
              <a:rPr sz="1500" b="0">
                <a:solidFill>
                  <a:srgbClr val="526B7D"/>
                </a:solidFill>
                <a:latin typeface="DejaVu Sans"/>
                <a:ea typeface="DejaVu Sans"/>
                <a:cs typeface="DejaVu Sans"/>
              </a:rPr>
              <a:t>3</a:t>
            </a:r>
          </a:p>
        </p:txBody>
      </p:sp>
    </p:spTree>
    <p:extLst>
      <p:ext uri="{BB962C8B-B14F-4D97-AF65-F5344CB8AC3E}">
        <p14:creationId xmlns:p14="http://schemas.microsoft.com/office/powerpoint/2010/main" val="1393124593"/>
      </p:ext>
    </p:extLst>
  </p:cSld>
</p:sld>
</file>

<file path=ppt/slides/slide4.xml><?xml version="1.0" encoding="utf-8"?>
<p:sld xmlns:p="http://schemas.openxmlformats.org/presentationml/2006/main">
  <p:cSld>
    <p:bg>
      <p:bgPr>
        <a:solidFill xmlns:a="http://schemas.openxmlformats.org/drawingml/2006/main">
          <a:srgbClr val="08243D"/>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D5C3C749-3280-496D-A726-79A5626167E2}"/>
              </a:ext>
            </a:extLst>
          </p:cNvPr>
          <p:cNvSpPr>
            <a:spLocks xmlns:a="http://schemas.openxmlformats.org/drawingml/2006/main" noGrp="1"/>
          </p:cNvSpPr>
          <p:nvPr/>
        </p:nvSpPr>
        <p:spPr>
          <a:xfrm xmlns:a="http://schemas.openxmlformats.org/drawingml/2006/main">
            <a:off x="685800" y="419100"/>
            <a:ext cx="16859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FFFFFF"/>
                </a:solidFill>
                <a:latin typeface="DejaVu Sans"/>
                <a:ea typeface="DejaVu Sans"/>
                <a:cs typeface="DejaVu Sans"/>
              </a:defRPr>
            </a:defPPr>
          </a:lstStyle>
          <a:p xmlns:a="http://schemas.openxmlformats.org/drawingml/2006/main">
            <a:pPr>
              <a:buNone/>
              <a:defRPr sz="3900" b="1">
                <a:solidFill>
                  <a:srgbClr val="FFFFFF"/>
                </a:solidFill>
                <a:latin typeface="DejaVu Sans"/>
                <a:ea typeface="DejaVu Sans"/>
                <a:cs typeface="DejaVu Sans"/>
              </a:defRPr>
            </a:pPr>
            <a:r>
              <a:rPr sz="3900" b="1">
                <a:solidFill>
                  <a:srgbClr val="FFFFFF"/>
                </a:solidFill>
                <a:latin typeface="DejaVu Sans"/>
                <a:ea typeface="DejaVu Sans"/>
                <a:cs typeface="DejaVu Sans"/>
              </a:rPr>
              <a:t>Stepwise framework integration roadmap</a:t>
            </a:r>
          </a:p>
        </p:txBody>
      </p:sp>
      <p:sp>
        <p:nvSpPr>
          <p:cNvPr id="2" name="">
            <a:extLst xmlns:a="http://schemas.openxmlformats.org/drawingml/2006/main">
              <a:ext uri="{FF2B5EF4-FFF2-40B4-BE49-F238E27FC236}">
                <a16:creationId xmlns:a16="http://schemas.microsoft.com/office/drawing/2014/main" id="{54F2CEB4-3EEA-45BA-9252-600DFD9002BC}"/>
              </a:ext>
            </a:extLst>
          </p:cNvPr>
          <p:cNvSpPr>
            <a:spLocks xmlns:a="http://schemas.openxmlformats.org/drawingml/2006/main" noGrp="1"/>
          </p:cNvSpPr>
          <p:nvPr/>
        </p:nvSpPr>
        <p:spPr>
          <a:xfrm xmlns:a="http://schemas.openxmlformats.org/drawingml/2006/main">
            <a:off x="704850" y="1285875"/>
            <a:ext cx="16764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BDCFDD"/>
                </a:solidFill>
                <a:latin typeface="DejaVu Sans"/>
                <a:ea typeface="DejaVu Sans"/>
                <a:cs typeface="DejaVu Sans"/>
              </a:defRPr>
            </a:defPPr>
          </a:lstStyle>
          <a:p xmlns:a="http://schemas.openxmlformats.org/drawingml/2006/main">
            <a:pPr>
              <a:buNone/>
              <a:defRPr sz="2100" b="0">
                <a:solidFill>
                  <a:srgbClr val="BDCFDD"/>
                </a:solidFill>
                <a:latin typeface="DejaVu Sans"/>
                <a:ea typeface="DejaVu Sans"/>
                <a:cs typeface="DejaVu Sans"/>
              </a:defRPr>
            </a:pPr>
            <a:r>
              <a:rPr sz="2100" b="0">
                <a:solidFill>
                  <a:srgbClr val="BDCFDD"/>
                </a:solidFill>
                <a:latin typeface="DejaVu Sans"/>
                <a:ea typeface="DejaVu Sans"/>
                <a:cs typeface="DejaVu Sans"/>
              </a:rPr>
              <a:t>2027 integrates and verifies existing capabilities. Later R&amp;T extends the supported operating conditions.</a:t>
            </a:r>
          </a:p>
        </p:txBody>
      </p:sp>
      <p:cxnSp>
        <p:nvCxnSpPr>
          <p:cNvPr id="3" name="">
            <a:extLst xmlns:a="http://schemas.openxmlformats.org/drawingml/2006/main">
              <a:ext uri="{FF2B5EF4-FFF2-40B4-BE49-F238E27FC236}">
                <a16:creationId xmlns:a16="http://schemas.microsoft.com/office/drawing/2014/main" id="{B408F1F8-03A6-4057-AD5B-2794DC235832}"/>
              </a:ext>
            </a:extLst>
          </p:cNvPr>
          <p:cNvCxnSpPr/>
          <p:nvPr/>
        </p:nvCxnSpPr>
        <p:spPr>
          <a:xfrm xmlns:a="http://schemas.openxmlformats.org/drawingml/2006/main">
            <a:off x="704850" y="2743200"/>
            <a:ext cx="16878300" cy="0"/>
          </a:xfrm>
          <a:prstGeom xmlns:a="http://schemas.openxmlformats.org/drawingml/2006/main" prst="straightConnector1">
            <a:avLst/>
          </a:prstGeom>
          <a:ln xmlns:a="http://schemas.openxmlformats.org/drawingml/2006/main" w="28575">
            <a:solidFill>
              <a:srgbClr val="55758B"/>
            </a:solidFill>
          </a:ln>
        </p:spPr>
      </p:cxnSp>
      <p:sp>
        <p:nvSpPr>
          <p:cNvPr id="4" name="">
            <a:extLst xmlns:a="http://schemas.openxmlformats.org/drawingml/2006/main">
              <a:ext uri="{FF2B5EF4-FFF2-40B4-BE49-F238E27FC236}">
                <a16:creationId xmlns:a16="http://schemas.microsoft.com/office/drawing/2014/main" id="{988349BE-B703-4A95-A467-91E974D20D39}"/>
              </a:ext>
            </a:extLst>
          </p:cNvPr>
          <p:cNvSpPr>
            <a:spLocks xmlns:a="http://schemas.openxmlformats.org/drawingml/2006/main" noGrp="1"/>
          </p:cNvSpPr>
          <p:nvPr/>
        </p:nvSpPr>
        <p:spPr>
          <a:xfrm xmlns:a="http://schemas.openxmlformats.org/drawingml/2006/main">
            <a:off x="704850" y="2085975"/>
            <a:ext cx="4000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4FD1C5"/>
                </a:solidFill>
                <a:latin typeface="DejaVu Sans"/>
                <a:ea typeface="DejaVu Sans"/>
                <a:cs typeface="DejaVu Sans"/>
              </a:defRPr>
            </a:defPPr>
          </a:lstStyle>
          <a:p xmlns:a="http://schemas.openxmlformats.org/drawingml/2006/main">
            <a:pPr>
              <a:buNone/>
              <a:defRPr sz="2850" b="1">
                <a:solidFill>
                  <a:srgbClr val="4FD1C5"/>
                </a:solidFill>
                <a:latin typeface="DejaVu Sans"/>
                <a:ea typeface="DejaVu Sans"/>
                <a:cs typeface="DejaVu Sans"/>
              </a:defRPr>
            </a:pPr>
            <a:r>
              <a:rPr sz="2850" b="1">
                <a:solidFill>
                  <a:srgbClr val="4FD1C5"/>
                </a:solidFill>
                <a:latin typeface="DejaVu Sans"/>
                <a:ea typeface="DejaVu Sans"/>
                <a:cs typeface="DejaVu Sans"/>
              </a:rPr>
              <a:t>Q1 2027</a:t>
            </a:r>
          </a:p>
        </p:txBody>
      </p:sp>
      <p:sp>
        <p:nvSpPr>
          <p:cNvPr id="5" name="">
            <a:extLst xmlns:a="http://schemas.openxmlformats.org/drawingml/2006/main">
              <a:ext uri="{FF2B5EF4-FFF2-40B4-BE49-F238E27FC236}">
                <a16:creationId xmlns:a16="http://schemas.microsoft.com/office/drawing/2014/main" id="{B737B1C5-AA43-4993-9726-84317BBD0ED7}"/>
              </a:ext>
            </a:extLst>
          </p:cNvPr>
          <p:cNvSpPr>
            <a:spLocks xmlns:a="http://schemas.openxmlformats.org/drawingml/2006/main" noGrp="1"/>
          </p:cNvSpPr>
          <p:nvPr/>
        </p:nvSpPr>
        <p:spPr>
          <a:xfrm xmlns:a="http://schemas.openxmlformats.org/drawingml/2006/main">
            <a:off x="704850" y="3076575"/>
            <a:ext cx="4000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FFFFFF"/>
                </a:solidFill>
                <a:latin typeface="DejaVu Sans"/>
                <a:ea typeface="DejaVu Sans"/>
                <a:cs typeface="DejaVu Sans"/>
              </a:defRPr>
            </a:defPPr>
          </a:lstStyle>
          <a:p xmlns:a="http://schemas.openxmlformats.org/drawingml/2006/main">
            <a:pPr>
              <a:buNone/>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M1  Connect data adapters</a:t>
            </a:r>
          </a:p>
        </p:txBody>
      </p:sp>
      <p:sp>
        <p:nvSpPr>
          <p:cNvPr id="6" name="">
            <a:extLst xmlns:a="http://schemas.openxmlformats.org/drawingml/2006/main">
              <a:ext uri="{FF2B5EF4-FFF2-40B4-BE49-F238E27FC236}">
                <a16:creationId xmlns:a16="http://schemas.microsoft.com/office/drawing/2014/main" id="{A9119396-AC40-454F-9533-D403A8A74832}"/>
              </a:ext>
            </a:extLst>
          </p:cNvPr>
          <p:cNvSpPr>
            <a:spLocks xmlns:a="http://schemas.openxmlformats.org/drawingml/2006/main" noGrp="1"/>
          </p:cNvSpPr>
          <p:nvPr/>
        </p:nvSpPr>
        <p:spPr>
          <a:xfrm xmlns:a="http://schemas.openxmlformats.org/drawingml/2006/main">
            <a:off x="704850" y="3962400"/>
            <a:ext cx="4000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DejaVu Sans"/>
                <a:ea typeface="DejaVu Sans"/>
                <a:cs typeface="DejaVu Sans"/>
              </a:defRPr>
            </a:defPPr>
          </a:lstStyle>
          <a:p xmlns:a="http://schemas.openxmlformats.org/drawingml/2006/main">
            <a:pPr>
              <a:buNone/>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M2  Wrap toolpath options</a:t>
            </a:r>
          </a:p>
        </p:txBody>
      </p:sp>
      <p:sp>
        <p:nvSpPr>
          <p:cNvPr id="7" name="">
            <a:extLst xmlns:a="http://schemas.openxmlformats.org/drawingml/2006/main">
              <a:ext uri="{FF2B5EF4-FFF2-40B4-BE49-F238E27FC236}">
                <a16:creationId xmlns:a16="http://schemas.microsoft.com/office/drawing/2014/main" id="{04B6658F-1B41-4534-AA6F-A2A449F25D48}"/>
              </a:ext>
            </a:extLst>
          </p:cNvPr>
          <p:cNvSpPr>
            <a:spLocks xmlns:a="http://schemas.openxmlformats.org/drawingml/2006/main" noGrp="1"/>
          </p:cNvSpPr>
          <p:nvPr/>
        </p:nvSpPr>
        <p:spPr>
          <a:xfrm xmlns:a="http://schemas.openxmlformats.org/drawingml/2006/main">
            <a:off x="704850" y="4981575"/>
            <a:ext cx="40005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BED5E2"/>
                </a:solidFill>
                <a:latin typeface="DejaVu Sans"/>
                <a:ea typeface="DejaVu Sans"/>
                <a:cs typeface="DejaVu Sans"/>
              </a:defRPr>
            </a:defPPr>
          </a:lstStyle>
          <a:p xmlns:a="http://schemas.openxmlformats.org/drawingml/2006/main">
            <a:pPr>
              <a:buNone/>
              <a:defRPr sz="1800" b="0">
                <a:solidFill>
                  <a:srgbClr val="BED5E2"/>
                </a:solidFill>
                <a:latin typeface="DejaVu Sans"/>
                <a:ea typeface="DejaVu Sans"/>
                <a:cs typeface="DejaVu Sans"/>
              </a:defRPr>
            </a:pPr>
            <a:r>
              <a:rPr sz="1800" b="0">
                <a:solidFill>
                  <a:srgbClr val="BED5E2"/>
                </a:solidFill>
                <a:latin typeface="DejaVu Sans"/>
                <a:ea typeface="DejaVu Sans"/>
                <a:cs typeface="DejaVu Sans"/>
              </a:rPr>
              <a:t>Gate: toolpath through common API</a:t>
            </a:r>
          </a:p>
        </p:txBody>
      </p:sp>
      <p:sp>
        <p:nvSpPr>
          <p:cNvPr id="8" name="">
            <a:extLst xmlns:a="http://schemas.openxmlformats.org/drawingml/2006/main">
              <a:ext uri="{FF2B5EF4-FFF2-40B4-BE49-F238E27FC236}">
                <a16:creationId xmlns:a16="http://schemas.microsoft.com/office/drawing/2014/main" id="{F71A7F44-45C4-48D2-A60F-BF17D9E55D4A}"/>
              </a:ext>
            </a:extLst>
          </p:cNvPr>
          <p:cNvSpPr>
            <a:spLocks xmlns:a="http://schemas.openxmlformats.org/drawingml/2006/main" noGrp="1"/>
          </p:cNvSpPr>
          <p:nvPr/>
        </p:nvSpPr>
        <p:spPr>
          <a:xfrm xmlns:a="http://schemas.openxmlformats.org/drawingml/2006/main">
            <a:off x="5000625" y="2085975"/>
            <a:ext cx="4000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4FD1C5"/>
                </a:solidFill>
                <a:latin typeface="DejaVu Sans"/>
                <a:ea typeface="DejaVu Sans"/>
                <a:cs typeface="DejaVu Sans"/>
              </a:defRPr>
            </a:defPPr>
          </a:lstStyle>
          <a:p xmlns:a="http://schemas.openxmlformats.org/drawingml/2006/main">
            <a:pPr>
              <a:buNone/>
              <a:defRPr sz="2850" b="1">
                <a:solidFill>
                  <a:srgbClr val="4FD1C5"/>
                </a:solidFill>
                <a:latin typeface="DejaVu Sans"/>
                <a:ea typeface="DejaVu Sans"/>
                <a:cs typeface="DejaVu Sans"/>
              </a:defRPr>
            </a:pPr>
            <a:r>
              <a:rPr sz="2850" b="1">
                <a:solidFill>
                  <a:srgbClr val="4FD1C5"/>
                </a:solidFill>
                <a:latin typeface="DejaVu Sans"/>
                <a:ea typeface="DejaVu Sans"/>
                <a:cs typeface="DejaVu Sans"/>
              </a:rPr>
              <a:t>Q2 2027</a:t>
            </a:r>
          </a:p>
        </p:txBody>
      </p:sp>
      <p:sp>
        <p:nvSpPr>
          <p:cNvPr id="9" name="">
            <a:extLst xmlns:a="http://schemas.openxmlformats.org/drawingml/2006/main">
              <a:ext uri="{FF2B5EF4-FFF2-40B4-BE49-F238E27FC236}">
                <a16:creationId xmlns:a16="http://schemas.microsoft.com/office/drawing/2014/main" id="{4533DA1D-57A6-4D15-9B56-D63A3C71D612}"/>
              </a:ext>
            </a:extLst>
          </p:cNvPr>
          <p:cNvSpPr>
            <a:spLocks xmlns:a="http://schemas.openxmlformats.org/drawingml/2006/main" noGrp="1"/>
          </p:cNvSpPr>
          <p:nvPr/>
        </p:nvSpPr>
        <p:spPr>
          <a:xfrm xmlns:a="http://schemas.openxmlformats.org/drawingml/2006/main">
            <a:off x="5000625" y="3076575"/>
            <a:ext cx="4000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FFFFFF"/>
                </a:solidFill>
                <a:latin typeface="DejaVu Sans"/>
                <a:ea typeface="DejaVu Sans"/>
                <a:cs typeface="DejaVu Sans"/>
              </a:defRPr>
            </a:defPPr>
          </a:lstStyle>
          <a:p xmlns:a="http://schemas.openxmlformats.org/drawingml/2006/main">
            <a:pPr>
              <a:buNone/>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M3  Integrate planner APIs</a:t>
            </a:r>
          </a:p>
        </p:txBody>
      </p:sp>
      <p:sp>
        <p:nvSpPr>
          <p:cNvPr id="10" name="">
            <a:extLst xmlns:a="http://schemas.openxmlformats.org/drawingml/2006/main">
              <a:ext uri="{FF2B5EF4-FFF2-40B4-BE49-F238E27FC236}">
                <a16:creationId xmlns:a16="http://schemas.microsoft.com/office/drawing/2014/main" id="{E32741F7-3C4E-4DD7-A829-B59855CA477B}"/>
              </a:ext>
            </a:extLst>
          </p:cNvPr>
          <p:cNvSpPr>
            <a:spLocks xmlns:a="http://schemas.openxmlformats.org/drawingml/2006/main" noGrp="1"/>
          </p:cNvSpPr>
          <p:nvPr/>
        </p:nvSpPr>
        <p:spPr>
          <a:xfrm xmlns:a="http://schemas.openxmlformats.org/drawingml/2006/main">
            <a:off x="5000625" y="3962400"/>
            <a:ext cx="4000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DejaVu Sans"/>
                <a:ea typeface="DejaVu Sans"/>
                <a:cs typeface="DejaVu Sans"/>
              </a:defRPr>
            </a:defPPr>
          </a:lstStyle>
          <a:p xmlns:a="http://schemas.openxmlformats.org/drawingml/2006/main">
            <a:pPr>
              <a:buNone/>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M4  Unify path checks</a:t>
            </a:r>
          </a:p>
        </p:txBody>
      </p:sp>
      <p:sp>
        <p:nvSpPr>
          <p:cNvPr id="11" name="">
            <a:extLst xmlns:a="http://schemas.openxmlformats.org/drawingml/2006/main">
              <a:ext uri="{FF2B5EF4-FFF2-40B4-BE49-F238E27FC236}">
                <a16:creationId xmlns:a16="http://schemas.microsoft.com/office/drawing/2014/main" id="{78C66D6F-7002-477E-B9B7-94A4E24C4E15}"/>
              </a:ext>
            </a:extLst>
          </p:cNvPr>
          <p:cNvSpPr>
            <a:spLocks xmlns:a="http://schemas.openxmlformats.org/drawingml/2006/main" noGrp="1"/>
          </p:cNvSpPr>
          <p:nvPr/>
        </p:nvSpPr>
        <p:spPr>
          <a:xfrm xmlns:a="http://schemas.openxmlformats.org/drawingml/2006/main">
            <a:off x="5000625" y="4981575"/>
            <a:ext cx="40005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BED5E2"/>
                </a:solidFill>
                <a:latin typeface="DejaVu Sans"/>
                <a:ea typeface="DejaVu Sans"/>
                <a:cs typeface="DejaVu Sans"/>
              </a:defRPr>
            </a:defPPr>
          </a:lstStyle>
          <a:p xmlns:a="http://schemas.openxmlformats.org/drawingml/2006/main">
            <a:pPr>
              <a:buNone/>
              <a:defRPr sz="1800" b="0">
                <a:solidFill>
                  <a:srgbClr val="BED5E2"/>
                </a:solidFill>
                <a:latin typeface="DejaVu Sans"/>
                <a:ea typeface="DejaVu Sans"/>
                <a:cs typeface="DejaVu Sans"/>
              </a:defRPr>
            </a:pPr>
            <a:r>
              <a:rPr sz="1800" b="0">
                <a:solidFill>
                  <a:srgbClr val="BED5E2"/>
                </a:solidFill>
                <a:latin typeface="DejaVu Sans"/>
                <a:ea typeface="DejaVu Sans"/>
                <a:cs typeface="DejaVu Sans"/>
              </a:rPr>
              <a:t>Gate: validated planner output</a:t>
            </a:r>
          </a:p>
        </p:txBody>
      </p:sp>
      <p:sp>
        <p:nvSpPr>
          <p:cNvPr id="12" name="">
            <a:extLst xmlns:a="http://schemas.openxmlformats.org/drawingml/2006/main">
              <a:ext uri="{FF2B5EF4-FFF2-40B4-BE49-F238E27FC236}">
                <a16:creationId xmlns:a16="http://schemas.microsoft.com/office/drawing/2014/main" id="{7791FD71-B37F-4088-AB93-3E80AD6427FA}"/>
              </a:ext>
            </a:extLst>
          </p:cNvPr>
          <p:cNvSpPr>
            <a:spLocks xmlns:a="http://schemas.openxmlformats.org/drawingml/2006/main" noGrp="1"/>
          </p:cNvSpPr>
          <p:nvPr/>
        </p:nvSpPr>
        <p:spPr>
          <a:xfrm xmlns:a="http://schemas.openxmlformats.org/drawingml/2006/main">
            <a:off x="9296400" y="2085975"/>
            <a:ext cx="4000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4FD1C5"/>
                </a:solidFill>
                <a:latin typeface="DejaVu Sans"/>
                <a:ea typeface="DejaVu Sans"/>
                <a:cs typeface="DejaVu Sans"/>
              </a:defRPr>
            </a:defPPr>
          </a:lstStyle>
          <a:p xmlns:a="http://schemas.openxmlformats.org/drawingml/2006/main">
            <a:pPr>
              <a:buNone/>
              <a:defRPr sz="2850" b="1">
                <a:solidFill>
                  <a:srgbClr val="4FD1C5"/>
                </a:solidFill>
                <a:latin typeface="DejaVu Sans"/>
                <a:ea typeface="DejaVu Sans"/>
                <a:cs typeface="DejaVu Sans"/>
              </a:defRPr>
            </a:pPr>
            <a:r>
              <a:rPr sz="2850" b="1">
                <a:solidFill>
                  <a:srgbClr val="4FD1C5"/>
                </a:solidFill>
                <a:latin typeface="DejaVu Sans"/>
                <a:ea typeface="DejaVu Sans"/>
                <a:cs typeface="DejaVu Sans"/>
              </a:rPr>
              <a:t>Q3 2027</a:t>
            </a:r>
          </a:p>
        </p:txBody>
      </p:sp>
      <p:sp>
        <p:nvSpPr>
          <p:cNvPr id="13" name="">
            <a:extLst xmlns:a="http://schemas.openxmlformats.org/drawingml/2006/main">
              <a:ext uri="{FF2B5EF4-FFF2-40B4-BE49-F238E27FC236}">
                <a16:creationId xmlns:a16="http://schemas.microsoft.com/office/drawing/2014/main" id="{CE987C08-D60A-44A6-9C61-EBA694305FD8}"/>
              </a:ext>
            </a:extLst>
          </p:cNvPr>
          <p:cNvSpPr>
            <a:spLocks xmlns:a="http://schemas.openxmlformats.org/drawingml/2006/main" noGrp="1"/>
          </p:cNvSpPr>
          <p:nvPr/>
        </p:nvSpPr>
        <p:spPr>
          <a:xfrm xmlns:a="http://schemas.openxmlformats.org/drawingml/2006/main">
            <a:off x="9296400" y="3076575"/>
            <a:ext cx="4000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FFFFFF"/>
                </a:solidFill>
                <a:latin typeface="DejaVu Sans"/>
                <a:ea typeface="DejaVu Sans"/>
                <a:cs typeface="DejaVu Sans"/>
              </a:defRPr>
            </a:defPPr>
          </a:lstStyle>
          <a:p xmlns:a="http://schemas.openxmlformats.org/drawingml/2006/main">
            <a:pPr>
              <a:buNone/>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M5  Connect sequencing</a:t>
            </a:r>
          </a:p>
        </p:txBody>
      </p:sp>
      <p:sp>
        <p:nvSpPr>
          <p:cNvPr id="14" name="">
            <a:extLst xmlns:a="http://schemas.openxmlformats.org/drawingml/2006/main">
              <a:ext uri="{FF2B5EF4-FFF2-40B4-BE49-F238E27FC236}">
                <a16:creationId xmlns:a16="http://schemas.microsoft.com/office/drawing/2014/main" id="{CC5474B9-699F-4492-8D62-4DE26B8D85AE}"/>
              </a:ext>
            </a:extLst>
          </p:cNvPr>
          <p:cNvSpPr>
            <a:spLocks xmlns:a="http://schemas.openxmlformats.org/drawingml/2006/main" noGrp="1"/>
          </p:cNvSpPr>
          <p:nvPr/>
        </p:nvSpPr>
        <p:spPr>
          <a:xfrm xmlns:a="http://schemas.openxmlformats.org/drawingml/2006/main">
            <a:off x="9296400" y="3962400"/>
            <a:ext cx="4000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DejaVu Sans"/>
                <a:ea typeface="DejaVu Sans"/>
                <a:cs typeface="DejaVu Sans"/>
              </a:defRPr>
            </a:defPPr>
          </a:lstStyle>
          <a:p xmlns:a="http://schemas.openxmlformats.org/drawingml/2006/main">
            <a:pPr>
              <a:buNone/>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M6  Expose optimization</a:t>
            </a:r>
          </a:p>
        </p:txBody>
      </p:sp>
      <p:sp>
        <p:nvSpPr>
          <p:cNvPr id="15" name="">
            <a:extLst xmlns:a="http://schemas.openxmlformats.org/drawingml/2006/main">
              <a:ext uri="{FF2B5EF4-FFF2-40B4-BE49-F238E27FC236}">
                <a16:creationId xmlns:a16="http://schemas.microsoft.com/office/drawing/2014/main" id="{FA7A1C25-FD8A-49AE-B0CD-74BD7274D6D5}"/>
              </a:ext>
            </a:extLst>
          </p:cNvPr>
          <p:cNvSpPr>
            <a:spLocks xmlns:a="http://schemas.openxmlformats.org/drawingml/2006/main" noGrp="1"/>
          </p:cNvSpPr>
          <p:nvPr/>
        </p:nvSpPr>
        <p:spPr>
          <a:xfrm xmlns:a="http://schemas.openxmlformats.org/drawingml/2006/main">
            <a:off x="9296400" y="4981575"/>
            <a:ext cx="40005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BED5E2"/>
                </a:solidFill>
                <a:latin typeface="DejaVu Sans"/>
                <a:ea typeface="DejaVu Sans"/>
                <a:cs typeface="DejaVu Sans"/>
              </a:defRPr>
            </a:defPPr>
          </a:lstStyle>
          <a:p xmlns:a="http://schemas.openxmlformats.org/drawingml/2006/main">
            <a:pPr>
              <a:buNone/>
              <a:defRPr sz="1800" b="0">
                <a:solidFill>
                  <a:srgbClr val="BED5E2"/>
                </a:solidFill>
                <a:latin typeface="DejaVu Sans"/>
                <a:ea typeface="DejaVu Sans"/>
                <a:cs typeface="DejaVu Sans"/>
              </a:defRPr>
            </a:pPr>
            <a:r>
              <a:rPr sz="1800" b="0">
                <a:solidFill>
                  <a:srgbClr val="BED5E2"/>
                </a:solidFill>
                <a:latin typeface="DejaVu Sans"/>
                <a:ea typeface="DejaVu Sans"/>
                <a:cs typeface="DejaVu Sans"/>
              </a:rPr>
              <a:t>Gate: optimized output revalidated</a:t>
            </a:r>
          </a:p>
        </p:txBody>
      </p:sp>
      <p:sp>
        <p:nvSpPr>
          <p:cNvPr id="16" name="">
            <a:extLst xmlns:a="http://schemas.openxmlformats.org/drawingml/2006/main">
              <a:ext uri="{FF2B5EF4-FFF2-40B4-BE49-F238E27FC236}">
                <a16:creationId xmlns:a16="http://schemas.microsoft.com/office/drawing/2014/main" id="{EB63468E-4AA1-4137-85F4-441367845968}"/>
              </a:ext>
            </a:extLst>
          </p:cNvPr>
          <p:cNvSpPr>
            <a:spLocks xmlns:a="http://schemas.openxmlformats.org/drawingml/2006/main" noGrp="1"/>
          </p:cNvSpPr>
          <p:nvPr/>
        </p:nvSpPr>
        <p:spPr>
          <a:xfrm xmlns:a="http://schemas.openxmlformats.org/drawingml/2006/main">
            <a:off x="13592175" y="2085975"/>
            <a:ext cx="4000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4FD1C5"/>
                </a:solidFill>
                <a:latin typeface="DejaVu Sans"/>
                <a:ea typeface="DejaVu Sans"/>
                <a:cs typeface="DejaVu Sans"/>
              </a:defRPr>
            </a:defPPr>
          </a:lstStyle>
          <a:p xmlns:a="http://schemas.openxmlformats.org/drawingml/2006/main">
            <a:pPr>
              <a:buNone/>
              <a:defRPr sz="2850" b="1">
                <a:solidFill>
                  <a:srgbClr val="4FD1C5"/>
                </a:solidFill>
                <a:latin typeface="DejaVu Sans"/>
                <a:ea typeface="DejaVu Sans"/>
                <a:cs typeface="DejaVu Sans"/>
              </a:defRPr>
            </a:pPr>
            <a:r>
              <a:rPr sz="2850" b="1">
                <a:solidFill>
                  <a:srgbClr val="4FD1C5"/>
                </a:solidFill>
                <a:latin typeface="DejaVu Sans"/>
                <a:ea typeface="DejaVu Sans"/>
                <a:cs typeface="DejaVu Sans"/>
              </a:rPr>
              <a:t>Q4 2027</a:t>
            </a:r>
          </a:p>
        </p:txBody>
      </p:sp>
      <p:sp>
        <p:nvSpPr>
          <p:cNvPr id="17" name="">
            <a:extLst xmlns:a="http://schemas.openxmlformats.org/drawingml/2006/main">
              <a:ext uri="{FF2B5EF4-FFF2-40B4-BE49-F238E27FC236}">
                <a16:creationId xmlns:a16="http://schemas.microsoft.com/office/drawing/2014/main" id="{6DF5DE50-1B18-445B-AD0B-B126126ABD6B}"/>
              </a:ext>
            </a:extLst>
          </p:cNvPr>
          <p:cNvSpPr>
            <a:spLocks xmlns:a="http://schemas.openxmlformats.org/drawingml/2006/main" noGrp="1"/>
          </p:cNvSpPr>
          <p:nvPr/>
        </p:nvSpPr>
        <p:spPr>
          <a:xfrm xmlns:a="http://schemas.openxmlformats.org/drawingml/2006/main">
            <a:off x="13592175" y="3076575"/>
            <a:ext cx="4000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FFFFFF"/>
                </a:solidFill>
                <a:latin typeface="DejaVu Sans"/>
                <a:ea typeface="DejaVu Sans"/>
                <a:cs typeface="DejaVu Sans"/>
              </a:defRPr>
            </a:defPPr>
          </a:lstStyle>
          <a:p xmlns:a="http://schemas.openxmlformats.org/drawingml/2006/main">
            <a:pPr>
              <a:buNone/>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M7  Connect simulation</a:t>
            </a:r>
          </a:p>
        </p:txBody>
      </p:sp>
      <p:sp>
        <p:nvSpPr>
          <p:cNvPr id="18" name="">
            <a:extLst xmlns:a="http://schemas.openxmlformats.org/drawingml/2006/main">
              <a:ext uri="{FF2B5EF4-FFF2-40B4-BE49-F238E27FC236}">
                <a16:creationId xmlns:a16="http://schemas.microsoft.com/office/drawing/2014/main" id="{B4937D1F-2FD2-4F13-B979-B9D92FBDF525}"/>
              </a:ext>
            </a:extLst>
          </p:cNvPr>
          <p:cNvSpPr>
            <a:spLocks xmlns:a="http://schemas.openxmlformats.org/drawingml/2006/main" noGrp="1"/>
          </p:cNvSpPr>
          <p:nvPr/>
        </p:nvSpPr>
        <p:spPr>
          <a:xfrm xmlns:a="http://schemas.openxmlformats.org/drawingml/2006/main">
            <a:off x="13592175" y="3962400"/>
            <a:ext cx="4000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DejaVu Sans"/>
                <a:ea typeface="DejaVu Sans"/>
                <a:cs typeface="DejaVu Sans"/>
              </a:defRPr>
            </a:defPPr>
          </a:lstStyle>
          <a:p xmlns:a="http://schemas.openxmlformats.org/drawingml/2006/main">
            <a:pPr>
              <a:buNone/>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M8  Connect robot execution</a:t>
            </a:r>
          </a:p>
        </p:txBody>
      </p:sp>
      <p:sp>
        <p:nvSpPr>
          <p:cNvPr id="19" name="">
            <a:extLst xmlns:a="http://schemas.openxmlformats.org/drawingml/2006/main">
              <a:ext uri="{FF2B5EF4-FFF2-40B4-BE49-F238E27FC236}">
                <a16:creationId xmlns:a16="http://schemas.microsoft.com/office/drawing/2014/main" id="{0C39236A-CB75-46B8-AC3B-C9EC7BBBDD12}"/>
              </a:ext>
            </a:extLst>
          </p:cNvPr>
          <p:cNvSpPr>
            <a:spLocks xmlns:a="http://schemas.openxmlformats.org/drawingml/2006/main" noGrp="1"/>
          </p:cNvSpPr>
          <p:nvPr/>
        </p:nvSpPr>
        <p:spPr>
          <a:xfrm xmlns:a="http://schemas.openxmlformats.org/drawingml/2006/main">
            <a:off x="13592175" y="4981575"/>
            <a:ext cx="40005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BED5E2"/>
                </a:solidFill>
                <a:latin typeface="DejaVu Sans"/>
                <a:ea typeface="DejaVu Sans"/>
                <a:cs typeface="DejaVu Sans"/>
              </a:defRPr>
            </a:defPPr>
          </a:lstStyle>
          <a:p xmlns:a="http://schemas.openxmlformats.org/drawingml/2006/main">
            <a:pPr>
              <a:buNone/>
              <a:defRPr sz="1800" b="0">
                <a:solidFill>
                  <a:srgbClr val="BED5E2"/>
                </a:solidFill>
                <a:latin typeface="DejaVu Sans"/>
                <a:ea typeface="DejaVu Sans"/>
                <a:cs typeface="DejaVu Sans"/>
              </a:defRPr>
            </a:pPr>
            <a:r>
              <a:rPr sz="1800" b="0">
                <a:solidFill>
                  <a:srgbClr val="BED5E2"/>
                </a:solidFill>
                <a:latin typeface="DejaVu Sans"/>
                <a:ea typeface="DejaVu Sans"/>
                <a:cs typeface="DejaVu Sans"/>
              </a:rPr>
              <a:t>Gate: simulation-to-robot evidence</a:t>
            </a:r>
          </a:p>
        </p:txBody>
      </p:sp>
      <p:sp>
        <p:nvSpPr>
          <p:cNvPr id="20" name="">
            <a:extLst xmlns:a="http://schemas.openxmlformats.org/drawingml/2006/main">
              <a:ext uri="{FF2B5EF4-FFF2-40B4-BE49-F238E27FC236}">
                <a16:creationId xmlns:a16="http://schemas.microsoft.com/office/drawing/2014/main" id="{3E4CDA3B-2501-4C3E-86BE-7CDF97B9151D}"/>
              </a:ext>
            </a:extLst>
          </p:cNvPr>
          <p:cNvSpPr>
            <a:spLocks xmlns:a="http://schemas.openxmlformats.org/drawingml/2006/main" noGrp="1"/>
          </p:cNvSpPr>
          <p:nvPr/>
        </p:nvSpPr>
        <p:spPr>
          <a:xfrm xmlns:a="http://schemas.openxmlformats.org/drawingml/2006/main">
            <a:off x="704850" y="5972175"/>
            <a:ext cx="342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4FD1C5"/>
                </a:solidFill>
                <a:latin typeface="DejaVu Sans"/>
                <a:ea typeface="DejaVu Sans"/>
                <a:cs typeface="DejaVu Sans"/>
              </a:defRPr>
            </a:defPPr>
          </a:lstStyle>
          <a:p xmlns:a="http://schemas.openxmlformats.org/drawingml/2006/main">
            <a:pPr>
              <a:buNone/>
              <a:defRPr sz="2025" b="1">
                <a:solidFill>
                  <a:srgbClr val="4FD1C5"/>
                </a:solidFill>
                <a:latin typeface="DejaVu Sans"/>
                <a:ea typeface="DejaVu Sans"/>
                <a:cs typeface="DejaVu Sans"/>
              </a:defRPr>
            </a:pPr>
            <a:r>
              <a:rPr sz="2025" b="1">
                <a:solidFill>
                  <a:srgbClr val="4FD1C5"/>
                </a:solidFill>
                <a:latin typeface="DejaVu Sans"/>
                <a:ea typeface="DejaVu Sans"/>
                <a:cs typeface="DejaVu Sans"/>
              </a:rPr>
              <a:t>Continuous qualification</a:t>
            </a:r>
          </a:p>
        </p:txBody>
      </p:sp>
      <p:sp>
        <p:nvSpPr>
          <p:cNvPr id="21" name="">
            <a:extLst xmlns:a="http://schemas.openxmlformats.org/drawingml/2006/main">
              <a:ext uri="{FF2B5EF4-FFF2-40B4-BE49-F238E27FC236}">
                <a16:creationId xmlns:a16="http://schemas.microsoft.com/office/drawing/2014/main" id="{B02F2DC1-E292-4D5C-8D46-4181E2B9C9A7}"/>
              </a:ext>
            </a:extLst>
          </p:cNvPr>
          <p:cNvSpPr>
            <a:spLocks xmlns:a="http://schemas.openxmlformats.org/drawingml/2006/main" noGrp="1"/>
          </p:cNvSpPr>
          <p:nvPr/>
        </p:nvSpPr>
        <p:spPr>
          <a:xfrm xmlns:a="http://schemas.openxmlformats.org/drawingml/2006/main">
            <a:off x="4400550" y="5924550"/>
            <a:ext cx="13144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DejaVu Sans"/>
                <a:ea typeface="DejaVu Sans"/>
                <a:cs typeface="DejaVu Sans"/>
              </a:defRPr>
            </a:defPPr>
          </a:lstStyle>
          <a:p xmlns:a="http://schemas.openxmlformats.org/drawingml/2006/main">
            <a:pPr>
              <a:buNone/>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Benchmark at every stage; deliver one thin end-to-end use case early.</a:t>
            </a:r>
          </a:p>
          <a:p xmlns:a="http://schemas.openxmlformats.org/drawingml/2006/main">
            <a:pPr>
              <a:buNone/>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Build RXU adapters, regression tests, orchestration and learning-data logs.</a:t>
            </a:r>
          </a:p>
        </p:txBody>
      </p:sp>
      <p:cxnSp>
        <p:nvCxnSpPr>
          <p:cNvPr id="22" name="">
            <a:extLst xmlns:a="http://schemas.openxmlformats.org/drawingml/2006/main">
              <a:ext uri="{FF2B5EF4-FFF2-40B4-BE49-F238E27FC236}">
                <a16:creationId xmlns:a16="http://schemas.microsoft.com/office/drawing/2014/main" id="{09C45158-0118-464E-8873-CF42FAF5648A}"/>
              </a:ext>
            </a:extLst>
          </p:cNvPr>
          <p:cNvCxnSpPr/>
          <p:nvPr/>
        </p:nvCxnSpPr>
        <p:spPr>
          <a:xfrm xmlns:a="http://schemas.openxmlformats.org/drawingml/2006/main">
            <a:off x="704850" y="7000875"/>
            <a:ext cx="16878300" cy="0"/>
          </a:xfrm>
          <a:prstGeom xmlns:a="http://schemas.openxmlformats.org/drawingml/2006/main" prst="straightConnector1">
            <a:avLst/>
          </a:prstGeom>
          <a:ln xmlns:a="http://schemas.openxmlformats.org/drawingml/2006/main" w="19050">
            <a:solidFill>
              <a:srgbClr val="345269"/>
            </a:solidFill>
          </a:ln>
        </p:spPr>
      </p:cxnSp>
      <p:sp>
        <p:nvSpPr>
          <p:cNvPr id="23" name="">
            <a:extLst xmlns:a="http://schemas.openxmlformats.org/drawingml/2006/main">
              <a:ext uri="{FF2B5EF4-FFF2-40B4-BE49-F238E27FC236}">
                <a16:creationId xmlns:a16="http://schemas.microsoft.com/office/drawing/2014/main" id="{E7614951-6369-4010-9A2B-AE8EC1341BFD}"/>
              </a:ext>
            </a:extLst>
          </p:cNvPr>
          <p:cNvSpPr>
            <a:spLocks xmlns:a="http://schemas.openxmlformats.org/drawingml/2006/main" noGrp="1"/>
          </p:cNvSpPr>
          <p:nvPr/>
        </p:nvSpPr>
        <p:spPr>
          <a:xfrm xmlns:a="http://schemas.openxmlformats.org/drawingml/2006/main">
            <a:off x="704850" y="7305675"/>
            <a:ext cx="228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E3B763"/>
                </a:solidFill>
                <a:latin typeface="DejaVu Sans"/>
                <a:ea typeface="DejaVu Sans"/>
                <a:cs typeface="DejaVu Sans"/>
              </a:defRPr>
            </a:defPPr>
          </a:lstStyle>
          <a:p xmlns:a="http://schemas.openxmlformats.org/drawingml/2006/main">
            <a:pPr>
              <a:buNone/>
              <a:defRPr sz="3150" b="1">
                <a:solidFill>
                  <a:srgbClr val="E3B763"/>
                </a:solidFill>
                <a:latin typeface="DejaVu Sans"/>
                <a:ea typeface="DejaVu Sans"/>
                <a:cs typeface="DejaVu Sans"/>
              </a:defRPr>
            </a:pPr>
            <a:r>
              <a:rPr sz="3150" b="1">
                <a:solidFill>
                  <a:srgbClr val="E3B763"/>
                </a:solidFill>
                <a:latin typeface="DejaVu Sans"/>
                <a:ea typeface="DejaVu Sans"/>
                <a:cs typeface="DejaVu Sans"/>
              </a:rPr>
              <a:t>2028</a:t>
            </a:r>
          </a:p>
        </p:txBody>
      </p:sp>
      <p:sp>
        <p:nvSpPr>
          <p:cNvPr id="24" name="">
            <a:extLst xmlns:a="http://schemas.openxmlformats.org/drawingml/2006/main">
              <a:ext uri="{FF2B5EF4-FFF2-40B4-BE49-F238E27FC236}">
                <a16:creationId xmlns:a16="http://schemas.microsoft.com/office/drawing/2014/main" id="{9EC14EB2-0571-43CB-9BAA-F1D6FFEF1D17}"/>
              </a:ext>
            </a:extLst>
          </p:cNvPr>
          <p:cNvSpPr>
            <a:spLocks xmlns:a="http://schemas.openxmlformats.org/drawingml/2006/main" noGrp="1"/>
          </p:cNvSpPr>
          <p:nvPr/>
        </p:nvSpPr>
        <p:spPr>
          <a:xfrm xmlns:a="http://schemas.openxmlformats.org/drawingml/2006/main">
            <a:off x="3219450" y="7353300"/>
            <a:ext cx="571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FFFFFF"/>
                </a:solidFill>
                <a:latin typeface="DejaVu Sans"/>
                <a:ea typeface="DejaVu Sans"/>
                <a:cs typeface="DejaVu Sans"/>
              </a:defRPr>
            </a:defPPr>
          </a:lstStyle>
          <a:p xmlns:a="http://schemas.openxmlformats.org/drawingml/2006/main">
            <a:pPr>
              <a:buNone/>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Dynamic adaptation</a:t>
            </a:r>
          </a:p>
        </p:txBody>
      </p:sp>
      <p:sp>
        <p:nvSpPr>
          <p:cNvPr id="25" name="">
            <a:extLst xmlns:a="http://schemas.openxmlformats.org/drawingml/2006/main">
              <a:ext uri="{FF2B5EF4-FFF2-40B4-BE49-F238E27FC236}">
                <a16:creationId xmlns:a16="http://schemas.microsoft.com/office/drawing/2014/main" id="{F6E1081D-0A96-4B6A-A969-B214B520CF84}"/>
              </a:ext>
            </a:extLst>
          </p:cNvPr>
          <p:cNvSpPr>
            <a:spLocks xmlns:a="http://schemas.openxmlformats.org/drawingml/2006/main" noGrp="1"/>
          </p:cNvSpPr>
          <p:nvPr/>
        </p:nvSpPr>
        <p:spPr>
          <a:xfrm xmlns:a="http://schemas.openxmlformats.org/drawingml/2006/main">
            <a:off x="3219450" y="7905750"/>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E3EDF4"/>
                </a:solidFill>
                <a:latin typeface="DejaVu Sans"/>
                <a:ea typeface="DejaVu Sans"/>
                <a:cs typeface="DejaVu Sans"/>
              </a:defRPr>
            </a:defPPr>
          </a:lstStyle>
          <a:p xmlns:a="http://schemas.openxmlformats.org/drawingml/2006/main">
            <a:pPr>
              <a:buNone/>
              <a:defRPr sz="1950" b="0">
                <a:solidFill>
                  <a:srgbClr val="E3EDF4"/>
                </a:solidFill>
                <a:latin typeface="DejaVu Sans"/>
                <a:ea typeface="DejaVu Sans"/>
                <a:cs typeface="DejaVu Sans"/>
              </a:defRPr>
            </a:pPr>
            <a:r>
              <a:rPr sz="1950" b="0">
                <a:solidFill>
                  <a:srgbClr val="E3EDF4"/>
                </a:solidFill>
                <a:latin typeface="DejaVu Sans"/>
                <a:ea typeface="DejaVu Sans"/>
                <a:cs typeface="DejaVu Sans"/>
              </a:rPr>
              <a:t>Replanning, moving obstacles, local correction and contact-control integration.</a:t>
            </a:r>
          </a:p>
          <a:p xmlns:a="http://schemas.openxmlformats.org/drawingml/2006/main">
            <a:pPr>
              <a:buNone/>
              <a:defRPr sz="1950" b="0">
                <a:solidFill>
                  <a:srgbClr val="E3EDF4"/>
                </a:solidFill>
                <a:latin typeface="DejaVu Sans"/>
                <a:ea typeface="DejaVu Sans"/>
                <a:cs typeface="DejaVu Sans"/>
              </a:defRPr>
            </a:pPr>
            <a:r>
              <a:rPr sz="1950" b="0">
                <a:solidFill>
                  <a:srgbClr val="E3EDF4"/>
                </a:solidFill>
                <a:latin typeface="DejaVu Sans"/>
                <a:ea typeface="DejaVu Sans"/>
                <a:cs typeface="DejaVu Sans"/>
              </a:rPr>
              <a:t>Validate recovery and path reuse; evaluate RMPflow, cuRobo and HPP dynamic BT.</a:t>
            </a:r>
          </a:p>
        </p:txBody>
      </p:sp>
      <p:sp>
        <p:nvSpPr>
          <p:cNvPr id="26" name="">
            <a:extLst xmlns:a="http://schemas.openxmlformats.org/drawingml/2006/main">
              <a:ext uri="{FF2B5EF4-FFF2-40B4-BE49-F238E27FC236}">
                <a16:creationId xmlns:a16="http://schemas.microsoft.com/office/drawing/2014/main" id="{4241228A-9CB4-4C28-A1E0-8C16BFD25FFB}"/>
              </a:ext>
            </a:extLst>
          </p:cNvPr>
          <p:cNvSpPr>
            <a:spLocks xmlns:a="http://schemas.openxmlformats.org/drawingml/2006/main" noGrp="1"/>
          </p:cNvSpPr>
          <p:nvPr/>
        </p:nvSpPr>
        <p:spPr>
          <a:xfrm xmlns:a="http://schemas.openxmlformats.org/drawingml/2006/main">
            <a:off x="704850" y="8810625"/>
            <a:ext cx="228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8BB7F0"/>
                </a:solidFill>
                <a:latin typeface="DejaVu Sans"/>
                <a:ea typeface="DejaVu Sans"/>
                <a:cs typeface="DejaVu Sans"/>
              </a:defRPr>
            </a:defPPr>
          </a:lstStyle>
          <a:p xmlns:a="http://schemas.openxmlformats.org/drawingml/2006/main">
            <a:pPr>
              <a:buNone/>
              <a:defRPr sz="3150" b="1">
                <a:solidFill>
                  <a:srgbClr val="8BB7F0"/>
                </a:solidFill>
                <a:latin typeface="DejaVu Sans"/>
                <a:ea typeface="DejaVu Sans"/>
                <a:cs typeface="DejaVu Sans"/>
              </a:defRPr>
            </a:pPr>
            <a:r>
              <a:rPr sz="3150" b="1">
                <a:solidFill>
                  <a:srgbClr val="8BB7F0"/>
                </a:solidFill>
                <a:latin typeface="DejaVu Sans"/>
                <a:ea typeface="DejaVu Sans"/>
                <a:cs typeface="DejaVu Sans"/>
              </a:rPr>
              <a:t>2029+</a:t>
            </a:r>
          </a:p>
        </p:txBody>
      </p:sp>
      <p:sp>
        <p:nvSpPr>
          <p:cNvPr id="27" name="">
            <a:extLst xmlns:a="http://schemas.openxmlformats.org/drawingml/2006/main">
              <a:ext uri="{FF2B5EF4-FFF2-40B4-BE49-F238E27FC236}">
                <a16:creationId xmlns:a16="http://schemas.microsoft.com/office/drawing/2014/main" id="{8F3DAF94-CF01-49B2-AC8A-8A2FCFFDABDB}"/>
              </a:ext>
            </a:extLst>
          </p:cNvPr>
          <p:cNvSpPr>
            <a:spLocks xmlns:a="http://schemas.openxmlformats.org/drawingml/2006/main" noGrp="1"/>
          </p:cNvSpPr>
          <p:nvPr/>
        </p:nvSpPr>
        <p:spPr>
          <a:xfrm xmlns:a="http://schemas.openxmlformats.org/drawingml/2006/main">
            <a:off x="3219450" y="8810625"/>
            <a:ext cx="5476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FFFFFF"/>
                </a:solidFill>
                <a:latin typeface="DejaVu Sans"/>
                <a:ea typeface="DejaVu Sans"/>
                <a:cs typeface="DejaVu Sans"/>
              </a:defRPr>
            </a:defPPr>
          </a:lstStyle>
          <a:p xmlns:a="http://schemas.openxmlformats.org/drawingml/2006/main">
            <a:pPr>
              <a:buNone/>
              <a:defRPr sz="2325" b="1">
                <a:solidFill>
                  <a:srgbClr val="FFFFFF"/>
                </a:solidFill>
                <a:latin typeface="DejaVu Sans"/>
                <a:ea typeface="DejaVu Sans"/>
                <a:cs typeface="DejaVu Sans"/>
              </a:defRPr>
            </a:pPr>
            <a:r>
              <a:rPr sz="2325" b="1">
                <a:solidFill>
                  <a:srgbClr val="FFFFFF"/>
                </a:solidFill>
                <a:latin typeface="DejaVu Sans"/>
                <a:ea typeface="DejaVu Sans"/>
                <a:cs typeface="DejaVu Sans"/>
              </a:rPr>
              <a:t>Learning under uncertainty</a:t>
            </a:r>
          </a:p>
        </p:txBody>
      </p:sp>
      <p:sp>
        <p:nvSpPr>
          <p:cNvPr id="28" name="">
            <a:extLst xmlns:a="http://schemas.openxmlformats.org/drawingml/2006/main">
              <a:ext uri="{FF2B5EF4-FFF2-40B4-BE49-F238E27FC236}">
                <a16:creationId xmlns:a16="http://schemas.microsoft.com/office/drawing/2014/main" id="{D7415D2F-AA69-42D9-B3E4-0F93FBC3F58A}"/>
              </a:ext>
            </a:extLst>
          </p:cNvPr>
          <p:cNvSpPr>
            <a:spLocks xmlns:a="http://schemas.openxmlformats.org/drawingml/2006/main" noGrp="1"/>
          </p:cNvSpPr>
          <p:nvPr/>
        </p:nvSpPr>
        <p:spPr>
          <a:xfrm xmlns:a="http://schemas.openxmlformats.org/drawingml/2006/main">
            <a:off x="9048750" y="8763000"/>
            <a:ext cx="8477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E3EDF4"/>
                </a:solidFill>
                <a:latin typeface="DejaVu Sans"/>
                <a:ea typeface="DejaVu Sans"/>
                <a:cs typeface="DejaVu Sans"/>
              </a:defRPr>
            </a:defPPr>
          </a:lstStyle>
          <a:p xmlns:a="http://schemas.openxmlformats.org/drawingml/2006/main">
            <a:pPr>
              <a:buNone/>
              <a:defRPr sz="1875" b="0">
                <a:solidFill>
                  <a:srgbClr val="E3EDF4"/>
                </a:solidFill>
                <a:latin typeface="DejaVu Sans"/>
                <a:ea typeface="DejaVu Sans"/>
                <a:cs typeface="DejaVu Sans"/>
              </a:defRPr>
            </a:pPr>
            <a:r>
              <a:rPr sz="1875" b="0">
                <a:solidFill>
                  <a:srgbClr val="E3EDF4"/>
                </a:solidFill>
                <a:latin typeface="DejaVu Sans"/>
                <a:ea typeface="DejaVu Sans"/>
                <a:cs typeface="DejaVu Sans"/>
              </a:rPr>
              <a:t>Cloth / deformables and varied-object grasping:</a:t>
            </a:r>
          </a:p>
          <a:p xmlns:a="http://schemas.openxmlformats.org/drawingml/2006/main">
            <a:pPr>
              <a:buNone/>
              <a:defRPr sz="1875" b="0">
                <a:solidFill>
                  <a:srgbClr val="E3EDF4"/>
                </a:solidFill>
                <a:latin typeface="DejaVu Sans"/>
                <a:ea typeface="DejaVu Sans"/>
                <a:cs typeface="DejaVu Sans"/>
              </a:defRPr>
            </a:pPr>
            <a:r>
              <a:rPr sz="1875" b="0">
                <a:solidFill>
                  <a:srgbClr val="E3EDF4"/>
                </a:solidFill>
                <a:latin typeface="DejaVu Sans"/>
                <a:ea typeface="DejaVu Sans"/>
                <a:cs typeface="DejaVu Sans"/>
              </a:rPr>
              <a:t>compare VLA / imitation learning and RL with conventional baselines.</a:t>
            </a:r>
          </a:p>
        </p:txBody>
      </p:sp>
      <p:sp>
        <p:nvSpPr>
          <p:cNvPr id="29" name="">
            <a:extLst xmlns:a="http://schemas.openxmlformats.org/drawingml/2006/main">
              <a:ext uri="{FF2B5EF4-FFF2-40B4-BE49-F238E27FC236}">
                <a16:creationId xmlns:a16="http://schemas.microsoft.com/office/drawing/2014/main" id="{59F6E2BD-7330-407A-9647-E09AE9D7EB8A}"/>
              </a:ext>
            </a:extLst>
          </p:cNvPr>
          <p:cNvSpPr>
            <a:spLocks xmlns:a="http://schemas.openxmlformats.org/drawingml/2006/main" noGrp="1"/>
          </p:cNvSpPr>
          <p:nvPr/>
        </p:nvSpPr>
        <p:spPr>
          <a:xfrm xmlns:a="http://schemas.openxmlformats.org/drawingml/2006/main">
            <a:off x="704850" y="9782175"/>
            <a:ext cx="1609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BDCFDD"/>
                </a:solidFill>
                <a:latin typeface="DejaVu Sans"/>
                <a:ea typeface="DejaVu Sans"/>
                <a:cs typeface="DejaVu Sans"/>
              </a:defRPr>
            </a:defPPr>
          </a:lstStyle>
          <a:p xmlns:a="http://schemas.openxmlformats.org/drawingml/2006/main">
            <a:pPr>
              <a:buNone/>
              <a:defRPr sz="1425" b="0">
                <a:solidFill>
                  <a:srgbClr val="BDCFDD"/>
                </a:solidFill>
                <a:latin typeface="DejaVu Sans"/>
                <a:ea typeface="DejaVu Sans"/>
                <a:cs typeface="DejaVu Sans"/>
              </a:defRPr>
            </a:pPr>
            <a:r>
              <a:rPr sz="1425" b="0">
                <a:solidFill>
                  <a:srgbClr val="BDCFDD"/>
                </a:solidFill>
                <a:latin typeface="DejaVu Sans"/>
                <a:ea typeface="DejaVu Sans"/>
                <a:cs typeface="DejaVu Sans"/>
              </a:rPr>
              <a:t>Proposed dates depend on resources and robot access. 2028 expansion targets potential LuFo funding. Learning data preparation starts in 2027.</a:t>
            </a:r>
          </a:p>
        </p:txBody>
      </p:sp>
      <p:sp>
        <p:nvSpPr>
          <p:cNvPr id="30" name="">
            <a:extLst xmlns:a="http://schemas.openxmlformats.org/drawingml/2006/main">
              <a:ext uri="{FF2B5EF4-FFF2-40B4-BE49-F238E27FC236}">
                <a16:creationId xmlns:a16="http://schemas.microsoft.com/office/drawing/2014/main" id="{D85CDD80-696A-494F-8844-F41F5AFFBF3C}"/>
              </a:ext>
            </a:extLst>
          </p:cNvPr>
          <p:cNvSpPr>
            <a:spLocks xmlns:a="http://schemas.openxmlformats.org/drawingml/2006/main" noGrp="1"/>
          </p:cNvSpPr>
          <p:nvPr/>
        </p:nvSpPr>
        <p:spPr>
          <a:xfrm xmlns:a="http://schemas.openxmlformats.org/drawingml/2006/main">
            <a:off x="17145000" y="9782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FFFFFF"/>
                </a:solidFill>
                <a:latin typeface="DejaVu Sans"/>
                <a:ea typeface="DejaVu Sans"/>
                <a:cs typeface="DejaVu Sans"/>
              </a:defRPr>
            </a:defPPr>
          </a:lstStyle>
          <a:p xmlns:a="http://schemas.openxmlformats.org/drawingml/2006/main">
            <a:pPr>
              <a:buNone/>
              <a:defRPr sz="1500" b="0">
                <a:solidFill>
                  <a:srgbClr val="FFFFFF"/>
                </a:solidFill>
                <a:latin typeface="DejaVu Sans"/>
                <a:ea typeface="DejaVu Sans"/>
                <a:cs typeface="DejaVu Sans"/>
              </a:defRPr>
            </a:pPr>
            <a:r>
              <a:rPr sz="1500" b="0">
                <a:solidFill>
                  <a:srgbClr val="FFFFFF"/>
                </a:solidFill>
                <a:latin typeface="DejaVu Sans"/>
                <a:ea typeface="DejaVu Sans"/>
                <a:cs typeface="DejaVu Sans"/>
              </a:rPr>
              <a:t>4</a:t>
            </a:r>
          </a:p>
        </p:txBody>
      </p:sp>
    </p:spTree>
    <p:extLst>
      <p:ext uri="{BB962C8B-B14F-4D97-AF65-F5344CB8AC3E}">
        <p14:creationId xmlns:p14="http://schemas.microsoft.com/office/powerpoint/2010/main" val="6789519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62B1561-942E-4547-A1DE-938C92255A5B}"/>
              </a:ext>
            </a:extLst>
          </p:cNvPr>
          <p:cNvSpPr>
            <a:spLocks xmlns:a="http://schemas.openxmlformats.org/drawingml/2006/main" noGrp="1"/>
          </p:cNvSpPr>
          <p:nvPr/>
        </p:nvSpPr>
        <p:spPr>
          <a:xfrm xmlns:a="http://schemas.openxmlformats.org/drawingml/2006/main">
            <a:off x="685800" y="419100"/>
            <a:ext cx="16859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08243D"/>
                </a:solidFill>
                <a:latin typeface="DejaVu Sans"/>
                <a:ea typeface="DejaVu Sans"/>
                <a:cs typeface="DejaVu Sans"/>
              </a:defRPr>
            </a:defPPr>
          </a:lstStyle>
          <a:p xmlns:a="http://schemas.openxmlformats.org/drawingml/2006/main">
            <a:pPr>
              <a:buNone/>
              <a:defRPr sz="3900" b="1">
                <a:solidFill>
                  <a:srgbClr val="08243D"/>
                </a:solidFill>
                <a:latin typeface="DejaVu Sans"/>
                <a:ea typeface="DejaVu Sans"/>
                <a:cs typeface="DejaVu Sans"/>
              </a:defRPr>
            </a:pPr>
            <a:r>
              <a:rPr sz="3900" b="1">
                <a:solidFill>
                  <a:srgbClr val="08243D"/>
                </a:solidFill>
                <a:latin typeface="DejaVu Sans"/>
                <a:ea typeface="DejaVu Sans"/>
                <a:cs typeface="DejaVu Sans"/>
              </a:rPr>
              <a:t>Use case qualification and success measures</a:t>
            </a:r>
          </a:p>
        </p:txBody>
      </p:sp>
      <p:sp>
        <p:nvSpPr>
          <p:cNvPr id="2" name="">
            <a:extLst xmlns:a="http://schemas.openxmlformats.org/drawingml/2006/main">
              <a:ext uri="{FF2B5EF4-FFF2-40B4-BE49-F238E27FC236}">
                <a16:creationId xmlns:a16="http://schemas.microsoft.com/office/drawing/2014/main" id="{885D74B4-0A71-4910-9E34-911033526E6F}"/>
              </a:ext>
            </a:extLst>
          </p:cNvPr>
          <p:cNvSpPr>
            <a:spLocks xmlns:a="http://schemas.openxmlformats.org/drawingml/2006/main" noGrp="1"/>
          </p:cNvSpPr>
          <p:nvPr/>
        </p:nvSpPr>
        <p:spPr>
          <a:xfrm xmlns:a="http://schemas.openxmlformats.org/drawingml/2006/main">
            <a:off x="704850" y="1285875"/>
            <a:ext cx="16764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26B7D"/>
                </a:solidFill>
                <a:latin typeface="DejaVu Sans"/>
                <a:ea typeface="DejaVu Sans"/>
                <a:cs typeface="DejaVu Sans"/>
              </a:defRPr>
            </a:defPPr>
          </a:lstStyle>
          <a:p xmlns:a="http://schemas.openxmlformats.org/drawingml/2006/main">
            <a:pPr>
              <a:buNone/>
              <a:defRPr sz="2100" b="0">
                <a:solidFill>
                  <a:srgbClr val="526B7D"/>
                </a:solidFill>
                <a:latin typeface="DejaVu Sans"/>
                <a:ea typeface="DejaVu Sans"/>
                <a:cs typeface="DejaVu Sans"/>
              </a:defRPr>
            </a:pPr>
            <a:r>
              <a:rPr sz="2100" b="0">
                <a:solidFill>
                  <a:srgbClr val="526B7D"/>
                </a:solidFill>
                <a:latin typeface="DejaVu Sans"/>
                <a:ea typeface="DejaVu Sans"/>
                <a:cs typeface="DejaVu Sans"/>
              </a:rPr>
              <a:t>Proposed demonstrators establish evidence before expanding to further process families.</a:t>
            </a:r>
          </a:p>
        </p:txBody>
      </p:sp>
      <p:graphicFrame>
        <p:nvGraphicFramePr>
          <p:cNvPr id="3" name="">
            <a:extLst xmlns:a="http://schemas.openxmlformats.org/drawingml/2006/main">
              <a:ext uri="{FF2B5EF4-FFF2-40B4-BE49-F238E27FC236}">
                <a16:creationId xmlns:a16="http://schemas.microsoft.com/office/drawing/2014/main" id="{6A9E021D-B76F-45A0-8F18-55558B24A7D7}"/>
              </a:ext>
            </a:extLst>
          </p:cNvPr>
          <p:cNvGraphicFramePr/>
          <p:nvPr/>
        </p:nvGraphicFramePr>
        <p:xfrm>
          <a:off xmlns:a="http://schemas.openxmlformats.org/drawingml/2006/main" x="704850" y="2076450"/>
          <a:ext xmlns:a="http://schemas.openxmlformats.org/drawingml/2006/main" cx="16878300" cy="5829300"/>
        </p:xfrm>
        <a:graphic xmlns:a="http://schemas.openxmlformats.org/drawingml/2006/main">
          <a:graphicData uri="http://schemas.openxmlformats.org/drawingml/2006/table">
            <a:tbl>
              <a:tblPr/>
              <a:tblGrid>
                <a:gridCol w="3476625"/>
                <a:gridCol w="9334500"/>
                <a:gridCol w="4067175"/>
              </a:tblGrid>
              <a:tr h="590550">
                <a:tc>
                  <a:txBody>
                    <a:bodyPr/>
                    <a:lstStyle/>
                    <a:p>
                      <a:r>
                        <a:rPr sz="1875" b="1">
                          <a:solidFill>
                            <a:srgbClr val="FFFFFF"/>
                          </a:solidFill>
                          <a:latin typeface="DejaVu Sans"/>
                          <a:ea typeface="DejaVu Sans"/>
                          <a:cs typeface="DejaVu Sans"/>
                        </a:rPr>
                        <a:t>Use case</a:t>
                      </a:r>
                    </a:p>
                  </a:txBody>
                  <a:tcPr marL="91440" marR="91440" marT="45720" marB="45720">
                    <a:solidFill>
                      <a:srgbClr val="08243D"/>
                    </a:solidFill>
                  </a:tcPr>
                </a:tc>
                <a:tc>
                  <a:txBody>
                    <a:bodyPr/>
                    <a:lstStyle/>
                    <a:p>
                      <a:r>
                        <a:rPr sz="1875" b="1">
                          <a:solidFill>
                            <a:srgbClr val="FFFFFF"/>
                          </a:solidFill>
                          <a:latin typeface="DejaVu Sans"/>
                          <a:ea typeface="DejaVu Sans"/>
                          <a:cs typeface="DejaVu Sans"/>
                        </a:rPr>
                        <a:t>Proposed demonstration</a:t>
                      </a:r>
                    </a:p>
                  </a:txBody>
                  <a:tcPr marL="91440" marR="91440" marT="45720" marB="45720">
                    <a:solidFill>
                      <a:srgbClr val="08243D"/>
                    </a:solidFill>
                  </a:tcPr>
                </a:tc>
                <a:tc>
                  <a:txBody>
                    <a:bodyPr/>
                    <a:lstStyle/>
                    <a:p>
                      <a:r>
                        <a:rPr sz="1875" b="1">
                          <a:solidFill>
                            <a:srgbClr val="FFFFFF"/>
                          </a:solidFill>
                          <a:latin typeface="DejaVu Sans"/>
                          <a:ea typeface="DejaVu Sans"/>
                          <a:cs typeface="DejaVu Sans"/>
                        </a:rPr>
                        <a:t>Evidence of success</a:t>
                      </a:r>
                    </a:p>
                  </a:txBody>
                  <a:tcPr marL="91440" marR="91440" marT="45720" marB="45720">
                    <a:solidFill>
                      <a:srgbClr val="08243D"/>
                    </a:solidFill>
                  </a:tcPr>
                </a:tc>
              </a:tr>
              <a:tr h="1181100">
                <a:tc>
                  <a:txBody>
                    <a:bodyPr/>
                    <a:lstStyle/>
                    <a:p>
                      <a:r>
                        <a:rPr sz="1950" b="1">
                          <a:solidFill>
                            <a:srgbClr val="12334B"/>
                          </a:solidFill>
                          <a:latin typeface="DejaVu Sans"/>
                          <a:ea typeface="DejaVu Sans"/>
                          <a:cs typeface="DejaVu Sans"/>
                        </a:rPr>
                        <a:t>Curved-panel inspection</a:t>
                      </a:r>
                    </a:p>
                  </a:txBody>
                  <a:tcPr marL="91440" marR="91440" marT="45720" marB="45720">
                    <a:solidFill>
                      <a:srgbClr val="EFF5F8"/>
                    </a:solidFill>
                  </a:tcPr>
                </a:tc>
                <a:tc>
                  <a:txBody>
                    <a:bodyPr/>
                    <a:lstStyle/>
                    <a:p>
                      <a:r>
                        <a:rPr sz="1950" b="0">
                          <a:solidFill>
                            <a:srgbClr val="12334B"/>
                          </a:solidFill>
                          <a:latin typeface="DejaVu Sans"/>
                          <a:ea typeface="DejaVu Sans"/>
                          <a:cs typeface="DejaVu Sans"/>
                        </a:rPr>
                        <a:t>Configurable coverage with swathe, overlap, sensor orientation and standoff; compare planner choices on the same panel.</a:t>
                      </a:r>
                    </a:p>
                  </a:txBody>
                  <a:tcPr marL="91440" marR="91440" marT="45720" marB="45720">
                    <a:solidFill>
                      <a:srgbClr val="EFF5F8"/>
                    </a:solidFill>
                  </a:tcPr>
                </a:tc>
                <a:tc>
                  <a:txBody>
                    <a:bodyPr/>
                    <a:lstStyle/>
                    <a:p>
                      <a:r>
                        <a:rPr sz="1950" b="0">
                          <a:solidFill>
                            <a:srgbClr val="12334B"/>
                          </a:solidFill>
                          <a:latin typeface="DejaVu Sans"/>
                          <a:ea typeface="DejaVu Sans"/>
                          <a:cs typeface="DejaVu Sans"/>
                        </a:rPr>
                        <a:t>Coverage, image quality, clearance and cycle time.</a:t>
                      </a:r>
                    </a:p>
                  </a:txBody>
                  <a:tcPr marL="91440" marR="91440" marT="45720" marB="45720">
                    <a:solidFill>
                      <a:srgbClr val="EFF5F8"/>
                    </a:solidFill>
                  </a:tcPr>
                </a:tc>
              </a:tr>
              <a:tr h="1181100">
                <a:tc>
                  <a:txBody>
                    <a:bodyPr/>
                    <a:lstStyle/>
                    <a:p>
                      <a:r>
                        <a:rPr sz="1950" b="1">
                          <a:solidFill>
                            <a:srgbClr val="12334B"/>
                          </a:solidFill>
                          <a:latin typeface="DejaVu Sans"/>
                          <a:ea typeface="DejaVu Sans"/>
                          <a:cs typeface="DejaVu Sans"/>
                        </a:rPr>
                        <a:t>Targeted defect inspection</a:t>
                      </a:r>
                    </a:p>
                  </a:txBody>
                  <a:tcPr marL="91440" marR="91440" marT="45720" marB="45720">
                    <a:solidFill>
                      <a:srgbClr val="FFFFFF"/>
                    </a:solidFill>
                  </a:tcPr>
                </a:tc>
                <a:tc>
                  <a:txBody>
                    <a:bodyPr/>
                    <a:lstStyle/>
                    <a:p>
                      <a:r>
                        <a:rPr sz="1950" b="0">
                          <a:solidFill>
                            <a:srgbClr val="12334B"/>
                          </a:solidFill>
                          <a:latin typeface="DejaVu Sans"/>
                          <a:ea typeface="DejaVu Sans"/>
                          <a:cs typeface="DejaVu Sans"/>
                        </a:rPr>
                        <a:t>100+ inspection targets; compare TSP / GTSP ordering with robot-feasible transitions and posture choices.</a:t>
                      </a:r>
                    </a:p>
                  </a:txBody>
                  <a:tcPr marL="91440" marR="91440" marT="45720" marB="45720">
                    <a:solidFill>
                      <a:srgbClr val="FFFFFF"/>
                    </a:solidFill>
                  </a:tcPr>
                </a:tc>
                <a:tc>
                  <a:txBody>
                    <a:bodyPr/>
                    <a:lstStyle/>
                    <a:p>
                      <a:r>
                        <a:rPr sz="1950" b="0">
                          <a:solidFill>
                            <a:srgbClr val="12334B"/>
                          </a:solidFill>
                          <a:latin typeface="DejaVu Sans"/>
                          <a:ea typeface="DejaVu Sans"/>
                          <a:cs typeface="DejaVu Sans"/>
                        </a:rPr>
                        <a:t>Visit completeness, route cost and planning time.</a:t>
                      </a:r>
                    </a:p>
                  </a:txBody>
                  <a:tcPr marL="91440" marR="91440" marT="45720" marB="45720">
                    <a:solidFill>
                      <a:srgbClr val="FFFFFF"/>
                    </a:solidFill>
                  </a:tcPr>
                </a:tc>
              </a:tr>
              <a:tr h="1438275">
                <a:tc>
                  <a:txBody>
                    <a:bodyPr/>
                    <a:lstStyle/>
                    <a:p>
                      <a:r>
                        <a:rPr sz="1950" b="1">
                          <a:solidFill>
                            <a:srgbClr val="12334B"/>
                          </a:solidFill>
                          <a:latin typeface="DejaVu Sans"/>
                          <a:ea typeface="DejaVu Sans"/>
                          <a:cs typeface="DejaVu Sans"/>
                        </a:rPr>
                        <a:t>Drilling + cleaning</a:t>
                      </a:r>
                    </a:p>
                  </a:txBody>
                  <a:tcPr marL="91440" marR="91440" marT="45720" marB="45720">
                    <a:solidFill>
                      <a:srgbClr val="EFF5F8"/>
                    </a:solidFill>
                  </a:tcPr>
                </a:tc>
                <a:tc>
                  <a:txBody>
                    <a:bodyPr/>
                    <a:lstStyle/>
                    <a:p>
                      <a:r>
                        <a:rPr sz="1950" b="0">
                          <a:solidFill>
                            <a:srgbClr val="12334B"/>
                          </a:solidFill>
                          <a:latin typeface="DejaVu Sans"/>
                          <a:ea typeface="DejaVu Sans"/>
                          <a:cs typeface="DejaVu Sans"/>
                        </a:rPr>
                        <a:t>Enforce clean / drill / post-clean sequence, tool changes, approach / retract and interruption recovery.</a:t>
                      </a:r>
                    </a:p>
                  </a:txBody>
                  <a:tcPr marL="91440" marR="91440" marT="45720" marB="45720">
                    <a:solidFill>
                      <a:srgbClr val="EFF5F8"/>
                    </a:solidFill>
                  </a:tcPr>
                </a:tc>
                <a:tc>
                  <a:txBody>
                    <a:bodyPr/>
                    <a:lstStyle/>
                    <a:p>
                      <a:r>
                        <a:rPr sz="1950" b="0">
                          <a:solidFill>
                            <a:srgbClr val="12334B"/>
                          </a:solidFill>
                          <a:latin typeface="DejaVu Sans"/>
                          <a:ea typeface="DejaVu Sans"/>
                          <a:cs typeface="DejaVu Sans"/>
                        </a:rPr>
                        <a:t>Hole quality, sequence compliance and safe resume.</a:t>
                      </a:r>
                    </a:p>
                  </a:txBody>
                  <a:tcPr marL="91440" marR="91440" marT="45720" marB="45720">
                    <a:solidFill>
                      <a:srgbClr val="EFF5F8"/>
                    </a:solidFill>
                  </a:tcPr>
                </a:tc>
              </a:tr>
              <a:tr h="1438275">
                <a:tc>
                  <a:txBody>
                    <a:bodyPr/>
                    <a:lstStyle/>
                    <a:p>
                      <a:r>
                        <a:rPr sz="1950" b="1">
                          <a:solidFill>
                            <a:srgbClr val="12334B"/>
                          </a:solidFill>
                          <a:latin typeface="DejaVu Sans"/>
                          <a:ea typeface="DejaVu Sans"/>
                          <a:cs typeface="DejaVu Sans"/>
                        </a:rPr>
                        <a:t>Next process families</a:t>
                      </a:r>
                    </a:p>
                  </a:txBody>
                  <a:tcPr marL="91440" marR="91440" marT="45720" marB="45720">
                    <a:solidFill>
                      <a:srgbClr val="FFFFFF"/>
                    </a:solidFill>
                  </a:tcPr>
                </a:tc>
                <a:tc>
                  <a:txBody>
                    <a:bodyPr/>
                    <a:lstStyle/>
                    <a:p>
                      <a:r>
                        <a:rPr sz="1950" b="0">
                          <a:solidFill>
                            <a:srgbClr val="12334B"/>
                          </a:solidFill>
                          <a:latin typeface="DejaVu Sans"/>
                          <a:ea typeface="DejaVu Sans"/>
                          <a:cs typeface="DejaVu Sans"/>
                        </a:rPr>
                        <a:t>Assembly, auto rigging, painting, sanding, logistics, pick-and-place, masking and resin deposition; qualify process-specific constraints.</a:t>
                      </a:r>
                    </a:p>
                  </a:txBody>
                  <a:tcPr marL="91440" marR="91440" marT="45720" marB="45720">
                    <a:solidFill>
                      <a:srgbClr val="FFFFFF"/>
                    </a:solidFill>
                  </a:tcPr>
                </a:tc>
                <a:tc>
                  <a:txBody>
                    <a:bodyPr/>
                    <a:lstStyle/>
                    <a:p>
                      <a:r>
                        <a:rPr sz="1950" b="0">
                          <a:solidFill>
                            <a:srgbClr val="12334B"/>
                          </a:solidFill>
                          <a:latin typeface="DejaVu Sans"/>
                          <a:ea typeface="DejaVu Sans"/>
                          <a:cs typeface="DejaVu Sans"/>
                        </a:rPr>
                        <a:t>Contact / force, finish, accuracy and resource use.</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93A33F2-48D0-4CD9-83BA-E1D2581DBC37}"/>
              </a:ext>
            </a:extLst>
          </p:cNvPr>
          <p:cNvSpPr>
            <a:spLocks xmlns:a="http://schemas.openxmlformats.org/drawingml/2006/main" noGrp="1"/>
          </p:cNvSpPr>
          <p:nvPr/>
        </p:nvSpPr>
        <p:spPr>
          <a:xfrm xmlns:a="http://schemas.openxmlformats.org/drawingml/2006/main">
            <a:off x="704850" y="8115300"/>
            <a:ext cx="1685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05EAA"/>
                </a:solidFill>
                <a:latin typeface="DejaVu Sans"/>
                <a:ea typeface="DejaVu Sans"/>
                <a:cs typeface="DejaVu Sans"/>
              </a:defRPr>
            </a:defPPr>
          </a:lstStyle>
          <a:p xmlns:a="http://schemas.openxmlformats.org/drawingml/2006/main">
            <a:pPr>
              <a:buNone/>
              <a:defRPr sz="2400" b="1">
                <a:solidFill>
                  <a:srgbClr val="005EAA"/>
                </a:solidFill>
                <a:latin typeface="DejaVu Sans"/>
                <a:ea typeface="DejaVu Sans"/>
                <a:cs typeface="DejaVu Sans"/>
              </a:defRPr>
            </a:pPr>
            <a:r>
              <a:rPr sz="2400" b="1">
                <a:solidFill>
                  <a:srgbClr val="005EAA"/>
                </a:solidFill>
                <a:latin typeface="DejaVu Sans"/>
                <a:ea typeface="DejaVu Sans"/>
                <a:cs typeface="DejaVu Sans"/>
              </a:rPr>
              <a:t>Measure value against the current OLP workflow</a:t>
            </a:r>
          </a:p>
        </p:txBody>
      </p:sp>
      <p:sp>
        <p:nvSpPr>
          <p:cNvPr id="5" name="">
            <a:extLst xmlns:a="http://schemas.openxmlformats.org/drawingml/2006/main">
              <a:ext uri="{FF2B5EF4-FFF2-40B4-BE49-F238E27FC236}">
                <a16:creationId xmlns:a16="http://schemas.microsoft.com/office/drawing/2014/main" id="{BB4BD013-4544-409C-9F72-CC4DF705CF7C}"/>
              </a:ext>
            </a:extLst>
          </p:cNvPr>
          <p:cNvSpPr>
            <a:spLocks xmlns:a="http://schemas.openxmlformats.org/drawingml/2006/main" noGrp="1"/>
          </p:cNvSpPr>
          <p:nvPr/>
        </p:nvSpPr>
        <p:spPr>
          <a:xfrm xmlns:a="http://schemas.openxmlformats.org/drawingml/2006/main">
            <a:off x="704850" y="8658225"/>
            <a:ext cx="16859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2334B"/>
                </a:solidFill>
                <a:latin typeface="DejaVu Sans"/>
                <a:ea typeface="DejaVu Sans"/>
                <a:cs typeface="DejaVu Sans"/>
              </a:defRPr>
            </a:defPPr>
          </a:lstStyle>
          <a:p xmlns:a="http://schemas.openxmlformats.org/drawingml/2006/main">
            <a:pPr>
              <a:buNone/>
              <a:defRPr sz="2025" b="0">
                <a:solidFill>
                  <a:srgbClr val="12334B"/>
                </a:solidFill>
                <a:latin typeface="DejaVu Sans"/>
                <a:ea typeface="DejaVu Sans"/>
                <a:cs typeface="DejaVu Sans"/>
              </a:defRPr>
            </a:pPr>
            <a:r>
              <a:rPr sz="2025" b="0">
                <a:solidFill>
                  <a:srgbClr val="12334B"/>
                </a:solidFill>
                <a:latin typeface="DejaVu Sans"/>
                <a:ea typeface="DejaVu Sans"/>
                <a:cs typeface="DejaVu Sans"/>
              </a:rPr>
              <a:t>Track preparation and changeover hours, physical trials, reusable paths and operator effort, alongside process quality, cycle time and recovery success.</a:t>
            </a:r>
          </a:p>
        </p:txBody>
      </p:sp>
      <p:sp>
        <p:nvSpPr>
          <p:cNvPr id="6" name="">
            <a:extLst xmlns:a="http://schemas.openxmlformats.org/drawingml/2006/main">
              <a:ext uri="{FF2B5EF4-FFF2-40B4-BE49-F238E27FC236}">
                <a16:creationId xmlns:a16="http://schemas.microsoft.com/office/drawing/2014/main" id="{D7CE0548-9EB0-47F8-9562-44520B285F6D}"/>
              </a:ext>
            </a:extLst>
          </p:cNvPr>
          <p:cNvSpPr>
            <a:spLocks xmlns:a="http://schemas.openxmlformats.org/drawingml/2006/main" noGrp="1"/>
          </p:cNvSpPr>
          <p:nvPr/>
        </p:nvSpPr>
        <p:spPr>
          <a:xfrm xmlns:a="http://schemas.openxmlformats.org/drawingml/2006/main">
            <a:off x="704850" y="9782175"/>
            <a:ext cx="1609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B7D"/>
                </a:solidFill>
                <a:latin typeface="DejaVu Sans"/>
                <a:ea typeface="DejaVu Sans"/>
                <a:cs typeface="DejaVu Sans"/>
              </a:defRPr>
            </a:defPPr>
          </a:lstStyle>
          <a:p xmlns:a="http://schemas.openxmlformats.org/drawingml/2006/main">
            <a:pPr>
              <a:buNone/>
              <a:defRPr sz="1425" b="0">
                <a:solidFill>
                  <a:srgbClr val="526B7D"/>
                </a:solidFill>
                <a:latin typeface="DejaVu Sans"/>
                <a:ea typeface="DejaVu Sans"/>
                <a:cs typeface="DejaVu Sans"/>
              </a:defRPr>
            </a:pPr>
            <a:r>
              <a:rPr sz="1425" b="0">
                <a:solidFill>
                  <a:srgbClr val="526B7D"/>
                </a:solidFill>
                <a:latin typeface="DejaVu Sans"/>
                <a:ea typeface="DejaVu Sans"/>
                <a:cs typeface="DejaVu Sans"/>
              </a:rPr>
              <a:t>Common datasets, baselines and acceptance thresholds; framework selection remains evidence-led.</a:t>
            </a:r>
          </a:p>
        </p:txBody>
      </p:sp>
      <p:sp>
        <p:nvSpPr>
          <p:cNvPr id="7" name="">
            <a:extLst xmlns:a="http://schemas.openxmlformats.org/drawingml/2006/main">
              <a:ext uri="{FF2B5EF4-FFF2-40B4-BE49-F238E27FC236}">
                <a16:creationId xmlns:a16="http://schemas.microsoft.com/office/drawing/2014/main" id="{290149FE-6CA4-4091-B449-13FA08F49427}"/>
              </a:ext>
            </a:extLst>
          </p:cNvPr>
          <p:cNvSpPr>
            <a:spLocks xmlns:a="http://schemas.openxmlformats.org/drawingml/2006/main" noGrp="1"/>
          </p:cNvSpPr>
          <p:nvPr/>
        </p:nvSpPr>
        <p:spPr>
          <a:xfrm xmlns:a="http://schemas.openxmlformats.org/drawingml/2006/main">
            <a:off x="17145000" y="9782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26B7D"/>
                </a:solidFill>
                <a:latin typeface="DejaVu Sans"/>
                <a:ea typeface="DejaVu Sans"/>
                <a:cs typeface="DejaVu Sans"/>
              </a:defRPr>
            </a:defPPr>
          </a:lstStyle>
          <a:p xmlns:a="http://schemas.openxmlformats.org/drawingml/2006/main">
            <a:pPr>
              <a:buNone/>
              <a:defRPr sz="1500" b="0">
                <a:solidFill>
                  <a:srgbClr val="526B7D"/>
                </a:solidFill>
                <a:latin typeface="DejaVu Sans"/>
                <a:ea typeface="DejaVu Sans"/>
                <a:cs typeface="DejaVu Sans"/>
              </a:defRPr>
            </a:pPr>
            <a:r>
              <a:rPr sz="1500" b="0">
                <a:solidFill>
                  <a:srgbClr val="526B7D"/>
                </a:solidFill>
                <a:latin typeface="DejaVu Sans"/>
                <a:ea typeface="DejaVu Sans"/>
                <a:cs typeface="DejaVu Sans"/>
              </a:rPr>
              <a:t>5</a:t>
            </a:r>
          </a:p>
        </p:txBody>
      </p:sp>
    </p:spTree>
    <p:extLst>
      <p:ext uri="{BB962C8B-B14F-4D97-AF65-F5344CB8AC3E}">
        <p14:creationId xmlns:p14="http://schemas.microsoft.com/office/powerpoint/2010/main" val="13931245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2026-10-10T10:12:19.4270000Z</dcterms:created>
  <dcterms:modified xsi:type="dcterms:W3CDTF">2026-10-10T10:12:19.4270000Z</dcterms:modified>
</coreProperties>
</file>