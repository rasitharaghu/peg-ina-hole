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Roboto Bold" charset="1" panose="02000000000000000000"/>
      <p:regular r:id="rId23"/>
    </p:embeddedFont>
    <p:embeddedFont>
      <p:font typeface="Open Sauce Bold" charset="1" panose="00000800000000000000"/>
      <p:regular r:id="rId24"/>
    </p:embeddedFont>
    <p:embeddedFont>
      <p:font typeface="Open Sauce" charset="1" panose="00000500000000000000"/>
      <p:regular r:id="rId25"/>
    </p:embeddedFont>
    <p:embeddedFont>
      <p:font typeface="Inter" charset="1" panose="02000503000000020004"/>
      <p:regular r:id="rId26"/>
    </p:embeddedFont>
    <p:embeddedFont>
      <p:font typeface="Inter Bold" charset="1" panose="02000503000000020004"/>
      <p:regular r:id="rId27"/>
    </p:embeddedFont>
    <p:embeddedFont>
      <p:font typeface="Arial" charset="1" panose="020B0604020202020204"/>
      <p:regular r:id="rId31"/>
    </p:embeddedFont>
    <p:embeddedFont>
      <p:font typeface="Arial Bold" charset="1" panose="020B0704020202020204"/>
      <p:regular r:id="rId32"/>
    </p:embeddedFont>
    <p:embeddedFont>
      <p:font typeface="Arial Nova" charset="1" panose="020B0504020202020204"/>
      <p:regular r:id="rId33"/>
    </p:embeddedFont>
    <p:embeddedFont>
      <p:font typeface="Arial Nova Bold" charset="1" panose="020B0804020202020204"/>
      <p:regular r:id="rId34"/>
    </p:embeddedFont>
    <p:embeddedFont>
      <p:font typeface="Inter Semi-Bold" charset="1" panose="020005030000000200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Gold Medallist for a master’s in Control Systems at Calicut University. Wheel of Excellence Award at Danlaw, received twice. Spot Award from Airbus. Certifications: Design and Analysis of Algorithms from NPTEL; Deep Learning Specialization and Neural Networks and Deep Learning from Coursera; Simulink Model Management and Architecture from MathWorks. Award illustrations are generic symbolic artwork generated with imagegen; they are not photographs of the actual awards.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Style option for slide 9 of Autonomy in Motion. Rebuilt from the user reference image(20261020-060042).png using native editable text and diagram objects, with its real photos and logos retained using native crop windows. The screenshot is low resolution. Use original photo/logo files for final quality. Airbus siglums are transcribed as ZIDJ, 1XRD, OMR, OMT and OMM. Verify whether the research siglum begins with the numeral 1. CNRS and Helmut Schmidt logos are cut off at the reference edge and therefore appear as plain text. The user reference places Helmut Schmidt University under EU projects; confirm actual project names before finalisation. Categories represent the user-provided network, not invented endorsements. Suggested contribution statement: I connect teams and share results that others can reuse. Circular design requested by the user. Seven lines represent collaboration and knowledge exchange, not measured influence or a reporting hierarchy. Central name uses the user's supplied profile name. Slides 1 to 8 of the approved main deck are unchanged.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WHITE PAPER 1</a:t>
            </a:r>
          </a:p>
          <a:p>
            <a:r>
              <a:rPr lang="en-US"/>
              <a:t>A review of path and motion planning in robotics: core components, evolution, and learning-based methods</a:t>
            </a:r>
          </a:p>
          <a:p>
            <a:r>
              <a:rPr lang="en-US"/>
              <a:t>Authors: Rasitha R, Phani Kiran</a:t>
            </a:r>
          </a:p>
          <a:p>
            <a:r>
              <a:rPr lang="en-US"/>
              <a:t>Proposed team value: Common reference for planner selection and skill development</a:t>
            </a:r>
          </a:p>
          <a:p>
            <a:r>
              <a:rPr lang="en-US"/>
              <a:t>Proposed Airbus value: Supports consistent robotics technology choices</a:t>
            </a:r>
          </a:p>
          <a:p>
            <a:r>
              <a:rPr lang="en-US"/>
              <a:t/>
            </a:r>
          </a:p>
          <a:p>
            <a:r>
              <a:rPr lang="en-US"/>
              <a:t>WHITE PAPER 2</a:t>
            </a:r>
          </a:p>
          <a:p>
            <a:r>
              <a:rPr lang="en-US"/>
              <a:t>Intelligent programming for industrial robots in aircraft manufacturing: a case study on bridging offline and online paradigms</a:t>
            </a:r>
          </a:p>
          <a:p>
            <a:r>
              <a:rPr lang="en-US"/>
              <a:t>Authors: Rasitha R, Phani Kiran</a:t>
            </a:r>
          </a:p>
          <a:p>
            <a:r>
              <a:rPr lang="en-US"/>
              <a:t>Proposed team value: Guidance on offline preparation and online adaptation</a:t>
            </a:r>
          </a:p>
          <a:p>
            <a:r>
              <a:rPr lang="en-US"/>
              <a:t>Proposed Airbus value: Supports more flexible aircraft manufacturing automation</a:t>
            </a:r>
          </a:p>
          <a:p>
            <a:r>
              <a:rPr lang="en-US"/>
              <a:t/>
            </a:r>
          </a:p>
          <a:p>
            <a:r>
              <a:rPr lang="en-US"/>
              <a:t>IDD / DEFENSIVE PUBLICATION</a:t>
            </a:r>
          </a:p>
          <a:p>
            <a:r>
              <a:rPr lang="en-US"/>
              <a:t>A novel framework for real-time, hard-constrained reinforcement learning in robotics</a:t>
            </a:r>
          </a:p>
          <a:p>
            <a:r>
              <a:rPr lang="en-US"/>
              <a:t/>
            </a:r>
          </a:p>
          <a:p>
            <a:r>
              <a:rPr lang="en-US"/>
              <a:t>Proposed team value: Framework for evaluating learning with hard constraints</a:t>
            </a:r>
          </a:p>
          <a:p>
            <a:r>
              <a:rPr lang="en-US"/>
              <a:t>Proposed Airbus value: Supports assessment of learning-based automation within operating limits</a:t>
            </a:r>
          </a:p>
          <a:p>
            <a:r>
              <a:rPr lang="en-US"/>
              <a:t/>
            </a:r>
          </a:p>
          <a:p>
            <a:r>
              <a:rPr lang="en-US"/>
              <a:t>PATENT / ACTIVE</a:t>
            </a:r>
          </a:p>
          <a:p>
            <a:r>
              <a:rPr lang="en-US"/>
              <a:t>Self-aware motion planning algorithms. Real-time collision / singularity avoidance for autonomous trajectory generation on diverse panel surfaces</a:t>
            </a:r>
          </a:p>
          <a:p>
            <a:r>
              <a:rPr lang="en-US"/>
              <a:t>Authors: Parameswaran S, Rasitha R, Alexandre Arnold</a:t>
            </a:r>
          </a:p>
          <a:p>
            <a:r>
              <a:rPr lang="en-US"/>
              <a:t>Proposed team value: Automated collision and singularity avoidance approach</a:t>
            </a:r>
          </a:p>
          <a:p>
            <a:r>
              <a:rPr lang="en-US"/>
              <a:t>Proposed Airbus value: Targets less manual reprogramming across panel shapes</a:t>
            </a:r>
          </a:p>
          <a:p>
            <a:r>
              <a:rPr lang="en-US"/>
              <a:t/>
            </a:r>
          </a:p>
          <a:p>
            <a:r>
              <a:rPr lang="en-US"/>
              <a:t>Titles, authors and statuses supplied by Rasitha R. Display titles are shortened for readability. Value statements are inferred from the supplied titles and scope, rather than verified adoption, measured results or legal conclusions. Active patent status is reproduced as supplied and does not assert a grant or filing stage. Defensive-publication authors were not supplied. All images are symbolic AI-generated illustrations.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user-supplied reference image(20261020-101400).png for the 3D pyramid shape, and the previously supplied progressive-autonomy slide for content. The five layers distinguish manual control, programmed automation, automatic planning, adaptive execution and task autonomy. NC and offline programming are grouped into programmed automation. These are conceptual capabilities, not a formal autonomy standard. Human expertise, models and offline preparation remain useful. Task autonomy applies to selected tasks within agreed and validated limits. Benefits are intended value, not measured results. Pyramid dimensions are illustrative and do not quantify adoption, scale or intelligence. Suggested narration: Each layer adds a capability. We begin with human expertise and repeatable programs. Planning software reduces preparation effort. Feedback helps the robot adjust. The top is autonomy for selected tasks within validated limits.</a:t>
            </a:r>
          </a:p>
          <a:p>
            <a:r>
              <a:rPr lang="en-US"/>
              <a:t>Images are AI-generated conceptual illustrations, not photographs of Airbus projects or proof of achieved autonomy. Each scene illustrates the same aircraft-inspection setting. Manual: a person positions a probe. Programmed: a taught repeatable robot routine. Automatic planning: software prepares a route. Adaptive: a wrist-mounted scanner measures the surface to support adjustment. Task autonomy: the robot carries out an agreed inspection task under human supervision. Offline programming and NC remain examples of programmed automation. Intended value is illustrative, not a measured performance claim.</a:t>
            </a:r>
          </a:p>
          <a:p>
            <a:r>
              <a:rPr lang="en-US"/>
              <a:t>Image prompt set: [{"key":"manual","prompt":"Use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human inspection technician, wearing blue work clothes and safety glasses, manually holding an ultrasonic inspection probe directly against the aircraft skin with their right hand and checking the surface. Hand, probe and surface are central and clear. A realistic human guides the entire operation. No robot."},{"key":"programmed","prompt":"Use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 technician using a physical industrial robot teach pendant at the outside of a robot cell. A yellow six-axis industrial arm stands stationary near an aircraft skin panel in the background. Prominent foreground hand pressing the pendant's directional controls communicates a person teaching a repeatable movement. Sensor mounted firmly and coaxially on the robot's final wrist flange; no detached floating tools. Safety barrier between person and robot, no text."},{"key":"planning","prompt":"Use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 text, labels, decorative graphics, watermarks or sci-fi holograms. Show an engineer's monitor in a robotics workcell, angled almost front-on. Monitor clearly depicts a simple 3D simulation of a yellow six-axis robot beside a curved aircraft skin panel, with one cyan planned trajectory curving around a grey fixture to the panel. A yellow real robot and aircraft skin are softly out of focus behind it. The monitor is the central subject, screen has only diagram and no words or numbers. A conceptual route preview, not a specific software product."},{"key":"adaptive","prompt":"Use case: photorealistic-natural. Asset type: one small landscape photograph-style conceptual illustration for a presentation about progressive manufacturing autonomy, not documentary evidence. Wide 3:2 composition, polished realistic industrial photography, cool neutral hangar, bright soft lighting, physically plausible hardware, uncluttered close framing for legibility at thumbnail size. Curved aluminium aircraft skin panel with rows of rivets. No logos,...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Suggested narration (about 50 seconds):</a:t>
            </a:r>
          </a:p>
          <a:p>
            <a:r>
              <a:rPr lang="en-US"/>
              <a:t>Imagine the next aircraft panel arrives for inspection. The inspection requirement is familiar, but its curvature or its position is different. In a workflow based on taught or offline paths, that change can send an engineer back to the program to adjust the motion and try it again on the cell. This is the repeated effort I want to reduce. Automatic motion planning prepares a route for the new geometry, checking reach and configured constraints. Adaptive execution adjusts that motion using measured changes. Task autonomy then completes the agreed inspection, with people handling exceptions. The return loop represents recurring preparation when a new panel geometry requires different robot motion. The intended value is less preparation and correction effort, more engineering capacity for process quality, and a system that can handle supported panel variants more readily.</a:t>
            </a:r>
          </a:p>
          <a:p>
            <a:r>
              <a:rPr lang="en-US"/>
              <a:t/>
            </a:r>
          </a:p>
          <a:p>
            <a:r>
              <a:rPr lang="en-US"/>
              <a:t>Bridge from slide 12: The pyramid showed increasing autonomy. This slide explains why capabilities 3, 4 and 5 matter when a real panel changes.</a:t>
            </a:r>
          </a:p>
          <a:p>
            <a:r>
              <a:rPr lang="en-US"/>
              <a:t/>
            </a:r>
          </a:p>
          <a:p>
            <a:r>
              <a:rPr lang="en-US"/>
              <a:t>Bridge to the next two vision slides: First, explain how the motion capability could become a common framework across applications. Then explain how it could work with perception, software and simulation in a common robotics platform towards Physical AI. These vision topics intentionally remain outside this slide.</a:t>
            </a:r>
          </a:p>
          <a:p>
            <a:r>
              <a:rPr lang="en-US"/>
              <a:t/>
            </a:r>
          </a:p>
          <a:p>
            <a:r>
              <a:rPr lang="en-US"/>
              <a:t>Value framing: Benefits are expected, not measured Airbus savings. Compare the current and proposed workflows on matched panels and equivalent quality criteria. Measure engineering hours for motion preparation, correction hours, cell trial hours and interventions per completed job. Report net cost savings only after including integration, sensing, compute, commissioning, validation and maintenance costs. Do not assume that less programming means zero setup or zero validation.</a:t>
            </a:r>
          </a:p>
          <a:p>
            <a:r>
              <a:rPr lang="en-US"/>
              <a:t/>
            </a:r>
          </a:p>
          <a:p>
            <a:r>
              <a:rPr lang="en-US"/>
              <a:t>Capability boundaries: Automatic planning uses a configured robot, tool, task, geometry and constraints. Adaptive execution requires suitable sensing and control. Task autonomy remains within a defined operating envelope and escalates exceptions. This slide does not claim operation on every panel or surface. Offline programming remains useful for stable, repeatable processes. Constraint checking does not replace physical validation or cell safety engineering.</a:t>
            </a:r>
          </a:p>
          <a:p>
            <a:r>
              <a:rPr lang="en-US"/>
              <a:t/>
            </a:r>
          </a:p>
          <a:p>
            <a:r>
              <a:rPr lang="en-US"/>
              <a:t>Technical grounding: https://moveit.picknik.ai/main/doc/concepts/motion_planning.html (motion generation, constraints, collision checking and planning pipeline), reviewed 20 October 2026. These are general capability examples, not a claim that a particular software product is deployed at Airbus.</a:t>
            </a:r>
          </a:p>
          <a:p>
            <a:r>
              <a:rPr lang="en-US"/>
              <a:t/>
            </a:r>
          </a:p>
          <a:p>
            <a:r>
              <a:rPr lang="en-US"/>
              <a:t>Visual disclosure: Images are AI-generated conceptual illustrations, not actual Airbus project photographs. They illustrate a new panel arriving, manual motion reprogramming and autonomous inspection. The reprogramming image is illustrative rather than a specific software interface. Built-in image_gen prompts: undefined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jpeg" Type="http://schemas.openxmlformats.org/officeDocument/2006/relationships/image"/><Relationship Id="rId12" Target="../media/image14.jpeg" Type="http://schemas.openxmlformats.org/officeDocument/2006/relationships/image"/><Relationship Id="rId13" Target="../media/image15.pn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9.jpe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1.jpe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9.jpeg" Type="http://schemas.openxmlformats.org/officeDocument/2006/relationships/image"/><Relationship Id="rId7" Target="../media/image8.jpeg" Type="http://schemas.openxmlformats.org/officeDocument/2006/relationships/image"/><Relationship Id="rId8" Target="../media/image14.jpeg" Type="http://schemas.openxmlformats.org/officeDocument/2006/relationships/image"/><Relationship Id="rId9"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commons.wikimedia.org/wiki/File:Rustom_flight_2_(cropped).jpg" TargetMode="External" Type="http://schemas.openxmlformats.org/officeDocument/2006/relationships/hyperlink"/><Relationship Id="rId2" Target="../media/image1.jpeg" Type="http://schemas.openxmlformats.org/officeDocument/2006/relationships/image"/><Relationship Id="rId3" Target="../media/image18.png" Type="http://schemas.openxmlformats.org/officeDocument/2006/relationships/image"/><Relationship Id="rId4" Target="../media/image19.jpe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26.png" Type="http://schemas.openxmlformats.org/officeDocument/2006/relationships/image"/><Relationship Id="rId6" Target="../media/image27.jpeg" Type="http://schemas.openxmlformats.org/officeDocument/2006/relationships/image"/><Relationship Id="rId7" Target="../media/image28.jpe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 Id="rId5" Target="../media/image3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 Id="rId9"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png" Type="http://schemas.openxmlformats.org/officeDocument/2006/relationships/image"/><Relationship Id="rId12" Target="../media/image66.png" Type="http://schemas.openxmlformats.org/officeDocument/2006/relationships/image"/><Relationship Id="rId13" Target="../media/image67.png" Type="http://schemas.openxmlformats.org/officeDocument/2006/relationships/image"/><Relationship Id="rId14" Target="../media/image68.png" Type="http://schemas.openxmlformats.org/officeDocument/2006/relationships/image"/><Relationship Id="rId15" Target="../media/image69.png" Type="http://schemas.openxmlformats.org/officeDocument/2006/relationships/image"/><Relationship Id="rId16" Target="../media/image70.png" Type="http://schemas.openxmlformats.org/officeDocument/2006/relationships/image"/><Relationship Id="rId17" Target="../media/image71.png" Type="http://schemas.openxmlformats.org/officeDocument/2006/relationships/image"/><Relationship Id="rId18" Target="../media/image72.png" Type="http://schemas.openxmlformats.org/officeDocument/2006/relationships/image"/><Relationship Id="rId19" Target="../media/image73.png" Type="http://schemas.openxmlformats.org/officeDocument/2006/relationships/image"/><Relationship Id="rId2" Target="../media/image1.jpeg" Type="http://schemas.openxmlformats.org/officeDocument/2006/relationships/image"/><Relationship Id="rId20" Target="../media/image74.png" Type="http://schemas.openxmlformats.org/officeDocument/2006/relationships/image"/><Relationship Id="rId21" Target="../media/image75.png" Type="http://schemas.openxmlformats.org/officeDocument/2006/relationships/image"/><Relationship Id="rId22" Target="../media/image76.png" Type="http://schemas.openxmlformats.org/officeDocument/2006/relationships/image"/><Relationship Id="rId23" Target="../media/image77.png" Type="http://schemas.openxmlformats.org/officeDocument/2006/relationships/image"/><Relationship Id="rId24" Target="../media/image78.png" Type="http://schemas.openxmlformats.org/officeDocument/2006/relationships/image"/><Relationship Id="rId25" Target="../media/image79.sv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7.png" Type="http://schemas.openxmlformats.org/officeDocument/2006/relationships/image"/><Relationship Id="rId11" Target="../media/image88.png" Type="http://schemas.openxmlformats.org/officeDocument/2006/relationships/image"/><Relationship Id="rId12" Target="../media/image89.svg" Type="http://schemas.openxmlformats.org/officeDocument/2006/relationships/image"/><Relationship Id="rId13" Target="../media/image90.png" Type="http://schemas.openxmlformats.org/officeDocument/2006/relationships/image"/><Relationship Id="rId14" Target="../media/image91.svg" Type="http://schemas.openxmlformats.org/officeDocument/2006/relationships/image"/><Relationship Id="rId15" Target="../media/image92.png" Type="http://schemas.openxmlformats.org/officeDocument/2006/relationships/image"/><Relationship Id="rId16" Target="../media/image93.svg" Type="http://schemas.openxmlformats.org/officeDocument/2006/relationships/image"/><Relationship Id="rId17" Target="../media/image94.png" Type="http://schemas.openxmlformats.org/officeDocument/2006/relationships/image"/><Relationship Id="rId18" Target="../media/image95.svg" Type="http://schemas.openxmlformats.org/officeDocument/2006/relationships/image"/><Relationship Id="rId2" Target="../media/image1.jpeg" Type="http://schemas.openxmlformats.org/officeDocument/2006/relationships/image"/><Relationship Id="rId3" Target="../media/image80.png" Type="http://schemas.openxmlformats.org/officeDocument/2006/relationships/image"/><Relationship Id="rId4" Target="../media/image81.pn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84.png" Type="http://schemas.openxmlformats.org/officeDocument/2006/relationships/image"/><Relationship Id="rId8" Target="../media/image85.svg" Type="http://schemas.openxmlformats.org/officeDocument/2006/relationships/image"/><Relationship Id="rId9" Target="../media/image8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11" Target="../media/image71.png" Type="http://schemas.openxmlformats.org/officeDocument/2006/relationships/image"/><Relationship Id="rId12" Target="../media/image15.png" Type="http://schemas.openxmlformats.org/officeDocument/2006/relationships/image"/><Relationship Id="rId13" Target="../media/image88.png" Type="http://schemas.openxmlformats.org/officeDocument/2006/relationships/image"/><Relationship Id="rId14" Target="../media/image89.svg" Type="http://schemas.openxmlformats.org/officeDocument/2006/relationships/image"/><Relationship Id="rId15" Target="../media/image90.png" Type="http://schemas.openxmlformats.org/officeDocument/2006/relationships/image"/><Relationship Id="rId16" Target="../media/image91.svg" Type="http://schemas.openxmlformats.org/officeDocument/2006/relationships/image"/><Relationship Id="rId17" Target="../media/image92.png" Type="http://schemas.openxmlformats.org/officeDocument/2006/relationships/image"/><Relationship Id="rId18" Target="../media/image93.svg" Type="http://schemas.openxmlformats.org/officeDocument/2006/relationships/image"/><Relationship Id="rId19" Target="../media/image82.png" Type="http://schemas.openxmlformats.org/officeDocument/2006/relationships/image"/><Relationship Id="rId2" Target="../media/image1.jpeg" Type="http://schemas.openxmlformats.org/officeDocument/2006/relationships/image"/><Relationship Id="rId20" Target="../media/image83.svg" Type="http://schemas.openxmlformats.org/officeDocument/2006/relationships/image"/><Relationship Id="rId21" Target="../media/image98.png" Type="http://schemas.openxmlformats.org/officeDocument/2006/relationships/image"/><Relationship Id="rId22" Target="../media/image99.svg" Type="http://schemas.openxmlformats.org/officeDocument/2006/relationships/image"/><Relationship Id="rId3" Target="../media/image80.pn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61.png" Type="http://schemas.openxmlformats.org/officeDocument/2006/relationships/image"/><Relationship Id="rId7" Target="../media/image63.png" Type="http://schemas.openxmlformats.org/officeDocument/2006/relationships/image"/><Relationship Id="rId8" Target="../media/image65.png" Type="http://schemas.openxmlformats.org/officeDocument/2006/relationships/image"/><Relationship Id="rId9" Target="../media/image6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svg" Type="http://schemas.openxmlformats.org/officeDocument/2006/relationships/image"/><Relationship Id="rId2" Target="../media/image1.jpeg" Type="http://schemas.openxmlformats.org/officeDocument/2006/relationships/image"/><Relationship Id="rId3" Target="../media/image100.png" Type="http://schemas.openxmlformats.org/officeDocument/2006/relationships/image"/><Relationship Id="rId4" Target="../media/image101.svg" Type="http://schemas.openxmlformats.org/officeDocument/2006/relationships/image"/><Relationship Id="rId5" Target="../media/image90.png" Type="http://schemas.openxmlformats.org/officeDocument/2006/relationships/image"/><Relationship Id="rId6" Target="../media/image91.svg" Type="http://schemas.openxmlformats.org/officeDocument/2006/relationships/image"/><Relationship Id="rId7" Target="../media/image102.png" Type="http://schemas.openxmlformats.org/officeDocument/2006/relationships/image"/><Relationship Id="rId8" Target="../media/image103.svg" Type="http://schemas.openxmlformats.org/officeDocument/2006/relationships/image"/><Relationship Id="rId9" Target="../media/image9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8286750" y="285750"/>
            <a:ext cx="4114800" cy="3245496"/>
          </a:xfrm>
          <a:custGeom>
            <a:avLst/>
            <a:gdLst/>
            <a:ahLst/>
            <a:cxnLst/>
            <a:rect r="r" b="b" t="t" l="l"/>
            <a:pathLst>
              <a:path h="3245496" w="4114800">
                <a:moveTo>
                  <a:pt x="0" y="0"/>
                </a:moveTo>
                <a:lnTo>
                  <a:pt x="4114800" y="0"/>
                </a:lnTo>
                <a:lnTo>
                  <a:pt x="4114800" y="3245496"/>
                </a:lnTo>
                <a:lnTo>
                  <a:pt x="0" y="3245496"/>
                </a:lnTo>
                <a:lnTo>
                  <a:pt x="0" y="0"/>
                </a:lnTo>
                <a:close/>
              </a:path>
            </a:pathLst>
          </a:custGeom>
          <a:blipFill>
            <a:blip r:embed="rId3"/>
            <a:stretch>
              <a:fillRect l="0" t="0" r="0" b="0"/>
            </a:stretch>
          </a:blipFill>
        </p:spPr>
      </p:sp>
      <p:sp>
        <p:nvSpPr>
          <p:cNvPr name="Freeform 4" id="4" descr="Illustrative photorealistic car image with ADAS lane boundaries, lane corridor and sensor-awareness overlays."/>
          <p:cNvSpPr/>
          <p:nvPr/>
        </p:nvSpPr>
        <p:spPr>
          <a:xfrm flipH="false" flipV="false" rot="0">
            <a:off x="8048625" y="3714750"/>
            <a:ext cx="4286250" cy="4740095"/>
          </a:xfrm>
          <a:custGeom>
            <a:avLst/>
            <a:gdLst/>
            <a:ahLst/>
            <a:cxnLst/>
            <a:rect r="r" b="b" t="t" l="l"/>
            <a:pathLst>
              <a:path h="4740095" w="4286250">
                <a:moveTo>
                  <a:pt x="0" y="0"/>
                </a:moveTo>
                <a:lnTo>
                  <a:pt x="4286250" y="0"/>
                </a:lnTo>
                <a:lnTo>
                  <a:pt x="4286250" y="4740095"/>
                </a:lnTo>
                <a:lnTo>
                  <a:pt x="0" y="4740095"/>
                </a:lnTo>
                <a:lnTo>
                  <a:pt x="0" y="0"/>
                </a:lnTo>
                <a:close/>
              </a:path>
            </a:pathLst>
          </a:custGeom>
          <a:blipFill>
            <a:blip r:embed="rId4"/>
            <a:stretch>
              <a:fillRect l="-2061" t="-1946" r="-2061" b="-1946"/>
            </a:stretch>
          </a:blipFill>
        </p:spPr>
      </p:sp>
      <p:sp>
        <p:nvSpPr>
          <p:cNvPr name="Freeform 5" id="5" descr="Illustrative photorealistic yellow industrial robot using an inspection sensor on a curved aircraft fuselage panel."/>
          <p:cNvSpPr/>
          <p:nvPr/>
        </p:nvSpPr>
        <p:spPr>
          <a:xfrm flipH="false" flipV="false" rot="0">
            <a:off x="12403464" y="0"/>
            <a:ext cx="5884536" cy="9860652"/>
          </a:xfrm>
          <a:custGeom>
            <a:avLst/>
            <a:gdLst/>
            <a:ahLst/>
            <a:cxnLst/>
            <a:rect r="r" b="b" t="t" l="l"/>
            <a:pathLst>
              <a:path h="9860652" w="5884536">
                <a:moveTo>
                  <a:pt x="0" y="0"/>
                </a:moveTo>
                <a:lnTo>
                  <a:pt x="5884536" y="0"/>
                </a:lnTo>
                <a:lnTo>
                  <a:pt x="5884536" y="9860652"/>
                </a:lnTo>
                <a:lnTo>
                  <a:pt x="0" y="9860652"/>
                </a:lnTo>
                <a:lnTo>
                  <a:pt x="0" y="0"/>
                </a:lnTo>
                <a:close/>
              </a:path>
            </a:pathLst>
          </a:custGeom>
          <a:blipFill>
            <a:blip r:embed="rId5"/>
            <a:stretch>
              <a:fillRect l="-1835" t="-1130" r="-1835" b="-1130"/>
            </a:stretch>
          </a:blipFill>
        </p:spPr>
      </p:sp>
      <p:sp>
        <p:nvSpPr>
          <p:cNvPr name="TextBox 6" id="6"/>
          <p:cNvSpPr txBox="true"/>
          <p:nvPr/>
        </p:nvSpPr>
        <p:spPr>
          <a:xfrm rot="0">
            <a:off x="714788" y="2024386"/>
            <a:ext cx="6209482" cy="2809258"/>
          </a:xfrm>
          <a:prstGeom prst="rect">
            <a:avLst/>
          </a:prstGeom>
        </p:spPr>
        <p:txBody>
          <a:bodyPr anchor="t" rtlCol="false" tIns="0" lIns="0" bIns="0" rIns="0">
            <a:spAutoFit/>
          </a:bodyPr>
          <a:lstStyle/>
          <a:p>
            <a:pPr algn="l">
              <a:lnSpc>
                <a:spcPts val="10949"/>
              </a:lnSpc>
            </a:pPr>
            <a:r>
              <a:rPr lang="en-US" sz="10333" b="true">
                <a:solidFill>
                  <a:srgbClr val="0F1644"/>
                </a:solidFill>
                <a:latin typeface="Roboto Bold"/>
                <a:ea typeface="Roboto Bold"/>
                <a:cs typeface="Roboto Bold"/>
                <a:sym typeface="Roboto Bold"/>
              </a:rPr>
              <a:t>Autonomy in Motion</a:t>
            </a:r>
          </a:p>
        </p:txBody>
      </p:sp>
      <p:sp>
        <p:nvSpPr>
          <p:cNvPr name="TextBox 7" id="7"/>
          <p:cNvSpPr txBox="true"/>
          <p:nvPr/>
        </p:nvSpPr>
        <p:spPr>
          <a:xfrm rot="0">
            <a:off x="753358" y="6656881"/>
            <a:ext cx="2352468" cy="571200"/>
          </a:xfrm>
          <a:prstGeom prst="rect">
            <a:avLst/>
          </a:prstGeom>
        </p:spPr>
        <p:txBody>
          <a:bodyPr anchor="t" rtlCol="false" tIns="0" lIns="0" bIns="0" rIns="0">
            <a:spAutoFit/>
          </a:bodyPr>
          <a:lstStyle/>
          <a:p>
            <a:pPr algn="l">
              <a:lnSpc>
                <a:spcPts val="4458"/>
              </a:lnSpc>
            </a:pPr>
            <a:r>
              <a:rPr lang="en-US" sz="4207" b="true">
                <a:solidFill>
                  <a:srgbClr val="0F1644"/>
                </a:solidFill>
                <a:latin typeface="Roboto Bold"/>
                <a:ea typeface="Roboto Bold"/>
                <a:cs typeface="Roboto Bold"/>
                <a:sym typeface="Roboto Bold"/>
              </a:rPr>
              <a:t>Rasitha R</a:t>
            </a:r>
          </a:p>
        </p:txBody>
      </p:sp>
      <p:sp>
        <p:nvSpPr>
          <p:cNvPr name="TextBox 8" id="8"/>
          <p:cNvSpPr txBox="true"/>
          <p:nvPr/>
        </p:nvSpPr>
        <p:spPr>
          <a:xfrm rot="0">
            <a:off x="776883" y="7324725"/>
            <a:ext cx="7099102" cy="306743"/>
          </a:xfrm>
          <a:prstGeom prst="rect">
            <a:avLst/>
          </a:prstGeom>
        </p:spPr>
        <p:txBody>
          <a:bodyPr anchor="t" rtlCol="false" tIns="0" lIns="0" bIns="0" rIns="0">
            <a:spAutoFit/>
          </a:bodyPr>
          <a:lstStyle/>
          <a:p>
            <a:pPr algn="l">
              <a:lnSpc>
                <a:spcPts val="2389"/>
              </a:lnSpc>
            </a:pPr>
            <a:r>
              <a:rPr lang="en-US" sz="2254" b="true">
                <a:solidFill>
                  <a:srgbClr val="0F1644"/>
                </a:solidFill>
                <a:latin typeface="Roboto Bold"/>
                <a:ea typeface="Roboto Bold"/>
                <a:cs typeface="Roboto Bold"/>
                <a:sym typeface="Roboto Bold"/>
              </a:rPr>
              <a:t>Motion Planning &amp; Execution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Roots &amp; expression</a:t>
            </a:r>
          </a:p>
        </p:txBody>
      </p:sp>
      <p:sp>
        <p:nvSpPr>
          <p:cNvPr name="TextBox 6" id="6"/>
          <p:cNvSpPr txBox="true"/>
          <p:nvPr/>
        </p:nvSpPr>
        <p:spPr>
          <a:xfrm rot="0">
            <a:off x="6381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Kerala’s culture →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Curiosity &amp; exploration</a:t>
            </a:r>
          </a:p>
        </p:txBody>
      </p:sp>
      <p:sp>
        <p:nvSpPr>
          <p:cNvPr name="TextBox 8" id="8"/>
          <p:cNvSpPr txBox="true"/>
          <p:nvPr/>
        </p:nvSpPr>
        <p:spPr>
          <a:xfrm rot="0">
            <a:off x="6448425" y="3086100"/>
            <a:ext cx="5238750" cy="475501"/>
          </a:xfrm>
          <a:prstGeom prst="rect">
            <a:avLst/>
          </a:prstGeom>
        </p:spPr>
        <p:txBody>
          <a:bodyPr anchor="t" rtlCol="false" tIns="0" lIns="0" bIns="0" rIns="0">
            <a:spAutoFit/>
          </a:bodyPr>
          <a:lstStyle/>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Kerala’s Western Ghats &amp; beaches</a:t>
            </a:r>
          </a:p>
          <a:p>
            <a:pPr algn="l" marL="0" indent="0" lvl="0">
              <a:lnSpc>
                <a:spcPts val="1950"/>
              </a:lnSpc>
              <a:spcBef>
                <a:spcPct val="0"/>
              </a:spcBef>
            </a:pPr>
            <a:r>
              <a:rPr lang="en-US" sz="1950" spc="-78"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Imagination &amp; perspective</a:t>
            </a:r>
          </a:p>
        </p:txBody>
      </p:sp>
      <p:sp>
        <p:nvSpPr>
          <p:cNvPr name="Freeform 10" id="10" descr="Personal interest illustration"/>
          <p:cNvSpPr/>
          <p:nvPr/>
        </p:nvSpPr>
        <p:spPr>
          <a:xfrm flipH="false" flipV="false" rot="0">
            <a:off x="638175" y="5381625"/>
            <a:ext cx="2381250" cy="1524000"/>
          </a:xfrm>
          <a:custGeom>
            <a:avLst/>
            <a:gdLst/>
            <a:ahLst/>
            <a:cxnLst/>
            <a:rect r="r" b="b" t="t" l="l"/>
            <a:pathLst>
              <a:path h="1524000" w="2381250">
                <a:moveTo>
                  <a:pt x="0" y="0"/>
                </a:moveTo>
                <a:lnTo>
                  <a:pt x="2381250" y="0"/>
                </a:lnTo>
                <a:lnTo>
                  <a:pt x="2381250" y="1524000"/>
                </a:lnTo>
                <a:lnTo>
                  <a:pt x="0" y="1524000"/>
                </a:lnTo>
                <a:lnTo>
                  <a:pt x="0" y="0"/>
                </a:lnTo>
                <a:close/>
              </a:path>
            </a:pathLst>
          </a:custGeom>
          <a:blipFill>
            <a:blip r:embed="rId3"/>
            <a:stretch>
              <a:fillRect l="-4535" t="-43277" r="-4535" b="-43277"/>
            </a:stretch>
          </a:blipFill>
        </p:spPr>
      </p:sp>
      <p:sp>
        <p:nvSpPr>
          <p:cNvPr name="TextBox 11" id="11"/>
          <p:cNvSpPr txBox="true"/>
          <p:nvPr/>
        </p:nvSpPr>
        <p:spPr>
          <a:xfrm rot="0">
            <a:off x="12258675" y="3133725"/>
            <a:ext cx="5238750" cy="265110"/>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516078"/>
                </a:solidFill>
                <a:latin typeface="Open Sauce"/>
                <a:ea typeface="Open Sauce"/>
                <a:cs typeface="Open Sauce"/>
                <a:sym typeface="Open Sauce"/>
              </a:rPr>
              <a:t>Reading, encouraged by my husband</a:t>
            </a:r>
          </a:p>
        </p:txBody>
      </p:sp>
      <p:sp>
        <p:nvSpPr>
          <p:cNvPr name="TextBox 12" id="12"/>
          <p:cNvSpPr txBox="true"/>
          <p:nvPr/>
        </p:nvSpPr>
        <p:spPr>
          <a:xfrm rot="0">
            <a:off x="3257550" y="5467350"/>
            <a:ext cx="2619375" cy="1014805"/>
          </a:xfrm>
          <a:prstGeom prst="rect">
            <a:avLst/>
          </a:prstGeom>
        </p:spPr>
        <p:txBody>
          <a:bodyPr anchor="t" rtlCol="false" tIns="0" lIns="0" bIns="0" rIns="0">
            <a:spAutoFit/>
          </a:bodyPr>
          <a:lstStyle/>
          <a:p>
            <a:pPr algn="l">
              <a:lnSpc>
                <a:spcPts val="2099"/>
              </a:lnSpc>
              <a:spcBef>
                <a:spcPct val="0"/>
              </a:spcBef>
            </a:pPr>
            <a:r>
              <a:rPr lang="en-US" sz="2099" spc="-84" strike="noStrike" u="none">
                <a:solidFill>
                  <a:srgbClr val="10265B"/>
                </a:solidFill>
                <a:latin typeface="Open Sauce"/>
                <a:ea typeface="Open Sauce"/>
                <a:cs typeface="Open Sauce"/>
                <a:sym typeface="Open Sauce"/>
              </a:rPr>
              <a:t>Classical dance</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Expression through</a:t>
            </a:r>
          </a:p>
          <a:p>
            <a:pPr algn="l">
              <a:lnSpc>
                <a:spcPts val="2099"/>
              </a:lnSpc>
              <a:spcBef>
                <a:spcPct val="0"/>
              </a:spcBef>
            </a:pPr>
            <a:r>
              <a:rPr lang="en-US" sz="2099" spc="-84" strike="noStrike" u="none">
                <a:solidFill>
                  <a:srgbClr val="10265B"/>
                </a:solidFill>
                <a:latin typeface="Open Sauce"/>
                <a:ea typeface="Open Sauce"/>
                <a:cs typeface="Open Sauce"/>
                <a:sym typeface="Open Sauce"/>
              </a:rPr>
              <a:t>precision and practice</a:t>
            </a:r>
          </a:p>
        </p:txBody>
      </p:sp>
      <p:sp>
        <p:nvSpPr>
          <p:cNvPr name="TextBox 13" id="13"/>
          <p:cNvSpPr txBox="true"/>
          <p:nvPr/>
        </p:nvSpPr>
        <p:spPr>
          <a:xfrm rot="0">
            <a:off x="638175" y="8143875"/>
            <a:ext cx="5238750" cy="580691"/>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 • Bachelor’s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381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Discipline • precision • creativity</a:t>
            </a:r>
          </a:p>
        </p:txBody>
      </p:sp>
      <p:sp>
        <p:nvSpPr>
          <p:cNvPr name="TextBox 15" id="15"/>
          <p:cNvSpPr txBox="true"/>
          <p:nvPr/>
        </p:nvSpPr>
        <p:spPr>
          <a:xfrm rot="0">
            <a:off x="644842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Resilience • adaptability • openness</a:t>
            </a:r>
          </a:p>
        </p:txBody>
      </p:sp>
      <p:sp>
        <p:nvSpPr>
          <p:cNvPr name="TextBox 16" id="16"/>
          <p:cNvSpPr txBox="true"/>
          <p:nvPr/>
        </p:nvSpPr>
        <p:spPr>
          <a:xfrm rot="0">
            <a:off x="12258675" y="7277100"/>
            <a:ext cx="5238750" cy="265110"/>
          </a:xfrm>
          <a:prstGeom prst="rect">
            <a:avLst/>
          </a:prstGeom>
        </p:spPr>
        <p:txBody>
          <a:bodyPr anchor="t" rtlCol="false" tIns="0" lIns="0" bIns="0" rIns="0">
            <a:spAutoFit/>
          </a:bodyPr>
          <a:lstStyle/>
          <a:p>
            <a:pPr algn="l">
              <a:lnSpc>
                <a:spcPts val="2099"/>
              </a:lnSpc>
              <a:spcBef>
                <a:spcPct val="0"/>
              </a:spcBef>
            </a:pPr>
            <a:r>
              <a:rPr lang="en-US" b="true" sz="2099" spc="-84" strike="noStrike" u="none">
                <a:solidFill>
                  <a:srgbClr val="256D79"/>
                </a:solidFill>
                <a:latin typeface="Open Sauce Bold"/>
                <a:ea typeface="Open Sauce Bold"/>
                <a:cs typeface="Open Sauce Bold"/>
                <a:sym typeface="Open Sauce Bold"/>
              </a:rPr>
              <a:t>Imagination • reflection • questioning</a:t>
            </a:r>
          </a:p>
        </p:txBody>
      </p:sp>
      <p:sp>
        <p:nvSpPr>
          <p:cNvPr name="TextBox 17" id="17"/>
          <p:cNvSpPr txBox="true"/>
          <p:nvPr/>
        </p:nvSpPr>
        <p:spPr>
          <a:xfrm rot="0">
            <a:off x="6448425" y="8143875"/>
            <a:ext cx="323850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2011–2013</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Guest Lecturer</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Teaching &amp; mentoring</a:t>
            </a:r>
          </a:p>
        </p:txBody>
      </p:sp>
      <p:sp>
        <p:nvSpPr>
          <p:cNvPr name="TextBox 18" id="18"/>
          <p:cNvSpPr txBox="true"/>
          <p:nvPr/>
        </p:nvSpPr>
        <p:spPr>
          <a:xfrm rot="0">
            <a:off x="12258675" y="8143875"/>
            <a:ext cx="5238750" cy="866289"/>
          </a:xfrm>
          <a:prstGeom prst="rect">
            <a:avLst/>
          </a:prstGeom>
        </p:spPr>
        <p:txBody>
          <a:bodyPr anchor="t" rtlCol="false" tIns="0" lIns="0" bIns="0" rIns="0">
            <a:spAutoFit/>
          </a:bodyPr>
          <a:lstStyle/>
          <a:p>
            <a:pPr algn="l">
              <a:lnSpc>
                <a:spcPts val="2250"/>
              </a:lnSpc>
              <a:spcBef>
                <a:spcPct val="0"/>
              </a:spcBef>
            </a:pPr>
            <a:r>
              <a:rPr lang="en-US" sz="2250" spc="-90" strike="noStrike" u="none">
                <a:solidFill>
                  <a:srgbClr val="10265B"/>
                </a:solidFill>
                <a:latin typeface="Open Sauce"/>
                <a:ea typeface="Open Sauce"/>
                <a:cs typeface="Open Sauce"/>
                <a:sym typeface="Open Sauce"/>
              </a:rPr>
              <a:t>2013–2015 • Master’s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Control Systems</a:t>
            </a:r>
          </a:p>
          <a:p>
            <a:pPr algn="l">
              <a:lnSpc>
                <a:spcPts val="2250"/>
              </a:lnSpc>
              <a:spcBef>
                <a:spcPct val="0"/>
              </a:spcBef>
            </a:pPr>
            <a:r>
              <a:rPr lang="en-US" sz="2250" spc="-90" strike="noStrike" u="none">
                <a:solidFill>
                  <a:srgbClr val="10265B"/>
                </a:solidFill>
                <a:latin typeface="Open Sauce"/>
                <a:ea typeface="Open Sauce"/>
                <a:cs typeface="Open Sauce"/>
                <a:sym typeface="Open Sauce"/>
              </a:rPr>
              <a:t>Calicut University</a:t>
            </a:r>
          </a:p>
        </p:txBody>
      </p:sp>
      <p:sp>
        <p:nvSpPr>
          <p:cNvPr name="TextBox 19" id="19"/>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20" id="20" descr="Thinking, Fast and Slow by Daniel Kahneman"/>
          <p:cNvSpPr/>
          <p:nvPr/>
        </p:nvSpPr>
        <p:spPr>
          <a:xfrm flipH="false" flipV="false" rot="0">
            <a:off x="13782675" y="3667125"/>
            <a:ext cx="2190750" cy="3371850"/>
          </a:xfrm>
          <a:custGeom>
            <a:avLst/>
            <a:gdLst/>
            <a:ahLst/>
            <a:cxnLst/>
            <a:rect r="r" b="b" t="t" l="l"/>
            <a:pathLst>
              <a:path h="3371850" w="2190750">
                <a:moveTo>
                  <a:pt x="0" y="0"/>
                </a:moveTo>
                <a:lnTo>
                  <a:pt x="2190750" y="0"/>
                </a:lnTo>
                <a:lnTo>
                  <a:pt x="2190750" y="3371850"/>
                </a:lnTo>
                <a:lnTo>
                  <a:pt x="0" y="3371850"/>
                </a:lnTo>
                <a:lnTo>
                  <a:pt x="0" y="0"/>
                </a:lnTo>
                <a:close/>
              </a:path>
            </a:pathLst>
          </a:custGeom>
          <a:blipFill>
            <a:blip r:embed="rId4"/>
            <a:stretch>
              <a:fillRect l="-4929" t="-4905" r="-4929" b="-4905"/>
            </a:stretch>
          </a:blipFill>
        </p:spPr>
      </p:sp>
      <p:sp>
        <p:nvSpPr>
          <p:cNvPr name="Freeform 21" id="21" descr="Rasitha near a Kerala houseboat"/>
          <p:cNvSpPr/>
          <p:nvPr/>
        </p:nvSpPr>
        <p:spPr>
          <a:xfrm flipH="false" flipV="false" rot="0">
            <a:off x="638175" y="3667125"/>
            <a:ext cx="5238750" cy="1524000"/>
          </a:xfrm>
          <a:custGeom>
            <a:avLst/>
            <a:gdLst/>
            <a:ahLst/>
            <a:cxnLst/>
            <a:rect r="r" b="b" t="t" l="l"/>
            <a:pathLst>
              <a:path h="1524000" w="5238750">
                <a:moveTo>
                  <a:pt x="0" y="0"/>
                </a:moveTo>
                <a:lnTo>
                  <a:pt x="5238750" y="0"/>
                </a:lnTo>
                <a:lnTo>
                  <a:pt x="5238750" y="1524000"/>
                </a:lnTo>
                <a:lnTo>
                  <a:pt x="0" y="1524000"/>
                </a:lnTo>
                <a:lnTo>
                  <a:pt x="0" y="0"/>
                </a:lnTo>
                <a:close/>
              </a:path>
            </a:pathLst>
          </a:custGeom>
          <a:blipFill>
            <a:blip r:embed="rId5"/>
            <a:stretch>
              <a:fillRect l="-2061" t="-84221" r="-2061" b="-84221"/>
            </a:stretch>
          </a:blipFill>
        </p:spPr>
      </p:sp>
      <p:sp>
        <p:nvSpPr>
          <p:cNvPr name="Freeform 22" id="22" descr="Trekking in a snowy mountain landscape"/>
          <p:cNvSpPr/>
          <p:nvPr/>
        </p:nvSpPr>
        <p:spPr>
          <a:xfrm flipH="false" flipV="false" rot="0">
            <a:off x="644842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6"/>
            <a:stretch>
              <a:fillRect l="-19195" t="-7086" r="-19195" b="-7086"/>
            </a:stretch>
          </a:blipFill>
        </p:spPr>
      </p:sp>
      <p:sp>
        <p:nvSpPr>
          <p:cNvPr name="Freeform 23" id="23" descr="Trekking on a green mountain ridge"/>
          <p:cNvSpPr/>
          <p:nvPr/>
        </p:nvSpPr>
        <p:spPr>
          <a:xfrm flipH="false" flipV="false" rot="0">
            <a:off x="8229600"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7"/>
            <a:stretch>
              <a:fillRect l="-6442" t="-32782" r="-6442" b="-32782"/>
            </a:stretch>
          </a:blipFill>
        </p:spPr>
      </p:sp>
      <p:sp>
        <p:nvSpPr>
          <p:cNvPr name="Freeform 24" id="24" descr="Trekking with companions in misty hills"/>
          <p:cNvSpPr/>
          <p:nvPr/>
        </p:nvSpPr>
        <p:spPr>
          <a:xfrm flipH="false" flipV="false" rot="0">
            <a:off x="10010775" y="36671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8"/>
            <a:stretch>
              <a:fillRect l="-19195" t="-7086" r="-19195" b="-7086"/>
            </a:stretch>
          </a:blipFill>
        </p:spPr>
      </p:sp>
      <p:sp>
        <p:nvSpPr>
          <p:cNvPr name="Freeform 25" id="25" descr="Travel by the beach"/>
          <p:cNvSpPr/>
          <p:nvPr/>
        </p:nvSpPr>
        <p:spPr>
          <a:xfrm flipH="false" flipV="false" rot="0">
            <a:off x="644842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9"/>
            <a:stretch>
              <a:fillRect l="-6442" t="-32782" r="-6442" b="-32782"/>
            </a:stretch>
          </a:blipFill>
        </p:spPr>
      </p:sp>
      <p:sp>
        <p:nvSpPr>
          <p:cNvPr name="Freeform 26" id="26" descr="Travel at the Colosseum"/>
          <p:cNvSpPr/>
          <p:nvPr/>
        </p:nvSpPr>
        <p:spPr>
          <a:xfrm flipH="false" flipV="false" rot="0">
            <a:off x="8229600"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0"/>
            <a:stretch>
              <a:fillRect l="-19195" t="-7086" r="-19195" b="-7086"/>
            </a:stretch>
          </a:blipFill>
        </p:spPr>
      </p:sp>
      <p:sp>
        <p:nvSpPr>
          <p:cNvPr name="Freeform 27" id="27" descr="Travel at the Eiffel Tower"/>
          <p:cNvSpPr/>
          <p:nvPr/>
        </p:nvSpPr>
        <p:spPr>
          <a:xfrm flipH="false" flipV="false" rot="0">
            <a:off x="10010775" y="5381625"/>
            <a:ext cx="1676400" cy="1524000"/>
          </a:xfrm>
          <a:custGeom>
            <a:avLst/>
            <a:gdLst/>
            <a:ahLst/>
            <a:cxnLst/>
            <a:rect r="r" b="b" t="t" l="l"/>
            <a:pathLst>
              <a:path h="1524000" w="1676400">
                <a:moveTo>
                  <a:pt x="0" y="0"/>
                </a:moveTo>
                <a:lnTo>
                  <a:pt x="1676400" y="0"/>
                </a:lnTo>
                <a:lnTo>
                  <a:pt x="1676400" y="1524000"/>
                </a:lnTo>
                <a:lnTo>
                  <a:pt x="0" y="1524000"/>
                </a:lnTo>
                <a:lnTo>
                  <a:pt x="0" y="0"/>
                </a:lnTo>
                <a:close/>
              </a:path>
            </a:pathLst>
          </a:custGeom>
          <a:blipFill>
            <a:blip r:embed="rId11"/>
            <a:stretch>
              <a:fillRect l="-6442" t="-32782" r="-6442" b="-32782"/>
            </a:stretch>
          </a:blipFill>
        </p:spPr>
      </p:sp>
      <p:sp>
        <p:nvSpPr>
          <p:cNvPr name="Freeform 28" id="28"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12"/>
            <a:stretch>
              <a:fillRect l="-237" t="0" r="-237" b="0"/>
            </a:stretch>
          </a:blipFill>
        </p:spPr>
      </p:sp>
      <p:sp>
        <p:nvSpPr>
          <p:cNvPr name="Freeform 29" id="29"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
        <p:nvSpPr>
          <p:cNvPr name="Freeform 30" id="30"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13"/>
            <a:stretch>
              <a:fillRect l="0" t="-29012" r="0" b="-2901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399"/>
              </a:lnSpc>
              <a:spcBef>
                <a:spcPct val="0"/>
              </a:spcBef>
            </a:pPr>
            <a:r>
              <a:rPr lang="en-US" b="true" sz="5399" spc="-216" strike="noStrike" u="none">
                <a:solidFill>
                  <a:srgbClr val="10265B"/>
                </a:solidFill>
                <a:latin typeface="Open Sauce Bold"/>
                <a:ea typeface="Open Sauce Bold"/>
                <a:cs typeface="Open Sauce Bold"/>
                <a:sym typeface="Open Sauce Bold"/>
              </a:rPr>
              <a:t>What Shaped My Journey</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Rooted in Kerala. Shaped by curiosity.</a:t>
            </a:r>
          </a:p>
        </p:txBody>
      </p:sp>
      <p:sp>
        <p:nvSpPr>
          <p:cNvPr name="TextBox 5" id="5"/>
          <p:cNvSpPr txBox="true"/>
          <p:nvPr/>
        </p:nvSpPr>
        <p:spPr>
          <a:xfrm rot="0">
            <a:off x="6381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Kerala roots</a:t>
            </a:r>
          </a:p>
        </p:txBody>
      </p:sp>
      <p:sp>
        <p:nvSpPr>
          <p:cNvPr name="TextBox 6" id="6"/>
          <p:cNvSpPr txBox="true"/>
          <p:nvPr/>
        </p:nvSpPr>
        <p:spPr>
          <a:xfrm rot="0">
            <a:off x="6381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culture sparked</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my love of classical dance.</a:t>
            </a:r>
          </a:p>
        </p:txBody>
      </p:sp>
      <p:sp>
        <p:nvSpPr>
          <p:cNvPr name="TextBox 7" id="7"/>
          <p:cNvSpPr txBox="true"/>
          <p:nvPr/>
        </p:nvSpPr>
        <p:spPr>
          <a:xfrm rot="0">
            <a:off x="644842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Exploration</a:t>
            </a:r>
          </a:p>
        </p:txBody>
      </p:sp>
      <p:sp>
        <p:nvSpPr>
          <p:cNvPr name="TextBox 8" id="8"/>
          <p:cNvSpPr txBox="true"/>
          <p:nvPr/>
        </p:nvSpPr>
        <p:spPr>
          <a:xfrm rot="0">
            <a:off x="644842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Kerala’s Western Ghats &amp; beaches</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sparked trekking &amp; travel.</a:t>
            </a:r>
          </a:p>
        </p:txBody>
      </p:sp>
      <p:sp>
        <p:nvSpPr>
          <p:cNvPr name="TextBox 9" id="9"/>
          <p:cNvSpPr txBox="true"/>
          <p:nvPr/>
        </p:nvSpPr>
        <p:spPr>
          <a:xfrm rot="0">
            <a:off x="12258675" y="2628900"/>
            <a:ext cx="5238750" cy="393857"/>
          </a:xfrm>
          <a:prstGeom prst="rect">
            <a:avLst/>
          </a:prstGeom>
        </p:spPr>
        <p:txBody>
          <a:bodyPr anchor="t" rtlCol="false" tIns="0" lIns="0" bIns="0" rIns="0">
            <a:spAutoFit/>
          </a:bodyPr>
          <a:lstStyle/>
          <a:p>
            <a:pPr algn="l">
              <a:lnSpc>
                <a:spcPts val="2999"/>
              </a:lnSpc>
              <a:spcBef>
                <a:spcPct val="0"/>
              </a:spcBef>
            </a:pPr>
            <a:r>
              <a:rPr lang="en-US" b="true" sz="2999" spc="-120" strike="noStrike" u="none">
                <a:solidFill>
                  <a:srgbClr val="10265B"/>
                </a:solidFill>
                <a:latin typeface="Open Sauce Bold"/>
                <a:ea typeface="Open Sauce Bold"/>
                <a:cs typeface="Open Sauce Bold"/>
                <a:sym typeface="Open Sauce Bold"/>
              </a:rPr>
              <a:t>Reading &amp; imagination</a:t>
            </a:r>
          </a:p>
        </p:txBody>
      </p:sp>
      <p:sp>
        <p:nvSpPr>
          <p:cNvPr name="Freeform 10" id="10" descr="Classical dance and traditional ankle bells."/>
          <p:cNvSpPr/>
          <p:nvPr/>
        </p:nvSpPr>
        <p:spPr>
          <a:xfrm flipH="false" flipV="false" rot="0">
            <a:off x="3832117" y="3381375"/>
            <a:ext cx="2044808" cy="2238375"/>
          </a:xfrm>
          <a:custGeom>
            <a:avLst/>
            <a:gdLst/>
            <a:ahLst/>
            <a:cxnLst/>
            <a:rect r="r" b="b" t="t" l="l"/>
            <a:pathLst>
              <a:path h="2238375" w="2044808">
                <a:moveTo>
                  <a:pt x="0" y="0"/>
                </a:moveTo>
                <a:lnTo>
                  <a:pt x="2044808" y="0"/>
                </a:lnTo>
                <a:lnTo>
                  <a:pt x="2044808" y="2238375"/>
                </a:lnTo>
                <a:lnTo>
                  <a:pt x="0" y="2238375"/>
                </a:lnTo>
                <a:lnTo>
                  <a:pt x="0" y="0"/>
                </a:lnTo>
                <a:close/>
              </a:path>
            </a:pathLst>
          </a:custGeom>
          <a:blipFill>
            <a:blip r:embed="rId3"/>
            <a:stretch>
              <a:fillRect l="-5281" t="-5281" r="-5281" b="-5281"/>
            </a:stretch>
          </a:blipFill>
        </p:spPr>
      </p:sp>
      <p:sp>
        <p:nvSpPr>
          <p:cNvPr name="TextBox 11" id="11"/>
          <p:cNvSpPr txBox="true"/>
          <p:nvPr/>
        </p:nvSpPr>
        <p:spPr>
          <a:xfrm rot="0">
            <a:off x="12258675" y="613410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516078"/>
                </a:solidFill>
                <a:latin typeface="Open Sauce"/>
                <a:ea typeface="Open Sauce"/>
                <a:cs typeface="Open Sauce"/>
                <a:sym typeface="Open Sauce"/>
              </a:rPr>
              <a:t>My husband inspired my reading.</a:t>
            </a:r>
          </a:p>
          <a:p>
            <a:pPr algn="l">
              <a:lnSpc>
                <a:spcPts val="2400"/>
              </a:lnSpc>
              <a:spcBef>
                <a:spcPct val="0"/>
              </a:spcBef>
            </a:pPr>
            <a:r>
              <a:rPr lang="en-US" sz="2400" spc="-96" strike="noStrike" u="none">
                <a:solidFill>
                  <a:srgbClr val="516078"/>
                </a:solidFill>
                <a:latin typeface="Open Sauce"/>
                <a:ea typeface="Open Sauce"/>
                <a:cs typeface="Open Sauce"/>
                <a:sym typeface="Open Sauce"/>
              </a:rPr>
              <a:t>It fuels imagination &amp; creativity.</a:t>
            </a:r>
          </a:p>
        </p:txBody>
      </p:sp>
      <p:sp>
        <p:nvSpPr>
          <p:cNvPr name="TextBox 12" id="12"/>
          <p:cNvSpPr txBox="true"/>
          <p:nvPr/>
        </p:nvSpPr>
        <p:spPr>
          <a:xfrm rot="0">
            <a:off x="638175" y="7467600"/>
            <a:ext cx="17011650" cy="326276"/>
          </a:xfrm>
          <a:prstGeom prst="rect">
            <a:avLst/>
          </a:prstGeom>
        </p:spPr>
        <p:txBody>
          <a:bodyPr anchor="t" rtlCol="false" tIns="0" lIns="0" bIns="0" rIns="0">
            <a:spAutoFit/>
          </a:bodyPr>
          <a:lstStyle/>
          <a:p>
            <a:pPr algn="l">
              <a:lnSpc>
                <a:spcPts val="2400"/>
              </a:lnSpc>
              <a:spcBef>
                <a:spcPct val="0"/>
              </a:spcBef>
            </a:pPr>
            <a:r>
              <a:rPr lang="en-US" b="true" sz="2400" spc="-96" strike="noStrike" u="none">
                <a:solidFill>
                  <a:srgbClr val="10265B"/>
                </a:solidFill>
                <a:latin typeface="Open Sauce Bold"/>
                <a:ea typeface="Open Sauce Bold"/>
                <a:cs typeface="Open Sauce Bold"/>
                <a:sym typeface="Open Sauce Bold"/>
              </a:rPr>
              <a:t>Education &amp; teaching</a:t>
            </a:r>
          </a:p>
        </p:txBody>
      </p:sp>
      <p:sp>
        <p:nvSpPr>
          <p:cNvPr name="TextBox 13" id="13"/>
          <p:cNvSpPr txBox="true"/>
          <p:nvPr/>
        </p:nvSpPr>
        <p:spPr>
          <a:xfrm rot="0">
            <a:off x="638175" y="8134350"/>
            <a:ext cx="5238750" cy="629724"/>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 • Bachelor’s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Engineering foundation</a:t>
            </a:r>
          </a:p>
        </p:txBody>
      </p:sp>
      <p:sp>
        <p:nvSpPr>
          <p:cNvPr name="TextBox 14" id="14"/>
          <p:cNvSpPr txBox="true"/>
          <p:nvPr/>
        </p:nvSpPr>
        <p:spPr>
          <a:xfrm rot="0">
            <a:off x="6448425" y="8134350"/>
            <a:ext cx="323850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2011–2013</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Guest Lecturer</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Teaching &amp; mentoring</a:t>
            </a:r>
          </a:p>
        </p:txBody>
      </p:sp>
      <p:sp>
        <p:nvSpPr>
          <p:cNvPr name="TextBox 15" id="15"/>
          <p:cNvSpPr txBox="true"/>
          <p:nvPr/>
        </p:nvSpPr>
        <p:spPr>
          <a:xfrm rot="0">
            <a:off x="12258675" y="8134350"/>
            <a:ext cx="5238750" cy="933172"/>
          </a:xfrm>
          <a:prstGeom prst="rect">
            <a:avLst/>
          </a:prstGeom>
        </p:spPr>
        <p:txBody>
          <a:bodyPr anchor="t" rtlCol="false" tIns="0" lIns="0" bIns="0" rIns="0">
            <a:spAutoFit/>
          </a:bodyPr>
          <a:lstStyle/>
          <a:p>
            <a:pPr algn="l">
              <a:lnSpc>
                <a:spcPts val="2400"/>
              </a:lnSpc>
              <a:spcBef>
                <a:spcPct val="0"/>
              </a:spcBef>
            </a:pPr>
            <a:r>
              <a:rPr lang="en-US" sz="2400" spc="-96" strike="noStrike" u="none">
                <a:solidFill>
                  <a:srgbClr val="10265B"/>
                </a:solidFill>
                <a:latin typeface="Open Sauce"/>
                <a:ea typeface="Open Sauce"/>
                <a:cs typeface="Open Sauce"/>
                <a:sym typeface="Open Sauce"/>
              </a:rPr>
              <a:t>2013–2015 • Master’s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Control Systems</a:t>
            </a:r>
          </a:p>
          <a:p>
            <a:pPr algn="l">
              <a:lnSpc>
                <a:spcPts val="2400"/>
              </a:lnSpc>
              <a:spcBef>
                <a:spcPct val="0"/>
              </a:spcBef>
            </a:pPr>
            <a:r>
              <a:rPr lang="en-US" sz="2400" spc="-96" strike="noStrike" u="none">
                <a:solidFill>
                  <a:srgbClr val="10265B"/>
                </a:solidFill>
                <a:latin typeface="Open Sauce"/>
                <a:ea typeface="Open Sauce"/>
                <a:cs typeface="Open Sauce"/>
                <a:sym typeface="Open Sauce"/>
              </a:rPr>
              <a:t>Calicut University</a:t>
            </a:r>
          </a:p>
        </p:txBody>
      </p:sp>
      <p:sp>
        <p:nvSpPr>
          <p:cNvPr name="TextBox 16" id="16"/>
          <p:cNvSpPr txBox="true"/>
          <p:nvPr/>
        </p:nvSpPr>
        <p:spPr>
          <a:xfrm rot="0">
            <a:off x="638175" y="9839325"/>
            <a:ext cx="17011650" cy="209661"/>
          </a:xfrm>
          <a:prstGeom prst="rect">
            <a:avLst/>
          </a:prstGeom>
        </p:spPr>
        <p:txBody>
          <a:bodyPr anchor="t" rtlCol="false" tIns="0" lIns="0" bIns="0" rIns="0">
            <a:spAutoFit/>
          </a:bodyPr>
          <a:lstStyle/>
          <a:p>
            <a:pPr algn="l">
              <a:lnSpc>
                <a:spcPts val="1649"/>
              </a:lnSpc>
              <a:spcBef>
                <a:spcPct val="0"/>
              </a:spcBef>
            </a:pPr>
            <a:r>
              <a:rPr lang="en-US" sz="1649" spc="-66" strike="noStrike" u="none">
                <a:solidFill>
                  <a:srgbClr val="516078"/>
                </a:solidFill>
                <a:latin typeface="Open Sauce"/>
                <a:ea typeface="Open Sauce"/>
                <a:cs typeface="Open Sauce"/>
                <a:sym typeface="Open Sauce"/>
              </a:rPr>
              <a:t>GUIDING PRINCIPLES   Grounded Roots • Precision Creativity • Expedition Resilience • Cognitive Integrity</a:t>
            </a:r>
          </a:p>
        </p:txBody>
      </p:sp>
      <p:sp>
        <p:nvSpPr>
          <p:cNvPr name="Freeform 17" id="17" descr="Thinking, Fast and Slow by Daniel Kahneman."/>
          <p:cNvSpPr/>
          <p:nvPr/>
        </p:nvSpPr>
        <p:spPr>
          <a:xfrm flipH="false" flipV="false" rot="0">
            <a:off x="14072702" y="3238500"/>
            <a:ext cx="1610697" cy="2476500"/>
          </a:xfrm>
          <a:custGeom>
            <a:avLst/>
            <a:gdLst/>
            <a:ahLst/>
            <a:cxnLst/>
            <a:rect r="r" b="b" t="t" l="l"/>
            <a:pathLst>
              <a:path h="2476500" w="1610697">
                <a:moveTo>
                  <a:pt x="0" y="0"/>
                </a:moveTo>
                <a:lnTo>
                  <a:pt x="1610696" y="0"/>
                </a:lnTo>
                <a:lnTo>
                  <a:pt x="1610696" y="2476500"/>
                </a:lnTo>
                <a:lnTo>
                  <a:pt x="0" y="2476500"/>
                </a:lnTo>
                <a:lnTo>
                  <a:pt x="0" y="0"/>
                </a:lnTo>
                <a:close/>
              </a:path>
            </a:pathLst>
          </a:custGeom>
          <a:blipFill>
            <a:blip r:embed="rId4"/>
            <a:stretch>
              <a:fillRect l="-6705" t="-6739" r="-6705" b="-6739"/>
            </a:stretch>
          </a:blipFill>
        </p:spPr>
      </p:sp>
      <p:sp>
        <p:nvSpPr>
          <p:cNvPr name="Freeform 18" id="18" descr="Rasitha by a Kerala houseboat — cultural roots."/>
          <p:cNvSpPr/>
          <p:nvPr/>
        </p:nvSpPr>
        <p:spPr>
          <a:xfrm flipH="false" flipV="false" rot="0">
            <a:off x="638175" y="3381375"/>
            <a:ext cx="2984497" cy="2238375"/>
          </a:xfrm>
          <a:custGeom>
            <a:avLst/>
            <a:gdLst/>
            <a:ahLst/>
            <a:cxnLst/>
            <a:rect r="r" b="b" t="t" l="l"/>
            <a:pathLst>
              <a:path h="2238375" w="2984497">
                <a:moveTo>
                  <a:pt x="0" y="0"/>
                </a:moveTo>
                <a:lnTo>
                  <a:pt x="2984497" y="0"/>
                </a:lnTo>
                <a:lnTo>
                  <a:pt x="2984497" y="2238375"/>
                </a:lnTo>
                <a:lnTo>
                  <a:pt x="0" y="2238375"/>
                </a:lnTo>
                <a:lnTo>
                  <a:pt x="0" y="0"/>
                </a:lnTo>
                <a:close/>
              </a:path>
            </a:pathLst>
          </a:custGeom>
          <a:blipFill>
            <a:blip r:embed="rId5"/>
            <a:stretch>
              <a:fillRect l="-4824" t="-4824" r="-4824" b="-4824"/>
            </a:stretch>
          </a:blipFill>
        </p:spPr>
      </p:sp>
      <p:sp>
        <p:nvSpPr>
          <p:cNvPr name="Freeform 19" id="19" descr="Rasitha trekking on a green mountain ridge."/>
          <p:cNvSpPr/>
          <p:nvPr/>
        </p:nvSpPr>
        <p:spPr>
          <a:xfrm flipH="false" flipV="false" rot="0">
            <a:off x="644842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6"/>
            <a:stretch>
              <a:fillRect l="-6442" t="-6362" r="-6442" b="-6362"/>
            </a:stretch>
          </a:blipFill>
        </p:spPr>
      </p:sp>
      <p:sp>
        <p:nvSpPr>
          <p:cNvPr name="Freeform 20" id="20" descr="Rasitha in a snowy mountain landscape."/>
          <p:cNvSpPr/>
          <p:nvPr/>
        </p:nvSpPr>
        <p:spPr>
          <a:xfrm flipH="false" flipV="false" rot="0">
            <a:off x="8229600"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7"/>
            <a:stretch>
              <a:fillRect l="-47604" t="-4824" r="-47604" b="-4824"/>
            </a:stretch>
          </a:blipFill>
        </p:spPr>
      </p:sp>
      <p:sp>
        <p:nvSpPr>
          <p:cNvPr name="Freeform 21" id="21" descr="Rasitha's group photograph from her lecturer experience."/>
          <p:cNvSpPr/>
          <p:nvPr/>
        </p:nvSpPr>
        <p:spPr>
          <a:xfrm flipH="false" flipV="false" rot="0">
            <a:off x="9906000" y="8096250"/>
            <a:ext cx="1781175" cy="1219200"/>
          </a:xfrm>
          <a:custGeom>
            <a:avLst/>
            <a:gdLst/>
            <a:ahLst/>
            <a:cxnLst/>
            <a:rect r="r" b="b" t="t" l="l"/>
            <a:pathLst>
              <a:path h="1219200" w="1781175">
                <a:moveTo>
                  <a:pt x="0" y="0"/>
                </a:moveTo>
                <a:lnTo>
                  <a:pt x="1781175" y="0"/>
                </a:lnTo>
                <a:lnTo>
                  <a:pt x="1781175" y="1219200"/>
                </a:lnTo>
                <a:lnTo>
                  <a:pt x="0" y="1219200"/>
                </a:lnTo>
                <a:lnTo>
                  <a:pt x="0" y="0"/>
                </a:lnTo>
                <a:close/>
              </a:path>
            </a:pathLst>
          </a:custGeom>
          <a:blipFill>
            <a:blip r:embed="rId8"/>
            <a:stretch>
              <a:fillRect l="-237" t="0" r="-237" b="0"/>
            </a:stretch>
          </a:blipFill>
        </p:spPr>
      </p:sp>
      <p:sp>
        <p:nvSpPr>
          <p:cNvPr name="Freeform 22" id="22" descr="Progression from Bachelor's to teaching to Master's."/>
          <p:cNvSpPr/>
          <p:nvPr/>
        </p:nvSpPr>
        <p:spPr>
          <a:xfrm flipH="false" flipV="false" rot="0">
            <a:off x="597217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3" id="23" descr="Progression from Bachelor's to teaching to Master's."/>
          <p:cNvSpPr/>
          <p:nvPr/>
        </p:nvSpPr>
        <p:spPr>
          <a:xfrm flipH="false" flipV="false" rot="0">
            <a:off x="11782425" y="8477250"/>
            <a:ext cx="381000" cy="238125"/>
          </a:xfrm>
          <a:custGeom>
            <a:avLst/>
            <a:gdLst/>
            <a:ahLst/>
            <a:cxnLst/>
            <a:rect r="r" b="b" t="t" l="l"/>
            <a:pathLst>
              <a:path h="238125" w="381000">
                <a:moveTo>
                  <a:pt x="0" y="0"/>
                </a:moveTo>
                <a:lnTo>
                  <a:pt x="381000" y="0"/>
                </a:lnTo>
                <a:lnTo>
                  <a:pt x="381000" y="238125"/>
                </a:lnTo>
                <a:lnTo>
                  <a:pt x="0" y="238125"/>
                </a:lnTo>
                <a:lnTo>
                  <a:pt x="0" y="0"/>
                </a:lnTo>
                <a:close/>
              </a:path>
            </a:pathLst>
          </a:custGeom>
          <a:blipFill>
            <a:blip r:embed="rId9"/>
            <a:stretch>
              <a:fillRect l="0" t="-29012" r="0" b="-29012"/>
            </a:stretch>
          </a:blipFill>
        </p:spPr>
      </p:sp>
      <p:sp>
        <p:nvSpPr>
          <p:cNvPr name="Freeform 24" id="24" descr="Rasitha in front of the Eiffel Tower at night."/>
          <p:cNvSpPr/>
          <p:nvPr/>
        </p:nvSpPr>
        <p:spPr>
          <a:xfrm flipH="false" flipV="false" rot="0">
            <a:off x="10010775" y="3381375"/>
            <a:ext cx="1676400" cy="2238375"/>
          </a:xfrm>
          <a:custGeom>
            <a:avLst/>
            <a:gdLst/>
            <a:ahLst/>
            <a:cxnLst/>
            <a:rect r="r" b="b" t="t" l="l"/>
            <a:pathLst>
              <a:path h="2238375" w="1676400">
                <a:moveTo>
                  <a:pt x="0" y="0"/>
                </a:moveTo>
                <a:lnTo>
                  <a:pt x="1676400" y="0"/>
                </a:lnTo>
                <a:lnTo>
                  <a:pt x="1676400" y="2238375"/>
                </a:lnTo>
                <a:lnTo>
                  <a:pt x="0" y="2238375"/>
                </a:lnTo>
                <a:lnTo>
                  <a:pt x="0" y="0"/>
                </a:lnTo>
                <a:close/>
              </a:path>
            </a:pathLst>
          </a:custGeom>
          <a:blipFill>
            <a:blip r:embed="rId10"/>
            <a:stretch>
              <a:fillRect l="-71" t="0" r="-71" b="0"/>
            </a:stretch>
          </a:blipFill>
        </p:spPr>
      </p:sp>
      <p:sp>
        <p:nvSpPr>
          <p:cNvPr name="Freeform 25" id="25" descr="Discipline • precision • creativity | Resilience • adaptability • openness | Imagination • reflection • questioning"/>
          <p:cNvSpPr/>
          <p:nvPr/>
        </p:nvSpPr>
        <p:spPr>
          <a:xfrm flipH="false" flipV="false" rot="0">
            <a:off x="638175" y="6905625"/>
            <a:ext cx="17011650" cy="400050"/>
          </a:xfrm>
          <a:custGeom>
            <a:avLst/>
            <a:gdLst/>
            <a:ahLst/>
            <a:cxnLst/>
            <a:rect r="r" b="b" t="t" l="l"/>
            <a:pathLst>
              <a:path h="400050" w="17011650">
                <a:moveTo>
                  <a:pt x="0" y="0"/>
                </a:moveTo>
                <a:lnTo>
                  <a:pt x="17011650" y="0"/>
                </a:lnTo>
                <a:lnTo>
                  <a:pt x="17011650" y="400050"/>
                </a:lnTo>
                <a:lnTo>
                  <a:pt x="0" y="4000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Freeform 3" id="3"/>
          <p:cNvSpPr/>
          <p:nvPr/>
        </p:nvSpPr>
        <p:spPr>
          <a:xfrm flipH="false" flipV="false" rot="0">
            <a:off x="0" y="2569017"/>
            <a:ext cx="18080182" cy="6865288"/>
          </a:xfrm>
          <a:custGeom>
            <a:avLst/>
            <a:gdLst/>
            <a:ahLst/>
            <a:cxnLst/>
            <a:rect r="r" b="b" t="t" l="l"/>
            <a:pathLst>
              <a:path h="6865288" w="18080182">
                <a:moveTo>
                  <a:pt x="0" y="0"/>
                </a:moveTo>
                <a:lnTo>
                  <a:pt x="18080182" y="0"/>
                </a:lnTo>
                <a:lnTo>
                  <a:pt x="18080182" y="6865288"/>
                </a:lnTo>
                <a:lnTo>
                  <a:pt x="0" y="6865288"/>
                </a:lnTo>
                <a:lnTo>
                  <a:pt x="0" y="0"/>
                </a:lnTo>
                <a:close/>
              </a:path>
            </a:pathLst>
          </a:custGeom>
          <a:blipFill>
            <a:blip r:embed="rId3"/>
            <a:stretch>
              <a:fillRect l="0" t="0" r="0" b="0"/>
            </a:stretch>
          </a:blipFill>
        </p:spPr>
      </p:sp>
      <p:sp>
        <p:nvSpPr>
          <p:cNvPr name="TextBox 4" id="4"/>
          <p:cNvSpPr txBox="true"/>
          <p:nvPr/>
        </p:nvSpPr>
        <p:spPr>
          <a:xfrm rot="0">
            <a:off x="638175" y="685800"/>
            <a:ext cx="10477500" cy="787714"/>
          </a:xfrm>
          <a:prstGeom prst="rect">
            <a:avLst/>
          </a:prstGeom>
        </p:spPr>
        <p:txBody>
          <a:bodyPr anchor="t" rtlCol="false" tIns="0" lIns="0" bIns="0" rIns="0">
            <a:spAutoFit/>
          </a:bodyPr>
          <a:lstStyle/>
          <a:p>
            <a:pPr algn="l" marL="0" indent="0" lvl="0">
              <a:lnSpc>
                <a:spcPts val="6000"/>
              </a:lnSpc>
              <a:spcBef>
                <a:spcPct val="0"/>
              </a:spcBef>
            </a:pPr>
            <a:r>
              <a:rPr lang="en-US" sz="6000" spc="-240" strike="noStrike" u="none">
                <a:solidFill>
                  <a:srgbClr val="101E58"/>
                </a:solidFill>
                <a:latin typeface="Inter"/>
                <a:ea typeface="Inter"/>
                <a:cs typeface="Inter"/>
                <a:sym typeface="Inter"/>
              </a:rPr>
              <a:t>Career trajectory</a:t>
            </a:r>
          </a:p>
        </p:txBody>
      </p:sp>
      <p:sp>
        <p:nvSpPr>
          <p:cNvPr name="TextBox 5" id="5"/>
          <p:cNvSpPr txBox="true"/>
          <p:nvPr/>
        </p:nvSpPr>
        <p:spPr>
          <a:xfrm rot="0">
            <a:off x="638175" y="1704975"/>
            <a:ext cx="11239500" cy="326276"/>
          </a:xfrm>
          <a:prstGeom prst="rect">
            <a:avLst/>
          </a:prstGeom>
        </p:spPr>
        <p:txBody>
          <a:bodyPr anchor="t" rtlCol="false" tIns="0" lIns="0" bIns="0" rIns="0">
            <a:spAutoFit/>
          </a:bodyPr>
          <a:lstStyle/>
          <a:p>
            <a:pPr algn="l" marL="0" indent="0" lvl="0">
              <a:lnSpc>
                <a:spcPts val="2400"/>
              </a:lnSpc>
              <a:spcBef>
                <a:spcPct val="0"/>
              </a:spcBef>
            </a:pPr>
            <a:r>
              <a:rPr lang="en-US" sz="2400" spc="-48" strike="noStrike" u="none">
                <a:solidFill>
                  <a:srgbClr val="53647E"/>
                </a:solidFill>
                <a:latin typeface="Inter"/>
                <a:ea typeface="Inter"/>
                <a:cs typeface="Inter"/>
                <a:sym typeface="Inter"/>
              </a:rPr>
              <a:t>One passion for autonomy, across flight, vehicles and factories</a:t>
            </a:r>
          </a:p>
        </p:txBody>
      </p:sp>
      <p:sp>
        <p:nvSpPr>
          <p:cNvPr name="Freeform 6" id="6" descr="Rustom-II, 16 Nov 2016. Government of India / DRDO, CC BY-SA 4.0, cropped. https://commons.wikimedia.org/wiki/File:Rustom_flight_2_(cropped).jpg"/>
          <p:cNvSpPr/>
          <p:nvPr/>
        </p:nvSpPr>
        <p:spPr>
          <a:xfrm flipH="false" flipV="false" rot="0">
            <a:off x="762000" y="2571750"/>
            <a:ext cx="4572000" cy="2190750"/>
          </a:xfrm>
          <a:custGeom>
            <a:avLst/>
            <a:gdLst/>
            <a:ahLst/>
            <a:cxnLst/>
            <a:rect r="r" b="b" t="t" l="l"/>
            <a:pathLst>
              <a:path h="2190750" w="4572000">
                <a:moveTo>
                  <a:pt x="0" y="0"/>
                </a:moveTo>
                <a:lnTo>
                  <a:pt x="4572000" y="0"/>
                </a:lnTo>
                <a:lnTo>
                  <a:pt x="4572000" y="2190750"/>
                </a:lnTo>
                <a:lnTo>
                  <a:pt x="0" y="2190750"/>
                </a:lnTo>
                <a:lnTo>
                  <a:pt x="0" y="0"/>
                </a:lnTo>
                <a:close/>
              </a:path>
            </a:pathLst>
          </a:custGeom>
          <a:blipFill>
            <a:blip r:embed="rId4"/>
            <a:stretch>
              <a:fillRect l="-4239" t="-4929" r="-4478" b="-22695"/>
            </a:stretch>
          </a:blipFill>
        </p:spPr>
      </p:sp>
      <p:sp>
        <p:nvSpPr>
          <p:cNvPr name="TextBox 7" id="7"/>
          <p:cNvSpPr txBox="true"/>
          <p:nvPr/>
        </p:nvSpPr>
        <p:spPr>
          <a:xfrm rot="0">
            <a:off x="762000" y="4953000"/>
            <a:ext cx="4762500" cy="356937"/>
          </a:xfrm>
          <a:prstGeom prst="rect">
            <a:avLst/>
          </a:prstGeom>
        </p:spPr>
        <p:txBody>
          <a:bodyPr anchor="t" rtlCol="false" tIns="0" lIns="0" bIns="0" rIns="0">
            <a:spAutoFit/>
          </a:bodyPr>
          <a:lstStyle/>
          <a:p>
            <a:pPr algn="l">
              <a:lnSpc>
                <a:spcPts val="2880"/>
              </a:lnSpc>
              <a:spcBef>
                <a:spcPct val="0"/>
              </a:spcBef>
            </a:pPr>
            <a:r>
              <a:rPr lang="en-US" b="true" sz="2400" spc="-48" strike="noStrike" u="none">
                <a:solidFill>
                  <a:srgbClr val="10265B"/>
                </a:solidFill>
                <a:latin typeface="Inter Bold"/>
                <a:ea typeface="Inter Bold"/>
                <a:cs typeface="Inter Bold"/>
                <a:sym typeface="Inter Bold"/>
              </a:rPr>
              <a:t>2015–2016   ADE–DRDO</a:t>
            </a:r>
          </a:p>
        </p:txBody>
      </p:sp>
      <p:sp>
        <p:nvSpPr>
          <p:cNvPr name="TextBox 8" id="8"/>
          <p:cNvSpPr txBox="true"/>
          <p:nvPr/>
        </p:nvSpPr>
        <p:spPr>
          <a:xfrm rot="0">
            <a:off x="762000" y="5429250"/>
            <a:ext cx="4762500" cy="606843"/>
          </a:xfrm>
          <a:prstGeom prst="rect">
            <a:avLst/>
          </a:prstGeom>
        </p:spPr>
        <p:txBody>
          <a:bodyPr anchor="t" rtlCol="false" tIns="0" lIns="0" bIns="0" rIns="0">
            <a:spAutoFit/>
          </a:bodyPr>
          <a:lstStyle/>
          <a:p>
            <a:pPr algn="l">
              <a:lnSpc>
                <a:spcPts val="2520"/>
              </a:lnSpc>
              <a:spcBef>
                <a:spcPct val="0"/>
              </a:spcBef>
            </a:pPr>
            <a:r>
              <a:rPr lang="en-US" sz="2099" spc="-84" strike="noStrike" u="none">
                <a:solidFill>
                  <a:srgbClr val="10265B"/>
                </a:solidFill>
                <a:latin typeface="Inter"/>
                <a:ea typeface="Inter"/>
                <a:cs typeface="Inter"/>
                <a:sym typeface="Inter"/>
              </a:rPr>
              <a:t>Aeronautical Development</a:t>
            </a:r>
          </a:p>
          <a:p>
            <a:pPr algn="l">
              <a:lnSpc>
                <a:spcPts val="2520"/>
              </a:lnSpc>
              <a:spcBef>
                <a:spcPct val="0"/>
              </a:spcBef>
            </a:pPr>
            <a:r>
              <a:rPr lang="en-US" sz="2099" spc="-84" strike="noStrike" u="none">
                <a:solidFill>
                  <a:srgbClr val="10265B"/>
                </a:solidFill>
                <a:latin typeface="Inter"/>
                <a:ea typeface="Inter"/>
                <a:cs typeface="Inter"/>
                <a:sym typeface="Inter"/>
              </a:rPr>
              <a:t>Establishment</a:t>
            </a:r>
          </a:p>
        </p:txBody>
      </p:sp>
      <p:sp>
        <p:nvSpPr>
          <p:cNvPr name="TextBox 9" id="9"/>
          <p:cNvSpPr txBox="true"/>
          <p:nvPr/>
        </p:nvSpPr>
        <p:spPr>
          <a:xfrm rot="0">
            <a:off x="762000" y="6238875"/>
            <a:ext cx="5000625" cy="1070932"/>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Enabled Rustom-2’s maiden flight with flight-control stabilisation software</a:t>
            </a:r>
          </a:p>
        </p:txBody>
      </p:sp>
      <p:sp>
        <p:nvSpPr>
          <p:cNvPr name="Freeform 10" id="10"/>
          <p:cNvSpPr/>
          <p:nvPr/>
        </p:nvSpPr>
        <p:spPr>
          <a:xfrm flipH="false" flipV="false" rot="0">
            <a:off x="1739110" y="7280704"/>
            <a:ext cx="1312536" cy="1300906"/>
          </a:xfrm>
          <a:custGeom>
            <a:avLst/>
            <a:gdLst/>
            <a:ahLst/>
            <a:cxnLst/>
            <a:rect r="r" b="b" t="t" l="l"/>
            <a:pathLst>
              <a:path h="1300906" w="1312536">
                <a:moveTo>
                  <a:pt x="0" y="0"/>
                </a:moveTo>
                <a:lnTo>
                  <a:pt x="1312536" y="0"/>
                </a:lnTo>
                <a:lnTo>
                  <a:pt x="1312536" y="1300906"/>
                </a:lnTo>
                <a:lnTo>
                  <a:pt x="0" y="1300906"/>
                </a:lnTo>
                <a:lnTo>
                  <a:pt x="0" y="0"/>
                </a:lnTo>
                <a:close/>
              </a:path>
            </a:pathLst>
          </a:custGeom>
          <a:blipFill>
            <a:blip r:embed="rId5"/>
            <a:stretch>
              <a:fillRect l="0" t="0" r="0" b="0"/>
            </a:stretch>
          </a:blipFill>
        </p:spPr>
      </p:sp>
      <p:sp>
        <p:nvSpPr>
          <p:cNvPr name="TextBox 11" id="11"/>
          <p:cNvSpPr txBox="true"/>
          <p:nvPr/>
        </p:nvSpPr>
        <p:spPr>
          <a:xfrm rot="0">
            <a:off x="1739074" y="76676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01</a:t>
            </a:r>
          </a:p>
        </p:txBody>
      </p:sp>
      <p:sp>
        <p:nvSpPr>
          <p:cNvPr name="Freeform 12" id="12" descr="Illustrative ADAS car with lane and sensor-awareness overlays."/>
          <p:cNvSpPr/>
          <p:nvPr/>
        </p:nvSpPr>
        <p:spPr>
          <a:xfrm flipH="false" flipV="false" rot="0">
            <a:off x="6334125" y="2571750"/>
            <a:ext cx="5238750" cy="2571750"/>
          </a:xfrm>
          <a:custGeom>
            <a:avLst/>
            <a:gdLst/>
            <a:ahLst/>
            <a:cxnLst/>
            <a:rect r="r" b="b" t="t" l="l"/>
            <a:pathLst>
              <a:path h="2571750" w="5238750">
                <a:moveTo>
                  <a:pt x="0" y="0"/>
                </a:moveTo>
                <a:lnTo>
                  <a:pt x="5238750" y="0"/>
                </a:lnTo>
                <a:lnTo>
                  <a:pt x="5238750" y="2571750"/>
                </a:lnTo>
                <a:lnTo>
                  <a:pt x="0" y="2571750"/>
                </a:lnTo>
                <a:lnTo>
                  <a:pt x="0" y="0"/>
                </a:lnTo>
                <a:close/>
              </a:path>
            </a:pathLst>
          </a:custGeom>
          <a:blipFill>
            <a:blip r:embed="rId6"/>
            <a:stretch>
              <a:fillRect l="-2061" t="-4252" r="-1861" b="-4570"/>
            </a:stretch>
          </a:blipFill>
        </p:spPr>
      </p:sp>
      <p:sp>
        <p:nvSpPr>
          <p:cNvPr name="TextBox 13" id="13"/>
          <p:cNvSpPr txBox="true"/>
          <p:nvPr/>
        </p:nvSpPr>
        <p:spPr>
          <a:xfrm rot="0">
            <a:off x="6572250" y="676275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2016–2022   Danlaw</a:t>
            </a:r>
          </a:p>
        </p:txBody>
      </p:sp>
      <p:sp>
        <p:nvSpPr>
          <p:cNvPr name="TextBox 14" id="14"/>
          <p:cNvSpPr txBox="true"/>
          <p:nvPr/>
        </p:nvSpPr>
        <p:spPr>
          <a:xfrm rot="0">
            <a:off x="6572250" y="7286625"/>
            <a:ext cx="5238750" cy="1784928"/>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autonomous systems development</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autonomous platooning through leader–follower coordination.</a:t>
            </a:r>
          </a:p>
        </p:txBody>
      </p:sp>
      <p:sp>
        <p:nvSpPr>
          <p:cNvPr name="Freeform 15" id="15"/>
          <p:cNvSpPr/>
          <p:nvPr/>
        </p:nvSpPr>
        <p:spPr>
          <a:xfrm flipH="false" flipV="false" rot="0">
            <a:off x="8050220" y="5356674"/>
            <a:ext cx="1312536" cy="1289974"/>
          </a:xfrm>
          <a:custGeom>
            <a:avLst/>
            <a:gdLst/>
            <a:ahLst/>
            <a:cxnLst/>
            <a:rect r="r" b="b" t="t" l="l"/>
            <a:pathLst>
              <a:path h="1289974" w="1312536">
                <a:moveTo>
                  <a:pt x="0" y="0"/>
                </a:moveTo>
                <a:lnTo>
                  <a:pt x="1312536" y="0"/>
                </a:lnTo>
                <a:lnTo>
                  <a:pt x="1312536" y="1289974"/>
                </a:lnTo>
                <a:lnTo>
                  <a:pt x="0" y="1289974"/>
                </a:lnTo>
                <a:lnTo>
                  <a:pt x="0" y="0"/>
                </a:lnTo>
                <a:close/>
              </a:path>
            </a:pathLst>
          </a:custGeom>
          <a:blipFill>
            <a:blip r:embed="rId7"/>
            <a:stretch>
              <a:fillRect l="0" t="0" r="0" b="0"/>
            </a:stretch>
          </a:blipFill>
        </p:spPr>
      </p:sp>
      <p:sp>
        <p:nvSpPr>
          <p:cNvPr name="TextBox 16" id="16"/>
          <p:cNvSpPr txBox="true"/>
          <p:nvPr/>
        </p:nvSpPr>
        <p:spPr>
          <a:xfrm rot="0">
            <a:off x="8050244" y="574357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02</a:t>
            </a:r>
          </a:p>
        </p:txBody>
      </p:sp>
      <p:sp>
        <p:nvSpPr>
          <p:cNvPr name="Freeform 17" id="17" descr="Illustrative industrial robot inspecting an aircraft surface."/>
          <p:cNvSpPr/>
          <p:nvPr/>
        </p:nvSpPr>
        <p:spPr>
          <a:xfrm flipH="false" flipV="false" rot="0">
            <a:off x="12239625" y="2381250"/>
            <a:ext cx="4095750" cy="2143125"/>
          </a:xfrm>
          <a:custGeom>
            <a:avLst/>
            <a:gdLst/>
            <a:ahLst/>
            <a:cxnLst/>
            <a:rect r="r" b="b" t="t" l="l"/>
            <a:pathLst>
              <a:path h="2143125" w="4095750">
                <a:moveTo>
                  <a:pt x="0" y="0"/>
                </a:moveTo>
                <a:lnTo>
                  <a:pt x="4095750" y="0"/>
                </a:lnTo>
                <a:lnTo>
                  <a:pt x="4095750" y="2143125"/>
                </a:lnTo>
                <a:lnTo>
                  <a:pt x="0" y="2143125"/>
                </a:lnTo>
                <a:lnTo>
                  <a:pt x="0" y="0"/>
                </a:lnTo>
                <a:close/>
              </a:path>
            </a:pathLst>
          </a:custGeom>
          <a:blipFill>
            <a:blip r:embed="rId8"/>
            <a:stretch>
              <a:fillRect l="-23122" t="-5039" r="-51040" b="-65719"/>
            </a:stretch>
          </a:blipFill>
        </p:spPr>
      </p:sp>
      <p:sp>
        <p:nvSpPr>
          <p:cNvPr name="TextBox 18" id="18"/>
          <p:cNvSpPr txBox="true"/>
          <p:nvPr/>
        </p:nvSpPr>
        <p:spPr>
          <a:xfrm rot="0">
            <a:off x="12239625" y="7191375"/>
            <a:ext cx="5238750" cy="1427930"/>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Leading motion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Enabling less manual programming &amp; reuse across applications</a:t>
            </a:r>
          </a:p>
        </p:txBody>
      </p:sp>
      <p:sp>
        <p:nvSpPr>
          <p:cNvPr name="TextBox 19" id="19"/>
          <p:cNvSpPr txBox="true"/>
          <p:nvPr/>
        </p:nvSpPr>
        <p:spPr>
          <a:xfrm rot="0">
            <a:off x="12239625" y="8953500"/>
            <a:ext cx="5238750" cy="303395"/>
          </a:xfrm>
          <a:prstGeom prst="rect">
            <a:avLst/>
          </a:prstGeom>
        </p:spPr>
        <p:txBody>
          <a:bodyPr anchor="t" rtlCol="false" tIns="0" lIns="0" bIns="0" rIns="0">
            <a:spAutoFit/>
          </a:bodyPr>
          <a:lstStyle/>
          <a:p>
            <a:pPr algn="l">
              <a:lnSpc>
                <a:spcPts val="2520"/>
              </a:lnSpc>
              <a:spcBef>
                <a:spcPct val="0"/>
              </a:spcBef>
            </a:pPr>
            <a:r>
              <a:rPr lang="en-US" sz="2099" spc="-42" strike="noStrike" u="none">
                <a:solidFill>
                  <a:srgbClr val="10265B"/>
                </a:solidFill>
                <a:latin typeface="Inter"/>
                <a:ea typeface="Inter"/>
                <a:cs typeface="Inter"/>
                <a:sym typeface="Inter"/>
              </a:rPr>
              <a:t>Programmes: A320 inspection • eAction</a:t>
            </a:r>
          </a:p>
        </p:txBody>
      </p:sp>
      <p:sp>
        <p:nvSpPr>
          <p:cNvPr name="Freeform 20" id="20"/>
          <p:cNvSpPr/>
          <p:nvPr/>
        </p:nvSpPr>
        <p:spPr>
          <a:xfrm flipH="false" flipV="false" rot="0">
            <a:off x="13497244" y="4919394"/>
            <a:ext cx="1312536" cy="1300906"/>
          </a:xfrm>
          <a:custGeom>
            <a:avLst/>
            <a:gdLst/>
            <a:ahLst/>
            <a:cxnLst/>
            <a:rect r="r" b="b" t="t" l="l"/>
            <a:pathLst>
              <a:path h="1300906" w="1312536">
                <a:moveTo>
                  <a:pt x="0" y="0"/>
                </a:moveTo>
                <a:lnTo>
                  <a:pt x="1312536" y="0"/>
                </a:lnTo>
                <a:lnTo>
                  <a:pt x="1312536" y="1300907"/>
                </a:lnTo>
                <a:lnTo>
                  <a:pt x="0" y="1300907"/>
                </a:lnTo>
                <a:lnTo>
                  <a:pt x="0" y="0"/>
                </a:lnTo>
                <a:close/>
              </a:path>
            </a:pathLst>
          </a:custGeom>
          <a:blipFill>
            <a:blip r:embed="rId9"/>
            <a:stretch>
              <a:fillRect l="0" t="0" r="0" b="0"/>
            </a:stretch>
          </a:blipFill>
        </p:spPr>
      </p:sp>
      <p:sp>
        <p:nvSpPr>
          <p:cNvPr name="TextBox 21" id="21"/>
          <p:cNvSpPr txBox="true"/>
          <p:nvPr/>
        </p:nvSpPr>
        <p:spPr>
          <a:xfrm rot="0">
            <a:off x="13497211" y="5305425"/>
            <a:ext cx="1314450" cy="633501"/>
          </a:xfrm>
          <a:prstGeom prst="rect">
            <a:avLst/>
          </a:prstGeom>
        </p:spPr>
        <p:txBody>
          <a:bodyPr anchor="t" rtlCol="false" tIns="0" lIns="0" bIns="0" rIns="0">
            <a:spAutoFit/>
          </a:bodyPr>
          <a:lstStyle/>
          <a:p>
            <a:pPr algn="ctr" marL="0" indent="0" lvl="0">
              <a:lnSpc>
                <a:spcPts val="4799"/>
              </a:lnSpc>
              <a:spcBef>
                <a:spcPct val="0"/>
              </a:spcBef>
            </a:pPr>
            <a:r>
              <a:rPr lang="en-US" b="true" sz="4799" spc="-96" strike="noStrike" u="none">
                <a:solidFill>
                  <a:srgbClr val="101E58"/>
                </a:solidFill>
                <a:latin typeface="Inter Bold"/>
                <a:ea typeface="Inter Bold"/>
                <a:cs typeface="Inter Bold"/>
                <a:sym typeface="Inter Bold"/>
              </a:rPr>
              <a:t>03</a:t>
            </a:r>
          </a:p>
        </p:txBody>
      </p:sp>
      <p:sp>
        <p:nvSpPr>
          <p:cNvPr name="TextBox 22" id="22"/>
          <p:cNvSpPr txBox="true"/>
          <p:nvPr/>
        </p:nvSpPr>
        <p:spPr>
          <a:xfrm rot="0">
            <a:off x="638175" y="9906000"/>
            <a:ext cx="11430000" cy="196314"/>
          </a:xfrm>
          <a:prstGeom prst="rect">
            <a:avLst/>
          </a:prstGeom>
        </p:spPr>
        <p:txBody>
          <a:bodyPr anchor="t" rtlCol="false" tIns="0" lIns="0" bIns="0" rIns="0">
            <a:spAutoFit/>
          </a:bodyPr>
          <a:lstStyle/>
          <a:p>
            <a:pPr algn="l" marL="0" indent="0" lvl="0">
              <a:lnSpc>
                <a:spcPts val="1620"/>
              </a:lnSpc>
              <a:spcBef>
                <a:spcPct val="0"/>
              </a:spcBef>
            </a:pPr>
            <a:r>
              <a:rPr lang="en-US" sz="1350" spc="-54" strike="noStrike" u="none">
                <a:solidFill>
                  <a:srgbClr val="53647E"/>
                </a:solidFill>
                <a:latin typeface="Inter"/>
                <a:ea typeface="Inter"/>
                <a:cs typeface="Inter"/>
                <a:sym typeface="Inter"/>
                <a:hlinkClick r:id="rId10" tooltip="https://commons.wikimedia.org/wiki/File:Rustom_flight_2_(cropped).jpg"/>
              </a:rPr>
              <a:t>Rustom-2 photo: Government of India / DRDO, CC BY-SA 4.0</a:t>
            </a:r>
          </a:p>
        </p:txBody>
      </p:sp>
      <p:sp>
        <p:nvSpPr>
          <p:cNvPr name="TextBox 23" id="23"/>
          <p:cNvSpPr txBox="true"/>
          <p:nvPr/>
        </p:nvSpPr>
        <p:spPr>
          <a:xfrm rot="0">
            <a:off x="12239625" y="6667500"/>
            <a:ext cx="5238750" cy="356937"/>
          </a:xfrm>
          <a:prstGeom prst="rect">
            <a:avLst/>
          </a:prstGeom>
        </p:spPr>
        <p:txBody>
          <a:bodyPr anchor="t" rtlCol="false" tIns="0" lIns="0" bIns="0" rIns="0">
            <a:spAutoFit/>
          </a:bodyPr>
          <a:lstStyle/>
          <a:p>
            <a:pPr algn="l" marL="0" indent="0" lvl="0">
              <a:lnSpc>
                <a:spcPts val="2880"/>
              </a:lnSpc>
              <a:spcBef>
                <a:spcPct val="0"/>
              </a:spcBef>
            </a:pPr>
            <a:r>
              <a:rPr lang="en-US" b="true" sz="2400" spc="-48" strike="noStrike" u="none">
                <a:solidFill>
                  <a:srgbClr val="142349"/>
                </a:solidFill>
                <a:latin typeface="Inter Bold"/>
                <a:ea typeface="Inter Bold"/>
                <a:cs typeface="Inter Bold"/>
                <a:sym typeface="Inter Bold"/>
              </a:rPr>
              <a:t>2022–Present   Airbus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95250"/>
              <a:ext cx="22682200" cy="1314450"/>
            </a:xfrm>
            <a:prstGeom prst="rect">
              <a:avLst/>
            </a:prstGeom>
          </p:spPr>
          <p:txBody>
            <a:bodyPr anchor="ctr" rtlCol="false" tIns="0" lIns="0" bIns="0" rIns="0"/>
            <a:lstStyle/>
            <a:p>
              <a:pPr algn="l">
                <a:lnSpc>
                  <a:spcPts val="7920"/>
                </a:lnSpc>
              </a:pPr>
              <a:r>
                <a:rPr lang="en-US" sz="6000">
                  <a:solidFill>
                    <a:srgbClr val="15215A"/>
                  </a:solidFill>
                  <a:latin typeface="Arial"/>
                  <a:ea typeface="Arial"/>
                  <a:cs typeface="Arial"/>
                  <a:sym typeface="Arial"/>
                </a:rPr>
                <a:t>Achievements &amp; recognition</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68"/>
                </a:lnSpc>
              </a:pPr>
              <a:r>
                <a:rPr lang="en-US" sz="2400">
                  <a:solidFill>
                    <a:srgbClr val="15215A"/>
                  </a:solidFill>
                  <a:latin typeface="Arial"/>
                  <a:ea typeface="Arial"/>
                  <a:cs typeface="Arial"/>
                  <a:sym typeface="Arial"/>
                </a:rPr>
                <a:t>Academic excellence, industry recognition and continued learning</a:t>
              </a:r>
            </a:p>
          </p:txBody>
        </p:sp>
      </p:grpSp>
      <p:grpSp>
        <p:nvGrpSpPr>
          <p:cNvPr name="Group 9" id="9"/>
          <p:cNvGrpSpPr/>
          <p:nvPr/>
        </p:nvGrpSpPr>
        <p:grpSpPr>
          <a:xfrm rot="0">
            <a:off x="0" y="2476500"/>
            <a:ext cx="5962650" cy="7810500"/>
            <a:chOff x="0" y="0"/>
            <a:chExt cx="7950200" cy="10414000"/>
          </a:xfrm>
        </p:grpSpPr>
        <p:sp>
          <p:nvSpPr>
            <p:cNvPr name="Freeform 10" id="10"/>
            <p:cNvSpPr/>
            <p:nvPr/>
          </p:nvSpPr>
          <p:spPr>
            <a:xfrm flipH="false" flipV="false" rot="0">
              <a:off x="0" y="0"/>
              <a:ext cx="7950200" cy="10414000"/>
            </a:xfrm>
            <a:custGeom>
              <a:avLst/>
              <a:gdLst/>
              <a:ahLst/>
              <a:cxnLst/>
              <a:rect r="r" b="b" t="t" l="l"/>
              <a:pathLst>
                <a:path h="10414000" w="7950200">
                  <a:moveTo>
                    <a:pt x="0" y="0"/>
                  </a:moveTo>
                  <a:lnTo>
                    <a:pt x="7950200" y="0"/>
                  </a:lnTo>
                  <a:lnTo>
                    <a:pt x="7950200" y="10414000"/>
                  </a:lnTo>
                  <a:lnTo>
                    <a:pt x="0" y="10414000"/>
                  </a:lnTo>
                  <a:close/>
                </a:path>
              </a:pathLst>
            </a:custGeom>
            <a:solidFill>
              <a:srgbClr val="15215A"/>
            </a:solidFill>
          </p:spPr>
        </p:sp>
      </p:grpSp>
      <p:grpSp>
        <p:nvGrpSpPr>
          <p:cNvPr name="Group 11" id="11"/>
          <p:cNvGrpSpPr/>
          <p:nvPr/>
        </p:nvGrpSpPr>
        <p:grpSpPr>
          <a:xfrm rot="0">
            <a:off x="6477000" y="2571750"/>
            <a:ext cx="5334000" cy="619125"/>
            <a:chOff x="0" y="0"/>
            <a:chExt cx="7112000" cy="825500"/>
          </a:xfrm>
        </p:grpSpPr>
        <p:sp>
          <p:nvSpPr>
            <p:cNvPr name="Freeform 12" id="12"/>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13" id="13"/>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2× Wheel of Excellence</a:t>
              </a:r>
            </a:p>
          </p:txBody>
        </p:sp>
      </p:grpSp>
      <p:grpSp>
        <p:nvGrpSpPr>
          <p:cNvPr name="Group 14" id="14"/>
          <p:cNvGrpSpPr/>
          <p:nvPr/>
        </p:nvGrpSpPr>
        <p:grpSpPr>
          <a:xfrm rot="0">
            <a:off x="6477000" y="5334000"/>
            <a:ext cx="5334000" cy="1333500"/>
            <a:chOff x="0" y="0"/>
            <a:chExt cx="7112000" cy="1778000"/>
          </a:xfrm>
        </p:grpSpPr>
        <p:sp>
          <p:nvSpPr>
            <p:cNvPr name="Freeform 15" id="15"/>
            <p:cNvSpPr/>
            <p:nvPr/>
          </p:nvSpPr>
          <p:spPr>
            <a:xfrm flipH="false" flipV="false" rot="0">
              <a:off x="0" y="0"/>
              <a:ext cx="7112000" cy="1778000"/>
            </a:xfrm>
            <a:custGeom>
              <a:avLst/>
              <a:gdLst/>
              <a:ahLst/>
              <a:cxnLst/>
              <a:rect r="r" b="b" t="t" l="l"/>
              <a:pathLst>
                <a:path h="1778000" w="7112000">
                  <a:moveTo>
                    <a:pt x="0" y="0"/>
                  </a:moveTo>
                  <a:lnTo>
                    <a:pt x="7112000" y="0"/>
                  </a:lnTo>
                  <a:lnTo>
                    <a:pt x="7112000" y="1778000"/>
                  </a:lnTo>
                  <a:lnTo>
                    <a:pt x="0" y="1778000"/>
                  </a:lnTo>
                  <a:close/>
                </a:path>
              </a:pathLst>
            </a:custGeom>
            <a:blipFill>
              <a:blip r:embed="rId4">
                <a:alphaModFix amt="0"/>
              </a:blip>
              <a:stretch>
                <a:fillRect l="0" t="-117007" r="-73035" b="-52721"/>
              </a:stretch>
            </a:blipFill>
          </p:spPr>
        </p:sp>
        <p:sp>
          <p:nvSpPr>
            <p:cNvPr name="TextBox 16" id="16"/>
            <p:cNvSpPr txBox="true"/>
            <p:nvPr/>
          </p:nvSpPr>
          <p:spPr>
            <a:xfrm>
              <a:off x="0" y="-38100"/>
              <a:ext cx="7112000" cy="1816100"/>
            </a:xfrm>
            <a:prstGeom prst="rect">
              <a:avLst/>
            </a:prstGeom>
          </p:spPr>
          <p:txBody>
            <a:bodyPr anchor="ctr" rtlCol="false" tIns="0" lIns="0" bIns="0" rIns="0"/>
            <a:lstStyle/>
            <a:p>
              <a:pPr algn="ctr" marL="0" indent="0" lvl="0">
                <a:lnSpc>
                  <a:spcPts val="3168"/>
                </a:lnSpc>
                <a:spcBef>
                  <a:spcPct val="0"/>
                </a:spcBef>
              </a:pPr>
              <a:r>
                <a:rPr lang="en-US" sz="2400" strike="noStrike" u="none">
                  <a:solidFill>
                    <a:srgbClr val="10265B"/>
                  </a:solidFill>
                  <a:latin typeface="Arial"/>
                  <a:ea typeface="Arial"/>
                  <a:cs typeface="Arial"/>
                  <a:sym typeface="Arial"/>
                </a:rPr>
                <a:t>Danlaw • 2017 &amp; 2018</a:t>
              </a:r>
            </a:p>
            <a:p>
              <a:pPr algn="ctr" marL="0" indent="0" lvl="0">
                <a:lnSpc>
                  <a:spcPts val="3168"/>
                </a:lnSpc>
                <a:spcBef>
                  <a:spcPct val="0"/>
                </a:spcBef>
              </a:pPr>
              <a:r>
                <a:rPr lang="en-US" sz="2400" strike="noStrike" u="none">
                  <a:solidFill>
                    <a:srgbClr val="10265B"/>
                  </a:solidFill>
                  <a:latin typeface="Arial"/>
                  <a:ea typeface="Arial"/>
                  <a:cs typeface="Arial"/>
                  <a:sym typeface="Arial"/>
                </a:rPr>
                <a:t>Enabled autonomous platooning</a:t>
              </a:r>
            </a:p>
            <a:p>
              <a:pPr algn="ctr" marL="0" indent="0" lvl="0">
                <a:lnSpc>
                  <a:spcPts val="3168"/>
                </a:lnSpc>
                <a:spcBef>
                  <a:spcPct val="0"/>
                </a:spcBef>
              </a:pPr>
              <a:r>
                <a:rPr lang="en-US" sz="2400" strike="noStrike" u="none">
                  <a:solidFill>
                    <a:srgbClr val="10265B"/>
                  </a:solidFill>
                  <a:latin typeface="Arial"/>
                  <a:ea typeface="Arial"/>
                  <a:cs typeface="Arial"/>
                  <a:sym typeface="Arial"/>
                </a:rPr>
                <a:t>through vehicle coordination</a:t>
              </a:r>
            </a:p>
          </p:txBody>
        </p:sp>
      </p:grpSp>
      <p:grpSp>
        <p:nvGrpSpPr>
          <p:cNvPr name="Group 17" id="17"/>
          <p:cNvGrpSpPr/>
          <p:nvPr/>
        </p:nvGrpSpPr>
        <p:grpSpPr>
          <a:xfrm rot="0">
            <a:off x="14420850" y="3571875"/>
            <a:ext cx="1257300" cy="1257300"/>
            <a:chOff x="0" y="0"/>
            <a:chExt cx="1676400" cy="1676400"/>
          </a:xfrm>
        </p:grpSpPr>
        <p:sp>
          <p:nvSpPr>
            <p:cNvPr name="Freeform 18" id="18" descr="Airbus Spot Award"/>
            <p:cNvSpPr/>
            <p:nvPr/>
          </p:nvSpPr>
          <p:spPr>
            <a:xfrm flipH="false" flipV="false" rot="0">
              <a:off x="0" y="0"/>
              <a:ext cx="1676400" cy="1676400"/>
            </a:xfrm>
            <a:custGeom>
              <a:avLst/>
              <a:gdLst/>
              <a:ahLst/>
              <a:cxnLst/>
              <a:rect r="r" b="b" t="t" l="l"/>
              <a:pathLst>
                <a:path h="1676400" w="1676400">
                  <a:moveTo>
                    <a:pt x="0" y="0"/>
                  </a:moveTo>
                  <a:lnTo>
                    <a:pt x="1676400" y="0"/>
                  </a:lnTo>
                  <a:lnTo>
                    <a:pt x="1676400" y="1676400"/>
                  </a:lnTo>
                  <a:lnTo>
                    <a:pt x="0" y="1676400"/>
                  </a:lnTo>
                  <a:lnTo>
                    <a:pt x="0" y="0"/>
                  </a:lnTo>
                  <a:close/>
                </a:path>
              </a:pathLst>
            </a:custGeom>
            <a:blipFill>
              <a:blip r:embed="rId5"/>
              <a:stretch>
                <a:fillRect l="0" t="0" r="0" b="0"/>
              </a:stretch>
            </a:blipFill>
          </p:spPr>
        </p:sp>
      </p:grpSp>
      <p:grpSp>
        <p:nvGrpSpPr>
          <p:cNvPr name="Group 19" id="19"/>
          <p:cNvGrpSpPr/>
          <p:nvPr/>
        </p:nvGrpSpPr>
        <p:grpSpPr>
          <a:xfrm rot="0">
            <a:off x="12382500" y="2571750"/>
            <a:ext cx="5334000" cy="619125"/>
            <a:chOff x="0" y="0"/>
            <a:chExt cx="7112000" cy="825500"/>
          </a:xfrm>
        </p:grpSpPr>
        <p:sp>
          <p:nvSpPr>
            <p:cNvPr name="Freeform 20" id="20"/>
            <p:cNvSpPr/>
            <p:nvPr/>
          </p:nvSpPr>
          <p:spPr>
            <a:xfrm flipH="false" flipV="false" rot="0">
              <a:off x="0" y="0"/>
              <a:ext cx="7112000" cy="825500"/>
            </a:xfrm>
            <a:custGeom>
              <a:avLst/>
              <a:gdLst/>
              <a:ahLst/>
              <a:cxnLst/>
              <a:rect r="r" b="b" t="t" l="l"/>
              <a:pathLst>
                <a:path h="825500" w="7112000">
                  <a:moveTo>
                    <a:pt x="0" y="0"/>
                  </a:moveTo>
                  <a:lnTo>
                    <a:pt x="7112000" y="0"/>
                  </a:lnTo>
                  <a:lnTo>
                    <a:pt x="7112000" y="825500"/>
                  </a:lnTo>
                  <a:lnTo>
                    <a:pt x="0" y="825500"/>
                  </a:lnTo>
                  <a:close/>
                </a:path>
              </a:pathLst>
            </a:custGeom>
            <a:blipFill>
              <a:blip r:embed="rId4">
                <a:alphaModFix amt="0"/>
              </a:blip>
              <a:stretch>
                <a:fillRect l="0" t="-245861" r="-73035" b="-235092"/>
              </a:stretch>
            </a:blipFill>
          </p:spPr>
        </p:sp>
        <p:sp>
          <p:nvSpPr>
            <p:cNvPr name="TextBox 21" id="21"/>
            <p:cNvSpPr txBox="true"/>
            <p:nvPr/>
          </p:nvSpPr>
          <p:spPr>
            <a:xfrm>
              <a:off x="0" y="-47625"/>
              <a:ext cx="7112000" cy="873125"/>
            </a:xfrm>
            <a:prstGeom prst="rect">
              <a:avLst/>
            </a:prstGeom>
          </p:spPr>
          <p:txBody>
            <a:bodyPr anchor="ctr" rtlCol="false" tIns="0" lIns="0" bIns="0" rIns="0"/>
            <a:lstStyle/>
            <a:p>
              <a:pPr algn="l" marL="0" indent="0" lvl="0">
                <a:lnSpc>
                  <a:spcPts val="3960"/>
                </a:lnSpc>
                <a:spcBef>
                  <a:spcPct val="0"/>
                </a:spcBef>
              </a:pPr>
              <a:r>
                <a:rPr lang="en-US" b="true" sz="3000" strike="noStrike" u="none">
                  <a:solidFill>
                    <a:srgbClr val="10265B"/>
                  </a:solidFill>
                  <a:latin typeface="Arial Bold"/>
                  <a:ea typeface="Arial Bold"/>
                  <a:cs typeface="Arial Bold"/>
                  <a:sym typeface="Arial Bold"/>
                </a:rPr>
                <a:t>Spot Award</a:t>
              </a:r>
            </a:p>
          </p:txBody>
        </p:sp>
      </p:grpSp>
      <p:grpSp>
        <p:nvGrpSpPr>
          <p:cNvPr name="Group 22" id="22"/>
          <p:cNvGrpSpPr/>
          <p:nvPr/>
        </p:nvGrpSpPr>
        <p:grpSpPr>
          <a:xfrm rot="0">
            <a:off x="12382500" y="5334000"/>
            <a:ext cx="5334000" cy="1333500"/>
            <a:chOff x="0" y="0"/>
            <a:chExt cx="7112000" cy="1778000"/>
          </a:xfrm>
        </p:grpSpPr>
        <p:sp>
          <p:nvSpPr>
            <p:cNvPr name="Freeform 23" id="23"/>
            <p:cNvSpPr/>
            <p:nvPr/>
          </p:nvSpPr>
          <p:spPr>
            <a:xfrm flipH="false" flipV="false" rot="0">
              <a:off x="0" y="0"/>
              <a:ext cx="7112000" cy="1778000"/>
            </a:xfrm>
            <a:custGeom>
              <a:avLst/>
              <a:gdLst/>
              <a:ahLst/>
              <a:cxnLst/>
              <a:rect r="r" b="b" t="t" l="l"/>
              <a:pathLst>
                <a:path h="1778000" w="7112000">
                  <a:moveTo>
                    <a:pt x="0" y="0"/>
                  </a:moveTo>
                  <a:lnTo>
                    <a:pt x="7112000" y="0"/>
                  </a:lnTo>
                  <a:lnTo>
                    <a:pt x="7112000" y="1778000"/>
                  </a:lnTo>
                  <a:lnTo>
                    <a:pt x="0" y="1778000"/>
                  </a:lnTo>
                  <a:close/>
                </a:path>
              </a:pathLst>
            </a:custGeom>
            <a:blipFill>
              <a:blip r:embed="rId4">
                <a:alphaModFix amt="0"/>
              </a:blip>
              <a:stretch>
                <a:fillRect l="0" t="-117007" r="-73035" b="-52721"/>
              </a:stretch>
            </a:blipFill>
          </p:spPr>
        </p:sp>
        <p:sp>
          <p:nvSpPr>
            <p:cNvPr name="TextBox 24" id="24"/>
            <p:cNvSpPr txBox="true"/>
            <p:nvPr/>
          </p:nvSpPr>
          <p:spPr>
            <a:xfrm>
              <a:off x="0" y="-38100"/>
              <a:ext cx="7112000" cy="1816100"/>
            </a:xfrm>
            <a:prstGeom prst="rect">
              <a:avLst/>
            </a:prstGeom>
          </p:spPr>
          <p:txBody>
            <a:bodyPr anchor="ctr" rtlCol="false" tIns="0" lIns="0" bIns="0" rIns="0"/>
            <a:lstStyle/>
            <a:p>
              <a:pPr algn="ctr" marL="0" indent="0" lvl="0">
                <a:lnSpc>
                  <a:spcPts val="3168"/>
                </a:lnSpc>
                <a:spcBef>
                  <a:spcPct val="0"/>
                </a:spcBef>
              </a:pPr>
              <a:r>
                <a:rPr lang="en-US" sz="2400" strike="noStrike" u="none">
                  <a:solidFill>
                    <a:srgbClr val="10265B"/>
                  </a:solidFill>
                  <a:latin typeface="Arial"/>
                  <a:ea typeface="Arial"/>
                  <a:cs typeface="Arial"/>
                  <a:sym typeface="Arial"/>
                </a:rPr>
                <a:t>Airbus • 2022</a:t>
              </a:r>
            </a:p>
            <a:p>
              <a:pPr algn="ctr" marL="0" indent="0" lvl="0">
                <a:lnSpc>
                  <a:spcPts val="3168"/>
                </a:lnSpc>
                <a:spcBef>
                  <a:spcPct val="0"/>
                </a:spcBef>
              </a:pPr>
              <a:r>
                <a:rPr lang="en-US" sz="2400" strike="noStrike" u="none">
                  <a:solidFill>
                    <a:srgbClr val="10265B"/>
                  </a:solidFill>
                  <a:latin typeface="Arial"/>
                  <a:ea typeface="Arial"/>
                  <a:cs typeface="Arial"/>
                  <a:sym typeface="Arial"/>
                </a:rPr>
                <a:t>Made robotics relatable to children</a:t>
              </a:r>
            </a:p>
            <a:p>
              <a:pPr algn="ctr" marL="0" indent="0" lvl="0">
                <a:lnSpc>
                  <a:spcPts val="3168"/>
                </a:lnSpc>
                <a:spcBef>
                  <a:spcPct val="0"/>
                </a:spcBef>
              </a:pPr>
              <a:r>
                <a:rPr lang="en-US" sz="2400" strike="noStrike" u="none">
                  <a:solidFill>
                    <a:srgbClr val="10265B"/>
                  </a:solidFill>
                  <a:latin typeface="Arial"/>
                  <a:ea typeface="Arial"/>
                  <a:cs typeface="Arial"/>
                  <a:sym typeface="Arial"/>
                </a:rPr>
                <a:t>through interactive learning</a:t>
              </a:r>
            </a:p>
          </p:txBody>
        </p:sp>
      </p:grpSp>
      <p:grpSp>
        <p:nvGrpSpPr>
          <p:cNvPr name="Group 25" id="25"/>
          <p:cNvGrpSpPr/>
          <p:nvPr/>
        </p:nvGrpSpPr>
        <p:grpSpPr>
          <a:xfrm rot="0">
            <a:off x="6572250" y="7419975"/>
            <a:ext cx="11077575" cy="19050"/>
            <a:chOff x="0" y="0"/>
            <a:chExt cx="14770100" cy="25400"/>
          </a:xfrm>
        </p:grpSpPr>
        <p:sp>
          <p:nvSpPr>
            <p:cNvPr name="Freeform 26" id="26"/>
            <p:cNvSpPr/>
            <p:nvPr/>
          </p:nvSpPr>
          <p:spPr>
            <a:xfrm flipH="false" flipV="false" rot="0">
              <a:off x="0" y="0"/>
              <a:ext cx="14770100" cy="25400"/>
            </a:xfrm>
            <a:custGeom>
              <a:avLst/>
              <a:gdLst/>
              <a:ahLst/>
              <a:cxnLst/>
              <a:rect r="r" b="b" t="t" l="l"/>
              <a:pathLst>
                <a:path h="25400" w="14770100">
                  <a:moveTo>
                    <a:pt x="0" y="0"/>
                  </a:moveTo>
                  <a:lnTo>
                    <a:pt x="14770100" y="0"/>
                  </a:lnTo>
                  <a:lnTo>
                    <a:pt x="14770100" y="25400"/>
                  </a:lnTo>
                  <a:lnTo>
                    <a:pt x="0" y="25400"/>
                  </a:lnTo>
                  <a:close/>
                </a:path>
              </a:pathLst>
            </a:custGeom>
            <a:solidFill>
              <a:srgbClr val="D5DEEB"/>
            </a:solidFill>
          </p:spPr>
        </p:sp>
      </p:grpSp>
      <p:grpSp>
        <p:nvGrpSpPr>
          <p:cNvPr name="Group 27" id="27"/>
          <p:cNvGrpSpPr/>
          <p:nvPr/>
        </p:nvGrpSpPr>
        <p:grpSpPr>
          <a:xfrm rot="0">
            <a:off x="6448425" y="7000875"/>
            <a:ext cx="5238750" cy="769045"/>
            <a:chOff x="0" y="0"/>
            <a:chExt cx="6985000" cy="1025393"/>
          </a:xfrm>
        </p:grpSpPr>
        <p:sp>
          <p:nvSpPr>
            <p:cNvPr name="Freeform 28" id="28"/>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29" id="29"/>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Deep Learning</a:t>
              </a:r>
            </a:p>
            <a:p>
              <a:pPr algn="l" marL="0" indent="0" lvl="0">
                <a:lnSpc>
                  <a:spcPts val="2772"/>
                </a:lnSpc>
                <a:spcBef>
                  <a:spcPct val="0"/>
                </a:spcBef>
              </a:pPr>
              <a:r>
                <a:rPr lang="en-US" sz="2100" strike="noStrike" u="none">
                  <a:solidFill>
                    <a:srgbClr val="10265B"/>
                  </a:solidFill>
                  <a:latin typeface="Arial"/>
                  <a:ea typeface="Arial"/>
                  <a:cs typeface="Arial"/>
                  <a:sym typeface="Arial"/>
                </a:rPr>
                <a:t>Specialization</a:t>
              </a:r>
            </a:p>
          </p:txBody>
        </p:sp>
      </p:grpSp>
      <p:grpSp>
        <p:nvGrpSpPr>
          <p:cNvPr name="Group 30" id="30"/>
          <p:cNvGrpSpPr/>
          <p:nvPr/>
        </p:nvGrpSpPr>
        <p:grpSpPr>
          <a:xfrm rot="0">
            <a:off x="6448425" y="7762875"/>
            <a:ext cx="5238750" cy="401149"/>
            <a:chOff x="0" y="0"/>
            <a:chExt cx="6985000" cy="534865"/>
          </a:xfrm>
        </p:grpSpPr>
        <p:sp>
          <p:nvSpPr>
            <p:cNvPr name="Freeform 31" id="31"/>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2" id="32"/>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grpSp>
        <p:nvGrpSpPr>
          <p:cNvPr name="Group 33" id="33"/>
          <p:cNvGrpSpPr/>
          <p:nvPr/>
        </p:nvGrpSpPr>
        <p:grpSpPr>
          <a:xfrm rot="0">
            <a:off x="12258675" y="7000875"/>
            <a:ext cx="5238750" cy="769045"/>
            <a:chOff x="0" y="0"/>
            <a:chExt cx="6985000" cy="1025393"/>
          </a:xfrm>
        </p:grpSpPr>
        <p:sp>
          <p:nvSpPr>
            <p:cNvPr name="Freeform 34" id="34"/>
            <p:cNvSpPr/>
            <p:nvPr/>
          </p:nvSpPr>
          <p:spPr>
            <a:xfrm flipH="false" flipV="false" rot="0">
              <a:off x="0" y="0"/>
              <a:ext cx="6985000" cy="1025393"/>
            </a:xfrm>
            <a:custGeom>
              <a:avLst/>
              <a:gdLst/>
              <a:ahLst/>
              <a:cxnLst/>
              <a:rect r="r" b="b" t="t" l="l"/>
              <a:pathLst>
                <a:path h="1025393" w="6985000">
                  <a:moveTo>
                    <a:pt x="0" y="0"/>
                  </a:moveTo>
                  <a:lnTo>
                    <a:pt x="6985000" y="0"/>
                  </a:lnTo>
                  <a:lnTo>
                    <a:pt x="6985000" y="1025393"/>
                  </a:lnTo>
                  <a:lnTo>
                    <a:pt x="0" y="1025393"/>
                  </a:lnTo>
                  <a:close/>
                </a:path>
              </a:pathLst>
            </a:custGeom>
            <a:blipFill>
              <a:blip r:embed="rId4">
                <a:alphaModFix amt="0"/>
              </a:blip>
              <a:stretch>
                <a:fillRect l="0" t="-94273" r="-1818" b="-76017"/>
              </a:stretch>
            </a:blipFill>
          </p:spPr>
        </p:sp>
        <p:sp>
          <p:nvSpPr>
            <p:cNvPr name="TextBox 35" id="35"/>
            <p:cNvSpPr txBox="true"/>
            <p:nvPr/>
          </p:nvSpPr>
          <p:spPr>
            <a:xfrm>
              <a:off x="0" y="-28575"/>
              <a:ext cx="6985000" cy="1053968"/>
            </a:xfrm>
            <a:prstGeom prst="rect">
              <a:avLst/>
            </a:prstGeom>
          </p:spPr>
          <p:txBody>
            <a:bodyPr anchor="ctr" rtlCol="false" tIns="0" lIns="0" bIns="0" rIns="0"/>
            <a:lstStyle/>
            <a:p>
              <a:pPr algn="l" marL="0" indent="0" lvl="0">
                <a:lnSpc>
                  <a:spcPts val="2772"/>
                </a:lnSpc>
                <a:spcBef>
                  <a:spcPct val="0"/>
                </a:spcBef>
              </a:pPr>
              <a:r>
                <a:rPr lang="en-US" sz="2100" strike="noStrike" u="none">
                  <a:solidFill>
                    <a:srgbClr val="10265B"/>
                  </a:solidFill>
                  <a:latin typeface="Arial"/>
                  <a:ea typeface="Arial"/>
                  <a:cs typeface="Arial"/>
                  <a:sym typeface="Arial"/>
                </a:rPr>
                <a:t>Neural Networks</a:t>
              </a:r>
            </a:p>
            <a:p>
              <a:pPr algn="l" marL="0" indent="0" lvl="0">
                <a:lnSpc>
                  <a:spcPts val="2772"/>
                </a:lnSpc>
                <a:spcBef>
                  <a:spcPct val="0"/>
                </a:spcBef>
              </a:pPr>
              <a:r>
                <a:rPr lang="en-US" sz="2100" strike="noStrike" u="none">
                  <a:solidFill>
                    <a:srgbClr val="10265B"/>
                  </a:solidFill>
                  <a:latin typeface="Arial"/>
                  <a:ea typeface="Arial"/>
                  <a:cs typeface="Arial"/>
                  <a:sym typeface="Arial"/>
                </a:rPr>
                <a:t>and Deep Learning</a:t>
              </a:r>
            </a:p>
          </p:txBody>
        </p:sp>
      </p:grpSp>
      <p:grpSp>
        <p:nvGrpSpPr>
          <p:cNvPr name="Group 36" id="36"/>
          <p:cNvGrpSpPr/>
          <p:nvPr/>
        </p:nvGrpSpPr>
        <p:grpSpPr>
          <a:xfrm rot="0">
            <a:off x="12258675" y="7762875"/>
            <a:ext cx="5238750" cy="401149"/>
            <a:chOff x="0" y="0"/>
            <a:chExt cx="6985000" cy="534865"/>
          </a:xfrm>
        </p:grpSpPr>
        <p:sp>
          <p:nvSpPr>
            <p:cNvPr name="Freeform 37" id="37"/>
            <p:cNvSpPr/>
            <p:nvPr/>
          </p:nvSpPr>
          <p:spPr>
            <a:xfrm flipH="false" flipV="false" rot="0">
              <a:off x="0" y="0"/>
              <a:ext cx="6985000" cy="534865"/>
            </a:xfrm>
            <a:custGeom>
              <a:avLst/>
              <a:gdLst/>
              <a:ahLst/>
              <a:cxnLst/>
              <a:rect r="r" b="b" t="t" l="l"/>
              <a:pathLst>
                <a:path h="534865" w="6985000">
                  <a:moveTo>
                    <a:pt x="0" y="0"/>
                  </a:moveTo>
                  <a:lnTo>
                    <a:pt x="6985000" y="0"/>
                  </a:lnTo>
                  <a:lnTo>
                    <a:pt x="6985000" y="534865"/>
                  </a:lnTo>
                  <a:lnTo>
                    <a:pt x="0" y="534865"/>
                  </a:lnTo>
                  <a:close/>
                </a:path>
              </a:pathLst>
            </a:custGeom>
            <a:blipFill>
              <a:blip r:embed="rId4">
                <a:alphaModFix amt="0"/>
              </a:blip>
              <a:stretch>
                <a:fillRect l="0" t="-219910" r="-1818" b="-198267"/>
              </a:stretch>
            </a:blipFill>
          </p:spPr>
        </p:sp>
        <p:sp>
          <p:nvSpPr>
            <p:cNvPr name="TextBox 38" id="38"/>
            <p:cNvSpPr txBox="true"/>
            <p:nvPr/>
          </p:nvSpPr>
          <p:spPr>
            <a:xfrm>
              <a:off x="0" y="-38100"/>
              <a:ext cx="6985000" cy="572965"/>
            </a:xfrm>
            <a:prstGeom prst="rect">
              <a:avLst/>
            </a:prstGeom>
          </p:spPr>
          <p:txBody>
            <a:bodyPr anchor="ctr" rtlCol="false" tIns="0" lIns="0" bIns="0" rIns="0"/>
            <a:lstStyle/>
            <a:p>
              <a:pPr algn="l" marL="0" indent="0" lvl="0">
                <a:lnSpc>
                  <a:spcPts val="2376"/>
                </a:lnSpc>
                <a:spcBef>
                  <a:spcPct val="0"/>
                </a:spcBef>
              </a:pPr>
              <a:r>
                <a:rPr lang="en-US" sz="1800" strike="noStrike" u="none">
                  <a:solidFill>
                    <a:srgbClr val="10265B"/>
                  </a:solidFill>
                  <a:latin typeface="Arial"/>
                  <a:ea typeface="Arial"/>
                  <a:cs typeface="Arial"/>
                  <a:sym typeface="Arial"/>
                </a:rPr>
                <a:t>Coursera</a:t>
              </a:r>
            </a:p>
          </p:txBody>
        </p:sp>
      </p:grpSp>
      <p:sp>
        <p:nvSpPr>
          <p:cNvPr name="Freeform 39" id="39" descr="Danlaw Wheel of Excellence ceremony"/>
          <p:cNvSpPr/>
          <p:nvPr/>
        </p:nvSpPr>
        <p:spPr>
          <a:xfrm flipH="false" flipV="false" rot="0">
            <a:off x="6762750" y="3333750"/>
            <a:ext cx="2952750" cy="1866900"/>
          </a:xfrm>
          <a:custGeom>
            <a:avLst/>
            <a:gdLst/>
            <a:ahLst/>
            <a:cxnLst/>
            <a:rect r="r" b="b" t="t" l="l"/>
            <a:pathLst>
              <a:path h="1866900" w="2952750">
                <a:moveTo>
                  <a:pt x="0" y="0"/>
                </a:moveTo>
                <a:lnTo>
                  <a:pt x="2952750" y="0"/>
                </a:lnTo>
                <a:lnTo>
                  <a:pt x="2952750" y="1866900"/>
                </a:lnTo>
                <a:lnTo>
                  <a:pt x="0" y="1866900"/>
                </a:lnTo>
                <a:lnTo>
                  <a:pt x="0" y="0"/>
                </a:lnTo>
                <a:close/>
              </a:path>
            </a:pathLst>
          </a:custGeom>
          <a:blipFill>
            <a:blip r:embed="rId6"/>
            <a:stretch>
              <a:fillRect l="-5653" t="-5784" r="-5653" b="-5784"/>
            </a:stretch>
          </a:blipFill>
        </p:spPr>
      </p:sp>
      <p:sp>
        <p:nvSpPr>
          <p:cNvPr name="Freeform 40" id="40" descr="Danlaw Wheel of Excellence trophy, 2017"/>
          <p:cNvSpPr/>
          <p:nvPr/>
        </p:nvSpPr>
        <p:spPr>
          <a:xfrm flipH="false" flipV="false" rot="0">
            <a:off x="9906000" y="3333750"/>
            <a:ext cx="1295400" cy="1866900"/>
          </a:xfrm>
          <a:custGeom>
            <a:avLst/>
            <a:gdLst/>
            <a:ahLst/>
            <a:cxnLst/>
            <a:rect r="r" b="b" t="t" l="l"/>
            <a:pathLst>
              <a:path h="1866900" w="1295400">
                <a:moveTo>
                  <a:pt x="0" y="0"/>
                </a:moveTo>
                <a:lnTo>
                  <a:pt x="1295400" y="0"/>
                </a:lnTo>
                <a:lnTo>
                  <a:pt x="1295400" y="1866900"/>
                </a:lnTo>
                <a:lnTo>
                  <a:pt x="0" y="1866900"/>
                </a:lnTo>
                <a:lnTo>
                  <a:pt x="0" y="0"/>
                </a:lnTo>
                <a:close/>
              </a:path>
            </a:pathLst>
          </a:custGeom>
          <a:blipFill>
            <a:blip r:embed="rId7"/>
            <a:stretch>
              <a:fillRect l="-8337" t="-8347" r="-8337" b="-8347"/>
            </a:stretch>
          </a:blipFill>
        </p:spPr>
      </p:sp>
      <p:sp>
        <p:nvSpPr>
          <p:cNvPr name="Freeform 41" id="41" descr="Space for Deep Learning Specialization certificate 1"/>
          <p:cNvSpPr/>
          <p:nvPr/>
        </p:nvSpPr>
        <p:spPr>
          <a:xfrm flipH="false" flipV="false" rot="0">
            <a:off x="644842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2" id="42" descr="Space for Deep Learning Specialization certificate 2"/>
          <p:cNvSpPr/>
          <p:nvPr/>
        </p:nvSpPr>
        <p:spPr>
          <a:xfrm flipH="false" flipV="false" rot="0">
            <a:off x="9210675" y="8096250"/>
            <a:ext cx="2476500" cy="1666875"/>
          </a:xfrm>
          <a:custGeom>
            <a:avLst/>
            <a:gdLst/>
            <a:ahLst/>
            <a:cxnLst/>
            <a:rect r="r" b="b" t="t" l="l"/>
            <a:pathLst>
              <a:path h="1666875" w="2476500">
                <a:moveTo>
                  <a:pt x="0" y="0"/>
                </a:moveTo>
                <a:lnTo>
                  <a:pt x="2476500" y="0"/>
                </a:lnTo>
                <a:lnTo>
                  <a:pt x="247650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10222" t="0" r="-10222" b="0"/>
            </a:stretch>
          </a:blipFill>
        </p:spPr>
      </p:sp>
      <p:sp>
        <p:nvSpPr>
          <p:cNvPr name="Freeform 43" id="43" descr="Space for Neural Networks and Deep Learning certificate"/>
          <p:cNvSpPr/>
          <p:nvPr/>
        </p:nvSpPr>
        <p:spPr>
          <a:xfrm flipH="false" flipV="false" rot="0">
            <a:off x="13592175"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
        <p:nvSpPr>
          <p:cNvPr name="Freeform 44" id="44" descr="Centred Gold Medallist caption: Master's in Control Systems, Calicut University, 2015. NPTEL certificate section."/>
          <p:cNvSpPr/>
          <p:nvPr/>
        </p:nvSpPr>
        <p:spPr>
          <a:xfrm flipH="false" flipV="false" rot="0">
            <a:off x="-47625" y="2428875"/>
            <a:ext cx="6048375" cy="7905750"/>
          </a:xfrm>
          <a:custGeom>
            <a:avLst/>
            <a:gdLst/>
            <a:ahLst/>
            <a:cxnLst/>
            <a:rect r="r" b="b" t="t" l="l"/>
            <a:pathLst>
              <a:path h="7905750" w="6048375">
                <a:moveTo>
                  <a:pt x="0" y="0"/>
                </a:moveTo>
                <a:lnTo>
                  <a:pt x="6048375" y="0"/>
                </a:lnTo>
                <a:lnTo>
                  <a:pt x="6048375" y="7905750"/>
                </a:lnTo>
                <a:lnTo>
                  <a:pt x="0" y="7905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descr="Gold medal recognition"/>
          <p:cNvSpPr/>
          <p:nvPr/>
        </p:nvSpPr>
        <p:spPr>
          <a:xfrm flipH="false" flipV="false" rot="0">
            <a:off x="2609850" y="3571875"/>
            <a:ext cx="1257300" cy="1257300"/>
          </a:xfrm>
          <a:custGeom>
            <a:avLst/>
            <a:gdLst/>
            <a:ahLst/>
            <a:cxnLst/>
            <a:rect r="r" b="b" t="t" l="l"/>
            <a:pathLst>
              <a:path h="1257300" w="1257300">
                <a:moveTo>
                  <a:pt x="0" y="0"/>
                </a:moveTo>
                <a:lnTo>
                  <a:pt x="1257300" y="0"/>
                </a:lnTo>
                <a:lnTo>
                  <a:pt x="1257300" y="1257300"/>
                </a:lnTo>
                <a:lnTo>
                  <a:pt x="0" y="1257300"/>
                </a:lnTo>
                <a:lnTo>
                  <a:pt x="0" y="0"/>
                </a:lnTo>
                <a:close/>
              </a:path>
            </a:pathLst>
          </a:custGeom>
          <a:blipFill>
            <a:blip r:embed="rId12"/>
            <a:stretch>
              <a:fillRect l="0" t="0" r="0" b="0"/>
            </a:stretch>
          </a:blipFill>
        </p:spPr>
      </p:sp>
      <p:sp>
        <p:nvSpPr>
          <p:cNvPr name="Freeform 46" id="46" descr="Space for NPTEL certificate"/>
          <p:cNvSpPr/>
          <p:nvPr/>
        </p:nvSpPr>
        <p:spPr>
          <a:xfrm flipH="false" flipV="false" rot="0">
            <a:off x="1809750" y="8096250"/>
            <a:ext cx="2571750" cy="1666875"/>
          </a:xfrm>
          <a:custGeom>
            <a:avLst/>
            <a:gdLst/>
            <a:ahLst/>
            <a:cxnLst/>
            <a:rect r="r" b="b" t="t" l="l"/>
            <a:pathLst>
              <a:path h="1666875" w="2571750">
                <a:moveTo>
                  <a:pt x="0" y="0"/>
                </a:moveTo>
                <a:lnTo>
                  <a:pt x="2571750" y="0"/>
                </a:lnTo>
                <a:lnTo>
                  <a:pt x="2571750" y="1666875"/>
                </a:lnTo>
                <a:lnTo>
                  <a:pt x="0" y="1666875"/>
                </a:lnTo>
                <a:lnTo>
                  <a:pt x="0" y="0"/>
                </a:lnTo>
                <a:close/>
              </a:path>
            </a:pathLst>
          </a:custGeom>
          <a:blipFill>
            <a:blip r:embed="rId8">
              <a:extLst>
                <a:ext uri="{96DAC541-7B7A-43D3-8B79-37D633B846F1}">
                  <asvg:svgBlip xmlns:asvg="http://schemas.microsoft.com/office/drawing/2016/SVG/main" r:embed="rId9"/>
                </a:ext>
              </a:extLst>
            </a:blip>
            <a:stretch>
              <a:fillRect l="-7992" t="0" r="-7992"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97239"/>
          </a:xfrm>
          <a:prstGeom prst="rect">
            <a:avLst/>
          </a:prstGeom>
        </p:spPr>
        <p:txBody>
          <a:bodyPr anchor="t" rtlCol="false" tIns="0" lIns="0" bIns="0" rIns="0">
            <a:spAutoFit/>
          </a:bodyPr>
          <a:lstStyle/>
          <a:p>
            <a:pPr algn="l">
              <a:lnSpc>
                <a:spcPts val="6000"/>
              </a:lnSpc>
              <a:spcBef>
                <a:spcPct val="0"/>
              </a:spcBef>
            </a:pPr>
            <a:r>
              <a:rPr lang="en-US" sz="6000" strike="noStrike" u="none">
                <a:solidFill>
                  <a:srgbClr val="15215A"/>
                </a:solidFill>
                <a:latin typeface="Arial Nova"/>
                <a:ea typeface="Arial Nova"/>
                <a:cs typeface="Arial Nova"/>
                <a:sym typeface="Arial Nova"/>
              </a:rPr>
              <a:t>Motion planning</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a:lnSpc>
                <a:spcPts val="2400"/>
              </a:lnSpc>
              <a:spcBef>
                <a:spcPct val="0"/>
              </a:spcBef>
            </a:pPr>
            <a:r>
              <a:rPr lang="en-US" sz="2400" strike="noStrike" u="none">
                <a:solidFill>
                  <a:srgbClr val="15215A"/>
                </a:solidFill>
                <a:latin typeface="Arial Nova"/>
                <a:ea typeface="Arial Nova"/>
                <a:cs typeface="Arial Nova"/>
                <a:sym typeface="Arial Nova"/>
              </a:rPr>
              <a:t>From Google Maps to robot movement</a:t>
            </a:r>
          </a:p>
        </p:txBody>
      </p:sp>
      <p:sp>
        <p:nvSpPr>
          <p:cNvPr name="TextBox 5" id="5"/>
          <p:cNvSpPr txBox="true"/>
          <p:nvPr/>
        </p:nvSpPr>
        <p:spPr>
          <a:xfrm rot="0">
            <a:off x="6381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On the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point • B: Destination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Roadworks block the direct road.</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Take a detour around the block.</a:t>
            </a:r>
          </a:p>
        </p:txBody>
      </p:sp>
      <p:sp>
        <p:nvSpPr>
          <p:cNvPr name="TextBox 6" id="6"/>
          <p:cNvSpPr txBox="true"/>
          <p:nvPr/>
        </p:nvSpPr>
        <p:spPr>
          <a:xfrm rot="0">
            <a:off x="638175" y="9277350"/>
            <a:ext cx="17011650" cy="326276"/>
          </a:xfrm>
          <a:prstGeom prst="rect">
            <a:avLst/>
          </a:prstGeom>
        </p:spPr>
        <p:txBody>
          <a:bodyPr anchor="t" rtlCol="false" tIns="0" lIns="0" bIns="0" rIns="0">
            <a:spAutoFit/>
          </a:bodyPr>
          <a:lstStyle/>
          <a:p>
            <a:pPr algn="ctr">
              <a:lnSpc>
                <a:spcPts val="2400"/>
              </a:lnSpc>
              <a:spcBef>
                <a:spcPct val="0"/>
              </a:spcBef>
            </a:pPr>
            <a:r>
              <a:rPr lang="en-US" b="true" sz="2400" strike="noStrike" u="none">
                <a:solidFill>
                  <a:srgbClr val="15215A"/>
                </a:solidFill>
                <a:latin typeface="Arial Nova Bold"/>
                <a:ea typeface="Arial Nova Bold"/>
                <a:cs typeface="Arial Nova Bold"/>
                <a:sym typeface="Arial Nova Bold"/>
              </a:rPr>
              <a:t>Maps guides the driver. Robot planning works out how the whole arm moves.</a:t>
            </a:r>
          </a:p>
        </p:txBody>
      </p:sp>
      <p:sp>
        <p:nvSpPr>
          <p:cNvPr name="TextBox 7" id="7"/>
          <p:cNvSpPr txBox="true"/>
          <p:nvPr/>
        </p:nvSpPr>
        <p:spPr>
          <a:xfrm rot="0">
            <a:off x="9553575" y="7324725"/>
            <a:ext cx="8096250" cy="1223317"/>
          </a:xfrm>
          <a:prstGeom prst="rect">
            <a:avLst/>
          </a:prstGeom>
        </p:spPr>
        <p:txBody>
          <a:bodyPr anchor="t" rtlCol="false" tIns="0" lIns="0" bIns="0" rIns="0">
            <a:spAutoFit/>
          </a:bodyPr>
          <a:lstStyle/>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At the aircraft</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A: Start position • B: Inspection position</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Obstacle: A fixture blocks the direct route.</a:t>
            </a:r>
          </a:p>
          <a:p>
            <a:pPr algn="l" marL="0" indent="0" lvl="0">
              <a:lnSpc>
                <a:spcPts val="2519"/>
              </a:lnSpc>
              <a:spcBef>
                <a:spcPct val="0"/>
              </a:spcBef>
            </a:pPr>
            <a:r>
              <a:rPr lang="en-US" sz="2099" strike="noStrike" u="none">
                <a:solidFill>
                  <a:srgbClr val="15215A"/>
                </a:solidFill>
                <a:latin typeface="Arial Nova"/>
                <a:ea typeface="Arial Nova"/>
                <a:cs typeface="Arial Nova"/>
                <a:sym typeface="Arial Nova"/>
              </a:rPr>
              <a:t>Plan: Move around it with the whole arm.</a:t>
            </a:r>
          </a:p>
        </p:txBody>
      </p:sp>
      <p:sp>
        <p:nvSpPr>
          <p:cNvPr name="Freeform 8" id="8" descr="Car at A and destination B on the same street, separated by roadworks. The direct route is blocked; a blue route takes three turns around the building block to B."/>
          <p:cNvSpPr/>
          <p:nvPr/>
        </p:nvSpPr>
        <p:spPr>
          <a:xfrm flipH="false" flipV="false" rot="0">
            <a:off x="6381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3"/>
            <a:stretch>
              <a:fillRect l="-2667" t="-2667" r="-2667" b="-2667"/>
            </a:stretch>
          </a:blipFill>
        </p:spPr>
      </p:sp>
      <p:sp>
        <p:nvSpPr>
          <p:cNvPr name="Freeform 9" id="9" descr="FANUC R-2000iC/210L CAD poses; sensor rigidly mounted to J6 flange in A and B. Fixture blocks the direct TCP route. Illustrative scene/route. Mesh source: github.com/FANUC-CORPORATION/fanuc_description, Apache-2.0."/>
          <p:cNvSpPr/>
          <p:nvPr/>
        </p:nvSpPr>
        <p:spPr>
          <a:xfrm flipH="false" flipV="false" rot="0">
            <a:off x="9553575" y="2857500"/>
            <a:ext cx="8096250" cy="4048125"/>
          </a:xfrm>
          <a:custGeom>
            <a:avLst/>
            <a:gdLst/>
            <a:ahLst/>
            <a:cxnLst/>
            <a:rect r="r" b="b" t="t" l="l"/>
            <a:pathLst>
              <a:path h="4048125" w="8096250">
                <a:moveTo>
                  <a:pt x="0" y="0"/>
                </a:moveTo>
                <a:lnTo>
                  <a:pt x="8096250" y="0"/>
                </a:lnTo>
                <a:lnTo>
                  <a:pt x="8096250" y="4048125"/>
                </a:lnTo>
                <a:lnTo>
                  <a:pt x="0" y="4048125"/>
                </a:lnTo>
                <a:lnTo>
                  <a:pt x="0" y="0"/>
                </a:lnTo>
                <a:close/>
              </a:path>
            </a:pathLst>
          </a:custGeom>
          <a:blipFill>
            <a:blip r:embed="rId4"/>
            <a:stretch>
              <a:fillRect l="-2667" t="-2667" r="-2667" b="-266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66875"/>
            <a:ext cx="17011650" cy="339148"/>
          </a:xfrm>
          <a:prstGeom prst="rect">
            <a:avLst/>
          </a:prstGeom>
        </p:spPr>
        <p:txBody>
          <a:bodyPr anchor="t" rtlCol="false" tIns="0" lIns="0" bIns="0" rIns="0">
            <a:spAutoFit/>
          </a:bodyPr>
          <a:lstStyle/>
          <a:p>
            <a:pPr algn="l" marL="0" indent="0" lvl="0">
              <a:lnSpc>
                <a:spcPts val="2699"/>
              </a:lnSpc>
              <a:spcBef>
                <a:spcPct val="0"/>
              </a:spcBef>
            </a:pPr>
            <a:r>
              <a:rPr lang="en-US" sz="2249" spc="-45" strike="noStrike" u="none">
                <a:solidFill>
                  <a:srgbClr val="10265B"/>
                </a:solidFill>
                <a:latin typeface="Inter"/>
                <a:ea typeface="Inter"/>
                <a:cs typeface="Inter"/>
                <a:sym typeface="Inter"/>
              </a:rPr>
              <a:t>Integrated motion planning • validated inspection • adaptive execution</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REACT</a:t>
            </a:r>
          </a:p>
        </p:txBody>
      </p:sp>
      <p:sp>
        <p:nvSpPr>
          <p:cNvPr name="TextBox 6" id="6"/>
          <p:cNvSpPr txBox="true"/>
          <p:nvPr/>
        </p:nvSpPr>
        <p:spPr>
          <a:xfrm rot="0">
            <a:off x="63817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Led first complete robotics software stack</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Vision, motion planning &amp;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Delivered TRL3 &amp; pre-TRL4</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Primer Skin NDT Inspection</a:t>
            </a:r>
          </a:p>
        </p:txBody>
      </p:sp>
      <p:sp>
        <p:nvSpPr>
          <p:cNvPr name="TextBox 8" id="8"/>
          <p:cNvSpPr txBox="true"/>
          <p:nvPr/>
        </p:nvSpPr>
        <p:spPr>
          <a:xfrm rot="0">
            <a:off x="6448425" y="7334250"/>
            <a:ext cx="5238750" cy="1427991"/>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TRL4: autonomous motion planning</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Repeatable scan coverage</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Less operator effort &amp; variability</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SAMU · Sealant deposition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Enabled adaptive dispensing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Sensor-guided dynamic path correction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NDT – Non Destructive Testing   •   SAMU – Spraying and Auto Masking Unit</a:t>
            </a:r>
          </a:p>
        </p:txBody>
      </p:sp>
      <p:sp>
        <p:nvSpPr>
          <p:cNvPr name="Freeform 12" id="12" descr="REACT — supplied project image"/>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0" t="-3756" r="0" b="-3756"/>
            </a:stretch>
          </a:blipFill>
        </p:spPr>
      </p:sp>
      <p:sp>
        <p:nvSpPr>
          <p:cNvPr name="Freeform 13" id="13" descr="Primer Skin NDT Inspection — supplied project image"/>
          <p:cNvSpPr/>
          <p:nvPr/>
        </p:nvSpPr>
        <p:spPr>
          <a:xfrm flipH="false" flipV="false" rot="0">
            <a:off x="7853362" y="3810000"/>
            <a:ext cx="2428875" cy="3238500"/>
          </a:xfrm>
          <a:custGeom>
            <a:avLst/>
            <a:gdLst/>
            <a:ahLst/>
            <a:cxnLst/>
            <a:rect r="r" b="b" t="t" l="l"/>
            <a:pathLst>
              <a:path h="3238500" w="2428875">
                <a:moveTo>
                  <a:pt x="0" y="0"/>
                </a:moveTo>
                <a:lnTo>
                  <a:pt x="2428876" y="0"/>
                </a:lnTo>
                <a:lnTo>
                  <a:pt x="2428876" y="3238500"/>
                </a:lnTo>
                <a:lnTo>
                  <a:pt x="0" y="3238500"/>
                </a:lnTo>
                <a:lnTo>
                  <a:pt x="0" y="0"/>
                </a:lnTo>
                <a:close/>
              </a:path>
            </a:pathLst>
          </a:custGeom>
          <a:blipFill>
            <a:blip r:embed="rId4"/>
            <a:stretch>
              <a:fillRect l="0" t="0" r="0" b="0"/>
            </a:stretch>
          </a:blipFill>
        </p:spPr>
      </p:sp>
      <p:sp>
        <p:nvSpPr>
          <p:cNvPr name="Freeform 14" id="14" descr="SAMU · Sealant depositio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581025"/>
            <a:ext cx="17011650" cy="811570"/>
          </a:xfrm>
          <a:prstGeom prst="rect">
            <a:avLst/>
          </a:prstGeom>
        </p:spPr>
        <p:txBody>
          <a:bodyPr anchor="t" rtlCol="false" tIns="0" lIns="0" bIns="0" rIns="0">
            <a:spAutoFit/>
          </a:bodyPr>
          <a:lstStyle/>
          <a:p>
            <a:pPr algn="l" marL="0" indent="0" lvl="0">
              <a:lnSpc>
                <a:spcPts val="6480"/>
              </a:lnSpc>
              <a:spcBef>
                <a:spcPct val="0"/>
              </a:spcBef>
            </a:pPr>
            <a:r>
              <a:rPr lang="en-US" b="true" sz="5400" spc="-216" strike="noStrike" u="none">
                <a:solidFill>
                  <a:srgbClr val="10265B"/>
                </a:solidFill>
                <a:latin typeface="Inter Bold"/>
                <a:ea typeface="Inter Bold"/>
                <a:cs typeface="Inter Bold"/>
                <a:sym typeface="Inter Bold"/>
              </a:rPr>
              <a:t>My Airbus milestones</a:t>
            </a:r>
          </a:p>
        </p:txBody>
      </p:sp>
      <p:sp>
        <p:nvSpPr>
          <p:cNvPr name="TextBox 4" id="4"/>
          <p:cNvSpPr txBox="true"/>
          <p:nvPr/>
        </p:nvSpPr>
        <p:spPr>
          <a:xfrm rot="0">
            <a:off x="638175" y="1657350"/>
            <a:ext cx="17011650" cy="348673"/>
          </a:xfrm>
          <a:prstGeom prst="rect">
            <a:avLst/>
          </a:prstGeom>
        </p:spPr>
        <p:txBody>
          <a:bodyPr anchor="t" rtlCol="false" tIns="0" lIns="0" bIns="0" rIns="0">
            <a:spAutoFit/>
          </a:bodyPr>
          <a:lstStyle/>
          <a:p>
            <a:pPr algn="l" marL="0" indent="0" lvl="0">
              <a:lnSpc>
                <a:spcPts val="2700"/>
              </a:lnSpc>
              <a:spcBef>
                <a:spcPct val="0"/>
              </a:spcBef>
            </a:pPr>
            <a:r>
              <a:rPr lang="en-US" sz="2250" spc="-45" strike="noStrike" u="none">
                <a:solidFill>
                  <a:srgbClr val="10265B"/>
                </a:solidFill>
                <a:latin typeface="Inter"/>
                <a:ea typeface="Inter"/>
                <a:cs typeface="Inter"/>
                <a:sym typeface="Inter"/>
              </a:rPr>
              <a:t>Reusable software • process quality • adaptable planning</a:t>
            </a:r>
          </a:p>
        </p:txBody>
      </p:sp>
      <p:sp>
        <p:nvSpPr>
          <p:cNvPr name="TextBox 5" id="5"/>
          <p:cNvSpPr txBox="true"/>
          <p:nvPr/>
        </p:nvSpPr>
        <p:spPr>
          <a:xfrm rot="0">
            <a:off x="6381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IMOD2 · MATS</a:t>
            </a:r>
          </a:p>
        </p:txBody>
      </p:sp>
      <p:sp>
        <p:nvSpPr>
          <p:cNvPr name="TextBox 6" id="6"/>
          <p:cNvSpPr txBox="true"/>
          <p:nvPr/>
        </p:nvSpPr>
        <p:spPr>
          <a:xfrm rot="0">
            <a:off x="6381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Unifying software with RXU Control</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Building reusable robot control</a:t>
            </a:r>
          </a:p>
        </p:txBody>
      </p:sp>
      <p:sp>
        <p:nvSpPr>
          <p:cNvPr name="TextBox 7" id="7"/>
          <p:cNvSpPr txBox="true"/>
          <p:nvPr/>
        </p:nvSpPr>
        <p:spPr>
          <a:xfrm rot="0">
            <a:off x="644842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eAction · Nextgen Layup</a:t>
            </a:r>
          </a:p>
        </p:txBody>
      </p:sp>
      <p:sp>
        <p:nvSpPr>
          <p:cNvPr name="TextBox 8" id="8"/>
          <p:cNvSpPr txBox="true"/>
          <p:nvPr/>
        </p:nvSpPr>
        <p:spPr>
          <a:xfrm rot="0">
            <a:off x="6448425" y="7334250"/>
            <a:ext cx="5238750" cy="2141986"/>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Leading data-driven layup optimisation</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Detecting deviations that threaten quality</a:t>
            </a:r>
          </a:p>
          <a:p>
            <a:pPr algn="l" marL="518161" indent="-259081" lvl="1">
              <a:lnSpc>
                <a:spcPts val="2880"/>
              </a:lnSpc>
              <a:spcBef>
                <a:spcPct val="0"/>
              </a:spcBef>
              <a:buFont typeface="Arial"/>
              <a:buChar char="•"/>
            </a:pPr>
            <a:r>
              <a:rPr lang="en-US" b="true" sz="2400" spc="-48" strike="noStrike" u="none">
                <a:solidFill>
                  <a:srgbClr val="10265B"/>
                </a:solidFill>
                <a:latin typeface="Inter Bold"/>
                <a:ea typeface="Inter Bold"/>
                <a:cs typeface="Inter Bold"/>
                <a:sym typeface="Inter Bold"/>
              </a:rPr>
              <a:t>Targeting fewer missing tows and less rework</a:t>
            </a:r>
          </a:p>
        </p:txBody>
      </p:sp>
      <p:sp>
        <p:nvSpPr>
          <p:cNvPr name="TextBox 9" id="9"/>
          <p:cNvSpPr txBox="true"/>
          <p:nvPr/>
        </p:nvSpPr>
        <p:spPr>
          <a:xfrm rot="0">
            <a:off x="12258675" y="2800350"/>
            <a:ext cx="5238750" cy="437922"/>
          </a:xfrm>
          <a:prstGeom prst="rect">
            <a:avLst/>
          </a:prstGeom>
        </p:spPr>
        <p:txBody>
          <a:bodyPr anchor="t" rtlCol="false" tIns="0" lIns="0" bIns="0" rIns="0">
            <a:spAutoFit/>
          </a:bodyPr>
          <a:lstStyle/>
          <a:p>
            <a:pPr algn="l" marL="0" indent="0" lvl="0">
              <a:lnSpc>
                <a:spcPts val="3420"/>
              </a:lnSpc>
              <a:spcBef>
                <a:spcPct val="0"/>
              </a:spcBef>
            </a:pPr>
            <a:r>
              <a:rPr lang="en-US" b="true" sz="2850" spc="-57" strike="noStrike" u="none">
                <a:solidFill>
                  <a:srgbClr val="10265B"/>
                </a:solidFill>
                <a:latin typeface="Inter Bold"/>
                <a:ea typeface="Inter Bold"/>
                <a:cs typeface="Inter Bold"/>
                <a:sym typeface="Inter Bold"/>
              </a:rPr>
              <a:t>Intelligent Scan &amp; Plan</a:t>
            </a:r>
          </a:p>
        </p:txBody>
      </p:sp>
      <p:sp>
        <p:nvSpPr>
          <p:cNvPr name="TextBox 10" id="10"/>
          <p:cNvSpPr txBox="true"/>
          <p:nvPr/>
        </p:nvSpPr>
        <p:spPr>
          <a:xfrm rot="0">
            <a:off x="12258675" y="7334250"/>
            <a:ext cx="5238750" cy="1070993"/>
          </a:xfrm>
          <a:prstGeom prst="rect">
            <a:avLst/>
          </a:prstGeom>
        </p:spPr>
        <p:txBody>
          <a:bodyPr anchor="t" rtlCol="false" tIns="0" lIns="0" bIns="0" rIns="0">
            <a:spAutoFit/>
          </a:bodyPr>
          <a:lstStyle/>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Lead/mentor: scan and planning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Defect sequencing</a:t>
            </a:r>
          </a:p>
          <a:p>
            <a:pPr algn="l" marL="518161" indent="-259081" lvl="1">
              <a:lnSpc>
                <a:spcPts val="2880"/>
              </a:lnSpc>
              <a:spcBef>
                <a:spcPct val="0"/>
              </a:spcBef>
              <a:buFont typeface="Arial"/>
              <a:buChar char="•"/>
            </a:pPr>
            <a:r>
              <a:rPr lang="en-US" b="true" sz="2400" spc="-96" strike="noStrike" u="none">
                <a:solidFill>
                  <a:srgbClr val="10265B"/>
                </a:solidFill>
                <a:latin typeface="Inter Bold"/>
                <a:ea typeface="Inter Bold"/>
                <a:cs typeface="Inter Bold"/>
                <a:sym typeface="Inter Bold"/>
              </a:rPr>
              <a:t>Adapts to panel shape &amp; position</a:t>
            </a:r>
          </a:p>
        </p:txBody>
      </p:sp>
      <p:sp>
        <p:nvSpPr>
          <p:cNvPr name="TextBox 11" id="11"/>
          <p:cNvSpPr txBox="true"/>
          <p:nvPr/>
        </p:nvSpPr>
        <p:spPr>
          <a:xfrm rot="0">
            <a:off x="638175" y="9705975"/>
            <a:ext cx="17011650" cy="259423"/>
          </a:xfrm>
          <a:prstGeom prst="rect">
            <a:avLst/>
          </a:prstGeom>
        </p:spPr>
        <p:txBody>
          <a:bodyPr anchor="t" rtlCol="false" tIns="0" lIns="0" bIns="0" rIns="0">
            <a:spAutoFit/>
          </a:bodyPr>
          <a:lstStyle/>
          <a:p>
            <a:pPr algn="l" marL="0" indent="0" lvl="0">
              <a:lnSpc>
                <a:spcPts val="1979"/>
              </a:lnSpc>
              <a:spcBef>
                <a:spcPct val="0"/>
              </a:spcBef>
            </a:pPr>
            <a:r>
              <a:rPr lang="en-US" sz="1649" spc="-33" strike="noStrike" u="none">
                <a:solidFill>
                  <a:srgbClr val="516078"/>
                </a:solidFill>
                <a:latin typeface="Inter"/>
                <a:ea typeface="Inter"/>
                <a:cs typeface="Inter"/>
                <a:sym typeface="Inter"/>
              </a:rPr>
              <a:t>MATS and eAction visuals: conceptual illustrations.  •  Scan &amp; Plan: Saint-Nazaire.</a:t>
            </a:r>
          </a:p>
        </p:txBody>
      </p:sp>
      <p:sp>
        <p:nvSpPr>
          <p:cNvPr name="Freeform 12" id="12" descr="iMOD2 · MATS — conceptual illustration"/>
          <p:cNvSpPr/>
          <p:nvPr/>
        </p:nvSpPr>
        <p:spPr>
          <a:xfrm flipH="false" flipV="false" rot="0">
            <a:off x="6381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3"/>
            <a:stretch>
              <a:fillRect l="-20" t="0" r="-20" b="0"/>
            </a:stretch>
          </a:blipFill>
        </p:spPr>
      </p:sp>
      <p:sp>
        <p:nvSpPr>
          <p:cNvPr name="Freeform 13" id="13" descr="eAction · Nextgen Layup — conceptual illustration"/>
          <p:cNvSpPr/>
          <p:nvPr/>
        </p:nvSpPr>
        <p:spPr>
          <a:xfrm flipH="false" flipV="false" rot="0">
            <a:off x="644842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4"/>
            <a:stretch>
              <a:fillRect l="-20" t="0" r="-20" b="0"/>
            </a:stretch>
          </a:blipFill>
        </p:spPr>
      </p:sp>
      <p:sp>
        <p:nvSpPr>
          <p:cNvPr name="Freeform 14" id="14" descr="Intelligent Scan &amp; Plan — supplied project image"/>
          <p:cNvSpPr/>
          <p:nvPr/>
        </p:nvSpPr>
        <p:spPr>
          <a:xfrm flipH="false" flipV="false" rot="0">
            <a:off x="12258675" y="3955256"/>
            <a:ext cx="5238750" cy="2947988"/>
          </a:xfrm>
          <a:custGeom>
            <a:avLst/>
            <a:gdLst/>
            <a:ahLst/>
            <a:cxnLst/>
            <a:rect r="r" b="b" t="t" l="l"/>
            <a:pathLst>
              <a:path h="2947988" w="5238750">
                <a:moveTo>
                  <a:pt x="0" y="0"/>
                </a:moveTo>
                <a:lnTo>
                  <a:pt x="5238750" y="0"/>
                </a:lnTo>
                <a:lnTo>
                  <a:pt x="5238750" y="2947988"/>
                </a:lnTo>
                <a:lnTo>
                  <a:pt x="0" y="2947988"/>
                </a:lnTo>
                <a:lnTo>
                  <a:pt x="0" y="0"/>
                </a:lnTo>
                <a:close/>
              </a:path>
            </a:pathLst>
          </a:custGeom>
          <a:blipFill>
            <a:blip r:embed="rId5"/>
            <a:stretch>
              <a:fillRect l="-20" t="0" r="-2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Innovation at Airbus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Two proofs of concept. More adaptable robotics.</a:t>
            </a:r>
          </a:p>
        </p:txBody>
      </p:sp>
      <p:sp>
        <p:nvSpPr>
          <p:cNvPr name="TextBox 5" id="5"/>
          <p:cNvSpPr txBox="true"/>
          <p:nvPr/>
        </p:nvSpPr>
        <p:spPr>
          <a:xfrm rot="0">
            <a:off x="6381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Adaptive motion with RL</a:t>
            </a:r>
          </a:p>
        </p:txBody>
      </p:sp>
      <p:sp>
        <p:nvSpPr>
          <p:cNvPr name="TextBox 6" id="6"/>
          <p:cNvSpPr txBox="true"/>
          <p:nvPr/>
        </p:nvSpPr>
        <p:spPr>
          <a:xfrm rot="0">
            <a:off x="638175" y="3048000"/>
            <a:ext cx="8096250" cy="295093"/>
          </a:xfrm>
          <a:prstGeom prst="rect">
            <a:avLst/>
          </a:prstGeom>
        </p:spPr>
        <p:txBody>
          <a:bodyPr anchor="t" rtlCol="false" tIns="0" lIns="0" bIns="0" rIns="0">
            <a:spAutoFit/>
          </a:bodyPr>
          <a:lstStyle/>
          <a:p>
            <a:pPr algn="l" marL="0" indent="0" lvl="0">
              <a:lnSpc>
                <a:spcPts val="2249"/>
              </a:lnSpc>
              <a:spcBef>
                <a:spcPct val="0"/>
              </a:spcBef>
            </a:pPr>
            <a:r>
              <a:rPr lang="en-US" sz="2249" spc="-90" strike="noStrike" u="none">
                <a:solidFill>
                  <a:srgbClr val="15215A"/>
                </a:solidFill>
                <a:latin typeface="Open Sauce"/>
                <a:ea typeface="Open Sauce"/>
                <a:cs typeface="Open Sauce"/>
                <a:sym typeface="Open Sauce"/>
              </a:rPr>
              <a:t>POC lead • built on 1XRD learnings</a:t>
            </a:r>
          </a:p>
        </p:txBody>
      </p:sp>
      <p:sp>
        <p:nvSpPr>
          <p:cNvPr name="TextBox 7" id="7"/>
          <p:cNvSpPr txBox="true"/>
          <p:nvPr/>
        </p:nvSpPr>
        <p:spPr>
          <a:xfrm rot="0">
            <a:off x="9553575" y="2476500"/>
            <a:ext cx="8096250" cy="446698"/>
          </a:xfrm>
          <a:prstGeom prst="rect">
            <a:avLst/>
          </a:prstGeom>
        </p:spPr>
        <p:txBody>
          <a:bodyPr anchor="t" rtlCol="false" tIns="0" lIns="0" bIns="0" rIns="0">
            <a:spAutoFit/>
          </a:bodyPr>
          <a:lstStyle/>
          <a:p>
            <a:pPr algn="l" marL="0" indent="0" lvl="0">
              <a:lnSpc>
                <a:spcPts val="3300"/>
              </a:lnSpc>
              <a:spcBef>
                <a:spcPct val="0"/>
              </a:spcBef>
            </a:pPr>
            <a:r>
              <a:rPr lang="en-US" b="true" sz="3300" spc="-132" strike="noStrike" u="none">
                <a:solidFill>
                  <a:srgbClr val="15215A"/>
                </a:solidFill>
                <a:latin typeface="Open Sauce Bold"/>
                <a:ea typeface="Open Sauce Bold"/>
                <a:cs typeface="Open Sauce Bold"/>
                <a:sym typeface="Open Sauce Bold"/>
              </a:rPr>
              <a:t>Manipulation with Physical AI</a:t>
            </a:r>
          </a:p>
        </p:txBody>
      </p:sp>
      <p:sp>
        <p:nvSpPr>
          <p:cNvPr name="TextBox 8" id="8"/>
          <p:cNvSpPr txBox="true"/>
          <p:nvPr/>
        </p:nvSpPr>
        <p:spPr>
          <a:xfrm rot="0">
            <a:off x="9553575" y="3048000"/>
            <a:ext cx="8096250" cy="295093"/>
          </a:xfrm>
          <a:prstGeom prst="rect">
            <a:avLst/>
          </a:prstGeom>
        </p:spPr>
        <p:txBody>
          <a:bodyPr anchor="t" rtlCol="false" tIns="0" lIns="0" bIns="0" rIns="0">
            <a:spAutoFit/>
          </a:bodyPr>
          <a:lstStyle/>
          <a:p>
            <a:pPr algn="l" marL="0" indent="0" lvl="0">
              <a:lnSpc>
                <a:spcPts val="2250"/>
              </a:lnSpc>
              <a:spcBef>
                <a:spcPct val="0"/>
              </a:spcBef>
            </a:pPr>
            <a:r>
              <a:rPr lang="en-US" sz="2250" spc="-90" strike="noStrike" u="none">
                <a:solidFill>
                  <a:srgbClr val="15215A"/>
                </a:solidFill>
                <a:latin typeface="Open Sauce"/>
                <a:ea typeface="Open Sauce"/>
                <a:cs typeface="Open Sauce"/>
                <a:sym typeface="Open Sauce"/>
              </a:rPr>
              <a:t>Mentor • 1XRD collaboration</a:t>
            </a:r>
          </a:p>
        </p:txBody>
      </p:sp>
      <p:sp>
        <p:nvSpPr>
          <p:cNvPr name="TextBox 9" id="9"/>
          <p:cNvSpPr txBox="true"/>
          <p:nvPr/>
        </p:nvSpPr>
        <p:spPr>
          <a:xfrm rot="0">
            <a:off x="6381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RL-powered dynamic navigation</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Adapts to changing obstacles</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Transfers learned motion to new panels without reprogramming</a:t>
            </a:r>
          </a:p>
        </p:txBody>
      </p:sp>
      <p:sp>
        <p:nvSpPr>
          <p:cNvPr name="TextBox 10" id="10"/>
          <p:cNvSpPr txBox="true"/>
          <p:nvPr/>
        </p:nvSpPr>
        <p:spPr>
          <a:xfrm rot="0">
            <a:off x="9553575" y="6543675"/>
            <a:ext cx="8096250" cy="1568901"/>
          </a:xfrm>
          <a:prstGeom prst="rect">
            <a:avLst/>
          </a:prstGeom>
        </p:spPr>
        <p:txBody>
          <a:bodyPr anchor="t" rtlCol="false" tIns="0" lIns="0" bIns="0" rIns="0">
            <a:spAutoFit/>
          </a:bodyPr>
          <a:lstStyle/>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Jointly guided task-specific VLA model selection with 1XRD</a:t>
            </a:r>
          </a:p>
          <a:p>
            <a:pPr algn="l" marL="518161" indent="-259081" lvl="1">
              <a:lnSpc>
                <a:spcPts val="3120"/>
              </a:lnSpc>
              <a:spcBef>
                <a:spcPct val="0"/>
              </a:spcBef>
              <a:buFont typeface="Arial"/>
              <a:buChar char="•"/>
            </a:pPr>
            <a:r>
              <a:rPr lang="en-US" b="true" sz="2400" spc="-96" strike="noStrike" u="none">
                <a:solidFill>
                  <a:srgbClr val="15215A"/>
                </a:solidFill>
                <a:latin typeface="Open Sauce Bold"/>
                <a:ea typeface="Open Sauce Bold"/>
                <a:cs typeface="Open Sauce Bold"/>
                <a:sym typeface="Open Sauce Bold"/>
              </a:rPr>
              <a:t>Automated decision-making for delicate object manipulation, with touch guiding robot motion</a:t>
            </a:r>
          </a:p>
        </p:txBody>
      </p:sp>
      <p:sp>
        <p:nvSpPr>
          <p:cNvPr name="TextBox 11" id="11"/>
          <p:cNvSpPr txBox="true"/>
          <p:nvPr/>
        </p:nvSpPr>
        <p:spPr>
          <a:xfrm rot="0">
            <a:off x="638175" y="9277350"/>
            <a:ext cx="17011650" cy="629724"/>
          </a:xfrm>
          <a:prstGeom prst="rect">
            <a:avLst/>
          </a:prstGeom>
        </p:spPr>
        <p:txBody>
          <a:bodyPr anchor="t" rtlCol="false" tIns="0" lIns="0" bIns="0" rIns="0">
            <a:spAutoFit/>
          </a:bodyPr>
          <a:lstStyle/>
          <a:p>
            <a:pPr algn="l" marL="0" indent="0" lvl="0">
              <a:lnSpc>
                <a:spcPts val="2400"/>
              </a:lnSpc>
              <a:spcBef>
                <a:spcPct val="0"/>
              </a:spcBef>
            </a:pPr>
            <a:r>
              <a:rPr lang="en-US" b="true" sz="2400" spc="-96" strike="noStrike" u="none">
                <a:solidFill>
                  <a:srgbClr val="15215A"/>
                </a:solidFill>
                <a:latin typeface="Open Sauce Bold"/>
                <a:ea typeface="Open Sauce Bold"/>
                <a:cs typeface="Open Sauce Bold"/>
                <a:sym typeface="Open Sauce Bold"/>
              </a:rPr>
              <a:t>Apply Physical AI to automate decisions where it addresses Manufacturing Engineering needs and delivers tangible process value.</a:t>
            </a:r>
          </a:p>
        </p:txBody>
      </p:sp>
      <p:sp>
        <p:nvSpPr>
          <p:cNvPr name="Freeform 12" id="12" descr="Reserved space for corresponding POC demonstration image or GIF"/>
          <p:cNvSpPr/>
          <p:nvPr/>
        </p:nvSpPr>
        <p:spPr>
          <a:xfrm flipH="false" flipV="false" rot="0">
            <a:off x="6381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
        <p:nvSpPr>
          <p:cNvPr name="Freeform 13" id="13" descr="Reserved space for corresponding POC demonstration image or GIF"/>
          <p:cNvSpPr/>
          <p:nvPr/>
        </p:nvSpPr>
        <p:spPr>
          <a:xfrm flipH="false" flipV="false" rot="0">
            <a:off x="9553575" y="3476625"/>
            <a:ext cx="8096250" cy="2667000"/>
          </a:xfrm>
          <a:custGeom>
            <a:avLst/>
            <a:gdLst/>
            <a:ahLst/>
            <a:cxnLst/>
            <a:rect r="r" b="b" t="t" l="l"/>
            <a:pathLst>
              <a:path h="2667000" w="8096250">
                <a:moveTo>
                  <a:pt x="0" y="0"/>
                </a:moveTo>
                <a:lnTo>
                  <a:pt x="8096250" y="0"/>
                </a:lnTo>
                <a:lnTo>
                  <a:pt x="8096250" y="2667000"/>
                </a:lnTo>
                <a:lnTo>
                  <a:pt x="0" y="2667000"/>
                </a:lnTo>
                <a:lnTo>
                  <a:pt x="0" y="0"/>
                </a:lnTo>
                <a:close/>
              </a:path>
            </a:pathLst>
          </a:custGeom>
          <a:blipFill>
            <a:blip r:embed="rId3">
              <a:extLst>
                <a:ext uri="{96DAC541-7B7A-43D3-8B79-37D633B846F1}">
                  <asvg:svgBlip xmlns:asvg="http://schemas.microsoft.com/office/drawing/2016/SVG/main" r:embed="rId4"/>
                </a:ext>
              </a:extLst>
            </a:blip>
            <a:stretch>
              <a:fillRect l="0" t="-3571" r="0" b="-3571"/>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sp>
        <p:nvSpPr>
          <p:cNvPr name="AutoShape 3" id="3"/>
          <p:cNvSpPr/>
          <p:nvPr/>
        </p:nvSpPr>
        <p:spPr>
          <a:xfrm rot="5656080">
            <a:off x="8728777" y="7229475"/>
            <a:ext cx="639947" cy="0"/>
          </a:xfrm>
          <a:prstGeom prst="line">
            <a:avLst/>
          </a:prstGeom>
          <a:ln cap="rnd" w="19050">
            <a:solidFill>
              <a:srgbClr val="B3A5CA"/>
            </a:solidFill>
            <a:prstDash val="solid"/>
            <a:headEnd type="none" len="sm" w="sm"/>
            <a:tailEnd type="none" len="sm" w="sm"/>
          </a:ln>
        </p:spPr>
      </p:sp>
      <p:sp>
        <p:nvSpPr>
          <p:cNvPr name="AutoShape 4" id="4"/>
          <p:cNvSpPr/>
          <p:nvPr/>
        </p:nvSpPr>
        <p:spPr>
          <a:xfrm rot="1807140">
            <a:off x="10062543" y="6965518"/>
            <a:ext cx="2247871" cy="0"/>
          </a:xfrm>
          <a:prstGeom prst="line">
            <a:avLst/>
          </a:prstGeom>
          <a:ln cap="rnd" w="19050">
            <a:solidFill>
              <a:srgbClr val="B3A5CA"/>
            </a:solidFill>
            <a:prstDash val="solid"/>
            <a:headEnd type="none" len="sm" w="sm"/>
            <a:tailEnd type="none" len="sm" w="sm"/>
          </a:ln>
        </p:spPr>
      </p:sp>
      <p:sp>
        <p:nvSpPr>
          <p:cNvPr name="AutoShape 5" id="5"/>
          <p:cNvSpPr/>
          <p:nvPr/>
        </p:nvSpPr>
        <p:spPr>
          <a:xfrm rot="703500">
            <a:off x="10628052" y="5467350"/>
            <a:ext cx="1546746" cy="0"/>
          </a:xfrm>
          <a:prstGeom prst="line">
            <a:avLst/>
          </a:prstGeom>
          <a:ln cap="rnd" w="19050">
            <a:solidFill>
              <a:srgbClr val="B3A5CA"/>
            </a:solidFill>
            <a:prstDash val="solid"/>
            <a:headEnd type="none" len="sm" w="sm"/>
            <a:tailEnd type="none" len="sm" w="sm"/>
          </a:ln>
        </p:spPr>
      </p:sp>
      <p:sp>
        <p:nvSpPr>
          <p:cNvPr name="AutoShape 6" id="6"/>
          <p:cNvSpPr/>
          <p:nvPr/>
        </p:nvSpPr>
        <p:spPr>
          <a:xfrm rot="-1120260">
            <a:off x="10217344" y="3991032"/>
            <a:ext cx="1993783" cy="0"/>
          </a:xfrm>
          <a:prstGeom prst="line">
            <a:avLst/>
          </a:prstGeom>
          <a:ln cap="rnd" w="19050">
            <a:solidFill>
              <a:srgbClr val="B3A5CA"/>
            </a:solidFill>
            <a:prstDash val="solid"/>
            <a:headEnd type="none" len="sm" w="sm"/>
            <a:tailEnd type="none" len="sm" w="sm"/>
          </a:ln>
        </p:spPr>
      </p:sp>
      <p:sp>
        <p:nvSpPr>
          <p:cNvPr name="AutoShape 7" id="7"/>
          <p:cNvSpPr/>
          <p:nvPr/>
        </p:nvSpPr>
        <p:spPr>
          <a:xfrm rot="8894820">
            <a:off x="5636200" y="6967480"/>
            <a:ext cx="2389346" cy="0"/>
          </a:xfrm>
          <a:prstGeom prst="line">
            <a:avLst/>
          </a:prstGeom>
          <a:ln cap="rnd" w="19050">
            <a:solidFill>
              <a:srgbClr val="98B5D2"/>
            </a:solidFill>
            <a:prstDash val="solid"/>
            <a:headEnd type="none" len="sm" w="sm"/>
            <a:tailEnd type="none" len="sm" w="sm"/>
          </a:ln>
        </p:spPr>
      </p:sp>
      <p:sp>
        <p:nvSpPr>
          <p:cNvPr name="AutoShape 8" id="8"/>
          <p:cNvSpPr/>
          <p:nvPr/>
        </p:nvSpPr>
        <p:spPr>
          <a:xfrm rot="9983700">
            <a:off x="5791076" y="5566715"/>
            <a:ext cx="1706204" cy="0"/>
          </a:xfrm>
          <a:prstGeom prst="line">
            <a:avLst/>
          </a:prstGeom>
          <a:ln cap="rnd" w="19050">
            <a:solidFill>
              <a:srgbClr val="98B5D2"/>
            </a:solidFill>
            <a:prstDash val="solid"/>
            <a:headEnd type="none" len="sm" w="sm"/>
            <a:tailEnd type="none" len="sm" w="sm"/>
          </a:ln>
        </p:spPr>
      </p:sp>
      <p:sp>
        <p:nvSpPr>
          <p:cNvPr name="AutoShape 9" id="9"/>
          <p:cNvSpPr/>
          <p:nvPr/>
        </p:nvSpPr>
        <p:spPr>
          <a:xfrm rot="-9996840">
            <a:off x="5787828" y="4189286"/>
            <a:ext cx="2001107" cy="0"/>
          </a:xfrm>
          <a:prstGeom prst="line">
            <a:avLst/>
          </a:prstGeom>
          <a:ln cap="rnd" w="19050">
            <a:solidFill>
              <a:srgbClr val="98B5D2"/>
            </a:solidFill>
            <a:prstDash val="solid"/>
            <a:headEnd type="none" len="sm" w="sm"/>
            <a:tailEnd type="none" len="sm" w="sm"/>
          </a:ln>
        </p:spPr>
      </p:sp>
      <p:grpSp>
        <p:nvGrpSpPr>
          <p:cNvPr name="Group 10" id="10"/>
          <p:cNvGrpSpPr/>
          <p:nvPr/>
        </p:nvGrpSpPr>
        <p:grpSpPr>
          <a:xfrm rot="0">
            <a:off x="638175" y="571500"/>
            <a:ext cx="17011650" cy="914400"/>
            <a:chOff x="0" y="0"/>
            <a:chExt cx="22682200" cy="1219200"/>
          </a:xfrm>
        </p:grpSpPr>
        <p:sp>
          <p:nvSpPr>
            <p:cNvPr name="Freeform 11" id="11"/>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12" id="12"/>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My network &amp; technical influence</a:t>
              </a:r>
            </a:p>
          </p:txBody>
        </p:sp>
      </p:grpSp>
      <p:grpSp>
        <p:nvGrpSpPr>
          <p:cNvPr name="Group 13" id="13"/>
          <p:cNvGrpSpPr/>
          <p:nvPr/>
        </p:nvGrpSpPr>
        <p:grpSpPr>
          <a:xfrm rot="0">
            <a:off x="638175" y="1666875"/>
            <a:ext cx="17011650" cy="419100"/>
            <a:chOff x="0" y="0"/>
            <a:chExt cx="22682200" cy="558800"/>
          </a:xfrm>
        </p:grpSpPr>
        <p:sp>
          <p:nvSpPr>
            <p:cNvPr name="Freeform 14" id="14"/>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15" id="15"/>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Collaboration across Airbus, academia, research and industry</a:t>
              </a:r>
            </a:p>
          </p:txBody>
        </p:sp>
      </p:grpSp>
      <p:grpSp>
        <p:nvGrpSpPr>
          <p:cNvPr name="Group 16" id="16"/>
          <p:cNvGrpSpPr/>
          <p:nvPr/>
        </p:nvGrpSpPr>
        <p:grpSpPr>
          <a:xfrm rot="0">
            <a:off x="638175" y="8924925"/>
            <a:ext cx="17011650" cy="1000125"/>
            <a:chOff x="0" y="0"/>
            <a:chExt cx="22682200" cy="1333500"/>
          </a:xfrm>
        </p:grpSpPr>
        <p:sp>
          <p:nvSpPr>
            <p:cNvPr name="Freeform 17" id="17"/>
            <p:cNvSpPr/>
            <p:nvPr/>
          </p:nvSpPr>
          <p:spPr>
            <a:xfrm flipH="false" flipV="false" rot="0">
              <a:off x="0" y="0"/>
              <a:ext cx="22682200" cy="1333500"/>
            </a:xfrm>
            <a:custGeom>
              <a:avLst/>
              <a:gdLst/>
              <a:ahLst/>
              <a:cxnLst/>
              <a:rect r="r" b="b" t="t" l="l"/>
              <a:pathLst>
                <a:path h="1333500" w="22682200">
                  <a:moveTo>
                    <a:pt x="0" y="0"/>
                  </a:moveTo>
                  <a:lnTo>
                    <a:pt x="22682200" y="0"/>
                  </a:lnTo>
                  <a:lnTo>
                    <a:pt x="22682200" y="1333500"/>
                  </a:lnTo>
                  <a:lnTo>
                    <a:pt x="0" y="1333500"/>
                  </a:lnTo>
                  <a:close/>
                </a:path>
              </a:pathLst>
            </a:custGeom>
            <a:solidFill>
              <a:srgbClr val="F2EEF8"/>
            </a:solidFill>
          </p:spPr>
        </p:sp>
      </p:grpSp>
      <p:grpSp>
        <p:nvGrpSpPr>
          <p:cNvPr name="Group 18" id="18"/>
          <p:cNvGrpSpPr/>
          <p:nvPr/>
        </p:nvGrpSpPr>
        <p:grpSpPr>
          <a:xfrm rot="0">
            <a:off x="847725" y="9029700"/>
            <a:ext cx="6477000" cy="400050"/>
            <a:chOff x="0" y="0"/>
            <a:chExt cx="8636000" cy="533400"/>
          </a:xfrm>
        </p:grpSpPr>
        <p:sp>
          <p:nvSpPr>
            <p:cNvPr name="Freeform 19" id="19"/>
            <p:cNvSpPr/>
            <p:nvPr/>
          </p:nvSpPr>
          <p:spPr>
            <a:xfrm flipH="false" flipV="false" rot="0">
              <a:off x="0" y="0"/>
              <a:ext cx="8636000" cy="533400"/>
            </a:xfrm>
            <a:custGeom>
              <a:avLst/>
              <a:gdLst/>
              <a:ahLst/>
              <a:cxnLst/>
              <a:rect r="r" b="b" t="t" l="l"/>
              <a:pathLst>
                <a:path h="533400" w="8636000">
                  <a:moveTo>
                    <a:pt x="0" y="0"/>
                  </a:moveTo>
                  <a:lnTo>
                    <a:pt x="8636000" y="0"/>
                  </a:lnTo>
                  <a:lnTo>
                    <a:pt x="8636000" y="533400"/>
                  </a:lnTo>
                  <a:lnTo>
                    <a:pt x="0" y="533400"/>
                  </a:lnTo>
                  <a:close/>
                </a:path>
              </a:pathLst>
            </a:custGeom>
            <a:blipFill>
              <a:blip r:embed="rId4">
                <a:alphaModFix amt="0"/>
              </a:blip>
              <a:stretch>
                <a:fillRect l="0" t="-265472" r="0" b="-265472"/>
              </a:stretch>
            </a:blipFill>
          </p:spPr>
        </p:sp>
        <p:sp>
          <p:nvSpPr>
            <p:cNvPr name="TextBox 20" id="20"/>
            <p:cNvSpPr txBox="true"/>
            <p:nvPr/>
          </p:nvSpPr>
          <p:spPr>
            <a:xfrm>
              <a:off x="0" y="-38100"/>
              <a:ext cx="8636000" cy="5715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COLLABORATE &amp; DISSEMINATE</a:t>
              </a:r>
            </a:p>
          </p:txBody>
        </p:sp>
      </p:grpSp>
      <p:grpSp>
        <p:nvGrpSpPr>
          <p:cNvPr name="Group 21" id="21"/>
          <p:cNvGrpSpPr/>
          <p:nvPr/>
        </p:nvGrpSpPr>
        <p:grpSpPr>
          <a:xfrm rot="0">
            <a:off x="7543800" y="9029700"/>
            <a:ext cx="9715500" cy="400050"/>
            <a:chOff x="0" y="0"/>
            <a:chExt cx="12954000" cy="533400"/>
          </a:xfrm>
        </p:grpSpPr>
        <p:sp>
          <p:nvSpPr>
            <p:cNvPr name="Freeform 22" id="22"/>
            <p:cNvSpPr/>
            <p:nvPr/>
          </p:nvSpPr>
          <p:spPr>
            <a:xfrm flipH="false" flipV="false" rot="0">
              <a:off x="0" y="0"/>
              <a:ext cx="12954000" cy="533400"/>
            </a:xfrm>
            <a:custGeom>
              <a:avLst/>
              <a:gdLst/>
              <a:ahLst/>
              <a:cxnLst/>
              <a:rect r="r" b="b" t="t" l="l"/>
              <a:pathLst>
                <a:path h="533400" w="12954000">
                  <a:moveTo>
                    <a:pt x="0" y="0"/>
                  </a:moveTo>
                  <a:lnTo>
                    <a:pt x="12954000" y="0"/>
                  </a:lnTo>
                  <a:lnTo>
                    <a:pt x="12954000" y="533400"/>
                  </a:lnTo>
                  <a:lnTo>
                    <a:pt x="0" y="533400"/>
                  </a:lnTo>
                  <a:close/>
                </a:path>
              </a:pathLst>
            </a:custGeom>
            <a:blipFill>
              <a:blip r:embed="rId4">
                <a:alphaModFix amt="0"/>
              </a:blip>
              <a:stretch>
                <a:fillRect l="0" t="-423208" r="0" b="-423208"/>
              </a:stretch>
            </a:blipFill>
          </p:spPr>
        </p:sp>
        <p:sp>
          <p:nvSpPr>
            <p:cNvPr name="TextBox 23" id="23"/>
            <p:cNvSpPr txBox="true"/>
            <p:nvPr/>
          </p:nvSpPr>
          <p:spPr>
            <a:xfrm>
              <a:off x="0" y="-38100"/>
              <a:ext cx="12954000" cy="5715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I connect teams and share results that others can reuse.</a:t>
              </a:r>
            </a:p>
          </p:txBody>
        </p:sp>
      </p:grpSp>
      <p:grpSp>
        <p:nvGrpSpPr>
          <p:cNvPr name="Group 24" id="24"/>
          <p:cNvGrpSpPr/>
          <p:nvPr/>
        </p:nvGrpSpPr>
        <p:grpSpPr>
          <a:xfrm rot="0">
            <a:off x="847725" y="9496425"/>
            <a:ext cx="11430000" cy="285750"/>
            <a:chOff x="0" y="0"/>
            <a:chExt cx="15240000" cy="381000"/>
          </a:xfrm>
        </p:grpSpPr>
        <p:sp>
          <p:nvSpPr>
            <p:cNvPr name="Freeform 25" id="25"/>
            <p:cNvSpPr/>
            <p:nvPr/>
          </p:nvSpPr>
          <p:spPr>
            <a:xfrm flipH="false" flipV="false" rot="0">
              <a:off x="0" y="0"/>
              <a:ext cx="15240000" cy="381000"/>
            </a:xfrm>
            <a:custGeom>
              <a:avLst/>
              <a:gdLst/>
              <a:ahLst/>
              <a:cxnLst/>
              <a:rect r="r" b="b" t="t" l="l"/>
              <a:pathLst>
                <a:path h="381000" w="15240000">
                  <a:moveTo>
                    <a:pt x="0" y="0"/>
                  </a:moveTo>
                  <a:lnTo>
                    <a:pt x="15240000" y="0"/>
                  </a:lnTo>
                  <a:lnTo>
                    <a:pt x="15240000" y="381000"/>
                  </a:lnTo>
                  <a:lnTo>
                    <a:pt x="0" y="381000"/>
                  </a:lnTo>
                  <a:close/>
                </a:path>
              </a:pathLst>
            </a:custGeom>
            <a:blipFill>
              <a:blip r:embed="rId4">
                <a:alphaModFix amt="0"/>
              </a:blip>
              <a:stretch>
                <a:fillRect l="0" t="-729401" r="0" b="-729401"/>
              </a:stretch>
            </a:blipFill>
          </p:spPr>
        </p:sp>
        <p:sp>
          <p:nvSpPr>
            <p:cNvPr name="TextBox 26" id="26"/>
            <p:cNvSpPr txBox="true"/>
            <p:nvPr/>
          </p:nvSpPr>
          <p:spPr>
            <a:xfrm>
              <a:off x="0" y="-38100"/>
              <a:ext cx="15240000" cy="419100"/>
            </a:xfrm>
            <a:prstGeom prst="rect">
              <a:avLst/>
            </a:prstGeom>
          </p:spPr>
          <p:txBody>
            <a:bodyPr anchor="ctr" rtlCol="false" tIns="0" lIns="0" bIns="0" rIns="0"/>
            <a:lstStyle/>
            <a:p>
              <a:pPr algn="l">
                <a:lnSpc>
                  <a:spcPts val="2332"/>
                </a:lnSpc>
              </a:pPr>
              <a:r>
                <a:rPr lang="en-US" sz="1800">
                  <a:solidFill>
                    <a:srgbClr val="526078"/>
                  </a:solidFill>
                  <a:latin typeface="Arial"/>
                  <a:ea typeface="Arial"/>
                  <a:cs typeface="Arial"/>
                  <a:sym typeface="Arial"/>
                </a:rPr>
                <a:t>Joint development and knowledge sharing</a:t>
              </a:r>
            </a:p>
          </p:txBody>
        </p:sp>
      </p:grpSp>
      <p:grpSp>
        <p:nvGrpSpPr>
          <p:cNvPr name="Group 27" id="27"/>
          <p:cNvGrpSpPr/>
          <p:nvPr/>
        </p:nvGrpSpPr>
        <p:grpSpPr>
          <a:xfrm rot="0">
            <a:off x="638175" y="2571750"/>
            <a:ext cx="57150" cy="400050"/>
            <a:chOff x="0" y="0"/>
            <a:chExt cx="76200" cy="533400"/>
          </a:xfrm>
        </p:grpSpPr>
        <p:sp>
          <p:nvSpPr>
            <p:cNvPr name="Freeform 28" id="28"/>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9CEE4"/>
            </a:solidFill>
          </p:spPr>
        </p:sp>
      </p:grpSp>
      <p:grpSp>
        <p:nvGrpSpPr>
          <p:cNvPr name="Group 29" id="29"/>
          <p:cNvGrpSpPr/>
          <p:nvPr/>
        </p:nvGrpSpPr>
        <p:grpSpPr>
          <a:xfrm rot="0">
            <a:off x="809625" y="2571750"/>
            <a:ext cx="5019675" cy="419100"/>
            <a:chOff x="0" y="0"/>
            <a:chExt cx="6692900" cy="558800"/>
          </a:xfrm>
        </p:grpSpPr>
        <p:sp>
          <p:nvSpPr>
            <p:cNvPr name="Freeform 30" id="30"/>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1" id="31"/>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WITHIN AIRBUS</a:t>
              </a:r>
            </a:p>
          </p:txBody>
        </p:sp>
      </p:grpSp>
      <p:grpSp>
        <p:nvGrpSpPr>
          <p:cNvPr name="Group 32" id="32"/>
          <p:cNvGrpSpPr/>
          <p:nvPr/>
        </p:nvGrpSpPr>
        <p:grpSpPr>
          <a:xfrm rot="0">
            <a:off x="12458700" y="2571750"/>
            <a:ext cx="57150" cy="400050"/>
            <a:chOff x="0" y="0"/>
            <a:chExt cx="76200" cy="533400"/>
          </a:xfrm>
        </p:grpSpPr>
        <p:sp>
          <p:nvSpPr>
            <p:cNvPr name="Freeform 33" id="33"/>
            <p:cNvSpPr/>
            <p:nvPr/>
          </p:nvSpPr>
          <p:spPr>
            <a:xfrm flipH="false" flipV="false" rot="0">
              <a:off x="0" y="0"/>
              <a:ext cx="76200" cy="533400"/>
            </a:xfrm>
            <a:custGeom>
              <a:avLst/>
              <a:gdLst/>
              <a:ahLst/>
              <a:cxnLst/>
              <a:rect r="r" b="b" t="t" l="l"/>
              <a:pathLst>
                <a:path h="533400" w="76200">
                  <a:moveTo>
                    <a:pt x="0" y="0"/>
                  </a:moveTo>
                  <a:lnTo>
                    <a:pt x="76200" y="0"/>
                  </a:lnTo>
                  <a:lnTo>
                    <a:pt x="76200" y="533400"/>
                  </a:lnTo>
                  <a:lnTo>
                    <a:pt x="0" y="533400"/>
                  </a:lnTo>
                  <a:close/>
                </a:path>
              </a:pathLst>
            </a:custGeom>
            <a:solidFill>
              <a:srgbClr val="BEB3D5"/>
            </a:solidFill>
          </p:spPr>
        </p:sp>
      </p:grpSp>
      <p:grpSp>
        <p:nvGrpSpPr>
          <p:cNvPr name="Group 34" id="34"/>
          <p:cNvGrpSpPr/>
          <p:nvPr/>
        </p:nvGrpSpPr>
        <p:grpSpPr>
          <a:xfrm rot="0">
            <a:off x="12630150" y="2571750"/>
            <a:ext cx="5019675" cy="419100"/>
            <a:chOff x="0" y="0"/>
            <a:chExt cx="6692900" cy="558800"/>
          </a:xfrm>
        </p:grpSpPr>
        <p:sp>
          <p:nvSpPr>
            <p:cNvPr name="Freeform 35" id="35"/>
            <p:cNvSpPr/>
            <p:nvPr/>
          </p:nvSpPr>
          <p:spPr>
            <a:xfrm flipH="false" flipV="false" rot="0">
              <a:off x="0" y="0"/>
              <a:ext cx="6692900" cy="558800"/>
            </a:xfrm>
            <a:custGeom>
              <a:avLst/>
              <a:gdLst/>
              <a:ahLst/>
              <a:cxnLst/>
              <a:rect r="r" b="b" t="t" l="l"/>
              <a:pathLst>
                <a:path h="558800" w="6692900">
                  <a:moveTo>
                    <a:pt x="0" y="0"/>
                  </a:moveTo>
                  <a:lnTo>
                    <a:pt x="6692900" y="0"/>
                  </a:lnTo>
                  <a:lnTo>
                    <a:pt x="6692900" y="558800"/>
                  </a:lnTo>
                  <a:lnTo>
                    <a:pt x="0" y="558800"/>
                  </a:lnTo>
                  <a:close/>
                </a:path>
              </a:pathLst>
            </a:custGeom>
            <a:blipFill>
              <a:blip r:embed="rId4">
                <a:alphaModFix amt="0"/>
              </a:blip>
              <a:stretch>
                <a:fillRect l="0" t="-183377" r="0" b="-183377"/>
              </a:stretch>
            </a:blipFill>
          </p:spPr>
        </p:sp>
        <p:sp>
          <p:nvSpPr>
            <p:cNvPr name="TextBox 36" id="36"/>
            <p:cNvSpPr txBox="true"/>
            <p:nvPr/>
          </p:nvSpPr>
          <p:spPr>
            <a:xfrm>
              <a:off x="0" y="-38100"/>
              <a:ext cx="6692900" cy="5969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BEYOND AIRBUS</a:t>
              </a:r>
            </a:p>
          </p:txBody>
        </p:sp>
      </p:grpSp>
      <p:grpSp>
        <p:nvGrpSpPr>
          <p:cNvPr name="Group 37" id="37"/>
          <p:cNvGrpSpPr/>
          <p:nvPr/>
        </p:nvGrpSpPr>
        <p:grpSpPr>
          <a:xfrm rot="0">
            <a:off x="638175" y="3257550"/>
            <a:ext cx="2238375" cy="762000"/>
            <a:chOff x="0" y="0"/>
            <a:chExt cx="2984500" cy="1016000"/>
          </a:xfrm>
        </p:grpSpPr>
        <p:sp>
          <p:nvSpPr>
            <p:cNvPr name="Freeform 38" id="38"/>
            <p:cNvSpPr/>
            <p:nvPr/>
          </p:nvSpPr>
          <p:spPr>
            <a:xfrm flipH="false" flipV="false" rot="0">
              <a:off x="0" y="0"/>
              <a:ext cx="2984500" cy="1016000"/>
            </a:xfrm>
            <a:custGeom>
              <a:avLst/>
              <a:gdLst/>
              <a:ahLst/>
              <a:cxnLst/>
              <a:rect r="r" b="b" t="t" l="l"/>
              <a:pathLst>
                <a:path h="1016000" w="2984500">
                  <a:moveTo>
                    <a:pt x="0" y="0"/>
                  </a:moveTo>
                  <a:lnTo>
                    <a:pt x="2984500" y="0"/>
                  </a:lnTo>
                  <a:lnTo>
                    <a:pt x="2984500" y="1016000"/>
                  </a:lnTo>
                  <a:lnTo>
                    <a:pt x="0" y="1016000"/>
                  </a:lnTo>
                  <a:close/>
                </a:path>
              </a:pathLst>
            </a:custGeom>
            <a:blipFill>
              <a:blip r:embed="rId4">
                <a:alphaModFix amt="0"/>
              </a:blip>
              <a:stretch>
                <a:fillRect l="0" t="-7237" r="0" b="-7237"/>
              </a:stretch>
            </a:blipFill>
          </p:spPr>
        </p:sp>
        <p:sp>
          <p:nvSpPr>
            <p:cNvPr name="TextBox 39" id="39"/>
            <p:cNvSpPr txBox="true"/>
            <p:nvPr/>
          </p:nvSpPr>
          <p:spPr>
            <a:xfrm>
              <a:off x="0" y="-38100"/>
              <a:ext cx="2984500" cy="1054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Industrial &amp;</a:t>
              </a:r>
            </a:p>
            <a:p>
              <a:pPr algn="l">
                <a:lnSpc>
                  <a:spcPts val="3110"/>
                </a:lnSpc>
              </a:pPr>
              <a:r>
                <a:rPr lang="en-US" sz="2400" b="true">
                  <a:solidFill>
                    <a:srgbClr val="15215A"/>
                  </a:solidFill>
                  <a:latin typeface="Arial Bold"/>
                  <a:ea typeface="Arial Bold"/>
                  <a:cs typeface="Arial Bold"/>
                  <a:sym typeface="Arial Bold"/>
                </a:rPr>
                <a:t>plant</a:t>
              </a:r>
            </a:p>
          </p:txBody>
        </p:sp>
      </p:grpSp>
      <p:grpSp>
        <p:nvGrpSpPr>
          <p:cNvPr name="Group 40" id="40"/>
          <p:cNvGrpSpPr/>
          <p:nvPr/>
        </p:nvGrpSpPr>
        <p:grpSpPr>
          <a:xfrm rot="0">
            <a:off x="638175" y="4143375"/>
            <a:ext cx="2190750" cy="400050"/>
            <a:chOff x="0" y="0"/>
            <a:chExt cx="2921000" cy="533400"/>
          </a:xfrm>
        </p:grpSpPr>
        <p:sp>
          <p:nvSpPr>
            <p:cNvPr name="Freeform 41" id="41"/>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42" id="42"/>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ZIDJ</a:t>
              </a:r>
            </a:p>
          </p:txBody>
        </p:sp>
      </p:grpSp>
      <p:grpSp>
        <p:nvGrpSpPr>
          <p:cNvPr name="Group 43" id="43"/>
          <p:cNvGrpSpPr/>
          <p:nvPr/>
        </p:nvGrpSpPr>
        <p:grpSpPr>
          <a:xfrm rot="0">
            <a:off x="3143250" y="3145184"/>
            <a:ext cx="1809750" cy="1663017"/>
            <a:chOff x="0" y="0"/>
            <a:chExt cx="2413000" cy="2217356"/>
          </a:xfrm>
        </p:grpSpPr>
        <p:sp>
          <p:nvSpPr>
            <p:cNvPr name="Freeform 44" id="44"/>
            <p:cNvSpPr/>
            <p:nvPr/>
          </p:nvSpPr>
          <p:spPr>
            <a:xfrm flipH="false" flipV="false" rot="0">
              <a:off x="0" y="0"/>
              <a:ext cx="2413000" cy="2217293"/>
            </a:xfrm>
            <a:custGeom>
              <a:avLst/>
              <a:gdLst/>
              <a:ahLst/>
              <a:cxnLst/>
              <a:rect r="r" b="b" t="t" l="l"/>
              <a:pathLst>
                <a:path h="2217293" w="2413000">
                  <a:moveTo>
                    <a:pt x="0" y="0"/>
                  </a:moveTo>
                  <a:lnTo>
                    <a:pt x="2413000" y="0"/>
                  </a:lnTo>
                  <a:lnTo>
                    <a:pt x="2413000" y="2217293"/>
                  </a:lnTo>
                  <a:lnTo>
                    <a:pt x="0" y="2217293"/>
                  </a:lnTo>
                  <a:lnTo>
                    <a:pt x="0" y="0"/>
                  </a:lnTo>
                  <a:close/>
                </a:path>
              </a:pathLst>
            </a:custGeom>
            <a:blipFill>
              <a:blip r:embed="rId5"/>
              <a:stretch>
                <a:fillRect l="-236757" t="-138826" r="-353517" b="-117066"/>
              </a:stretch>
            </a:blipFill>
          </p:spPr>
        </p:sp>
      </p:grpSp>
      <p:grpSp>
        <p:nvGrpSpPr>
          <p:cNvPr name="Group 45" id="45"/>
          <p:cNvGrpSpPr/>
          <p:nvPr/>
        </p:nvGrpSpPr>
        <p:grpSpPr>
          <a:xfrm rot="0">
            <a:off x="638175" y="5143500"/>
            <a:ext cx="2238375" cy="428625"/>
            <a:chOff x="0" y="0"/>
            <a:chExt cx="2984500" cy="571500"/>
          </a:xfrm>
        </p:grpSpPr>
        <p:sp>
          <p:nvSpPr>
            <p:cNvPr name="Freeform 46" id="46"/>
            <p:cNvSpPr/>
            <p:nvPr/>
          </p:nvSpPr>
          <p:spPr>
            <a:xfrm flipH="false" flipV="false" rot="0">
              <a:off x="0" y="0"/>
              <a:ext cx="2984500" cy="571500"/>
            </a:xfrm>
            <a:custGeom>
              <a:avLst/>
              <a:gdLst/>
              <a:ahLst/>
              <a:cxnLst/>
              <a:rect r="r" b="b" t="t" l="l"/>
              <a:pathLst>
                <a:path h="571500" w="2984500">
                  <a:moveTo>
                    <a:pt x="0" y="0"/>
                  </a:moveTo>
                  <a:lnTo>
                    <a:pt x="2984500" y="0"/>
                  </a:lnTo>
                  <a:lnTo>
                    <a:pt x="2984500" y="571500"/>
                  </a:lnTo>
                  <a:lnTo>
                    <a:pt x="0" y="571500"/>
                  </a:lnTo>
                  <a:close/>
                </a:path>
              </a:pathLst>
            </a:custGeom>
            <a:blipFill>
              <a:blip r:embed="rId4">
                <a:alphaModFix amt="0"/>
              </a:blip>
              <a:stretch>
                <a:fillRect l="0" t="-51755" r="0" b="-51755"/>
              </a:stretch>
            </a:blipFill>
          </p:spPr>
        </p:sp>
        <p:sp>
          <p:nvSpPr>
            <p:cNvPr name="TextBox 47" id="47"/>
            <p:cNvSpPr txBox="true"/>
            <p:nvPr/>
          </p:nvSpPr>
          <p:spPr>
            <a:xfrm>
              <a:off x="0" y="-38100"/>
              <a:ext cx="2984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a:t>
              </a:r>
            </a:p>
          </p:txBody>
        </p:sp>
      </p:grpSp>
      <p:grpSp>
        <p:nvGrpSpPr>
          <p:cNvPr name="Group 48" id="48"/>
          <p:cNvGrpSpPr/>
          <p:nvPr/>
        </p:nvGrpSpPr>
        <p:grpSpPr>
          <a:xfrm rot="0">
            <a:off x="638175" y="5648325"/>
            <a:ext cx="2190750" cy="400050"/>
            <a:chOff x="0" y="0"/>
            <a:chExt cx="2921000" cy="533400"/>
          </a:xfrm>
        </p:grpSpPr>
        <p:sp>
          <p:nvSpPr>
            <p:cNvPr name="Freeform 49" id="49"/>
            <p:cNvSpPr/>
            <p:nvPr/>
          </p:nvSpPr>
          <p:spPr>
            <a:xfrm flipH="false" flipV="false" rot="0">
              <a:off x="0" y="0"/>
              <a:ext cx="2921000" cy="533400"/>
            </a:xfrm>
            <a:custGeom>
              <a:avLst/>
              <a:gdLst/>
              <a:ahLst/>
              <a:cxnLst/>
              <a:rect r="r" b="b" t="t" l="l"/>
              <a:pathLst>
                <a:path h="533400" w="2921000">
                  <a:moveTo>
                    <a:pt x="0" y="0"/>
                  </a:moveTo>
                  <a:lnTo>
                    <a:pt x="2921000" y="0"/>
                  </a:lnTo>
                  <a:lnTo>
                    <a:pt x="2921000" y="533400"/>
                  </a:lnTo>
                  <a:lnTo>
                    <a:pt x="0" y="533400"/>
                  </a:lnTo>
                  <a:close/>
                </a:path>
              </a:pathLst>
            </a:custGeom>
            <a:blipFill>
              <a:blip r:embed="rId4">
                <a:alphaModFix amt="0"/>
              </a:blip>
              <a:stretch>
                <a:fillRect l="0" t="-56703" r="0" b="-56703"/>
              </a:stretch>
            </a:blipFill>
          </p:spPr>
        </p:sp>
        <p:sp>
          <p:nvSpPr>
            <p:cNvPr name="TextBox 50" id="50"/>
            <p:cNvSpPr txBox="true"/>
            <p:nvPr/>
          </p:nvSpPr>
          <p:spPr>
            <a:xfrm>
              <a:off x="0" y="-28575"/>
              <a:ext cx="2921000" cy="5619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1XRD</a:t>
              </a:r>
            </a:p>
          </p:txBody>
        </p:sp>
      </p:grpSp>
      <p:grpSp>
        <p:nvGrpSpPr>
          <p:cNvPr name="Group 51" id="51"/>
          <p:cNvGrpSpPr/>
          <p:nvPr/>
        </p:nvGrpSpPr>
        <p:grpSpPr>
          <a:xfrm rot="0">
            <a:off x="3147298" y="5048250"/>
            <a:ext cx="2373154" cy="1438275"/>
            <a:chOff x="0" y="0"/>
            <a:chExt cx="3164205" cy="1917700"/>
          </a:xfrm>
        </p:grpSpPr>
        <p:sp>
          <p:nvSpPr>
            <p:cNvPr name="Freeform 52" id="52"/>
            <p:cNvSpPr/>
            <p:nvPr/>
          </p:nvSpPr>
          <p:spPr>
            <a:xfrm flipH="false" flipV="false" rot="0">
              <a:off x="0" y="0"/>
              <a:ext cx="3164205" cy="1917700"/>
            </a:xfrm>
            <a:custGeom>
              <a:avLst/>
              <a:gdLst/>
              <a:ahLst/>
              <a:cxnLst/>
              <a:rect r="r" b="b" t="t" l="l"/>
              <a:pathLst>
                <a:path h="1917700" w="3164205">
                  <a:moveTo>
                    <a:pt x="0" y="0"/>
                  </a:moveTo>
                  <a:lnTo>
                    <a:pt x="3164205" y="0"/>
                  </a:lnTo>
                  <a:lnTo>
                    <a:pt x="3164205" y="1917700"/>
                  </a:lnTo>
                  <a:lnTo>
                    <a:pt x="0" y="1917700"/>
                  </a:lnTo>
                  <a:lnTo>
                    <a:pt x="0" y="0"/>
                  </a:lnTo>
                  <a:close/>
                </a:path>
              </a:pathLst>
            </a:custGeom>
            <a:blipFill>
              <a:blip r:embed="rId5"/>
              <a:stretch>
                <a:fillRect l="-215145" t="-93329" r="-329794" b="-310829"/>
              </a:stretch>
            </a:blipFill>
          </p:spPr>
        </p:sp>
      </p:grpSp>
      <p:grpSp>
        <p:nvGrpSpPr>
          <p:cNvPr name="Group 53" id="53"/>
          <p:cNvGrpSpPr/>
          <p:nvPr/>
        </p:nvGrpSpPr>
        <p:grpSpPr>
          <a:xfrm rot="0">
            <a:off x="638175" y="7077075"/>
            <a:ext cx="2333625" cy="428625"/>
            <a:chOff x="0" y="0"/>
            <a:chExt cx="3111500" cy="571500"/>
          </a:xfrm>
        </p:grpSpPr>
        <p:sp>
          <p:nvSpPr>
            <p:cNvPr name="Freeform 54" id="54"/>
            <p:cNvSpPr/>
            <p:nvPr/>
          </p:nvSpPr>
          <p:spPr>
            <a:xfrm flipH="false" flipV="false" rot="0">
              <a:off x="0" y="0"/>
              <a:ext cx="3111500" cy="571500"/>
            </a:xfrm>
            <a:custGeom>
              <a:avLst/>
              <a:gdLst/>
              <a:ahLst/>
              <a:cxnLst/>
              <a:rect r="r" b="b" t="t" l="l"/>
              <a:pathLst>
                <a:path h="571500" w="3111500">
                  <a:moveTo>
                    <a:pt x="0" y="0"/>
                  </a:moveTo>
                  <a:lnTo>
                    <a:pt x="3111500" y="0"/>
                  </a:lnTo>
                  <a:lnTo>
                    <a:pt x="3111500" y="571500"/>
                  </a:lnTo>
                  <a:lnTo>
                    <a:pt x="0" y="571500"/>
                  </a:lnTo>
                  <a:close/>
                </a:path>
              </a:pathLst>
            </a:custGeom>
            <a:blipFill>
              <a:blip r:embed="rId4">
                <a:alphaModFix amt="0"/>
              </a:blip>
              <a:stretch>
                <a:fillRect l="0" t="-56085" r="0" b="-56085"/>
              </a:stretch>
            </a:blipFill>
          </p:spPr>
        </p:sp>
        <p:sp>
          <p:nvSpPr>
            <p:cNvPr name="TextBox 55" id="55"/>
            <p:cNvSpPr txBox="true"/>
            <p:nvPr/>
          </p:nvSpPr>
          <p:spPr>
            <a:xfrm>
              <a:off x="0" y="-38100"/>
              <a:ext cx="3111500" cy="6096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Manufacturing</a:t>
              </a:r>
            </a:p>
          </p:txBody>
        </p:sp>
      </p:grpSp>
      <p:grpSp>
        <p:nvGrpSpPr>
          <p:cNvPr name="Group 56" id="56"/>
          <p:cNvGrpSpPr/>
          <p:nvPr/>
        </p:nvGrpSpPr>
        <p:grpSpPr>
          <a:xfrm rot="0">
            <a:off x="638175" y="7581900"/>
            <a:ext cx="2333625" cy="714375"/>
            <a:chOff x="0" y="0"/>
            <a:chExt cx="3111500" cy="952500"/>
          </a:xfrm>
        </p:grpSpPr>
        <p:sp>
          <p:nvSpPr>
            <p:cNvPr name="Freeform 57" id="57"/>
            <p:cNvSpPr/>
            <p:nvPr/>
          </p:nvSpPr>
          <p:spPr>
            <a:xfrm flipH="false" flipV="false" rot="0">
              <a:off x="0" y="0"/>
              <a:ext cx="3111500" cy="952500"/>
            </a:xfrm>
            <a:custGeom>
              <a:avLst/>
              <a:gdLst/>
              <a:ahLst/>
              <a:cxnLst/>
              <a:rect r="r" b="b" t="t" l="l"/>
              <a:pathLst>
                <a:path h="952500" w="3111500">
                  <a:moveTo>
                    <a:pt x="0" y="0"/>
                  </a:moveTo>
                  <a:lnTo>
                    <a:pt x="3111500" y="0"/>
                  </a:lnTo>
                  <a:lnTo>
                    <a:pt x="3111500" y="952500"/>
                  </a:lnTo>
                  <a:lnTo>
                    <a:pt x="0" y="952500"/>
                  </a:lnTo>
                  <a:close/>
                </a:path>
              </a:pathLst>
            </a:custGeom>
            <a:blipFill>
              <a:blip r:embed="rId4">
                <a:alphaModFix amt="0"/>
              </a:blip>
              <a:stretch>
                <a:fillRect l="0" t="-13651" r="0" b="-13651"/>
              </a:stretch>
            </a:blipFill>
          </p:spPr>
        </p:sp>
        <p:sp>
          <p:nvSpPr>
            <p:cNvPr name="TextBox 58" id="58"/>
            <p:cNvSpPr txBox="true"/>
            <p:nvPr/>
          </p:nvSpPr>
          <p:spPr>
            <a:xfrm>
              <a:off x="0" y="-28575"/>
              <a:ext cx="3111500" cy="981075"/>
            </a:xfrm>
            <a:prstGeom prst="rect">
              <a:avLst/>
            </a:prstGeom>
          </p:spPr>
          <p:txBody>
            <a:bodyPr anchor="ctr" rtlCol="false" tIns="0" lIns="0" bIns="0" rIns="0"/>
            <a:lstStyle/>
            <a:p>
              <a:pPr algn="l">
                <a:lnSpc>
                  <a:spcPts val="2721"/>
                </a:lnSpc>
              </a:pPr>
              <a:r>
                <a:rPr lang="en-US" sz="2100">
                  <a:solidFill>
                    <a:srgbClr val="15215A"/>
                  </a:solidFill>
                  <a:latin typeface="Arial"/>
                  <a:ea typeface="Arial"/>
                  <a:cs typeface="Arial"/>
                  <a:sym typeface="Arial"/>
                </a:rPr>
                <a:t>OMR, OMT, OMM</a:t>
              </a:r>
            </a:p>
          </p:txBody>
        </p:sp>
      </p:grpSp>
      <p:grpSp>
        <p:nvGrpSpPr>
          <p:cNvPr name="Group 59" id="59"/>
          <p:cNvGrpSpPr/>
          <p:nvPr/>
        </p:nvGrpSpPr>
        <p:grpSpPr>
          <a:xfrm rot="0">
            <a:off x="3148298" y="6858000"/>
            <a:ext cx="2371144" cy="1476375"/>
            <a:chOff x="0" y="0"/>
            <a:chExt cx="3161525" cy="1968500"/>
          </a:xfrm>
        </p:grpSpPr>
        <p:sp>
          <p:nvSpPr>
            <p:cNvPr name="Freeform 60" id="60"/>
            <p:cNvSpPr/>
            <p:nvPr/>
          </p:nvSpPr>
          <p:spPr>
            <a:xfrm flipH="false" flipV="false" rot="0">
              <a:off x="0" y="0"/>
              <a:ext cx="3161538" cy="1968500"/>
            </a:xfrm>
            <a:custGeom>
              <a:avLst/>
              <a:gdLst/>
              <a:ahLst/>
              <a:cxnLst/>
              <a:rect r="r" b="b" t="t" l="l"/>
              <a:pathLst>
                <a:path h="1968500" w="3161538">
                  <a:moveTo>
                    <a:pt x="0" y="0"/>
                  </a:moveTo>
                  <a:lnTo>
                    <a:pt x="3161538" y="0"/>
                  </a:lnTo>
                  <a:lnTo>
                    <a:pt x="3161538" y="1968500"/>
                  </a:lnTo>
                  <a:lnTo>
                    <a:pt x="0" y="1968500"/>
                  </a:lnTo>
                  <a:lnTo>
                    <a:pt x="0" y="0"/>
                  </a:lnTo>
                  <a:close/>
                </a:path>
              </a:pathLst>
            </a:custGeom>
            <a:blipFill>
              <a:blip r:embed="rId5"/>
              <a:stretch>
                <a:fillRect l="-104714" t="-254546" r="-397647" b="-103790"/>
              </a:stretch>
            </a:blipFill>
          </p:spPr>
        </p:sp>
      </p:grpSp>
      <p:grpSp>
        <p:nvGrpSpPr>
          <p:cNvPr name="Group 61" id="61"/>
          <p:cNvGrpSpPr/>
          <p:nvPr/>
        </p:nvGrpSpPr>
        <p:grpSpPr>
          <a:xfrm rot="0">
            <a:off x="12458700" y="3333750"/>
            <a:ext cx="3238500" cy="457200"/>
            <a:chOff x="0" y="0"/>
            <a:chExt cx="4318000" cy="609600"/>
          </a:xfrm>
        </p:grpSpPr>
        <p:sp>
          <p:nvSpPr>
            <p:cNvPr name="Freeform 62" id="62"/>
            <p:cNvSpPr/>
            <p:nvPr/>
          </p:nvSpPr>
          <p:spPr>
            <a:xfrm flipH="false" flipV="false" rot="0">
              <a:off x="0" y="0"/>
              <a:ext cx="4318000" cy="609600"/>
            </a:xfrm>
            <a:custGeom>
              <a:avLst/>
              <a:gdLst/>
              <a:ahLst/>
              <a:cxnLst/>
              <a:rect r="r" b="b" t="t" l="l"/>
              <a:pathLst>
                <a:path h="609600" w="4318000">
                  <a:moveTo>
                    <a:pt x="0" y="0"/>
                  </a:moveTo>
                  <a:lnTo>
                    <a:pt x="4318000" y="0"/>
                  </a:lnTo>
                  <a:lnTo>
                    <a:pt x="4318000" y="609600"/>
                  </a:lnTo>
                  <a:lnTo>
                    <a:pt x="0" y="609600"/>
                  </a:lnTo>
                  <a:close/>
                </a:path>
              </a:pathLst>
            </a:custGeom>
            <a:blipFill>
              <a:blip r:embed="rId4">
                <a:alphaModFix amt="0"/>
              </a:blip>
              <a:stretch>
                <a:fillRect l="0" t="-88019" r="0" b="-88019"/>
              </a:stretch>
            </a:blipFill>
          </p:spPr>
        </p:sp>
        <p:sp>
          <p:nvSpPr>
            <p:cNvPr name="TextBox 63" id="63"/>
            <p:cNvSpPr txBox="true"/>
            <p:nvPr/>
          </p:nvSpPr>
          <p:spPr>
            <a:xfrm>
              <a:off x="0" y="-38100"/>
              <a:ext cx="43180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Academia</a:t>
              </a:r>
            </a:p>
          </p:txBody>
        </p:sp>
      </p:grpSp>
      <p:grpSp>
        <p:nvGrpSpPr>
          <p:cNvPr name="Group 64" id="64"/>
          <p:cNvGrpSpPr/>
          <p:nvPr/>
        </p:nvGrpSpPr>
        <p:grpSpPr>
          <a:xfrm rot="0">
            <a:off x="16525875" y="3143250"/>
            <a:ext cx="1047750" cy="1047750"/>
            <a:chOff x="0" y="0"/>
            <a:chExt cx="1397000" cy="1397000"/>
          </a:xfrm>
        </p:grpSpPr>
        <p:sp>
          <p:nvSpPr>
            <p:cNvPr name="Freeform 65" id="65"/>
            <p:cNvSpPr/>
            <p:nvPr/>
          </p:nvSpPr>
          <p:spPr>
            <a:xfrm flipH="false" flipV="false" rot="0">
              <a:off x="0" y="0"/>
              <a:ext cx="1397000" cy="1397000"/>
            </a:xfrm>
            <a:custGeom>
              <a:avLst/>
              <a:gdLst/>
              <a:ahLst/>
              <a:cxnLst/>
              <a:rect r="r" b="b" t="t" l="l"/>
              <a:pathLst>
                <a:path h="1397000" w="1397000">
                  <a:moveTo>
                    <a:pt x="0" y="0"/>
                  </a:moveTo>
                  <a:lnTo>
                    <a:pt x="1397000" y="0"/>
                  </a:lnTo>
                  <a:lnTo>
                    <a:pt x="1397000" y="1397000"/>
                  </a:lnTo>
                  <a:lnTo>
                    <a:pt x="0" y="1397000"/>
                  </a:lnTo>
                  <a:lnTo>
                    <a:pt x="0" y="0"/>
                  </a:lnTo>
                  <a:close/>
                </a:path>
              </a:pathLst>
            </a:custGeom>
            <a:blipFill>
              <a:blip r:embed="rId5"/>
              <a:stretch>
                <a:fillRect l="-969874" t="-56629" r="-468680" b="-572287"/>
              </a:stretch>
            </a:blipFill>
          </p:spPr>
        </p:sp>
      </p:grpSp>
      <p:grpSp>
        <p:nvGrpSpPr>
          <p:cNvPr name="Group 66" id="66"/>
          <p:cNvGrpSpPr/>
          <p:nvPr/>
        </p:nvGrpSpPr>
        <p:grpSpPr>
          <a:xfrm rot="0">
            <a:off x="12458700" y="4572000"/>
            <a:ext cx="5191125" cy="457200"/>
            <a:chOff x="0" y="0"/>
            <a:chExt cx="6921500" cy="609600"/>
          </a:xfrm>
        </p:grpSpPr>
        <p:sp>
          <p:nvSpPr>
            <p:cNvPr name="Freeform 67" id="67"/>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68" id="68"/>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Research institutes</a:t>
              </a:r>
            </a:p>
          </p:txBody>
        </p:sp>
      </p:grpSp>
      <p:grpSp>
        <p:nvGrpSpPr>
          <p:cNvPr name="Group 69" id="69"/>
          <p:cNvGrpSpPr/>
          <p:nvPr/>
        </p:nvGrpSpPr>
        <p:grpSpPr>
          <a:xfrm rot="0">
            <a:off x="12458700" y="5420230"/>
            <a:ext cx="1240155" cy="444008"/>
            <a:chOff x="0" y="0"/>
            <a:chExt cx="1653540" cy="592010"/>
          </a:xfrm>
        </p:grpSpPr>
        <p:sp>
          <p:nvSpPr>
            <p:cNvPr name="Freeform 70" id="70"/>
            <p:cNvSpPr/>
            <p:nvPr/>
          </p:nvSpPr>
          <p:spPr>
            <a:xfrm flipH="false" flipV="false" rot="0">
              <a:off x="0" y="0"/>
              <a:ext cx="1653540" cy="591947"/>
            </a:xfrm>
            <a:custGeom>
              <a:avLst/>
              <a:gdLst/>
              <a:ahLst/>
              <a:cxnLst/>
              <a:rect r="r" b="b" t="t" l="l"/>
              <a:pathLst>
                <a:path h="591947" w="1653540">
                  <a:moveTo>
                    <a:pt x="0" y="0"/>
                  </a:moveTo>
                  <a:lnTo>
                    <a:pt x="1653540" y="0"/>
                  </a:lnTo>
                  <a:lnTo>
                    <a:pt x="1653540" y="591947"/>
                  </a:lnTo>
                  <a:lnTo>
                    <a:pt x="0" y="591947"/>
                  </a:lnTo>
                  <a:lnTo>
                    <a:pt x="0" y="0"/>
                  </a:lnTo>
                  <a:close/>
                </a:path>
              </a:pathLst>
            </a:custGeom>
            <a:blipFill>
              <a:blip r:embed="rId5"/>
              <a:stretch>
                <a:fillRect l="-1461841" t="-89682" r="-14828" b="-1896908"/>
              </a:stretch>
            </a:blipFill>
          </p:spPr>
        </p:sp>
      </p:grpSp>
      <p:grpSp>
        <p:nvGrpSpPr>
          <p:cNvPr name="Group 71" id="71"/>
          <p:cNvGrpSpPr/>
          <p:nvPr/>
        </p:nvGrpSpPr>
        <p:grpSpPr>
          <a:xfrm rot="0">
            <a:off x="13978890" y="5221700"/>
            <a:ext cx="800100" cy="900112"/>
            <a:chOff x="0" y="0"/>
            <a:chExt cx="1066800" cy="1200150"/>
          </a:xfrm>
        </p:grpSpPr>
        <p:sp>
          <p:nvSpPr>
            <p:cNvPr name="Freeform 72" id="72"/>
            <p:cNvSpPr/>
            <p:nvPr/>
          </p:nvSpPr>
          <p:spPr>
            <a:xfrm flipH="false" flipV="false" rot="0">
              <a:off x="0" y="0"/>
              <a:ext cx="1066800" cy="1200150"/>
            </a:xfrm>
            <a:custGeom>
              <a:avLst/>
              <a:gdLst/>
              <a:ahLst/>
              <a:cxnLst/>
              <a:rect r="r" b="b" t="t" l="l"/>
              <a:pathLst>
                <a:path h="1200150" w="1066800">
                  <a:moveTo>
                    <a:pt x="0" y="0"/>
                  </a:moveTo>
                  <a:lnTo>
                    <a:pt x="1066800" y="0"/>
                  </a:lnTo>
                  <a:lnTo>
                    <a:pt x="1066800" y="1200150"/>
                  </a:lnTo>
                  <a:lnTo>
                    <a:pt x="0" y="1200150"/>
                  </a:lnTo>
                  <a:lnTo>
                    <a:pt x="0" y="0"/>
                  </a:lnTo>
                  <a:close/>
                </a:path>
              </a:pathLst>
            </a:custGeom>
            <a:blipFill>
              <a:blip r:embed="rId5"/>
              <a:stretch>
                <a:fillRect l="-1461414" t="-78900" r="-35009" b="-493394"/>
              </a:stretch>
            </a:blipFill>
          </p:spPr>
        </p:sp>
      </p:grpSp>
      <p:grpSp>
        <p:nvGrpSpPr>
          <p:cNvPr name="Group 73" id="73"/>
          <p:cNvGrpSpPr/>
          <p:nvPr/>
        </p:nvGrpSpPr>
        <p:grpSpPr>
          <a:xfrm rot="0">
            <a:off x="15019020" y="5436375"/>
            <a:ext cx="1216152" cy="638785"/>
            <a:chOff x="0" y="0"/>
            <a:chExt cx="1621536" cy="851713"/>
          </a:xfrm>
        </p:grpSpPr>
        <p:sp>
          <p:nvSpPr>
            <p:cNvPr name="Freeform 74" id="74"/>
            <p:cNvSpPr/>
            <p:nvPr/>
          </p:nvSpPr>
          <p:spPr>
            <a:xfrm flipH="false" flipV="false" rot="0">
              <a:off x="0" y="0"/>
              <a:ext cx="1621536" cy="851662"/>
            </a:xfrm>
            <a:custGeom>
              <a:avLst/>
              <a:gdLst/>
              <a:ahLst/>
              <a:cxnLst/>
              <a:rect r="r" b="b" t="t" l="l"/>
              <a:pathLst>
                <a:path h="851662" w="1621536">
                  <a:moveTo>
                    <a:pt x="0" y="0"/>
                  </a:moveTo>
                  <a:lnTo>
                    <a:pt x="1621536" y="0"/>
                  </a:lnTo>
                  <a:lnTo>
                    <a:pt x="1621536" y="851662"/>
                  </a:lnTo>
                  <a:lnTo>
                    <a:pt x="0" y="851662"/>
                  </a:lnTo>
                  <a:lnTo>
                    <a:pt x="0" y="0"/>
                  </a:lnTo>
                  <a:close/>
                </a:path>
              </a:pathLst>
            </a:custGeom>
            <a:blipFill>
              <a:blip r:embed="rId5"/>
              <a:stretch>
                <a:fillRect l="-1146467" t="-371181" r="-43437" b="-692360"/>
              </a:stretch>
            </a:blipFill>
          </p:spPr>
        </p:sp>
      </p:grpSp>
      <p:grpSp>
        <p:nvGrpSpPr>
          <p:cNvPr name="Group 75" id="75"/>
          <p:cNvGrpSpPr/>
          <p:nvPr/>
        </p:nvGrpSpPr>
        <p:grpSpPr>
          <a:xfrm rot="0">
            <a:off x="16419195" y="5483733"/>
            <a:ext cx="920115" cy="440055"/>
            <a:chOff x="0" y="0"/>
            <a:chExt cx="1226820" cy="586740"/>
          </a:xfrm>
        </p:grpSpPr>
        <p:sp>
          <p:nvSpPr>
            <p:cNvPr name="Freeform 76" id="76"/>
            <p:cNvSpPr/>
            <p:nvPr/>
          </p:nvSpPr>
          <p:spPr>
            <a:xfrm flipH="false" flipV="false" rot="0">
              <a:off x="0" y="0"/>
              <a:ext cx="1226820" cy="586740"/>
            </a:xfrm>
            <a:custGeom>
              <a:avLst/>
              <a:gdLst/>
              <a:ahLst/>
              <a:cxnLst/>
              <a:rect r="r" b="b" t="t" l="l"/>
              <a:pathLst>
                <a:path h="586740" w="1226820">
                  <a:moveTo>
                    <a:pt x="0" y="0"/>
                  </a:moveTo>
                  <a:lnTo>
                    <a:pt x="1226820" y="0"/>
                  </a:lnTo>
                  <a:lnTo>
                    <a:pt x="1226820" y="586740"/>
                  </a:lnTo>
                  <a:lnTo>
                    <a:pt x="0" y="586740"/>
                  </a:lnTo>
                  <a:close/>
                </a:path>
              </a:pathLst>
            </a:custGeom>
            <a:blipFill>
              <a:blip r:embed="rId4">
                <a:alphaModFix amt="0"/>
              </a:blip>
              <a:stretch>
                <a:fillRect l="-11362" t="0" r="-11362" b="0"/>
              </a:stretch>
            </a:blipFill>
          </p:spPr>
        </p:sp>
        <p:sp>
          <p:nvSpPr>
            <p:cNvPr name="TextBox 77" id="77"/>
            <p:cNvSpPr txBox="true"/>
            <p:nvPr/>
          </p:nvSpPr>
          <p:spPr>
            <a:xfrm>
              <a:off x="0" y="-38100"/>
              <a:ext cx="1226820" cy="62484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CNRS</a:t>
              </a:r>
            </a:p>
          </p:txBody>
        </p:sp>
      </p:grpSp>
      <p:grpSp>
        <p:nvGrpSpPr>
          <p:cNvPr name="Group 78" id="78"/>
          <p:cNvGrpSpPr/>
          <p:nvPr/>
        </p:nvGrpSpPr>
        <p:grpSpPr>
          <a:xfrm rot="0">
            <a:off x="12458700" y="6572250"/>
            <a:ext cx="5191125" cy="457200"/>
            <a:chOff x="0" y="0"/>
            <a:chExt cx="6921500" cy="609600"/>
          </a:xfrm>
        </p:grpSpPr>
        <p:sp>
          <p:nvSpPr>
            <p:cNvPr name="Freeform 79" id="79"/>
            <p:cNvSpPr/>
            <p:nvPr/>
          </p:nvSpPr>
          <p:spPr>
            <a:xfrm flipH="false" flipV="false" rot="0">
              <a:off x="0" y="0"/>
              <a:ext cx="6921500" cy="609600"/>
            </a:xfrm>
            <a:custGeom>
              <a:avLst/>
              <a:gdLst/>
              <a:ahLst/>
              <a:cxnLst/>
              <a:rect r="r" b="b" t="t" l="l"/>
              <a:pathLst>
                <a:path h="609600" w="6921500">
                  <a:moveTo>
                    <a:pt x="0" y="0"/>
                  </a:moveTo>
                  <a:lnTo>
                    <a:pt x="6921500" y="0"/>
                  </a:lnTo>
                  <a:lnTo>
                    <a:pt x="6921500" y="609600"/>
                  </a:lnTo>
                  <a:lnTo>
                    <a:pt x="0" y="609600"/>
                  </a:lnTo>
                  <a:close/>
                </a:path>
              </a:pathLst>
            </a:custGeom>
            <a:blipFill>
              <a:blip r:embed="rId4">
                <a:alphaModFix amt="0"/>
              </a:blip>
              <a:stretch>
                <a:fillRect l="0" t="-171236" r="0" b="-171236"/>
              </a:stretch>
            </a:blipFill>
          </p:spPr>
        </p:sp>
        <p:sp>
          <p:nvSpPr>
            <p:cNvPr name="TextBox 80" id="80"/>
            <p:cNvSpPr txBox="true"/>
            <p:nvPr/>
          </p:nvSpPr>
          <p:spPr>
            <a:xfrm>
              <a:off x="0" y="-38100"/>
              <a:ext cx="6921500" cy="6477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Industry</a:t>
              </a:r>
            </a:p>
          </p:txBody>
        </p:sp>
      </p:grpSp>
      <p:grpSp>
        <p:nvGrpSpPr>
          <p:cNvPr name="Group 81" id="81"/>
          <p:cNvGrpSpPr/>
          <p:nvPr/>
        </p:nvGrpSpPr>
        <p:grpSpPr>
          <a:xfrm rot="0">
            <a:off x="12458700" y="7143750"/>
            <a:ext cx="736092" cy="736092"/>
            <a:chOff x="0" y="0"/>
            <a:chExt cx="981456" cy="981456"/>
          </a:xfrm>
        </p:grpSpPr>
        <p:sp>
          <p:nvSpPr>
            <p:cNvPr name="Freeform 82" id="82"/>
            <p:cNvSpPr/>
            <p:nvPr/>
          </p:nvSpPr>
          <p:spPr>
            <a:xfrm flipH="false" flipV="false" rot="0">
              <a:off x="0" y="0"/>
              <a:ext cx="981456" cy="981456"/>
            </a:xfrm>
            <a:custGeom>
              <a:avLst/>
              <a:gdLst/>
              <a:ahLst/>
              <a:cxnLst/>
              <a:rect r="r" b="b" t="t" l="l"/>
              <a:pathLst>
                <a:path h="981456" w="981456">
                  <a:moveTo>
                    <a:pt x="0" y="0"/>
                  </a:moveTo>
                  <a:lnTo>
                    <a:pt x="981456" y="0"/>
                  </a:lnTo>
                  <a:lnTo>
                    <a:pt x="981456" y="981456"/>
                  </a:lnTo>
                  <a:lnTo>
                    <a:pt x="0" y="981456"/>
                  </a:lnTo>
                  <a:lnTo>
                    <a:pt x="0" y="0"/>
                  </a:lnTo>
                  <a:close/>
                </a:path>
              </a:pathLst>
            </a:custGeom>
            <a:blipFill>
              <a:blip r:embed="rId5"/>
              <a:stretch>
                <a:fillRect l="-1019928" t="-481393" r="-704237" b="-282836"/>
              </a:stretch>
            </a:blipFill>
          </p:spPr>
        </p:sp>
      </p:grpSp>
      <p:grpSp>
        <p:nvGrpSpPr>
          <p:cNvPr name="Group 83" id="83"/>
          <p:cNvGrpSpPr/>
          <p:nvPr/>
        </p:nvGrpSpPr>
        <p:grpSpPr>
          <a:xfrm rot="0">
            <a:off x="13579078" y="7207758"/>
            <a:ext cx="599608" cy="624078"/>
            <a:chOff x="0" y="0"/>
            <a:chExt cx="799478" cy="832104"/>
          </a:xfrm>
        </p:grpSpPr>
        <p:sp>
          <p:nvSpPr>
            <p:cNvPr name="Freeform 84" id="84"/>
            <p:cNvSpPr/>
            <p:nvPr/>
          </p:nvSpPr>
          <p:spPr>
            <a:xfrm flipH="false" flipV="false" rot="0">
              <a:off x="0" y="0"/>
              <a:ext cx="799465" cy="832104"/>
            </a:xfrm>
            <a:custGeom>
              <a:avLst/>
              <a:gdLst/>
              <a:ahLst/>
              <a:cxnLst/>
              <a:rect r="r" b="b" t="t" l="l"/>
              <a:pathLst>
                <a:path h="832104" w="799465">
                  <a:moveTo>
                    <a:pt x="0" y="0"/>
                  </a:moveTo>
                  <a:lnTo>
                    <a:pt x="799465" y="0"/>
                  </a:lnTo>
                  <a:lnTo>
                    <a:pt x="799465" y="832104"/>
                  </a:lnTo>
                  <a:lnTo>
                    <a:pt x="0" y="832104"/>
                  </a:lnTo>
                  <a:lnTo>
                    <a:pt x="0" y="0"/>
                  </a:lnTo>
                  <a:close/>
                </a:path>
              </a:pathLst>
            </a:custGeom>
            <a:blipFill>
              <a:blip r:embed="rId5"/>
              <a:stretch>
                <a:fillRect l="-1655259" t="-702028" r="-851119" b="-384351"/>
              </a:stretch>
            </a:blipFill>
          </p:spPr>
        </p:sp>
      </p:grpSp>
      <p:grpSp>
        <p:nvGrpSpPr>
          <p:cNvPr name="Group 85" id="85"/>
          <p:cNvGrpSpPr/>
          <p:nvPr/>
        </p:nvGrpSpPr>
        <p:grpSpPr>
          <a:xfrm rot="0">
            <a:off x="14618970" y="7353776"/>
            <a:ext cx="1280160" cy="340042"/>
            <a:chOff x="0" y="0"/>
            <a:chExt cx="1706880" cy="453390"/>
          </a:xfrm>
        </p:grpSpPr>
        <p:sp>
          <p:nvSpPr>
            <p:cNvPr name="Freeform 86" id="86"/>
            <p:cNvSpPr/>
            <p:nvPr/>
          </p:nvSpPr>
          <p:spPr>
            <a:xfrm flipH="false" flipV="false" rot="0">
              <a:off x="0" y="0"/>
              <a:ext cx="1706880" cy="453390"/>
            </a:xfrm>
            <a:custGeom>
              <a:avLst/>
              <a:gdLst/>
              <a:ahLst/>
              <a:cxnLst/>
              <a:rect r="r" b="b" t="t" l="l"/>
              <a:pathLst>
                <a:path h="453390" w="1706880">
                  <a:moveTo>
                    <a:pt x="0" y="0"/>
                  </a:moveTo>
                  <a:lnTo>
                    <a:pt x="1706880" y="0"/>
                  </a:lnTo>
                  <a:lnTo>
                    <a:pt x="1706880" y="453390"/>
                  </a:lnTo>
                  <a:lnTo>
                    <a:pt x="0" y="453390"/>
                  </a:lnTo>
                  <a:lnTo>
                    <a:pt x="0" y="0"/>
                  </a:lnTo>
                  <a:close/>
                </a:path>
              </a:pathLst>
            </a:custGeom>
            <a:blipFill>
              <a:blip r:embed="rId5"/>
              <a:stretch>
                <a:fillRect l="-1396839" t="-1964663" r="-498417" b="-1494061"/>
              </a:stretch>
            </a:blipFill>
          </p:spPr>
        </p:sp>
      </p:grpSp>
      <p:grpSp>
        <p:nvGrpSpPr>
          <p:cNvPr name="Group 87" id="87"/>
          <p:cNvGrpSpPr/>
          <p:nvPr/>
        </p:nvGrpSpPr>
        <p:grpSpPr>
          <a:xfrm rot="0">
            <a:off x="16283178" y="7264765"/>
            <a:ext cx="1200150" cy="630079"/>
            <a:chOff x="0" y="0"/>
            <a:chExt cx="1600200" cy="840105"/>
          </a:xfrm>
        </p:grpSpPr>
        <p:sp>
          <p:nvSpPr>
            <p:cNvPr name="Freeform 88" id="88"/>
            <p:cNvSpPr/>
            <p:nvPr/>
          </p:nvSpPr>
          <p:spPr>
            <a:xfrm flipH="false" flipV="false" rot="0">
              <a:off x="0" y="0"/>
              <a:ext cx="1600200" cy="840105"/>
            </a:xfrm>
            <a:custGeom>
              <a:avLst/>
              <a:gdLst/>
              <a:ahLst/>
              <a:cxnLst/>
              <a:rect r="r" b="b" t="t" l="l"/>
              <a:pathLst>
                <a:path h="840105" w="1600200">
                  <a:moveTo>
                    <a:pt x="0" y="0"/>
                  </a:moveTo>
                  <a:lnTo>
                    <a:pt x="1600200" y="0"/>
                  </a:lnTo>
                  <a:lnTo>
                    <a:pt x="1600200" y="840105"/>
                  </a:lnTo>
                  <a:lnTo>
                    <a:pt x="0" y="840105"/>
                  </a:lnTo>
                  <a:lnTo>
                    <a:pt x="0" y="0"/>
                  </a:lnTo>
                  <a:close/>
                </a:path>
              </a:pathLst>
            </a:custGeom>
            <a:blipFill>
              <a:blip r:embed="rId5"/>
              <a:stretch>
                <a:fillRect l="-1136184" t="-892805" r="-359984" b="-447597"/>
              </a:stretch>
            </a:blipFill>
          </p:spPr>
        </p:sp>
      </p:grpSp>
      <p:grpSp>
        <p:nvGrpSpPr>
          <p:cNvPr name="Group 89" id="89"/>
          <p:cNvGrpSpPr/>
          <p:nvPr/>
        </p:nvGrpSpPr>
        <p:grpSpPr>
          <a:xfrm rot="0">
            <a:off x="12458700" y="8171059"/>
            <a:ext cx="2333625" cy="374256"/>
            <a:chOff x="0" y="0"/>
            <a:chExt cx="3111500" cy="499008"/>
          </a:xfrm>
        </p:grpSpPr>
        <p:sp>
          <p:nvSpPr>
            <p:cNvPr name="Freeform 90" id="90"/>
            <p:cNvSpPr/>
            <p:nvPr/>
          </p:nvSpPr>
          <p:spPr>
            <a:xfrm flipH="false" flipV="false" rot="0">
              <a:off x="0" y="0"/>
              <a:ext cx="3111500" cy="498983"/>
            </a:xfrm>
            <a:custGeom>
              <a:avLst/>
              <a:gdLst/>
              <a:ahLst/>
              <a:cxnLst/>
              <a:rect r="r" b="b" t="t" l="l"/>
              <a:pathLst>
                <a:path h="498983" w="3111500">
                  <a:moveTo>
                    <a:pt x="0" y="0"/>
                  </a:moveTo>
                  <a:lnTo>
                    <a:pt x="3111500" y="0"/>
                  </a:lnTo>
                  <a:lnTo>
                    <a:pt x="3111500" y="498983"/>
                  </a:lnTo>
                  <a:lnTo>
                    <a:pt x="0" y="498983"/>
                  </a:lnTo>
                  <a:lnTo>
                    <a:pt x="0" y="0"/>
                  </a:lnTo>
                  <a:close/>
                </a:path>
              </a:pathLst>
            </a:custGeom>
            <a:blipFill>
              <a:blip r:embed="rId5"/>
              <a:stretch>
                <a:fillRect l="-889597" t="-2835375" r="-215084" b="-623568"/>
              </a:stretch>
            </a:blipFill>
          </p:spPr>
        </p:sp>
      </p:grpSp>
      <p:grpSp>
        <p:nvGrpSpPr>
          <p:cNvPr name="Group 91" id="91"/>
          <p:cNvGrpSpPr/>
          <p:nvPr/>
        </p:nvGrpSpPr>
        <p:grpSpPr>
          <a:xfrm rot="0">
            <a:off x="7191375" y="7781925"/>
            <a:ext cx="3714750" cy="457200"/>
            <a:chOff x="0" y="0"/>
            <a:chExt cx="4953000" cy="609600"/>
          </a:xfrm>
        </p:grpSpPr>
        <p:sp>
          <p:nvSpPr>
            <p:cNvPr name="Freeform 92" id="92"/>
            <p:cNvSpPr/>
            <p:nvPr/>
          </p:nvSpPr>
          <p:spPr>
            <a:xfrm flipH="false" flipV="false" rot="0">
              <a:off x="0" y="0"/>
              <a:ext cx="4953000" cy="609600"/>
            </a:xfrm>
            <a:custGeom>
              <a:avLst/>
              <a:gdLst/>
              <a:ahLst/>
              <a:cxnLst/>
              <a:rect r="r" b="b" t="t" l="l"/>
              <a:pathLst>
                <a:path h="609600" w="4953000">
                  <a:moveTo>
                    <a:pt x="0" y="0"/>
                  </a:moveTo>
                  <a:lnTo>
                    <a:pt x="4953000" y="0"/>
                  </a:lnTo>
                  <a:lnTo>
                    <a:pt x="4953000" y="609600"/>
                  </a:lnTo>
                  <a:lnTo>
                    <a:pt x="0" y="609600"/>
                  </a:lnTo>
                  <a:close/>
                </a:path>
              </a:pathLst>
            </a:custGeom>
            <a:blipFill>
              <a:blip r:embed="rId4">
                <a:alphaModFix amt="0"/>
              </a:blip>
              <a:stretch>
                <a:fillRect l="0" t="-108315" r="0" b="-108315"/>
              </a:stretch>
            </a:blipFill>
          </p:spPr>
        </p:sp>
        <p:sp>
          <p:nvSpPr>
            <p:cNvPr name="TextBox 93" id="93"/>
            <p:cNvSpPr txBox="true"/>
            <p:nvPr/>
          </p:nvSpPr>
          <p:spPr>
            <a:xfrm>
              <a:off x="0" y="-38100"/>
              <a:ext cx="4953000" cy="647700"/>
            </a:xfrm>
            <a:prstGeom prst="rect">
              <a:avLst/>
            </a:prstGeom>
          </p:spPr>
          <p:txBody>
            <a:bodyPr anchor="ctr" rtlCol="false" tIns="0" lIns="0" bIns="0" rIns="0"/>
            <a:lstStyle/>
            <a:p>
              <a:pPr algn="ctr">
                <a:lnSpc>
                  <a:spcPts val="3110"/>
                </a:lnSpc>
              </a:pPr>
              <a:r>
                <a:rPr lang="en-US" sz="2400" b="true">
                  <a:solidFill>
                    <a:srgbClr val="15215A"/>
                  </a:solidFill>
                  <a:latin typeface="Arial Bold"/>
                  <a:ea typeface="Arial Bold"/>
                  <a:cs typeface="Arial Bold"/>
                  <a:sym typeface="Arial Bold"/>
                </a:rPr>
                <a:t>EU collaborations</a:t>
              </a:r>
            </a:p>
          </p:txBody>
        </p:sp>
      </p:grpSp>
      <p:grpSp>
        <p:nvGrpSpPr>
          <p:cNvPr name="Group 94" id="94"/>
          <p:cNvGrpSpPr/>
          <p:nvPr/>
        </p:nvGrpSpPr>
        <p:grpSpPr>
          <a:xfrm rot="0">
            <a:off x="6905625" y="8296275"/>
            <a:ext cx="4286250" cy="419100"/>
            <a:chOff x="0" y="0"/>
            <a:chExt cx="5715000" cy="558800"/>
          </a:xfrm>
        </p:grpSpPr>
        <p:sp>
          <p:nvSpPr>
            <p:cNvPr name="Freeform 95" id="95"/>
            <p:cNvSpPr/>
            <p:nvPr/>
          </p:nvSpPr>
          <p:spPr>
            <a:xfrm flipH="false" flipV="false" rot="0">
              <a:off x="0" y="0"/>
              <a:ext cx="5715000" cy="558800"/>
            </a:xfrm>
            <a:custGeom>
              <a:avLst/>
              <a:gdLst/>
              <a:ahLst/>
              <a:cxnLst/>
              <a:rect r="r" b="b" t="t" l="l"/>
              <a:pathLst>
                <a:path h="558800" w="5715000">
                  <a:moveTo>
                    <a:pt x="0" y="0"/>
                  </a:moveTo>
                  <a:lnTo>
                    <a:pt x="5715000" y="0"/>
                  </a:lnTo>
                  <a:lnTo>
                    <a:pt x="5715000" y="558800"/>
                  </a:lnTo>
                  <a:lnTo>
                    <a:pt x="0" y="558800"/>
                  </a:lnTo>
                  <a:close/>
                </a:path>
              </a:pathLst>
            </a:custGeom>
            <a:blipFill>
              <a:blip r:embed="rId4">
                <a:alphaModFix amt="0"/>
              </a:blip>
              <a:stretch>
                <a:fillRect l="0" t="-149278" r="0" b="-149278"/>
              </a:stretch>
            </a:blipFill>
          </p:spPr>
        </p:sp>
        <p:sp>
          <p:nvSpPr>
            <p:cNvPr name="TextBox 96" id="96"/>
            <p:cNvSpPr txBox="true"/>
            <p:nvPr/>
          </p:nvSpPr>
          <p:spPr>
            <a:xfrm>
              <a:off x="0" y="-28575"/>
              <a:ext cx="5715000" cy="587375"/>
            </a:xfrm>
            <a:prstGeom prst="rect">
              <a:avLst/>
            </a:prstGeom>
          </p:spPr>
          <p:txBody>
            <a:bodyPr anchor="ctr" rtlCol="false" tIns="0" lIns="0" bIns="0" rIns="0"/>
            <a:lstStyle/>
            <a:p>
              <a:pPr algn="ctr">
                <a:lnSpc>
                  <a:spcPts val="2721"/>
                </a:lnSpc>
              </a:pPr>
              <a:r>
                <a:rPr lang="en-US" sz="2100">
                  <a:solidFill>
                    <a:srgbClr val="15215A"/>
                  </a:solidFill>
                  <a:latin typeface="Arial"/>
                  <a:ea typeface="Arial"/>
                  <a:cs typeface="Arial"/>
                  <a:sym typeface="Arial"/>
                </a:rPr>
                <a:t>Helmut Schmidt University</a:t>
              </a:r>
            </a:p>
          </p:txBody>
        </p:sp>
      </p:grpSp>
      <p:grpSp>
        <p:nvGrpSpPr>
          <p:cNvPr name="Group 97" id="97"/>
          <p:cNvGrpSpPr/>
          <p:nvPr/>
        </p:nvGrpSpPr>
        <p:grpSpPr>
          <a:xfrm rot="0">
            <a:off x="7690314" y="4368536"/>
            <a:ext cx="95250" cy="95250"/>
            <a:chOff x="0" y="0"/>
            <a:chExt cx="127000" cy="127000"/>
          </a:xfrm>
        </p:grpSpPr>
        <p:sp>
          <p:nvSpPr>
            <p:cNvPr name="Freeform 98" id="9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99" id="99"/>
          <p:cNvGrpSpPr/>
          <p:nvPr/>
        </p:nvGrpSpPr>
        <p:grpSpPr>
          <a:xfrm rot="0">
            <a:off x="5781675" y="3924300"/>
            <a:ext cx="114300" cy="114300"/>
            <a:chOff x="0" y="0"/>
            <a:chExt cx="152400" cy="152400"/>
          </a:xfrm>
        </p:grpSpPr>
        <p:sp>
          <p:nvSpPr>
            <p:cNvPr name="Freeform 100" id="10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1" id="101"/>
          <p:cNvGrpSpPr/>
          <p:nvPr/>
        </p:nvGrpSpPr>
        <p:grpSpPr>
          <a:xfrm rot="0">
            <a:off x="7401897" y="5342220"/>
            <a:ext cx="95250" cy="95250"/>
            <a:chOff x="0" y="0"/>
            <a:chExt cx="127000" cy="127000"/>
          </a:xfrm>
        </p:grpSpPr>
        <p:sp>
          <p:nvSpPr>
            <p:cNvPr name="Freeform 102" id="10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3" id="103"/>
          <p:cNvGrpSpPr/>
          <p:nvPr/>
        </p:nvGrpSpPr>
        <p:grpSpPr>
          <a:xfrm rot="0">
            <a:off x="5781675" y="5705475"/>
            <a:ext cx="114300" cy="114300"/>
            <a:chOff x="0" y="0"/>
            <a:chExt cx="152400" cy="152400"/>
          </a:xfrm>
        </p:grpSpPr>
        <p:sp>
          <p:nvSpPr>
            <p:cNvPr name="Freeform 104" id="10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5" id="105"/>
          <p:cNvGrpSpPr/>
          <p:nvPr/>
        </p:nvGrpSpPr>
        <p:grpSpPr>
          <a:xfrm rot="0">
            <a:off x="7775305" y="6314961"/>
            <a:ext cx="95250" cy="95250"/>
            <a:chOff x="0" y="0"/>
            <a:chExt cx="127000" cy="127000"/>
          </a:xfrm>
        </p:grpSpPr>
        <p:sp>
          <p:nvSpPr>
            <p:cNvPr name="Freeform 106" id="106"/>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98B5D2"/>
            </a:solidFill>
          </p:spPr>
        </p:sp>
      </p:grpSp>
      <p:grpSp>
        <p:nvGrpSpPr>
          <p:cNvPr name="Group 107" id="107"/>
          <p:cNvGrpSpPr/>
          <p:nvPr/>
        </p:nvGrpSpPr>
        <p:grpSpPr>
          <a:xfrm rot="0">
            <a:off x="5781675" y="7534275"/>
            <a:ext cx="114300" cy="114300"/>
            <a:chOff x="0" y="0"/>
            <a:chExt cx="152400" cy="152400"/>
          </a:xfrm>
        </p:grpSpPr>
        <p:sp>
          <p:nvSpPr>
            <p:cNvPr name="Freeform 108" id="108"/>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98B5D2"/>
            </a:solidFill>
          </p:spPr>
        </p:sp>
      </p:grpSp>
      <p:grpSp>
        <p:nvGrpSpPr>
          <p:cNvPr name="Group 109" id="109"/>
          <p:cNvGrpSpPr/>
          <p:nvPr/>
        </p:nvGrpSpPr>
        <p:grpSpPr>
          <a:xfrm rot="0">
            <a:off x="10226945" y="4257789"/>
            <a:ext cx="95250" cy="95250"/>
            <a:chOff x="0" y="0"/>
            <a:chExt cx="127000" cy="127000"/>
          </a:xfrm>
        </p:grpSpPr>
        <p:sp>
          <p:nvSpPr>
            <p:cNvPr name="Freeform 110" id="110"/>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1" id="111"/>
          <p:cNvGrpSpPr/>
          <p:nvPr/>
        </p:nvGrpSpPr>
        <p:grpSpPr>
          <a:xfrm rot="0">
            <a:off x="12096750" y="3638550"/>
            <a:ext cx="114300" cy="114300"/>
            <a:chOff x="0" y="0"/>
            <a:chExt cx="152400" cy="152400"/>
          </a:xfrm>
        </p:grpSpPr>
        <p:sp>
          <p:nvSpPr>
            <p:cNvPr name="Freeform 112" id="112"/>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3" id="113"/>
          <p:cNvGrpSpPr/>
          <p:nvPr/>
        </p:nvGrpSpPr>
        <p:grpSpPr>
          <a:xfrm rot="0">
            <a:off x="10601325" y="5286375"/>
            <a:ext cx="95250" cy="95250"/>
            <a:chOff x="0" y="0"/>
            <a:chExt cx="127000" cy="127000"/>
          </a:xfrm>
        </p:grpSpPr>
        <p:sp>
          <p:nvSpPr>
            <p:cNvPr name="Freeform 114" id="114"/>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5" id="115"/>
          <p:cNvGrpSpPr/>
          <p:nvPr/>
        </p:nvGrpSpPr>
        <p:grpSpPr>
          <a:xfrm rot="0">
            <a:off x="12096750" y="5562600"/>
            <a:ext cx="114300" cy="114300"/>
            <a:chOff x="0" y="0"/>
            <a:chExt cx="152400" cy="152400"/>
          </a:xfrm>
        </p:grpSpPr>
        <p:sp>
          <p:nvSpPr>
            <p:cNvPr name="Freeform 116" id="116"/>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17" id="117"/>
          <p:cNvGrpSpPr/>
          <p:nvPr/>
        </p:nvGrpSpPr>
        <p:grpSpPr>
          <a:xfrm rot="0">
            <a:off x="10171433" y="6377711"/>
            <a:ext cx="95250" cy="95250"/>
            <a:chOff x="0" y="0"/>
            <a:chExt cx="127000" cy="127000"/>
          </a:xfrm>
        </p:grpSpPr>
        <p:sp>
          <p:nvSpPr>
            <p:cNvPr name="Freeform 118" id="118"/>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19" id="119"/>
          <p:cNvGrpSpPr/>
          <p:nvPr/>
        </p:nvGrpSpPr>
        <p:grpSpPr>
          <a:xfrm rot="0">
            <a:off x="12096750" y="7467600"/>
            <a:ext cx="114300" cy="114300"/>
            <a:chOff x="0" y="0"/>
            <a:chExt cx="152400" cy="152400"/>
          </a:xfrm>
        </p:grpSpPr>
        <p:sp>
          <p:nvSpPr>
            <p:cNvPr name="Freeform 120" id="120"/>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1" id="121"/>
          <p:cNvGrpSpPr/>
          <p:nvPr/>
        </p:nvGrpSpPr>
        <p:grpSpPr>
          <a:xfrm rot="0">
            <a:off x="9001125" y="6886575"/>
            <a:ext cx="95250" cy="95250"/>
            <a:chOff x="0" y="0"/>
            <a:chExt cx="127000" cy="127000"/>
          </a:xfrm>
        </p:grpSpPr>
        <p:sp>
          <p:nvSpPr>
            <p:cNvPr name="Freeform 122" id="122"/>
            <p:cNvSpPr/>
            <p:nvPr/>
          </p:nvSpPr>
          <p:spPr>
            <a:xfrm flipH="false" flipV="false" rot="0">
              <a:off x="0" y="0"/>
              <a:ext cx="127000" cy="127000"/>
            </a:xfrm>
            <a:custGeom>
              <a:avLst/>
              <a:gdLst/>
              <a:ahLst/>
              <a:cxnLst/>
              <a:rect r="r" b="b" t="t" l="l"/>
              <a:pathLst>
                <a:path h="127000" w="127000">
                  <a:moveTo>
                    <a:pt x="0" y="63500"/>
                  </a:moveTo>
                  <a:cubicBezTo>
                    <a:pt x="0" y="28448"/>
                    <a:pt x="28448" y="0"/>
                    <a:pt x="63500" y="0"/>
                  </a:cubicBezTo>
                  <a:cubicBezTo>
                    <a:pt x="98552" y="0"/>
                    <a:pt x="127000" y="28448"/>
                    <a:pt x="127000" y="63500"/>
                  </a:cubicBezTo>
                  <a:cubicBezTo>
                    <a:pt x="127000" y="98552"/>
                    <a:pt x="98552" y="127000"/>
                    <a:pt x="63500" y="127000"/>
                  </a:cubicBezTo>
                  <a:cubicBezTo>
                    <a:pt x="28448" y="127000"/>
                    <a:pt x="0" y="98552"/>
                    <a:pt x="0" y="63500"/>
                  </a:cubicBezTo>
                  <a:close/>
                </a:path>
              </a:pathLst>
            </a:custGeom>
            <a:solidFill>
              <a:srgbClr val="B3A5CA"/>
            </a:solidFill>
          </p:spPr>
        </p:sp>
      </p:grpSp>
      <p:grpSp>
        <p:nvGrpSpPr>
          <p:cNvPr name="Group 123" id="123"/>
          <p:cNvGrpSpPr/>
          <p:nvPr/>
        </p:nvGrpSpPr>
        <p:grpSpPr>
          <a:xfrm rot="0">
            <a:off x="8991600" y="7486650"/>
            <a:ext cx="114300" cy="114300"/>
            <a:chOff x="0" y="0"/>
            <a:chExt cx="152400" cy="152400"/>
          </a:xfrm>
        </p:grpSpPr>
        <p:sp>
          <p:nvSpPr>
            <p:cNvPr name="Freeform 124" id="124"/>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B3A5CA"/>
            </a:solidFill>
          </p:spPr>
        </p:sp>
      </p:grpSp>
      <p:grpSp>
        <p:nvGrpSpPr>
          <p:cNvPr name="Group 125" id="125"/>
          <p:cNvGrpSpPr/>
          <p:nvPr/>
        </p:nvGrpSpPr>
        <p:grpSpPr>
          <a:xfrm rot="0">
            <a:off x="7439025" y="3724275"/>
            <a:ext cx="3219450" cy="3219450"/>
            <a:chOff x="0" y="0"/>
            <a:chExt cx="4292600" cy="4292600"/>
          </a:xfrm>
        </p:grpSpPr>
        <p:sp>
          <p:nvSpPr>
            <p:cNvPr name="Freeform 126" id="126"/>
            <p:cNvSpPr/>
            <p:nvPr/>
          </p:nvSpPr>
          <p:spPr>
            <a:xfrm flipH="false" flipV="false" rot="0">
              <a:off x="0" y="0"/>
              <a:ext cx="4292600" cy="4292600"/>
            </a:xfrm>
            <a:custGeom>
              <a:avLst/>
              <a:gdLst/>
              <a:ahLst/>
              <a:cxnLst/>
              <a:rect r="r" b="b" t="t" l="l"/>
              <a:pathLst>
                <a:path h="4292600" w="4292600">
                  <a:moveTo>
                    <a:pt x="0" y="2146300"/>
                  </a:moveTo>
                  <a:cubicBezTo>
                    <a:pt x="0" y="960882"/>
                    <a:pt x="960882" y="0"/>
                    <a:pt x="2146300" y="0"/>
                  </a:cubicBezTo>
                  <a:cubicBezTo>
                    <a:pt x="3331718" y="0"/>
                    <a:pt x="4292600" y="960882"/>
                    <a:pt x="4292600" y="2146300"/>
                  </a:cubicBezTo>
                  <a:cubicBezTo>
                    <a:pt x="4292600" y="3331718"/>
                    <a:pt x="3331718" y="4292600"/>
                    <a:pt x="2146300" y="4292600"/>
                  </a:cubicBezTo>
                  <a:cubicBezTo>
                    <a:pt x="960882" y="4292600"/>
                    <a:pt x="0" y="3331718"/>
                    <a:pt x="0" y="2146300"/>
                  </a:cubicBezTo>
                  <a:close/>
                </a:path>
              </a:pathLst>
            </a:custGeom>
            <a:blipFill>
              <a:blip r:embed="rId4">
                <a:alphaModFix amt="0"/>
              </a:blip>
              <a:stretch>
                <a:fillRect l="-78303" t="0" r="-78303" b="0"/>
              </a:stretch>
            </a:blipFill>
            <a:ln w="19050" cap="sq">
              <a:solidFill>
                <a:srgbClr val="D4D9E9"/>
              </a:solidFill>
              <a:prstDash val="solid"/>
              <a:miter/>
            </a:ln>
          </p:spPr>
        </p:sp>
      </p:grpSp>
      <p:grpSp>
        <p:nvGrpSpPr>
          <p:cNvPr name="Group 127" id="127"/>
          <p:cNvGrpSpPr/>
          <p:nvPr/>
        </p:nvGrpSpPr>
        <p:grpSpPr>
          <a:xfrm rot="0">
            <a:off x="7658100" y="3943350"/>
            <a:ext cx="2781300" cy="2781300"/>
            <a:chOff x="0" y="0"/>
            <a:chExt cx="3708400" cy="3708400"/>
          </a:xfrm>
        </p:grpSpPr>
        <p:sp>
          <p:nvSpPr>
            <p:cNvPr name="Freeform 128" id="128"/>
            <p:cNvSpPr/>
            <p:nvPr/>
          </p:nvSpPr>
          <p:spPr>
            <a:xfrm flipH="false" flipV="false" rot="0">
              <a:off x="0" y="0"/>
              <a:ext cx="3708400" cy="3708400"/>
            </a:xfrm>
            <a:custGeom>
              <a:avLst/>
              <a:gdLst/>
              <a:ahLst/>
              <a:cxnLst/>
              <a:rect r="r" b="b" t="t" l="l"/>
              <a:pathLst>
                <a:path h="3708400" w="3708400">
                  <a:moveTo>
                    <a:pt x="0" y="1854200"/>
                  </a:moveTo>
                  <a:cubicBezTo>
                    <a:pt x="0" y="830199"/>
                    <a:pt x="830199" y="0"/>
                    <a:pt x="1854200" y="0"/>
                  </a:cubicBezTo>
                  <a:cubicBezTo>
                    <a:pt x="2878201" y="0"/>
                    <a:pt x="3708400" y="830199"/>
                    <a:pt x="3708400" y="1854200"/>
                  </a:cubicBezTo>
                  <a:cubicBezTo>
                    <a:pt x="3708400" y="2878201"/>
                    <a:pt x="2878201" y="3708400"/>
                    <a:pt x="1854200" y="3708400"/>
                  </a:cubicBezTo>
                  <a:cubicBezTo>
                    <a:pt x="830199" y="3708400"/>
                    <a:pt x="0" y="2878201"/>
                    <a:pt x="0" y="1854200"/>
                  </a:cubicBezTo>
                  <a:close/>
                </a:path>
              </a:pathLst>
            </a:custGeom>
            <a:solidFill>
              <a:srgbClr val="15215A"/>
            </a:solidFill>
          </p:spPr>
        </p:sp>
      </p:grpSp>
      <p:grpSp>
        <p:nvGrpSpPr>
          <p:cNvPr name="Group 129" id="129"/>
          <p:cNvGrpSpPr/>
          <p:nvPr/>
        </p:nvGrpSpPr>
        <p:grpSpPr>
          <a:xfrm rot="0">
            <a:off x="7810500" y="6124575"/>
            <a:ext cx="2476500" cy="648818"/>
            <a:chOff x="0" y="0"/>
            <a:chExt cx="3302000" cy="865091"/>
          </a:xfrm>
        </p:grpSpPr>
        <p:sp>
          <p:nvSpPr>
            <p:cNvPr name="Freeform 130" id="130"/>
            <p:cNvSpPr/>
            <p:nvPr/>
          </p:nvSpPr>
          <p:spPr>
            <a:xfrm flipH="false" flipV="false" rot="0">
              <a:off x="0" y="0"/>
              <a:ext cx="3302000" cy="865091"/>
            </a:xfrm>
            <a:custGeom>
              <a:avLst/>
              <a:gdLst/>
              <a:ahLst/>
              <a:cxnLst/>
              <a:rect r="r" b="b" t="t" l="l"/>
              <a:pathLst>
                <a:path h="865091" w="3302000">
                  <a:moveTo>
                    <a:pt x="0" y="0"/>
                  </a:moveTo>
                  <a:lnTo>
                    <a:pt x="3302000" y="0"/>
                  </a:lnTo>
                  <a:lnTo>
                    <a:pt x="3302000" y="865091"/>
                  </a:lnTo>
                  <a:lnTo>
                    <a:pt x="0" y="865091"/>
                  </a:lnTo>
                  <a:close/>
                </a:path>
              </a:pathLst>
            </a:custGeom>
            <a:blipFill>
              <a:blip r:embed="rId4">
                <a:alphaModFix amt="0"/>
              </a:blip>
              <a:stretch>
                <a:fillRect l="0" t="-32533" r="0" b="-16212"/>
              </a:stretch>
            </a:blipFill>
          </p:spPr>
        </p:sp>
        <p:sp>
          <p:nvSpPr>
            <p:cNvPr name="TextBox 131" id="131"/>
            <p:cNvSpPr txBox="true"/>
            <p:nvPr/>
          </p:nvSpPr>
          <p:spPr>
            <a:xfrm>
              <a:off x="0" y="-38100"/>
              <a:ext cx="3302000" cy="903191"/>
            </a:xfrm>
            <a:prstGeom prst="rect">
              <a:avLst/>
            </a:prstGeom>
          </p:spPr>
          <p:txBody>
            <a:bodyPr anchor="ctr" rtlCol="false" tIns="0" lIns="0" bIns="0" rIns="0"/>
            <a:lstStyle/>
            <a:p>
              <a:pPr algn="ctr">
                <a:lnSpc>
                  <a:spcPts val="3499"/>
                </a:lnSpc>
              </a:pPr>
              <a:r>
                <a:rPr lang="en-US" sz="2700" b="true">
                  <a:solidFill>
                    <a:srgbClr val="FFFFFF"/>
                  </a:solidFill>
                  <a:latin typeface="Arial Bold"/>
                  <a:ea typeface="Arial Bold"/>
                  <a:cs typeface="Arial Bold"/>
                  <a:sym typeface="Arial Bold"/>
                </a:rPr>
                <a:t>Rasitha</a:t>
              </a:r>
            </a:p>
          </p:txBody>
        </p:sp>
      </p:grpSp>
      <p:grpSp>
        <p:nvGrpSpPr>
          <p:cNvPr name="Group 132" id="132"/>
          <p:cNvGrpSpPr/>
          <p:nvPr/>
        </p:nvGrpSpPr>
        <p:grpSpPr>
          <a:xfrm rot="0">
            <a:off x="6762750" y="3200400"/>
            <a:ext cx="4572000" cy="457999"/>
            <a:chOff x="0" y="0"/>
            <a:chExt cx="6096000" cy="610665"/>
          </a:xfrm>
        </p:grpSpPr>
        <p:sp>
          <p:nvSpPr>
            <p:cNvPr name="Freeform 133" id="133"/>
            <p:cNvSpPr/>
            <p:nvPr/>
          </p:nvSpPr>
          <p:spPr>
            <a:xfrm flipH="false" flipV="false" rot="0">
              <a:off x="0" y="0"/>
              <a:ext cx="6096000" cy="610665"/>
            </a:xfrm>
            <a:custGeom>
              <a:avLst/>
              <a:gdLst/>
              <a:ahLst/>
              <a:cxnLst/>
              <a:rect r="r" b="b" t="t" l="l"/>
              <a:pathLst>
                <a:path h="610665" w="6096000">
                  <a:moveTo>
                    <a:pt x="0" y="0"/>
                  </a:moveTo>
                  <a:lnTo>
                    <a:pt x="6096000" y="0"/>
                  </a:lnTo>
                  <a:lnTo>
                    <a:pt x="6096000" y="610665"/>
                  </a:lnTo>
                  <a:lnTo>
                    <a:pt x="0" y="610665"/>
                  </a:lnTo>
                  <a:close/>
                </a:path>
              </a:pathLst>
            </a:custGeom>
            <a:blipFill>
              <a:blip r:embed="rId4">
                <a:alphaModFix amt="0"/>
              </a:blip>
              <a:stretch>
                <a:fillRect l="0" t="-10733" r="45833" b="-99986"/>
              </a:stretch>
            </a:blipFill>
          </p:spPr>
        </p:sp>
        <p:sp>
          <p:nvSpPr>
            <p:cNvPr name="TextBox 134" id="134"/>
            <p:cNvSpPr txBox="true"/>
            <p:nvPr/>
          </p:nvSpPr>
          <p:spPr>
            <a:xfrm>
              <a:off x="0" y="-28575"/>
              <a:ext cx="6096000" cy="639240"/>
            </a:xfrm>
            <a:prstGeom prst="rect">
              <a:avLst/>
            </a:prstGeom>
          </p:spPr>
          <p:txBody>
            <a:bodyPr anchor="ctr" rtlCol="false" tIns="0" lIns="0" bIns="0" rIns="0"/>
            <a:lstStyle/>
            <a:p>
              <a:pPr algn="ctr" marL="0" indent="0" lvl="0">
                <a:lnSpc>
                  <a:spcPts val="2721"/>
                </a:lnSpc>
                <a:spcBef>
                  <a:spcPct val="0"/>
                </a:spcBef>
              </a:pPr>
              <a:r>
                <a:rPr lang="en-US" sz="2100" strike="noStrike" u="none">
                  <a:solidFill>
                    <a:srgbClr val="15215A"/>
                  </a:solidFill>
                  <a:latin typeface="Arial"/>
                  <a:ea typeface="Arial"/>
                  <a:cs typeface="Arial"/>
                  <a:sym typeface="Arial"/>
                </a:rPr>
                <a:t>Motion planning &amp; execution</a:t>
              </a:r>
            </a:p>
          </p:txBody>
        </p:sp>
      </p:grpSp>
      <p:sp>
        <p:nvSpPr>
          <p:cNvPr name="Freeform 135" id="135" descr="Temporary neutral portrait placeholder. Replace with Rasitha's own photo later."/>
          <p:cNvSpPr/>
          <p:nvPr/>
        </p:nvSpPr>
        <p:spPr>
          <a:xfrm flipH="false" flipV="false" rot="0">
            <a:off x="8096250" y="409575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1237967"/>
            <a:chOff x="0" y="0"/>
            <a:chExt cx="22682200" cy="1650623"/>
          </a:xfrm>
        </p:grpSpPr>
        <p:sp>
          <p:nvSpPr>
            <p:cNvPr name="Freeform 4" id="4"/>
            <p:cNvSpPr/>
            <p:nvPr/>
          </p:nvSpPr>
          <p:spPr>
            <a:xfrm flipH="false" flipV="false" rot="0">
              <a:off x="0" y="0"/>
              <a:ext cx="22682200" cy="1650623"/>
            </a:xfrm>
            <a:custGeom>
              <a:avLst/>
              <a:gdLst/>
              <a:ahLst/>
              <a:cxnLst/>
              <a:rect r="r" b="b" t="t" l="l"/>
              <a:pathLst>
                <a:path h="1650623" w="22682200">
                  <a:moveTo>
                    <a:pt x="0" y="0"/>
                  </a:moveTo>
                  <a:lnTo>
                    <a:pt x="22682200" y="0"/>
                  </a:lnTo>
                  <a:lnTo>
                    <a:pt x="22682200" y="1650623"/>
                  </a:lnTo>
                  <a:lnTo>
                    <a:pt x="0" y="1650623"/>
                  </a:lnTo>
                  <a:close/>
                </a:path>
              </a:pathLst>
            </a:custGeom>
            <a:blipFill>
              <a:blip r:embed="rId4">
                <a:alphaModFix amt="0"/>
              </a:blip>
              <a:stretch>
                <a:fillRect l="0" t="-230824" r="0" b="-204687"/>
              </a:stretch>
            </a:blipFill>
          </p:spPr>
        </p:sp>
        <p:sp>
          <p:nvSpPr>
            <p:cNvPr name="TextBox 5" id="5"/>
            <p:cNvSpPr txBox="true"/>
            <p:nvPr/>
          </p:nvSpPr>
          <p:spPr>
            <a:xfrm>
              <a:off x="0" y="-95250"/>
              <a:ext cx="22682200" cy="1745873"/>
            </a:xfrm>
            <a:prstGeom prst="rect">
              <a:avLst/>
            </a:prstGeom>
          </p:spPr>
          <p:txBody>
            <a:bodyPr anchor="ctr" rtlCol="false" tIns="0" lIns="0" bIns="0" rIns="0"/>
            <a:lstStyle/>
            <a:p>
              <a:pPr algn="l" marL="0" indent="0" lvl="0">
                <a:lnSpc>
                  <a:spcPts val="7920"/>
                </a:lnSpc>
                <a:spcBef>
                  <a:spcPct val="0"/>
                </a:spcBef>
              </a:pPr>
              <a:r>
                <a:rPr lang="en-US" sz="6000" strike="noStrike" u="none">
                  <a:solidFill>
                    <a:srgbClr val="15215A"/>
                  </a:solidFill>
                  <a:latin typeface="Arial"/>
                  <a:ea typeface="Arial"/>
                  <a:cs typeface="Arial"/>
                  <a:sym typeface="Arial"/>
                </a:rPr>
                <a:t>Turning technical ideas into shared knowledge</a:t>
              </a:r>
            </a:p>
          </p:txBody>
        </p:sp>
      </p:grpSp>
      <p:grpSp>
        <p:nvGrpSpPr>
          <p:cNvPr name="Group 6" id="6"/>
          <p:cNvGrpSpPr/>
          <p:nvPr/>
        </p:nvGrpSpPr>
        <p:grpSpPr>
          <a:xfrm rot="0">
            <a:off x="638175" y="1666875"/>
            <a:ext cx="17011650" cy="495187"/>
            <a:chOff x="0" y="0"/>
            <a:chExt cx="22682200" cy="660249"/>
          </a:xfrm>
        </p:grpSpPr>
        <p:sp>
          <p:nvSpPr>
            <p:cNvPr name="Freeform 7" id="7"/>
            <p:cNvSpPr/>
            <p:nvPr/>
          </p:nvSpPr>
          <p:spPr>
            <a:xfrm flipH="false" flipV="false" rot="0">
              <a:off x="0" y="0"/>
              <a:ext cx="22682200" cy="660249"/>
            </a:xfrm>
            <a:custGeom>
              <a:avLst/>
              <a:gdLst/>
              <a:ahLst/>
              <a:cxnLst/>
              <a:rect r="r" b="b" t="t" l="l"/>
              <a:pathLst>
                <a:path h="660249" w="22682200">
                  <a:moveTo>
                    <a:pt x="0" y="0"/>
                  </a:moveTo>
                  <a:lnTo>
                    <a:pt x="22682200" y="0"/>
                  </a:lnTo>
                  <a:lnTo>
                    <a:pt x="22682200" y="660249"/>
                  </a:lnTo>
                  <a:lnTo>
                    <a:pt x="0" y="660249"/>
                  </a:lnTo>
                  <a:close/>
                </a:path>
              </a:pathLst>
            </a:custGeom>
            <a:blipFill>
              <a:blip r:embed="rId4">
                <a:alphaModFix amt="0"/>
              </a:blip>
              <a:stretch>
                <a:fillRect l="0" t="-627071" r="0" b="-611706"/>
              </a:stretch>
            </a:blipFill>
          </p:spPr>
        </p:sp>
        <p:sp>
          <p:nvSpPr>
            <p:cNvPr name="TextBox 8" id="8"/>
            <p:cNvSpPr txBox="true"/>
            <p:nvPr/>
          </p:nvSpPr>
          <p:spPr>
            <a:xfrm>
              <a:off x="0" y="-38100"/>
              <a:ext cx="22682200" cy="698349"/>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15215A"/>
                  </a:solidFill>
                  <a:latin typeface="Arial"/>
                  <a:ea typeface="Arial"/>
                  <a:cs typeface="Arial"/>
                  <a:sym typeface="Arial"/>
                </a:rPr>
                <a:t>2 white papers  •  1 IDD  •  1 active patent</a:t>
              </a:r>
            </a:p>
          </p:txBody>
        </p:sp>
      </p:grpSp>
      <p:grpSp>
        <p:nvGrpSpPr>
          <p:cNvPr name="Group 9" id="9"/>
          <p:cNvGrpSpPr/>
          <p:nvPr/>
        </p:nvGrpSpPr>
        <p:grpSpPr>
          <a:xfrm rot="0">
            <a:off x="638175" y="2352675"/>
            <a:ext cx="1333500" cy="1333500"/>
            <a:chOff x="0" y="0"/>
            <a:chExt cx="2311400" cy="2311400"/>
          </a:xfrm>
        </p:grpSpPr>
        <p:sp>
          <p:nvSpPr>
            <p:cNvPr name="Freeform 10" id="10"/>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5"/>
              <a:stretch>
                <a:fillRect l="0" t="0" r="0" b="0"/>
              </a:stretch>
            </a:blipFill>
          </p:spPr>
        </p:sp>
      </p:grpSp>
      <p:grpSp>
        <p:nvGrpSpPr>
          <p:cNvPr name="Group 11" id="11"/>
          <p:cNvGrpSpPr/>
          <p:nvPr/>
        </p:nvGrpSpPr>
        <p:grpSpPr>
          <a:xfrm rot="0">
            <a:off x="2143125" y="2714625"/>
            <a:ext cx="5905500" cy="590550"/>
            <a:chOff x="0" y="0"/>
            <a:chExt cx="7874000" cy="787400"/>
          </a:xfrm>
        </p:grpSpPr>
        <p:sp>
          <p:nvSpPr>
            <p:cNvPr name="Freeform 12" id="12"/>
            <p:cNvSpPr/>
            <p:nvPr/>
          </p:nvSpPr>
          <p:spPr>
            <a:xfrm flipH="false" flipV="false" rot="0">
              <a:off x="0" y="0"/>
              <a:ext cx="7874000" cy="787400"/>
            </a:xfrm>
            <a:custGeom>
              <a:avLst/>
              <a:gdLst/>
              <a:ahLst/>
              <a:cxnLst/>
              <a:rect r="r" b="b" t="t" l="l"/>
              <a:pathLst>
                <a:path h="787400" w="7874000">
                  <a:moveTo>
                    <a:pt x="0" y="0"/>
                  </a:moveTo>
                  <a:lnTo>
                    <a:pt x="7874000" y="0"/>
                  </a:lnTo>
                  <a:lnTo>
                    <a:pt x="7874000" y="787400"/>
                  </a:lnTo>
                  <a:lnTo>
                    <a:pt x="0" y="787400"/>
                  </a:lnTo>
                  <a:close/>
                </a:path>
              </a:pathLst>
            </a:custGeom>
            <a:blipFill>
              <a:blip r:embed="rId4">
                <a:alphaModFix amt="0"/>
              </a:blip>
              <a:stretch>
                <a:fillRect l="0" t="-144850" r="0" b="-144850"/>
              </a:stretch>
            </a:blipFill>
          </p:spPr>
        </p:sp>
        <p:sp>
          <p:nvSpPr>
            <p:cNvPr name="TextBox 13" id="13"/>
            <p:cNvSpPr txBox="true"/>
            <p:nvPr/>
          </p:nvSpPr>
          <p:spPr>
            <a:xfrm>
              <a:off x="0" y="-57150"/>
              <a:ext cx="7874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Shared knowledge</a:t>
              </a:r>
            </a:p>
          </p:txBody>
        </p:sp>
      </p:grpSp>
      <p:grpSp>
        <p:nvGrpSpPr>
          <p:cNvPr name="Group 14" id="14"/>
          <p:cNvGrpSpPr/>
          <p:nvPr/>
        </p:nvGrpSpPr>
        <p:grpSpPr>
          <a:xfrm rot="0">
            <a:off x="9715500" y="2352675"/>
            <a:ext cx="1333500" cy="1333500"/>
            <a:chOff x="0" y="0"/>
            <a:chExt cx="2311400" cy="2311400"/>
          </a:xfrm>
        </p:grpSpPr>
        <p:sp>
          <p:nvSpPr>
            <p:cNvPr name="Freeform 15" id="15"/>
            <p:cNvSpPr/>
            <p:nvPr/>
          </p:nvSpPr>
          <p:spPr>
            <a:xfrm flipH="false" flipV="false" rot="0">
              <a:off x="0" y="0"/>
              <a:ext cx="2311400" cy="2311400"/>
            </a:xfrm>
            <a:custGeom>
              <a:avLst/>
              <a:gdLst/>
              <a:ahLst/>
              <a:cxnLst/>
              <a:rect r="r" b="b" t="t" l="l"/>
              <a:pathLst>
                <a:path h="2311400" w="2311400">
                  <a:moveTo>
                    <a:pt x="0" y="0"/>
                  </a:moveTo>
                  <a:lnTo>
                    <a:pt x="2311400" y="0"/>
                  </a:lnTo>
                  <a:lnTo>
                    <a:pt x="2311400" y="2311400"/>
                  </a:lnTo>
                  <a:lnTo>
                    <a:pt x="0" y="2311400"/>
                  </a:lnTo>
                  <a:lnTo>
                    <a:pt x="0" y="0"/>
                  </a:lnTo>
                  <a:close/>
                </a:path>
              </a:pathLst>
            </a:custGeom>
            <a:blipFill>
              <a:blip r:embed="rId6"/>
              <a:stretch>
                <a:fillRect l="0" t="0" r="0" b="0"/>
              </a:stretch>
            </a:blipFill>
          </p:spPr>
        </p:sp>
      </p:grpSp>
      <p:grpSp>
        <p:nvGrpSpPr>
          <p:cNvPr name="Group 16" id="16"/>
          <p:cNvGrpSpPr/>
          <p:nvPr/>
        </p:nvGrpSpPr>
        <p:grpSpPr>
          <a:xfrm rot="0">
            <a:off x="11220450" y="2714625"/>
            <a:ext cx="6000750" cy="590550"/>
            <a:chOff x="0" y="0"/>
            <a:chExt cx="8001000" cy="787400"/>
          </a:xfrm>
        </p:grpSpPr>
        <p:sp>
          <p:nvSpPr>
            <p:cNvPr name="Freeform 17" id="17"/>
            <p:cNvSpPr/>
            <p:nvPr/>
          </p:nvSpPr>
          <p:spPr>
            <a:xfrm flipH="false" flipV="false" rot="0">
              <a:off x="0" y="0"/>
              <a:ext cx="8001000" cy="787400"/>
            </a:xfrm>
            <a:custGeom>
              <a:avLst/>
              <a:gdLst/>
              <a:ahLst/>
              <a:cxnLst/>
              <a:rect r="r" b="b" t="t" l="l"/>
              <a:pathLst>
                <a:path h="787400" w="8001000">
                  <a:moveTo>
                    <a:pt x="0" y="0"/>
                  </a:moveTo>
                  <a:lnTo>
                    <a:pt x="8001000" y="0"/>
                  </a:lnTo>
                  <a:lnTo>
                    <a:pt x="8001000" y="787400"/>
                  </a:lnTo>
                  <a:lnTo>
                    <a:pt x="0" y="787400"/>
                  </a:lnTo>
                  <a:close/>
                </a:path>
              </a:pathLst>
            </a:custGeom>
            <a:blipFill>
              <a:blip r:embed="rId4">
                <a:alphaModFix amt="0"/>
              </a:blip>
              <a:stretch>
                <a:fillRect l="0" t="-147993" r="0" b="-147993"/>
              </a:stretch>
            </a:blipFill>
          </p:spPr>
        </p:sp>
        <p:sp>
          <p:nvSpPr>
            <p:cNvPr name="TextBox 18" id="18"/>
            <p:cNvSpPr txBox="true"/>
            <p:nvPr/>
          </p:nvSpPr>
          <p:spPr>
            <a:xfrm>
              <a:off x="0" y="-57150"/>
              <a:ext cx="8001000" cy="844550"/>
            </a:xfrm>
            <a:prstGeom prst="rect">
              <a:avLst/>
            </a:prstGeom>
          </p:spPr>
          <p:txBody>
            <a:bodyPr anchor="ctr" rtlCol="false" tIns="0" lIns="0" bIns="0" rIns="0"/>
            <a:lstStyle/>
            <a:p>
              <a:pPr algn="l">
                <a:lnSpc>
                  <a:spcPts val="4158"/>
                </a:lnSpc>
              </a:pPr>
              <a:r>
                <a:rPr lang="en-US" sz="3150" b="true">
                  <a:solidFill>
                    <a:srgbClr val="15215A"/>
                  </a:solidFill>
                  <a:latin typeface="Arial Bold"/>
                  <a:ea typeface="Arial Bold"/>
                  <a:cs typeface="Arial Bold"/>
                  <a:sym typeface="Arial Bold"/>
                </a:rPr>
                <a:t>Technical innovation</a:t>
              </a:r>
            </a:p>
          </p:txBody>
        </p:sp>
      </p:grpSp>
      <p:grpSp>
        <p:nvGrpSpPr>
          <p:cNvPr name="Group 19" id="19"/>
          <p:cNvGrpSpPr/>
          <p:nvPr/>
        </p:nvGrpSpPr>
        <p:grpSpPr>
          <a:xfrm rot="0">
            <a:off x="638175" y="3905250"/>
            <a:ext cx="7905750" cy="333375"/>
            <a:chOff x="0" y="0"/>
            <a:chExt cx="10541000" cy="444500"/>
          </a:xfrm>
        </p:grpSpPr>
        <p:sp>
          <p:nvSpPr>
            <p:cNvPr name="Freeform 20" id="20"/>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21" id="21"/>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1</a:t>
              </a:r>
            </a:p>
          </p:txBody>
        </p:sp>
      </p:grpSp>
      <p:grpSp>
        <p:nvGrpSpPr>
          <p:cNvPr name="Group 22" id="22"/>
          <p:cNvGrpSpPr/>
          <p:nvPr/>
        </p:nvGrpSpPr>
        <p:grpSpPr>
          <a:xfrm rot="0">
            <a:off x="638175" y="4305300"/>
            <a:ext cx="8096250" cy="1219200"/>
            <a:chOff x="0" y="0"/>
            <a:chExt cx="10795000" cy="1625600"/>
          </a:xfrm>
        </p:grpSpPr>
        <p:sp>
          <p:nvSpPr>
            <p:cNvPr name="Freeform 23" id="23"/>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24" id="24"/>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review of path and motion planning in robotics: core components, evolution, and learning based methods</a:t>
              </a:r>
            </a:p>
          </p:txBody>
        </p:sp>
      </p:grpSp>
      <p:grpSp>
        <p:nvGrpSpPr>
          <p:cNvPr name="Group 25" id="25"/>
          <p:cNvGrpSpPr/>
          <p:nvPr/>
        </p:nvGrpSpPr>
        <p:grpSpPr>
          <a:xfrm rot="0">
            <a:off x="638175" y="5638800"/>
            <a:ext cx="8096250" cy="952500"/>
            <a:chOff x="0" y="0"/>
            <a:chExt cx="10795000" cy="1270000"/>
          </a:xfrm>
        </p:grpSpPr>
        <p:sp>
          <p:nvSpPr>
            <p:cNvPr name="Freeform 26" id="26"/>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27" id="27"/>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planner selection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Inform technology decisions</a:t>
              </a:r>
            </a:p>
          </p:txBody>
        </p:sp>
      </p:grpSp>
      <p:grpSp>
        <p:nvGrpSpPr>
          <p:cNvPr name="Group 28" id="28"/>
          <p:cNvGrpSpPr/>
          <p:nvPr/>
        </p:nvGrpSpPr>
        <p:grpSpPr>
          <a:xfrm rot="0">
            <a:off x="638175" y="6896100"/>
            <a:ext cx="7905750" cy="333375"/>
            <a:chOff x="0" y="0"/>
            <a:chExt cx="10541000" cy="444500"/>
          </a:xfrm>
        </p:grpSpPr>
        <p:sp>
          <p:nvSpPr>
            <p:cNvPr name="Freeform 29" id="29"/>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0" id="30"/>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9388AD"/>
                  </a:solidFill>
                  <a:latin typeface="Arial Bold"/>
                  <a:ea typeface="Arial Bold"/>
                  <a:cs typeface="Arial Bold"/>
                  <a:sym typeface="Arial Bold"/>
                </a:rPr>
                <a:t>WHITE PAPER 2</a:t>
              </a:r>
            </a:p>
          </p:txBody>
        </p:sp>
      </p:grpSp>
      <p:grpSp>
        <p:nvGrpSpPr>
          <p:cNvPr name="Group 31" id="31"/>
          <p:cNvGrpSpPr/>
          <p:nvPr/>
        </p:nvGrpSpPr>
        <p:grpSpPr>
          <a:xfrm rot="0">
            <a:off x="638175" y="7296150"/>
            <a:ext cx="8096250" cy="1466850"/>
            <a:chOff x="0" y="0"/>
            <a:chExt cx="10795000" cy="1955800"/>
          </a:xfrm>
        </p:grpSpPr>
        <p:sp>
          <p:nvSpPr>
            <p:cNvPr name="Freeform 32" id="32"/>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33" id="33"/>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Intelligent programming for industrial robots in aircraft manufacturing: a case study on bridging offline and online paradigms</a:t>
              </a:r>
            </a:p>
          </p:txBody>
        </p:sp>
      </p:grpSp>
      <p:grpSp>
        <p:nvGrpSpPr>
          <p:cNvPr name="Group 34" id="34"/>
          <p:cNvGrpSpPr/>
          <p:nvPr/>
        </p:nvGrpSpPr>
        <p:grpSpPr>
          <a:xfrm rot="0">
            <a:off x="638175" y="8896350"/>
            <a:ext cx="8096250" cy="1217563"/>
            <a:chOff x="0" y="0"/>
            <a:chExt cx="10795000" cy="1623417"/>
          </a:xfrm>
        </p:grpSpPr>
        <p:sp>
          <p:nvSpPr>
            <p:cNvPr name="Freeform 35" id="35"/>
            <p:cNvSpPr/>
            <p:nvPr/>
          </p:nvSpPr>
          <p:spPr>
            <a:xfrm flipH="false" flipV="false" rot="0">
              <a:off x="0" y="0"/>
              <a:ext cx="10795000" cy="1623417"/>
            </a:xfrm>
            <a:custGeom>
              <a:avLst/>
              <a:gdLst/>
              <a:ahLst/>
              <a:cxnLst/>
              <a:rect r="r" b="b" t="t" l="l"/>
              <a:pathLst>
                <a:path h="1623417" w="10795000">
                  <a:moveTo>
                    <a:pt x="0" y="0"/>
                  </a:moveTo>
                  <a:lnTo>
                    <a:pt x="10795000" y="0"/>
                  </a:lnTo>
                  <a:lnTo>
                    <a:pt x="10795000" y="1623417"/>
                  </a:lnTo>
                  <a:lnTo>
                    <a:pt x="0" y="1623417"/>
                  </a:lnTo>
                  <a:close/>
                </a:path>
              </a:pathLst>
            </a:custGeom>
            <a:blipFill>
              <a:blip r:embed="rId4">
                <a:alphaModFix amt="0"/>
              </a:blip>
              <a:stretch>
                <a:fillRect l="0" t="-99137" r="2352" b="-53898"/>
              </a:stretch>
            </a:blipFill>
          </p:spPr>
        </p:sp>
        <p:sp>
          <p:nvSpPr>
            <p:cNvPr name="TextBox 36" id="36"/>
            <p:cNvSpPr txBox="true"/>
            <p:nvPr/>
          </p:nvSpPr>
          <p:spPr>
            <a:xfrm>
              <a:off x="0" y="-9525"/>
              <a:ext cx="10795000" cy="1632942"/>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Guide teams from offline programming to online adaptation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Enable flexible manufacturing</a:t>
              </a:r>
            </a:p>
          </p:txBody>
        </p:sp>
      </p:grpSp>
      <p:grpSp>
        <p:nvGrpSpPr>
          <p:cNvPr name="Group 37" id="37"/>
          <p:cNvGrpSpPr/>
          <p:nvPr/>
        </p:nvGrpSpPr>
        <p:grpSpPr>
          <a:xfrm rot="0">
            <a:off x="9715500" y="3905250"/>
            <a:ext cx="7905750" cy="333375"/>
            <a:chOff x="0" y="0"/>
            <a:chExt cx="10541000" cy="444500"/>
          </a:xfrm>
        </p:grpSpPr>
        <p:sp>
          <p:nvSpPr>
            <p:cNvPr name="Freeform 38" id="38"/>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39" id="39"/>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IDD / DEFENSIVE PUBLICATION</a:t>
              </a:r>
            </a:p>
          </p:txBody>
        </p:sp>
      </p:grpSp>
      <p:grpSp>
        <p:nvGrpSpPr>
          <p:cNvPr name="Group 40" id="40"/>
          <p:cNvGrpSpPr/>
          <p:nvPr/>
        </p:nvGrpSpPr>
        <p:grpSpPr>
          <a:xfrm rot="0">
            <a:off x="9715500" y="4305300"/>
            <a:ext cx="8096250" cy="1219200"/>
            <a:chOff x="0" y="0"/>
            <a:chExt cx="10795000" cy="1625600"/>
          </a:xfrm>
        </p:grpSpPr>
        <p:sp>
          <p:nvSpPr>
            <p:cNvPr name="Freeform 41" id="41"/>
            <p:cNvSpPr/>
            <p:nvPr/>
          </p:nvSpPr>
          <p:spPr>
            <a:xfrm flipH="false" flipV="false" rot="0">
              <a:off x="0" y="0"/>
              <a:ext cx="10795000" cy="1625600"/>
            </a:xfrm>
            <a:custGeom>
              <a:avLst/>
              <a:gdLst/>
              <a:ahLst/>
              <a:cxnLst/>
              <a:rect r="r" b="b" t="t" l="l"/>
              <a:pathLst>
                <a:path h="1625600" w="10795000">
                  <a:moveTo>
                    <a:pt x="0" y="0"/>
                  </a:moveTo>
                  <a:lnTo>
                    <a:pt x="10795000" y="0"/>
                  </a:lnTo>
                  <a:lnTo>
                    <a:pt x="10795000" y="1625600"/>
                  </a:lnTo>
                  <a:lnTo>
                    <a:pt x="0" y="1625600"/>
                  </a:lnTo>
                  <a:close/>
                </a:path>
              </a:pathLst>
            </a:custGeom>
            <a:blipFill>
              <a:blip r:embed="rId4">
                <a:alphaModFix amt="0"/>
              </a:blip>
              <a:stretch>
                <a:fillRect l="0" t="-102910" r="2352" b="-49785"/>
              </a:stretch>
            </a:blipFill>
          </p:spPr>
        </p:sp>
        <p:sp>
          <p:nvSpPr>
            <p:cNvPr name="TextBox 42" id="42"/>
            <p:cNvSpPr txBox="true"/>
            <p:nvPr/>
          </p:nvSpPr>
          <p:spPr>
            <a:xfrm>
              <a:off x="0" y="-38100"/>
              <a:ext cx="10795000" cy="16637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A novel framework for real-time, hard constrained reinforcement learning in robotics</a:t>
              </a:r>
            </a:p>
          </p:txBody>
        </p:sp>
      </p:grpSp>
      <p:grpSp>
        <p:nvGrpSpPr>
          <p:cNvPr name="Group 43" id="43"/>
          <p:cNvGrpSpPr/>
          <p:nvPr/>
        </p:nvGrpSpPr>
        <p:grpSpPr>
          <a:xfrm rot="0">
            <a:off x="9715500" y="5638800"/>
            <a:ext cx="8096250" cy="952500"/>
            <a:chOff x="0" y="0"/>
            <a:chExt cx="10795000" cy="1270000"/>
          </a:xfrm>
        </p:grpSpPr>
        <p:sp>
          <p:nvSpPr>
            <p:cNvPr name="Freeform 44" id="44"/>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45" id="45"/>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Reuse constrained-learning methods</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Support controlled AI adoption</a:t>
              </a:r>
            </a:p>
          </p:txBody>
        </p:sp>
      </p:grpSp>
      <p:grpSp>
        <p:nvGrpSpPr>
          <p:cNvPr name="Group 46" id="46"/>
          <p:cNvGrpSpPr/>
          <p:nvPr/>
        </p:nvGrpSpPr>
        <p:grpSpPr>
          <a:xfrm rot="0">
            <a:off x="9715500" y="6896100"/>
            <a:ext cx="7905750" cy="333375"/>
            <a:chOff x="0" y="0"/>
            <a:chExt cx="10541000" cy="444500"/>
          </a:xfrm>
        </p:grpSpPr>
        <p:sp>
          <p:nvSpPr>
            <p:cNvPr name="Freeform 47" id="47"/>
            <p:cNvSpPr/>
            <p:nvPr/>
          </p:nvSpPr>
          <p:spPr>
            <a:xfrm flipH="false" flipV="false" rot="0">
              <a:off x="0" y="0"/>
              <a:ext cx="10541000" cy="444500"/>
            </a:xfrm>
            <a:custGeom>
              <a:avLst/>
              <a:gdLst/>
              <a:ahLst/>
              <a:cxnLst/>
              <a:rect r="r" b="b" t="t" l="l"/>
              <a:pathLst>
                <a:path h="444500" w="10541000">
                  <a:moveTo>
                    <a:pt x="0" y="0"/>
                  </a:moveTo>
                  <a:lnTo>
                    <a:pt x="10541000" y="0"/>
                  </a:lnTo>
                  <a:lnTo>
                    <a:pt x="10541000" y="444500"/>
                  </a:lnTo>
                  <a:lnTo>
                    <a:pt x="0" y="444500"/>
                  </a:lnTo>
                  <a:close/>
                </a:path>
              </a:pathLst>
            </a:custGeom>
            <a:blipFill>
              <a:blip r:embed="rId4">
                <a:alphaModFix amt="0"/>
              </a:blip>
              <a:stretch>
                <a:fillRect l="0" t="-412073" r="0" b="-412073"/>
              </a:stretch>
            </a:blipFill>
          </p:spPr>
        </p:sp>
        <p:sp>
          <p:nvSpPr>
            <p:cNvPr name="TextBox 48" id="48"/>
            <p:cNvSpPr txBox="true"/>
            <p:nvPr/>
          </p:nvSpPr>
          <p:spPr>
            <a:xfrm>
              <a:off x="0" y="-47625"/>
              <a:ext cx="10541000" cy="492125"/>
            </a:xfrm>
            <a:prstGeom prst="rect">
              <a:avLst/>
            </a:prstGeom>
          </p:spPr>
          <p:txBody>
            <a:bodyPr anchor="ctr" rtlCol="false" tIns="0" lIns="0" bIns="0" rIns="0"/>
            <a:lstStyle/>
            <a:p>
              <a:pPr algn="l">
                <a:lnSpc>
                  <a:spcPts val="2475"/>
                </a:lnSpc>
              </a:pPr>
              <a:r>
                <a:rPr lang="en-US" sz="1875" b="true">
                  <a:solidFill>
                    <a:srgbClr val="AC8740"/>
                  </a:solidFill>
                  <a:latin typeface="Arial Bold"/>
                  <a:ea typeface="Arial Bold"/>
                  <a:cs typeface="Arial Bold"/>
                  <a:sym typeface="Arial Bold"/>
                </a:rPr>
                <a:t>PATENT / ACTIVE</a:t>
              </a:r>
            </a:p>
          </p:txBody>
        </p:sp>
      </p:grpSp>
      <p:grpSp>
        <p:nvGrpSpPr>
          <p:cNvPr name="Group 49" id="49"/>
          <p:cNvGrpSpPr/>
          <p:nvPr/>
        </p:nvGrpSpPr>
        <p:grpSpPr>
          <a:xfrm rot="0">
            <a:off x="9715500" y="7296150"/>
            <a:ext cx="8096250" cy="1466850"/>
            <a:chOff x="0" y="0"/>
            <a:chExt cx="10795000" cy="1955800"/>
          </a:xfrm>
        </p:grpSpPr>
        <p:sp>
          <p:nvSpPr>
            <p:cNvPr name="Freeform 50" id="50"/>
            <p:cNvSpPr/>
            <p:nvPr/>
          </p:nvSpPr>
          <p:spPr>
            <a:xfrm flipH="false" flipV="false" rot="0">
              <a:off x="0" y="0"/>
              <a:ext cx="10795000" cy="1955800"/>
            </a:xfrm>
            <a:custGeom>
              <a:avLst/>
              <a:gdLst/>
              <a:ahLst/>
              <a:cxnLst/>
              <a:rect r="r" b="b" t="t" l="l"/>
              <a:pathLst>
                <a:path h="1955800" w="10795000">
                  <a:moveTo>
                    <a:pt x="0" y="0"/>
                  </a:moveTo>
                  <a:lnTo>
                    <a:pt x="10795000" y="0"/>
                  </a:lnTo>
                  <a:lnTo>
                    <a:pt x="10795000" y="1955800"/>
                  </a:lnTo>
                  <a:lnTo>
                    <a:pt x="0" y="1955800"/>
                  </a:lnTo>
                  <a:close/>
                </a:path>
              </a:pathLst>
            </a:custGeom>
            <a:blipFill>
              <a:blip r:embed="rId4">
                <a:alphaModFix amt="0"/>
              </a:blip>
              <a:stretch>
                <a:fillRect l="0" t="-85536" r="2352" b="-24497"/>
              </a:stretch>
            </a:blipFill>
          </p:spPr>
        </p:sp>
        <p:sp>
          <p:nvSpPr>
            <p:cNvPr name="TextBox 51" id="51"/>
            <p:cNvSpPr txBox="true"/>
            <p:nvPr/>
          </p:nvSpPr>
          <p:spPr>
            <a:xfrm>
              <a:off x="0" y="-38100"/>
              <a:ext cx="10795000" cy="1993900"/>
            </a:xfrm>
            <a:prstGeom prst="rect">
              <a:avLst/>
            </a:prstGeom>
          </p:spPr>
          <p:txBody>
            <a:bodyPr anchor="ctr" rtlCol="false" tIns="0" lIns="0" bIns="0" rIns="0"/>
            <a:lstStyle/>
            <a:p>
              <a:pPr algn="l" marL="0" indent="0" lvl="0">
                <a:lnSpc>
                  <a:spcPts val="3168"/>
                </a:lnSpc>
                <a:spcBef>
                  <a:spcPct val="0"/>
                </a:spcBef>
              </a:pPr>
              <a:r>
                <a:rPr lang="en-US" sz="2400" strike="noStrike" u="none">
                  <a:solidFill>
                    <a:srgbClr val="34425C"/>
                  </a:solidFill>
                  <a:latin typeface="Arial"/>
                  <a:ea typeface="Arial"/>
                  <a:cs typeface="Arial"/>
                  <a:sym typeface="Arial"/>
                </a:rPr>
                <a:t>Self aware motion planning algorithms</a:t>
              </a:r>
            </a:p>
            <a:p>
              <a:pPr algn="l" marL="0" indent="0" lvl="0">
                <a:lnSpc>
                  <a:spcPts val="3168"/>
                </a:lnSpc>
                <a:spcBef>
                  <a:spcPct val="0"/>
                </a:spcBef>
              </a:pPr>
              <a:r>
                <a:rPr lang="en-US" sz="2400" strike="noStrike" u="none">
                  <a:solidFill>
                    <a:srgbClr val="34425C"/>
                  </a:solidFill>
                  <a:latin typeface="Arial"/>
                  <a:ea typeface="Arial"/>
                  <a:cs typeface="Arial"/>
                  <a:sym typeface="Arial"/>
                </a:rPr>
                <a:t>Real-time collision / singularity avoidance for autonomous trajectory generation on diverse panel surfaces</a:t>
              </a:r>
            </a:p>
          </p:txBody>
        </p:sp>
      </p:grpSp>
      <p:grpSp>
        <p:nvGrpSpPr>
          <p:cNvPr name="Group 52" id="52"/>
          <p:cNvGrpSpPr/>
          <p:nvPr/>
        </p:nvGrpSpPr>
        <p:grpSpPr>
          <a:xfrm rot="0">
            <a:off x="9715500" y="8896350"/>
            <a:ext cx="8096250" cy="952500"/>
            <a:chOff x="0" y="0"/>
            <a:chExt cx="10795000" cy="1270000"/>
          </a:xfrm>
        </p:grpSpPr>
        <p:sp>
          <p:nvSpPr>
            <p:cNvPr name="Freeform 53" id="53"/>
            <p:cNvSpPr/>
            <p:nvPr/>
          </p:nvSpPr>
          <p:spPr>
            <a:xfrm flipH="false" flipV="false" rot="0">
              <a:off x="0" y="0"/>
              <a:ext cx="10795000" cy="1270000"/>
            </a:xfrm>
            <a:custGeom>
              <a:avLst/>
              <a:gdLst/>
              <a:ahLst/>
              <a:cxnLst/>
              <a:rect r="r" b="b" t="t" l="l"/>
              <a:pathLst>
                <a:path h="1270000" w="10795000">
                  <a:moveTo>
                    <a:pt x="0" y="0"/>
                  </a:moveTo>
                  <a:lnTo>
                    <a:pt x="10795000" y="0"/>
                  </a:lnTo>
                  <a:lnTo>
                    <a:pt x="10795000" y="1270000"/>
                  </a:lnTo>
                  <a:lnTo>
                    <a:pt x="0" y="1270000"/>
                  </a:lnTo>
                  <a:close/>
                </a:path>
              </a:pathLst>
            </a:custGeom>
            <a:blipFill>
              <a:blip r:embed="rId4">
                <a:alphaModFix amt="0"/>
              </a:blip>
              <a:stretch>
                <a:fillRect l="0" t="-126725" r="2352" b="-96725"/>
              </a:stretch>
            </a:blipFill>
          </p:spPr>
        </p:sp>
        <p:sp>
          <p:nvSpPr>
            <p:cNvPr name="TextBox 54" id="54"/>
            <p:cNvSpPr txBox="true"/>
            <p:nvPr/>
          </p:nvSpPr>
          <p:spPr>
            <a:xfrm>
              <a:off x="0" y="-9525"/>
              <a:ext cx="10795000" cy="1279525"/>
            </a:xfrm>
            <a:prstGeom prst="rect">
              <a:avLst/>
            </a:prstGeom>
          </p:spPr>
          <p:txBody>
            <a:bodyPr anchor="ctr" rtlCol="false" tIns="0" lIns="0" bIns="0" rIns="0"/>
            <a:lstStyle/>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Reduce manual motion correction</a:t>
              </a:r>
            </a:p>
            <a:p>
              <a:pPr algn="l" marL="518160" indent="-259080" lvl="1">
                <a:lnSpc>
                  <a:spcPts val="2879"/>
                </a:lnSpc>
                <a:spcBef>
                  <a:spcPct val="0"/>
                </a:spcBef>
                <a:buFont typeface="Arial"/>
                <a:buChar char="•"/>
              </a:pPr>
              <a:r>
                <a:rPr lang="en-US" b="true" sz="2400" strike="noStrike" u="none">
                  <a:solidFill>
                    <a:srgbClr val="131F54"/>
                  </a:solidFill>
                  <a:latin typeface="Arial Bold"/>
                  <a:ea typeface="Arial Bold"/>
                  <a:cs typeface="Arial Bold"/>
                  <a:sym typeface="Arial Bold"/>
                </a:rPr>
                <a:t>Adapt across panel shapes</a:t>
              </a:r>
            </a:p>
          </p:txBody>
        </p:sp>
      </p:grpSp>
      <p:grpSp>
        <p:nvGrpSpPr>
          <p:cNvPr name="Group 55" id="55"/>
          <p:cNvGrpSpPr/>
          <p:nvPr/>
        </p:nvGrpSpPr>
        <p:grpSpPr>
          <a:xfrm rot="0">
            <a:off x="9124950" y="2724150"/>
            <a:ext cx="19050" cy="6286500"/>
            <a:chOff x="0" y="0"/>
            <a:chExt cx="25400" cy="8382000"/>
          </a:xfrm>
        </p:grpSpPr>
        <p:sp>
          <p:nvSpPr>
            <p:cNvPr name="Freeform 56" id="56"/>
            <p:cNvSpPr/>
            <p:nvPr/>
          </p:nvSpPr>
          <p:spPr>
            <a:xfrm flipH="false" flipV="false" rot="0">
              <a:off x="0" y="0"/>
              <a:ext cx="25400" cy="8382000"/>
            </a:xfrm>
            <a:custGeom>
              <a:avLst/>
              <a:gdLst/>
              <a:ahLst/>
              <a:cxnLst/>
              <a:rect r="r" b="b" t="t" l="l"/>
              <a:pathLst>
                <a:path h="8382000" w="25400">
                  <a:moveTo>
                    <a:pt x="0" y="0"/>
                  </a:moveTo>
                  <a:lnTo>
                    <a:pt x="25400" y="0"/>
                  </a:lnTo>
                  <a:lnTo>
                    <a:pt x="25400" y="8382000"/>
                  </a:lnTo>
                  <a:lnTo>
                    <a:pt x="0" y="8382000"/>
                  </a:lnTo>
                  <a:close/>
                </a:path>
              </a:pathLst>
            </a:custGeom>
            <a:solidFill>
              <a:srgbClr val="DDE3ED"/>
            </a:solidFill>
          </p:spPr>
        </p:sp>
      </p:grpSp>
      <p:grpSp>
        <p:nvGrpSpPr>
          <p:cNvPr name="Group 57" id="57"/>
          <p:cNvGrpSpPr/>
          <p:nvPr/>
        </p:nvGrpSpPr>
        <p:grpSpPr>
          <a:xfrm rot="0">
            <a:off x="638175" y="9239250"/>
            <a:ext cx="17011650" cy="19050"/>
            <a:chOff x="0" y="0"/>
            <a:chExt cx="22682200" cy="25400"/>
          </a:xfrm>
        </p:grpSpPr>
        <p:sp>
          <p:nvSpPr>
            <p:cNvPr name="Freeform 58" id="58"/>
            <p:cNvSpPr/>
            <p:nvPr/>
          </p:nvSpPr>
          <p:spPr>
            <a:xfrm flipH="false" flipV="false" rot="0">
              <a:off x="0" y="0"/>
              <a:ext cx="22682200" cy="25400"/>
            </a:xfrm>
            <a:custGeom>
              <a:avLst/>
              <a:gdLst/>
              <a:ahLst/>
              <a:cxnLst/>
              <a:rect r="r" b="b" t="t" l="l"/>
              <a:pathLst>
                <a:path h="25400" w="22682200">
                  <a:moveTo>
                    <a:pt x="0" y="0"/>
                  </a:moveTo>
                  <a:lnTo>
                    <a:pt x="22682200" y="0"/>
                  </a:lnTo>
                  <a:lnTo>
                    <a:pt x="22682200" y="25400"/>
                  </a:lnTo>
                  <a:lnTo>
                    <a:pt x="0" y="25400"/>
                  </a:lnTo>
                  <a:close/>
                </a:path>
              </a:pathLst>
            </a:custGeom>
            <a:solidFill>
              <a:srgbClr val="DDE3ED"/>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A progressive path to autonomy</a:t>
              </a:r>
            </a:p>
          </p:txBody>
        </p:sp>
      </p:grpSp>
      <p:grpSp>
        <p:nvGrpSpPr>
          <p:cNvPr name="Group 6" id="6"/>
          <p:cNvGrpSpPr/>
          <p:nvPr/>
        </p:nvGrpSpPr>
        <p:grpSpPr>
          <a:xfrm rot="0">
            <a:off x="638175" y="1666875"/>
            <a:ext cx="17011650" cy="419100"/>
            <a:chOff x="0" y="0"/>
            <a:chExt cx="22682200" cy="558800"/>
          </a:xfrm>
        </p:grpSpPr>
        <p:sp>
          <p:nvSpPr>
            <p:cNvPr name="Freeform 7" id="7"/>
            <p:cNvSpPr/>
            <p:nvPr/>
          </p:nvSpPr>
          <p:spPr>
            <a:xfrm flipH="false" flipV="false" rot="0">
              <a:off x="0" y="0"/>
              <a:ext cx="22682200" cy="558800"/>
            </a:xfrm>
            <a:custGeom>
              <a:avLst/>
              <a:gdLst/>
              <a:ahLst/>
              <a:cxnLst/>
              <a:rect r="r" b="b" t="t" l="l"/>
              <a:pathLst>
                <a:path h="558800" w="22682200">
                  <a:moveTo>
                    <a:pt x="0" y="0"/>
                  </a:moveTo>
                  <a:lnTo>
                    <a:pt x="22682200" y="0"/>
                  </a:lnTo>
                  <a:lnTo>
                    <a:pt x="22682200" y="558800"/>
                  </a:lnTo>
                  <a:lnTo>
                    <a:pt x="0" y="558800"/>
                  </a:lnTo>
                  <a:close/>
                </a:path>
              </a:pathLst>
            </a:custGeom>
            <a:blipFill>
              <a:blip r:embed="rId4">
                <a:alphaModFix amt="0"/>
              </a:blip>
              <a:stretch>
                <a:fillRect l="0" t="-740915" r="0" b="-740915"/>
              </a:stretch>
            </a:blipFill>
          </p:spPr>
        </p:sp>
        <p:sp>
          <p:nvSpPr>
            <p:cNvPr name="TextBox 8" id="8"/>
            <p:cNvSpPr txBox="true"/>
            <p:nvPr/>
          </p:nvSpPr>
          <p:spPr>
            <a:xfrm>
              <a:off x="0" y="-38100"/>
              <a:ext cx="22682200" cy="5969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From a person guiding each move to a robot handling a defined task</a:t>
              </a:r>
            </a:p>
          </p:txBody>
        </p:sp>
      </p:grpSp>
      <p:grpSp>
        <p:nvGrpSpPr>
          <p:cNvPr name="Group 9" id="9"/>
          <p:cNvGrpSpPr/>
          <p:nvPr/>
        </p:nvGrpSpPr>
        <p:grpSpPr>
          <a:xfrm rot="0">
            <a:off x="8324850" y="2381250"/>
            <a:ext cx="819150" cy="1219200"/>
            <a:chOff x="0" y="0"/>
            <a:chExt cx="1092200" cy="1625600"/>
          </a:xfrm>
        </p:grpSpPr>
        <p:sp>
          <p:nvSpPr>
            <p:cNvPr name="Freeform 10" id="10"/>
            <p:cNvSpPr/>
            <p:nvPr/>
          </p:nvSpPr>
          <p:spPr>
            <a:xfrm flipH="false" flipV="false" rot="0">
              <a:off x="0" y="0"/>
              <a:ext cx="1092200" cy="1625600"/>
            </a:xfrm>
            <a:custGeom>
              <a:avLst/>
              <a:gdLst/>
              <a:ahLst/>
              <a:cxnLst/>
              <a:rect r="r" b="b" t="t" l="l"/>
              <a:pathLst>
                <a:path h="1625600" w="1092200">
                  <a:moveTo>
                    <a:pt x="1092200" y="0"/>
                  </a:moveTo>
                  <a:lnTo>
                    <a:pt x="0" y="1117600"/>
                  </a:lnTo>
                  <a:lnTo>
                    <a:pt x="1092200" y="1625600"/>
                  </a:lnTo>
                  <a:close/>
                </a:path>
              </a:pathLst>
            </a:custGeom>
            <a:solidFill>
              <a:srgbClr val="786331"/>
            </a:solidFill>
          </p:spPr>
        </p:sp>
      </p:grpSp>
      <p:grpSp>
        <p:nvGrpSpPr>
          <p:cNvPr name="Group 11" id="11"/>
          <p:cNvGrpSpPr/>
          <p:nvPr/>
        </p:nvGrpSpPr>
        <p:grpSpPr>
          <a:xfrm rot="0">
            <a:off x="9144000" y="2381250"/>
            <a:ext cx="819150" cy="1219200"/>
            <a:chOff x="0" y="0"/>
            <a:chExt cx="1092200" cy="1625600"/>
          </a:xfrm>
        </p:grpSpPr>
        <p:sp>
          <p:nvSpPr>
            <p:cNvPr name="Freeform 12" id="12"/>
            <p:cNvSpPr/>
            <p:nvPr/>
          </p:nvSpPr>
          <p:spPr>
            <a:xfrm flipH="false" flipV="false" rot="0">
              <a:off x="0" y="0"/>
              <a:ext cx="1092200" cy="1625600"/>
            </a:xfrm>
            <a:custGeom>
              <a:avLst/>
              <a:gdLst/>
              <a:ahLst/>
              <a:cxnLst/>
              <a:rect r="r" b="b" t="t" l="l"/>
              <a:pathLst>
                <a:path h="1625600" w="1092200">
                  <a:moveTo>
                    <a:pt x="0" y="0"/>
                  </a:moveTo>
                  <a:lnTo>
                    <a:pt x="1092200" y="1117600"/>
                  </a:lnTo>
                  <a:lnTo>
                    <a:pt x="0" y="1625600"/>
                  </a:lnTo>
                  <a:close/>
                </a:path>
              </a:pathLst>
            </a:custGeom>
            <a:solidFill>
              <a:srgbClr val="C2A04F"/>
            </a:solidFill>
          </p:spPr>
        </p:sp>
      </p:grpSp>
      <p:grpSp>
        <p:nvGrpSpPr>
          <p:cNvPr name="Group 13" id="13"/>
          <p:cNvGrpSpPr/>
          <p:nvPr/>
        </p:nvGrpSpPr>
        <p:grpSpPr>
          <a:xfrm rot="0">
            <a:off x="7505700" y="3390900"/>
            <a:ext cx="1638300" cy="1600200"/>
            <a:chOff x="0" y="0"/>
            <a:chExt cx="2184400" cy="2133600"/>
          </a:xfrm>
        </p:grpSpPr>
        <p:sp>
          <p:nvSpPr>
            <p:cNvPr name="Freeform 14" id="14"/>
            <p:cNvSpPr/>
            <p:nvPr/>
          </p:nvSpPr>
          <p:spPr>
            <a:xfrm flipH="false" flipV="false" rot="0">
              <a:off x="0" y="0"/>
              <a:ext cx="2184400" cy="2133600"/>
            </a:xfrm>
            <a:custGeom>
              <a:avLst/>
              <a:gdLst/>
              <a:ahLst/>
              <a:cxnLst/>
              <a:rect r="r" b="b" t="t" l="l"/>
              <a:pathLst>
                <a:path h="2133600" w="2184400">
                  <a:moveTo>
                    <a:pt x="2184400" y="508000"/>
                  </a:moveTo>
                  <a:lnTo>
                    <a:pt x="1092200" y="0"/>
                  </a:lnTo>
                  <a:lnTo>
                    <a:pt x="0" y="1117600"/>
                  </a:lnTo>
                  <a:lnTo>
                    <a:pt x="2184400" y="2133600"/>
                  </a:lnTo>
                  <a:close/>
                </a:path>
              </a:pathLst>
            </a:custGeom>
            <a:solidFill>
              <a:srgbClr val="805245"/>
            </a:solidFill>
          </p:spPr>
        </p:sp>
      </p:grpSp>
      <p:grpSp>
        <p:nvGrpSpPr>
          <p:cNvPr name="Group 15" id="15"/>
          <p:cNvGrpSpPr/>
          <p:nvPr/>
        </p:nvGrpSpPr>
        <p:grpSpPr>
          <a:xfrm rot="0">
            <a:off x="9144000" y="3390900"/>
            <a:ext cx="1638300" cy="1600200"/>
            <a:chOff x="0" y="0"/>
            <a:chExt cx="2184400" cy="2133600"/>
          </a:xfrm>
        </p:grpSpPr>
        <p:sp>
          <p:nvSpPr>
            <p:cNvPr name="Freeform 16" id="16"/>
            <p:cNvSpPr/>
            <p:nvPr/>
          </p:nvSpPr>
          <p:spPr>
            <a:xfrm flipH="false" flipV="false" rot="0">
              <a:off x="0" y="0"/>
              <a:ext cx="2184400" cy="2133600"/>
            </a:xfrm>
            <a:custGeom>
              <a:avLst/>
              <a:gdLst/>
              <a:ahLst/>
              <a:cxnLst/>
              <a:rect r="r" b="b" t="t" l="l"/>
              <a:pathLst>
                <a:path h="2133600" w="2184400">
                  <a:moveTo>
                    <a:pt x="0" y="508000"/>
                  </a:moveTo>
                  <a:lnTo>
                    <a:pt x="1092200" y="0"/>
                  </a:lnTo>
                  <a:lnTo>
                    <a:pt x="2184400" y="1117600"/>
                  </a:lnTo>
                  <a:lnTo>
                    <a:pt x="0" y="2133600"/>
                  </a:lnTo>
                  <a:close/>
                </a:path>
              </a:pathLst>
            </a:custGeom>
            <a:solidFill>
              <a:srgbClr val="CE846F"/>
            </a:solidFill>
          </p:spPr>
        </p:sp>
      </p:grpSp>
      <p:grpSp>
        <p:nvGrpSpPr>
          <p:cNvPr name="Group 17" id="17"/>
          <p:cNvGrpSpPr/>
          <p:nvPr/>
        </p:nvGrpSpPr>
        <p:grpSpPr>
          <a:xfrm rot="0">
            <a:off x="6686550" y="4400550"/>
            <a:ext cx="2457450" cy="1981200"/>
            <a:chOff x="0" y="0"/>
            <a:chExt cx="3276600" cy="2641600"/>
          </a:xfrm>
        </p:grpSpPr>
        <p:sp>
          <p:nvSpPr>
            <p:cNvPr name="Freeform 18" id="18"/>
            <p:cNvSpPr/>
            <p:nvPr/>
          </p:nvSpPr>
          <p:spPr>
            <a:xfrm flipH="false" flipV="false" rot="0">
              <a:off x="0" y="0"/>
              <a:ext cx="3276600" cy="2641600"/>
            </a:xfrm>
            <a:custGeom>
              <a:avLst/>
              <a:gdLst/>
              <a:ahLst/>
              <a:cxnLst/>
              <a:rect r="r" b="b" t="t" l="l"/>
              <a:pathLst>
                <a:path h="2641600" w="3276600">
                  <a:moveTo>
                    <a:pt x="3276600" y="1016000"/>
                  </a:moveTo>
                  <a:lnTo>
                    <a:pt x="1092200" y="0"/>
                  </a:lnTo>
                  <a:lnTo>
                    <a:pt x="0" y="1117600"/>
                  </a:lnTo>
                  <a:lnTo>
                    <a:pt x="3276600" y="2641600"/>
                  </a:lnTo>
                  <a:close/>
                </a:path>
              </a:pathLst>
            </a:custGeom>
            <a:solidFill>
              <a:srgbClr val="285F5A"/>
            </a:solidFill>
          </p:spPr>
        </p:sp>
      </p:grpSp>
      <p:grpSp>
        <p:nvGrpSpPr>
          <p:cNvPr name="Group 19" id="19"/>
          <p:cNvGrpSpPr/>
          <p:nvPr/>
        </p:nvGrpSpPr>
        <p:grpSpPr>
          <a:xfrm rot="0">
            <a:off x="9144000" y="4400550"/>
            <a:ext cx="2457450" cy="1981200"/>
            <a:chOff x="0" y="0"/>
            <a:chExt cx="3276600" cy="2641600"/>
          </a:xfrm>
        </p:grpSpPr>
        <p:sp>
          <p:nvSpPr>
            <p:cNvPr name="Freeform 20" id="20"/>
            <p:cNvSpPr/>
            <p:nvPr/>
          </p:nvSpPr>
          <p:spPr>
            <a:xfrm flipH="false" flipV="false" rot="0">
              <a:off x="0" y="0"/>
              <a:ext cx="3276600" cy="2641600"/>
            </a:xfrm>
            <a:custGeom>
              <a:avLst/>
              <a:gdLst/>
              <a:ahLst/>
              <a:cxnLst/>
              <a:rect r="r" b="b" t="t" l="l"/>
              <a:pathLst>
                <a:path h="2641600" w="3276600">
                  <a:moveTo>
                    <a:pt x="0" y="1016000"/>
                  </a:moveTo>
                  <a:lnTo>
                    <a:pt x="2184400" y="0"/>
                  </a:lnTo>
                  <a:lnTo>
                    <a:pt x="3276600" y="1117600"/>
                  </a:lnTo>
                  <a:lnTo>
                    <a:pt x="0" y="2641600"/>
                  </a:lnTo>
                  <a:close/>
                </a:path>
              </a:pathLst>
            </a:custGeom>
            <a:solidFill>
              <a:srgbClr val="409A91"/>
            </a:solidFill>
          </p:spPr>
        </p:sp>
      </p:grpSp>
      <p:grpSp>
        <p:nvGrpSpPr>
          <p:cNvPr name="Group 21" id="21"/>
          <p:cNvGrpSpPr/>
          <p:nvPr/>
        </p:nvGrpSpPr>
        <p:grpSpPr>
          <a:xfrm rot="0">
            <a:off x="5867400" y="5410200"/>
            <a:ext cx="3276600" cy="2362200"/>
            <a:chOff x="0" y="0"/>
            <a:chExt cx="4368800" cy="3149600"/>
          </a:xfrm>
        </p:grpSpPr>
        <p:sp>
          <p:nvSpPr>
            <p:cNvPr name="Freeform 22" id="22"/>
            <p:cNvSpPr/>
            <p:nvPr/>
          </p:nvSpPr>
          <p:spPr>
            <a:xfrm flipH="false" flipV="false" rot="0">
              <a:off x="0" y="0"/>
              <a:ext cx="4368800" cy="3149600"/>
            </a:xfrm>
            <a:custGeom>
              <a:avLst/>
              <a:gdLst/>
              <a:ahLst/>
              <a:cxnLst/>
              <a:rect r="r" b="b" t="t" l="l"/>
              <a:pathLst>
                <a:path h="3149600" w="4368800">
                  <a:moveTo>
                    <a:pt x="4368800" y="1524000"/>
                  </a:moveTo>
                  <a:lnTo>
                    <a:pt x="1092200" y="0"/>
                  </a:lnTo>
                  <a:lnTo>
                    <a:pt x="0" y="1117600"/>
                  </a:lnTo>
                  <a:lnTo>
                    <a:pt x="4368800" y="3149600"/>
                  </a:lnTo>
                  <a:close/>
                </a:path>
              </a:pathLst>
            </a:custGeom>
            <a:solidFill>
              <a:srgbClr val="2C4F6C"/>
            </a:solidFill>
          </p:spPr>
        </p:sp>
      </p:grpSp>
      <p:grpSp>
        <p:nvGrpSpPr>
          <p:cNvPr name="Group 23" id="23"/>
          <p:cNvGrpSpPr/>
          <p:nvPr/>
        </p:nvGrpSpPr>
        <p:grpSpPr>
          <a:xfrm rot="0">
            <a:off x="9144000" y="5410200"/>
            <a:ext cx="3276600" cy="2362200"/>
            <a:chOff x="0" y="0"/>
            <a:chExt cx="4368800" cy="3149600"/>
          </a:xfrm>
        </p:grpSpPr>
        <p:sp>
          <p:nvSpPr>
            <p:cNvPr name="Freeform 24" id="24"/>
            <p:cNvSpPr/>
            <p:nvPr/>
          </p:nvSpPr>
          <p:spPr>
            <a:xfrm flipH="false" flipV="false" rot="0">
              <a:off x="0" y="0"/>
              <a:ext cx="4368800" cy="3149600"/>
            </a:xfrm>
            <a:custGeom>
              <a:avLst/>
              <a:gdLst/>
              <a:ahLst/>
              <a:cxnLst/>
              <a:rect r="r" b="b" t="t" l="l"/>
              <a:pathLst>
                <a:path h="3149600" w="4368800">
                  <a:moveTo>
                    <a:pt x="0" y="1524000"/>
                  </a:moveTo>
                  <a:lnTo>
                    <a:pt x="3276600" y="0"/>
                  </a:lnTo>
                  <a:lnTo>
                    <a:pt x="4368800" y="1117600"/>
                  </a:lnTo>
                  <a:lnTo>
                    <a:pt x="0" y="3149600"/>
                  </a:lnTo>
                  <a:close/>
                </a:path>
              </a:pathLst>
            </a:custGeom>
            <a:solidFill>
              <a:srgbClr val="477FAE"/>
            </a:solidFill>
          </p:spPr>
        </p:sp>
      </p:grpSp>
      <p:grpSp>
        <p:nvGrpSpPr>
          <p:cNvPr name="Group 25" id="25"/>
          <p:cNvGrpSpPr/>
          <p:nvPr/>
        </p:nvGrpSpPr>
        <p:grpSpPr>
          <a:xfrm rot="0">
            <a:off x="5048250" y="6419850"/>
            <a:ext cx="4095750" cy="2743200"/>
            <a:chOff x="0" y="0"/>
            <a:chExt cx="5461000" cy="3657600"/>
          </a:xfrm>
        </p:grpSpPr>
        <p:sp>
          <p:nvSpPr>
            <p:cNvPr name="Freeform 26" id="26"/>
            <p:cNvSpPr/>
            <p:nvPr/>
          </p:nvSpPr>
          <p:spPr>
            <a:xfrm flipH="false" flipV="false" rot="0">
              <a:off x="0" y="0"/>
              <a:ext cx="5461000" cy="3657600"/>
            </a:xfrm>
            <a:custGeom>
              <a:avLst/>
              <a:gdLst/>
              <a:ahLst/>
              <a:cxnLst/>
              <a:rect r="r" b="b" t="t" l="l"/>
              <a:pathLst>
                <a:path h="3657600" w="5461000">
                  <a:moveTo>
                    <a:pt x="5461000" y="2032000"/>
                  </a:moveTo>
                  <a:lnTo>
                    <a:pt x="1092200" y="0"/>
                  </a:lnTo>
                  <a:lnTo>
                    <a:pt x="0" y="1117600"/>
                  </a:lnTo>
                  <a:lnTo>
                    <a:pt x="5461000" y="3657600"/>
                  </a:lnTo>
                  <a:close/>
                </a:path>
              </a:pathLst>
            </a:custGeom>
            <a:solidFill>
              <a:srgbClr val="403363"/>
            </a:solidFill>
          </p:spPr>
        </p:sp>
      </p:grpSp>
      <p:grpSp>
        <p:nvGrpSpPr>
          <p:cNvPr name="Group 27" id="27"/>
          <p:cNvGrpSpPr/>
          <p:nvPr/>
        </p:nvGrpSpPr>
        <p:grpSpPr>
          <a:xfrm rot="0">
            <a:off x="9144000" y="6419850"/>
            <a:ext cx="4095750" cy="2743200"/>
            <a:chOff x="0" y="0"/>
            <a:chExt cx="5461000" cy="3657600"/>
          </a:xfrm>
        </p:grpSpPr>
        <p:sp>
          <p:nvSpPr>
            <p:cNvPr name="Freeform 28" id="28"/>
            <p:cNvSpPr/>
            <p:nvPr/>
          </p:nvSpPr>
          <p:spPr>
            <a:xfrm flipH="false" flipV="false" rot="0">
              <a:off x="0" y="0"/>
              <a:ext cx="5461000" cy="3657600"/>
            </a:xfrm>
            <a:custGeom>
              <a:avLst/>
              <a:gdLst/>
              <a:ahLst/>
              <a:cxnLst/>
              <a:rect r="r" b="b" t="t" l="l"/>
              <a:pathLst>
                <a:path h="3657600" w="5461000">
                  <a:moveTo>
                    <a:pt x="0" y="2032000"/>
                  </a:moveTo>
                  <a:lnTo>
                    <a:pt x="4368800" y="0"/>
                  </a:lnTo>
                  <a:lnTo>
                    <a:pt x="5461000" y="1117600"/>
                  </a:lnTo>
                  <a:lnTo>
                    <a:pt x="0" y="3657600"/>
                  </a:lnTo>
                  <a:close/>
                </a:path>
              </a:pathLst>
            </a:custGeom>
            <a:solidFill>
              <a:srgbClr val="67529F"/>
            </a:solidFill>
          </p:spPr>
        </p:sp>
      </p:grpSp>
      <p:grpSp>
        <p:nvGrpSpPr>
          <p:cNvPr name="Group 29" id="29"/>
          <p:cNvGrpSpPr/>
          <p:nvPr/>
        </p:nvGrpSpPr>
        <p:grpSpPr>
          <a:xfrm rot="0">
            <a:off x="9599571" y="2671858"/>
            <a:ext cx="3479892" cy="428434"/>
            <a:chOff x="0" y="0"/>
            <a:chExt cx="4639856" cy="571246"/>
          </a:xfrm>
        </p:grpSpPr>
        <p:sp>
          <p:nvSpPr>
            <p:cNvPr name="Freeform 30" id="30"/>
            <p:cNvSpPr/>
            <p:nvPr/>
          </p:nvSpPr>
          <p:spPr>
            <a:xfrm flipH="false" flipV="false" rot="0">
              <a:off x="0" y="0"/>
              <a:ext cx="4639818" cy="571246"/>
            </a:xfrm>
            <a:custGeom>
              <a:avLst/>
              <a:gdLst/>
              <a:ahLst/>
              <a:cxnLst/>
              <a:rect r="r" b="b" t="t" l="l"/>
              <a:pathLst>
                <a:path h="571246" w="4639818">
                  <a:moveTo>
                    <a:pt x="4318" y="571246"/>
                  </a:moveTo>
                  <a:lnTo>
                    <a:pt x="4639818" y="37846"/>
                  </a:lnTo>
                  <a:lnTo>
                    <a:pt x="4635500" y="0"/>
                  </a:lnTo>
                  <a:lnTo>
                    <a:pt x="0" y="533400"/>
                  </a:lnTo>
                  <a:close/>
                </a:path>
              </a:pathLst>
            </a:custGeom>
            <a:solidFill>
              <a:srgbClr val="BBC4D1"/>
            </a:solidFill>
          </p:spPr>
        </p:sp>
      </p:grpSp>
      <p:grpSp>
        <p:nvGrpSpPr>
          <p:cNvPr name="Group 31" id="31"/>
          <p:cNvGrpSpPr/>
          <p:nvPr/>
        </p:nvGrpSpPr>
        <p:grpSpPr>
          <a:xfrm rot="0">
            <a:off x="12839700" y="2447925"/>
            <a:ext cx="476250" cy="476250"/>
            <a:chOff x="0" y="0"/>
            <a:chExt cx="635000" cy="635000"/>
          </a:xfrm>
        </p:grpSpPr>
        <p:sp>
          <p:nvSpPr>
            <p:cNvPr name="Freeform 32" id="32"/>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2A04F"/>
            </a:solidFill>
          </p:spPr>
        </p:sp>
      </p:grpSp>
      <p:grpSp>
        <p:nvGrpSpPr>
          <p:cNvPr name="Group 33" id="33"/>
          <p:cNvGrpSpPr/>
          <p:nvPr/>
        </p:nvGrpSpPr>
        <p:grpSpPr>
          <a:xfrm rot="0">
            <a:off x="12839700" y="2447925"/>
            <a:ext cx="476250" cy="476250"/>
            <a:chOff x="0" y="0"/>
            <a:chExt cx="635000" cy="635000"/>
          </a:xfrm>
        </p:grpSpPr>
        <p:sp>
          <p:nvSpPr>
            <p:cNvPr name="Freeform 34" id="34"/>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35" id="35"/>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5</a:t>
              </a:r>
            </a:p>
          </p:txBody>
        </p:sp>
      </p:grpSp>
      <p:grpSp>
        <p:nvGrpSpPr>
          <p:cNvPr name="Group 36" id="36"/>
          <p:cNvGrpSpPr/>
          <p:nvPr/>
        </p:nvGrpSpPr>
        <p:grpSpPr>
          <a:xfrm rot="0">
            <a:off x="15411450" y="2390775"/>
            <a:ext cx="2238375" cy="1085850"/>
            <a:chOff x="0" y="0"/>
            <a:chExt cx="2984500" cy="1447800"/>
          </a:xfrm>
        </p:grpSpPr>
        <p:sp>
          <p:nvSpPr>
            <p:cNvPr name="Freeform 37" id="37"/>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38" id="38"/>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Task</a:t>
              </a:r>
            </a:p>
            <a:p>
              <a:pPr algn="l">
                <a:lnSpc>
                  <a:spcPts val="3693"/>
                </a:lnSpc>
              </a:pPr>
              <a:r>
                <a:rPr lang="en-US" sz="2850" b="true">
                  <a:solidFill>
                    <a:srgbClr val="15215A"/>
                  </a:solidFill>
                  <a:latin typeface="Arial Bold"/>
                  <a:ea typeface="Arial Bold"/>
                  <a:cs typeface="Arial Bold"/>
                  <a:sym typeface="Arial Bold"/>
                </a:rPr>
                <a:t>autonomy</a:t>
              </a:r>
            </a:p>
          </p:txBody>
        </p:sp>
      </p:grpSp>
      <p:grpSp>
        <p:nvGrpSpPr>
          <p:cNvPr name="Group 39" id="39"/>
          <p:cNvGrpSpPr/>
          <p:nvPr/>
        </p:nvGrpSpPr>
        <p:grpSpPr>
          <a:xfrm rot="0">
            <a:off x="13620750" y="3590925"/>
            <a:ext cx="4029075" cy="400050"/>
            <a:chOff x="0" y="0"/>
            <a:chExt cx="5372100" cy="533400"/>
          </a:xfrm>
        </p:grpSpPr>
        <p:sp>
          <p:nvSpPr>
            <p:cNvPr name="Freeform 40" id="40"/>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41" id="41"/>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handles an agreed task</a:t>
              </a:r>
            </a:p>
          </p:txBody>
        </p:sp>
      </p:grpSp>
      <p:grpSp>
        <p:nvGrpSpPr>
          <p:cNvPr name="Group 42" id="42"/>
          <p:cNvGrpSpPr/>
          <p:nvPr/>
        </p:nvGrpSpPr>
        <p:grpSpPr>
          <a:xfrm rot="0">
            <a:off x="13620750" y="4029075"/>
            <a:ext cx="4029075" cy="419100"/>
            <a:chOff x="0" y="0"/>
            <a:chExt cx="5372100" cy="558800"/>
          </a:xfrm>
        </p:grpSpPr>
        <p:sp>
          <p:nvSpPr>
            <p:cNvPr name="Freeform 43" id="43"/>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44" id="44"/>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routine intervention</a:t>
              </a:r>
            </a:p>
          </p:txBody>
        </p:sp>
      </p:grpSp>
      <p:grpSp>
        <p:nvGrpSpPr>
          <p:cNvPr name="Group 45" id="45"/>
          <p:cNvGrpSpPr/>
          <p:nvPr/>
        </p:nvGrpSpPr>
        <p:grpSpPr>
          <a:xfrm rot="0">
            <a:off x="5427536" y="4043467"/>
            <a:ext cx="2603754" cy="342690"/>
            <a:chOff x="0" y="0"/>
            <a:chExt cx="3471672" cy="456921"/>
          </a:xfrm>
        </p:grpSpPr>
        <p:sp>
          <p:nvSpPr>
            <p:cNvPr name="Freeform 46" id="46"/>
            <p:cNvSpPr/>
            <p:nvPr/>
          </p:nvSpPr>
          <p:spPr>
            <a:xfrm flipH="false" flipV="false" rot="0">
              <a:off x="0" y="0"/>
              <a:ext cx="3471672" cy="456946"/>
            </a:xfrm>
            <a:custGeom>
              <a:avLst/>
              <a:gdLst/>
              <a:ahLst/>
              <a:cxnLst/>
              <a:rect r="r" b="b" t="t" l="l"/>
              <a:pathLst>
                <a:path h="456946" w="3471672">
                  <a:moveTo>
                    <a:pt x="3471672" y="419100"/>
                  </a:moveTo>
                  <a:lnTo>
                    <a:pt x="4572" y="0"/>
                  </a:lnTo>
                  <a:lnTo>
                    <a:pt x="0" y="37846"/>
                  </a:lnTo>
                  <a:lnTo>
                    <a:pt x="3467100" y="456946"/>
                  </a:lnTo>
                  <a:close/>
                </a:path>
              </a:pathLst>
            </a:custGeom>
            <a:solidFill>
              <a:srgbClr val="BBC4D1"/>
            </a:solidFill>
          </p:spPr>
        </p:sp>
      </p:grpSp>
      <p:grpSp>
        <p:nvGrpSpPr>
          <p:cNvPr name="Group 47" id="47"/>
          <p:cNvGrpSpPr/>
          <p:nvPr/>
        </p:nvGrpSpPr>
        <p:grpSpPr>
          <a:xfrm rot="0">
            <a:off x="5191125" y="3819525"/>
            <a:ext cx="476250" cy="476250"/>
            <a:chOff x="0" y="0"/>
            <a:chExt cx="635000" cy="635000"/>
          </a:xfrm>
        </p:grpSpPr>
        <p:sp>
          <p:nvSpPr>
            <p:cNvPr name="Freeform 48" id="48"/>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CE846F"/>
            </a:solidFill>
          </p:spPr>
        </p:sp>
      </p:grpSp>
      <p:grpSp>
        <p:nvGrpSpPr>
          <p:cNvPr name="Group 49" id="49"/>
          <p:cNvGrpSpPr/>
          <p:nvPr/>
        </p:nvGrpSpPr>
        <p:grpSpPr>
          <a:xfrm rot="0">
            <a:off x="5191125" y="3819525"/>
            <a:ext cx="476250" cy="476250"/>
            <a:chOff x="0" y="0"/>
            <a:chExt cx="635000" cy="635000"/>
          </a:xfrm>
        </p:grpSpPr>
        <p:sp>
          <p:nvSpPr>
            <p:cNvPr name="Freeform 50" id="50"/>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51" id="51"/>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4</a:t>
              </a:r>
            </a:p>
          </p:txBody>
        </p:sp>
      </p:grpSp>
      <p:grpSp>
        <p:nvGrpSpPr>
          <p:cNvPr name="Group 52" id="52"/>
          <p:cNvGrpSpPr/>
          <p:nvPr/>
        </p:nvGrpSpPr>
        <p:grpSpPr>
          <a:xfrm rot="0">
            <a:off x="2428875" y="3762375"/>
            <a:ext cx="2781300" cy="1085850"/>
            <a:chOff x="0" y="0"/>
            <a:chExt cx="3708400" cy="1447800"/>
          </a:xfrm>
        </p:grpSpPr>
        <p:sp>
          <p:nvSpPr>
            <p:cNvPr name="Freeform 53" id="53"/>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54" id="54"/>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Adaptive</a:t>
              </a:r>
            </a:p>
            <a:p>
              <a:pPr algn="l">
                <a:lnSpc>
                  <a:spcPts val="3693"/>
                </a:lnSpc>
              </a:pPr>
              <a:r>
                <a:rPr lang="en-US" sz="2850" b="true">
                  <a:solidFill>
                    <a:srgbClr val="15215A"/>
                  </a:solidFill>
                  <a:latin typeface="Arial Bold"/>
                  <a:ea typeface="Arial Bold"/>
                  <a:cs typeface="Arial Bold"/>
                  <a:sym typeface="Arial Bold"/>
                </a:rPr>
                <a:t>execution</a:t>
              </a:r>
            </a:p>
          </p:txBody>
        </p:sp>
      </p:grpSp>
      <p:grpSp>
        <p:nvGrpSpPr>
          <p:cNvPr name="Group 55" id="55"/>
          <p:cNvGrpSpPr/>
          <p:nvPr/>
        </p:nvGrpSpPr>
        <p:grpSpPr>
          <a:xfrm rot="0">
            <a:off x="638175" y="4962525"/>
            <a:ext cx="4572000" cy="400050"/>
            <a:chOff x="0" y="0"/>
            <a:chExt cx="6096000" cy="533400"/>
          </a:xfrm>
        </p:grpSpPr>
        <p:sp>
          <p:nvSpPr>
            <p:cNvPr name="Freeform 56" id="56"/>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57" id="57"/>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adjusts to the surface</a:t>
              </a:r>
            </a:p>
          </p:txBody>
        </p:sp>
      </p:grpSp>
      <p:grpSp>
        <p:nvGrpSpPr>
          <p:cNvPr name="Group 58" id="58"/>
          <p:cNvGrpSpPr/>
          <p:nvPr/>
        </p:nvGrpSpPr>
        <p:grpSpPr>
          <a:xfrm rot="0">
            <a:off x="638175" y="5400675"/>
            <a:ext cx="4572000" cy="419100"/>
            <a:chOff x="0" y="0"/>
            <a:chExt cx="6096000" cy="558800"/>
          </a:xfrm>
        </p:grpSpPr>
        <p:sp>
          <p:nvSpPr>
            <p:cNvPr name="Freeform 59" id="59"/>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60" id="60"/>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manual correction</a:t>
              </a:r>
            </a:p>
          </p:txBody>
        </p:sp>
      </p:grpSp>
      <p:grpSp>
        <p:nvGrpSpPr>
          <p:cNvPr name="Group 61" id="61"/>
          <p:cNvGrpSpPr/>
          <p:nvPr/>
        </p:nvGrpSpPr>
        <p:grpSpPr>
          <a:xfrm rot="0">
            <a:off x="10714415" y="5262610"/>
            <a:ext cx="2364610" cy="228495"/>
            <a:chOff x="0" y="0"/>
            <a:chExt cx="3152813" cy="304660"/>
          </a:xfrm>
        </p:grpSpPr>
        <p:sp>
          <p:nvSpPr>
            <p:cNvPr name="Freeform 62" id="62"/>
            <p:cNvSpPr/>
            <p:nvPr/>
          </p:nvSpPr>
          <p:spPr>
            <a:xfrm flipH="false" flipV="false" rot="0">
              <a:off x="0" y="0"/>
              <a:ext cx="3152775" cy="304673"/>
            </a:xfrm>
            <a:custGeom>
              <a:avLst/>
              <a:gdLst/>
              <a:ahLst/>
              <a:cxnLst/>
              <a:rect r="r" b="b" t="t" l="l"/>
              <a:pathLst>
                <a:path h="304673" w="3152775">
                  <a:moveTo>
                    <a:pt x="3175" y="304673"/>
                  </a:moveTo>
                  <a:lnTo>
                    <a:pt x="3152775" y="37973"/>
                  </a:lnTo>
                  <a:lnTo>
                    <a:pt x="3149600" y="0"/>
                  </a:lnTo>
                  <a:lnTo>
                    <a:pt x="0" y="266700"/>
                  </a:lnTo>
                  <a:close/>
                </a:path>
              </a:pathLst>
            </a:custGeom>
            <a:solidFill>
              <a:srgbClr val="BBC4D1"/>
            </a:solidFill>
          </p:spPr>
        </p:sp>
      </p:grpSp>
      <p:grpSp>
        <p:nvGrpSpPr>
          <p:cNvPr name="Group 63" id="63"/>
          <p:cNvGrpSpPr/>
          <p:nvPr/>
        </p:nvGrpSpPr>
        <p:grpSpPr>
          <a:xfrm rot="0">
            <a:off x="12839700" y="5038725"/>
            <a:ext cx="476250" cy="476250"/>
            <a:chOff x="0" y="0"/>
            <a:chExt cx="635000" cy="635000"/>
          </a:xfrm>
        </p:grpSpPr>
        <p:sp>
          <p:nvSpPr>
            <p:cNvPr name="Freeform 64" id="64"/>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09A91"/>
            </a:solidFill>
          </p:spPr>
        </p:sp>
      </p:grpSp>
      <p:grpSp>
        <p:nvGrpSpPr>
          <p:cNvPr name="Group 65" id="65"/>
          <p:cNvGrpSpPr/>
          <p:nvPr/>
        </p:nvGrpSpPr>
        <p:grpSpPr>
          <a:xfrm rot="0">
            <a:off x="12839700" y="5038725"/>
            <a:ext cx="476250" cy="476250"/>
            <a:chOff x="0" y="0"/>
            <a:chExt cx="635000" cy="635000"/>
          </a:xfrm>
        </p:grpSpPr>
        <p:sp>
          <p:nvSpPr>
            <p:cNvPr name="Freeform 66" id="66"/>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67" id="67"/>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3</a:t>
              </a:r>
            </a:p>
          </p:txBody>
        </p:sp>
      </p:grpSp>
      <p:grpSp>
        <p:nvGrpSpPr>
          <p:cNvPr name="Group 68" id="68"/>
          <p:cNvGrpSpPr/>
          <p:nvPr/>
        </p:nvGrpSpPr>
        <p:grpSpPr>
          <a:xfrm rot="0">
            <a:off x="15411450" y="4981575"/>
            <a:ext cx="2238375" cy="1085850"/>
            <a:chOff x="0" y="0"/>
            <a:chExt cx="2984500" cy="1447800"/>
          </a:xfrm>
        </p:grpSpPr>
        <p:sp>
          <p:nvSpPr>
            <p:cNvPr name="Freeform 69" id="69"/>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70" id="70"/>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Automatic</a:t>
              </a:r>
            </a:p>
            <a:p>
              <a:pPr algn="l">
                <a:lnSpc>
                  <a:spcPts val="3693"/>
                </a:lnSpc>
              </a:pPr>
              <a:r>
                <a:rPr lang="en-US" sz="2850" b="true">
                  <a:solidFill>
                    <a:srgbClr val="15215A"/>
                  </a:solidFill>
                  <a:latin typeface="Arial Bold"/>
                  <a:ea typeface="Arial Bold"/>
                  <a:cs typeface="Arial Bold"/>
                  <a:sym typeface="Arial Bold"/>
                </a:rPr>
                <a:t>planning</a:t>
              </a:r>
            </a:p>
          </p:txBody>
        </p:sp>
      </p:grpSp>
      <p:grpSp>
        <p:nvGrpSpPr>
          <p:cNvPr name="Group 71" id="71"/>
          <p:cNvGrpSpPr/>
          <p:nvPr/>
        </p:nvGrpSpPr>
        <p:grpSpPr>
          <a:xfrm rot="0">
            <a:off x="13620750" y="6181725"/>
            <a:ext cx="4029075" cy="400050"/>
            <a:chOff x="0" y="0"/>
            <a:chExt cx="5372100" cy="533400"/>
          </a:xfrm>
        </p:grpSpPr>
        <p:sp>
          <p:nvSpPr>
            <p:cNvPr name="Freeform 72" id="72"/>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73" id="73"/>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Software prepares the route</a:t>
              </a:r>
            </a:p>
          </p:txBody>
        </p:sp>
      </p:grpSp>
      <p:grpSp>
        <p:nvGrpSpPr>
          <p:cNvPr name="Group 74" id="74"/>
          <p:cNvGrpSpPr/>
          <p:nvPr/>
        </p:nvGrpSpPr>
        <p:grpSpPr>
          <a:xfrm rot="0">
            <a:off x="13620750" y="6619875"/>
            <a:ext cx="4029075" cy="419100"/>
            <a:chOff x="0" y="0"/>
            <a:chExt cx="5372100" cy="558800"/>
          </a:xfrm>
        </p:grpSpPr>
        <p:sp>
          <p:nvSpPr>
            <p:cNvPr name="Freeform 75" id="75"/>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76" id="76"/>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Less programming effort</a:t>
              </a:r>
            </a:p>
          </p:txBody>
        </p:sp>
      </p:grpSp>
      <p:grpSp>
        <p:nvGrpSpPr>
          <p:cNvPr name="Group 77" id="77"/>
          <p:cNvGrpSpPr/>
          <p:nvPr/>
        </p:nvGrpSpPr>
        <p:grpSpPr>
          <a:xfrm rot="0">
            <a:off x="5428917" y="6481762"/>
            <a:ext cx="1619926" cy="66665"/>
            <a:chOff x="0" y="0"/>
            <a:chExt cx="2159902" cy="88887"/>
          </a:xfrm>
        </p:grpSpPr>
        <p:sp>
          <p:nvSpPr>
            <p:cNvPr name="Freeform 78" id="78"/>
            <p:cNvSpPr/>
            <p:nvPr/>
          </p:nvSpPr>
          <p:spPr>
            <a:xfrm flipH="false" flipV="false" rot="0">
              <a:off x="0" y="0"/>
              <a:ext cx="2159889" cy="88900"/>
            </a:xfrm>
            <a:custGeom>
              <a:avLst/>
              <a:gdLst/>
              <a:ahLst/>
              <a:cxnLst/>
              <a:rect r="r" b="b" t="t" l="l"/>
              <a:pathLst>
                <a:path h="88900" w="2159889">
                  <a:moveTo>
                    <a:pt x="2159889" y="50800"/>
                  </a:moveTo>
                  <a:lnTo>
                    <a:pt x="889" y="0"/>
                  </a:lnTo>
                  <a:lnTo>
                    <a:pt x="0" y="38100"/>
                  </a:lnTo>
                  <a:lnTo>
                    <a:pt x="2159000" y="88900"/>
                  </a:lnTo>
                  <a:close/>
                </a:path>
              </a:pathLst>
            </a:custGeom>
            <a:solidFill>
              <a:srgbClr val="BBC4D1"/>
            </a:solidFill>
          </p:spPr>
        </p:sp>
      </p:grpSp>
      <p:grpSp>
        <p:nvGrpSpPr>
          <p:cNvPr name="Group 79" id="79"/>
          <p:cNvGrpSpPr/>
          <p:nvPr/>
        </p:nvGrpSpPr>
        <p:grpSpPr>
          <a:xfrm rot="0">
            <a:off x="5191125" y="6257925"/>
            <a:ext cx="476250" cy="476250"/>
            <a:chOff x="0" y="0"/>
            <a:chExt cx="635000" cy="635000"/>
          </a:xfrm>
        </p:grpSpPr>
        <p:sp>
          <p:nvSpPr>
            <p:cNvPr name="Freeform 80" id="80"/>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477FAE"/>
            </a:solidFill>
          </p:spPr>
        </p:sp>
      </p:grpSp>
      <p:grpSp>
        <p:nvGrpSpPr>
          <p:cNvPr name="Group 81" id="81"/>
          <p:cNvGrpSpPr/>
          <p:nvPr/>
        </p:nvGrpSpPr>
        <p:grpSpPr>
          <a:xfrm rot="0">
            <a:off x="5191125" y="6257925"/>
            <a:ext cx="476250" cy="476250"/>
            <a:chOff x="0" y="0"/>
            <a:chExt cx="635000" cy="635000"/>
          </a:xfrm>
        </p:grpSpPr>
        <p:sp>
          <p:nvSpPr>
            <p:cNvPr name="Freeform 82" id="82"/>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83" id="83"/>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2</a:t>
              </a:r>
            </a:p>
          </p:txBody>
        </p:sp>
      </p:grpSp>
      <p:grpSp>
        <p:nvGrpSpPr>
          <p:cNvPr name="Group 84" id="84"/>
          <p:cNvGrpSpPr/>
          <p:nvPr/>
        </p:nvGrpSpPr>
        <p:grpSpPr>
          <a:xfrm rot="0">
            <a:off x="2428875" y="6200775"/>
            <a:ext cx="2781300" cy="1085850"/>
            <a:chOff x="0" y="0"/>
            <a:chExt cx="3708400" cy="1447800"/>
          </a:xfrm>
        </p:grpSpPr>
        <p:sp>
          <p:nvSpPr>
            <p:cNvPr name="Freeform 85" id="85"/>
            <p:cNvSpPr/>
            <p:nvPr/>
          </p:nvSpPr>
          <p:spPr>
            <a:xfrm flipH="false" flipV="false" rot="0">
              <a:off x="0" y="0"/>
              <a:ext cx="3708400" cy="1447800"/>
            </a:xfrm>
            <a:custGeom>
              <a:avLst/>
              <a:gdLst/>
              <a:ahLst/>
              <a:cxnLst/>
              <a:rect r="r" b="b" t="t" l="l"/>
              <a:pathLst>
                <a:path h="1447800" w="3708400">
                  <a:moveTo>
                    <a:pt x="0" y="0"/>
                  </a:moveTo>
                  <a:lnTo>
                    <a:pt x="3708400" y="0"/>
                  </a:lnTo>
                  <a:lnTo>
                    <a:pt x="3708400" y="1447800"/>
                  </a:lnTo>
                  <a:lnTo>
                    <a:pt x="0" y="1447800"/>
                  </a:lnTo>
                  <a:close/>
                </a:path>
              </a:pathLst>
            </a:custGeom>
            <a:blipFill>
              <a:blip r:embed="rId4">
                <a:alphaModFix amt="0"/>
              </a:blip>
              <a:stretch>
                <a:fillRect l="-91" t="0" r="-91" b="0"/>
              </a:stretch>
            </a:blipFill>
          </p:spPr>
        </p:sp>
        <p:sp>
          <p:nvSpPr>
            <p:cNvPr name="TextBox 86" id="86"/>
            <p:cNvSpPr txBox="true"/>
            <p:nvPr/>
          </p:nvSpPr>
          <p:spPr>
            <a:xfrm>
              <a:off x="0" y="-38100"/>
              <a:ext cx="37084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Programmed</a:t>
              </a:r>
            </a:p>
            <a:p>
              <a:pPr algn="l">
                <a:lnSpc>
                  <a:spcPts val="3693"/>
                </a:lnSpc>
              </a:pPr>
              <a:r>
                <a:rPr lang="en-US" sz="2850" b="true">
                  <a:solidFill>
                    <a:srgbClr val="15215A"/>
                  </a:solidFill>
                  <a:latin typeface="Arial Bold"/>
                  <a:ea typeface="Arial Bold"/>
                  <a:cs typeface="Arial Bold"/>
                  <a:sym typeface="Arial Bold"/>
                </a:rPr>
                <a:t>automation</a:t>
              </a:r>
            </a:p>
          </p:txBody>
        </p:sp>
      </p:grpSp>
      <p:grpSp>
        <p:nvGrpSpPr>
          <p:cNvPr name="Group 87" id="87"/>
          <p:cNvGrpSpPr/>
          <p:nvPr/>
        </p:nvGrpSpPr>
        <p:grpSpPr>
          <a:xfrm rot="0">
            <a:off x="638175" y="7400925"/>
            <a:ext cx="4572000" cy="400050"/>
            <a:chOff x="0" y="0"/>
            <a:chExt cx="6096000" cy="533400"/>
          </a:xfrm>
        </p:grpSpPr>
        <p:sp>
          <p:nvSpPr>
            <p:cNvPr name="Freeform 88" id="88"/>
            <p:cNvSpPr/>
            <p:nvPr/>
          </p:nvSpPr>
          <p:spPr>
            <a:xfrm flipH="false" flipV="false" rot="0">
              <a:off x="0" y="0"/>
              <a:ext cx="6096000" cy="533400"/>
            </a:xfrm>
            <a:custGeom>
              <a:avLst/>
              <a:gdLst/>
              <a:ahLst/>
              <a:cxnLst/>
              <a:rect r="r" b="b" t="t" l="l"/>
              <a:pathLst>
                <a:path h="533400" w="6096000">
                  <a:moveTo>
                    <a:pt x="0" y="0"/>
                  </a:moveTo>
                  <a:lnTo>
                    <a:pt x="6096000" y="0"/>
                  </a:lnTo>
                  <a:lnTo>
                    <a:pt x="6096000" y="533400"/>
                  </a:lnTo>
                  <a:lnTo>
                    <a:pt x="0" y="533400"/>
                  </a:lnTo>
                  <a:close/>
                </a:path>
              </a:pathLst>
            </a:custGeom>
            <a:blipFill>
              <a:blip r:embed="rId4">
                <a:alphaModFix amt="0"/>
              </a:blip>
              <a:stretch>
                <a:fillRect l="0" t="-172686" r="0" b="-172686"/>
              </a:stretch>
            </a:blipFill>
          </p:spPr>
        </p:sp>
        <p:sp>
          <p:nvSpPr>
            <p:cNvPr name="TextBox 89" id="89"/>
            <p:cNvSpPr txBox="true"/>
            <p:nvPr/>
          </p:nvSpPr>
          <p:spPr>
            <a:xfrm>
              <a:off x="0" y="-38100"/>
              <a:ext cx="60960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Robot repeats a taught routine</a:t>
              </a:r>
            </a:p>
          </p:txBody>
        </p:sp>
      </p:grpSp>
      <p:grpSp>
        <p:nvGrpSpPr>
          <p:cNvPr name="Group 90" id="90"/>
          <p:cNvGrpSpPr/>
          <p:nvPr/>
        </p:nvGrpSpPr>
        <p:grpSpPr>
          <a:xfrm rot="0">
            <a:off x="638175" y="7839075"/>
            <a:ext cx="4572000" cy="419100"/>
            <a:chOff x="0" y="0"/>
            <a:chExt cx="6096000" cy="558800"/>
          </a:xfrm>
        </p:grpSpPr>
        <p:sp>
          <p:nvSpPr>
            <p:cNvPr name="Freeform 91" id="91"/>
            <p:cNvSpPr/>
            <p:nvPr/>
          </p:nvSpPr>
          <p:spPr>
            <a:xfrm flipH="false" flipV="false" rot="0">
              <a:off x="0" y="0"/>
              <a:ext cx="6096000" cy="558800"/>
            </a:xfrm>
            <a:custGeom>
              <a:avLst/>
              <a:gdLst/>
              <a:ahLst/>
              <a:cxnLst/>
              <a:rect r="r" b="b" t="t" l="l"/>
              <a:pathLst>
                <a:path h="558800" w="6096000">
                  <a:moveTo>
                    <a:pt x="0" y="0"/>
                  </a:moveTo>
                  <a:lnTo>
                    <a:pt x="6096000" y="0"/>
                  </a:lnTo>
                  <a:lnTo>
                    <a:pt x="6096000" y="558800"/>
                  </a:lnTo>
                  <a:lnTo>
                    <a:pt x="0" y="558800"/>
                  </a:lnTo>
                  <a:close/>
                </a:path>
              </a:pathLst>
            </a:custGeom>
            <a:blipFill>
              <a:blip r:embed="rId4">
                <a:alphaModFix amt="0"/>
              </a:blip>
              <a:stretch>
                <a:fillRect l="0" t="-162564" r="0" b="-162564"/>
              </a:stretch>
            </a:blipFill>
          </p:spPr>
        </p:sp>
        <p:sp>
          <p:nvSpPr>
            <p:cNvPr name="TextBox 92" id="92"/>
            <p:cNvSpPr txBox="true"/>
            <p:nvPr/>
          </p:nvSpPr>
          <p:spPr>
            <a:xfrm>
              <a:off x="0" y="-38100"/>
              <a:ext cx="60960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Repeatable known processes</a:t>
              </a:r>
            </a:p>
          </p:txBody>
        </p:sp>
      </p:grpSp>
      <p:grpSp>
        <p:nvGrpSpPr>
          <p:cNvPr name="Group 93" id="93"/>
          <p:cNvGrpSpPr/>
          <p:nvPr/>
        </p:nvGrpSpPr>
        <p:grpSpPr>
          <a:xfrm rot="0">
            <a:off x="11762346" y="7739101"/>
            <a:ext cx="1316517" cy="123749"/>
            <a:chOff x="0" y="0"/>
            <a:chExt cx="1755356" cy="164998"/>
          </a:xfrm>
        </p:grpSpPr>
        <p:sp>
          <p:nvSpPr>
            <p:cNvPr name="Freeform 94" id="94"/>
            <p:cNvSpPr/>
            <p:nvPr/>
          </p:nvSpPr>
          <p:spPr>
            <a:xfrm flipH="false" flipV="false" rot="0">
              <a:off x="0" y="0"/>
              <a:ext cx="1755394" cy="164973"/>
            </a:xfrm>
            <a:custGeom>
              <a:avLst/>
              <a:gdLst/>
              <a:ahLst/>
              <a:cxnLst/>
              <a:rect r="r" b="b" t="t" l="l"/>
              <a:pathLst>
                <a:path h="164973" w="1755394">
                  <a:moveTo>
                    <a:pt x="2794" y="164973"/>
                  </a:moveTo>
                  <a:lnTo>
                    <a:pt x="1755394" y="37973"/>
                  </a:lnTo>
                  <a:lnTo>
                    <a:pt x="1752600" y="0"/>
                  </a:lnTo>
                  <a:lnTo>
                    <a:pt x="0" y="127000"/>
                  </a:lnTo>
                  <a:close/>
                </a:path>
              </a:pathLst>
            </a:custGeom>
            <a:solidFill>
              <a:srgbClr val="BBC4D1"/>
            </a:solidFill>
          </p:spPr>
        </p:sp>
      </p:grpSp>
      <p:grpSp>
        <p:nvGrpSpPr>
          <p:cNvPr name="Group 95" id="95"/>
          <p:cNvGrpSpPr/>
          <p:nvPr/>
        </p:nvGrpSpPr>
        <p:grpSpPr>
          <a:xfrm rot="0">
            <a:off x="12839700" y="7515225"/>
            <a:ext cx="476250" cy="476250"/>
            <a:chOff x="0" y="0"/>
            <a:chExt cx="635000" cy="635000"/>
          </a:xfrm>
        </p:grpSpPr>
        <p:sp>
          <p:nvSpPr>
            <p:cNvPr name="Freeform 96" id="96"/>
            <p:cNvSpPr/>
            <p:nvPr/>
          </p:nvSpPr>
          <p:spPr>
            <a:xfrm flipH="false" flipV="false" rot="0">
              <a:off x="0" y="0"/>
              <a:ext cx="635000" cy="635000"/>
            </a:xfrm>
            <a:custGeom>
              <a:avLst/>
              <a:gdLst/>
              <a:ahLst/>
              <a:cxnLst/>
              <a:rect r="r" b="b" t="t" l="l"/>
              <a:pathLst>
                <a:path h="635000" w="635000">
                  <a:moveTo>
                    <a:pt x="0" y="317500"/>
                  </a:moveTo>
                  <a:cubicBezTo>
                    <a:pt x="0" y="142113"/>
                    <a:pt x="142113" y="0"/>
                    <a:pt x="317500" y="0"/>
                  </a:cubicBezTo>
                  <a:cubicBezTo>
                    <a:pt x="492887" y="0"/>
                    <a:pt x="635000" y="142113"/>
                    <a:pt x="635000" y="317500"/>
                  </a:cubicBezTo>
                  <a:cubicBezTo>
                    <a:pt x="635000" y="492887"/>
                    <a:pt x="492887" y="635000"/>
                    <a:pt x="317500" y="635000"/>
                  </a:cubicBezTo>
                  <a:cubicBezTo>
                    <a:pt x="142113" y="635000"/>
                    <a:pt x="0" y="492887"/>
                    <a:pt x="0" y="317500"/>
                  </a:cubicBezTo>
                  <a:close/>
                </a:path>
              </a:pathLst>
            </a:custGeom>
            <a:solidFill>
              <a:srgbClr val="67529F"/>
            </a:solidFill>
          </p:spPr>
        </p:sp>
      </p:grpSp>
      <p:grpSp>
        <p:nvGrpSpPr>
          <p:cNvPr name="Group 97" id="97"/>
          <p:cNvGrpSpPr/>
          <p:nvPr/>
        </p:nvGrpSpPr>
        <p:grpSpPr>
          <a:xfrm rot="0">
            <a:off x="12839700" y="7515225"/>
            <a:ext cx="476250" cy="476250"/>
            <a:chOff x="0" y="0"/>
            <a:chExt cx="635000" cy="635000"/>
          </a:xfrm>
        </p:grpSpPr>
        <p:sp>
          <p:nvSpPr>
            <p:cNvPr name="Freeform 98" id="98"/>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close/>
                </a:path>
              </a:pathLst>
            </a:custGeom>
            <a:blipFill>
              <a:blip r:embed="rId4">
                <a:alphaModFix amt="0"/>
              </a:blip>
              <a:stretch>
                <a:fillRect l="-78303" t="0" r="-78303" b="0"/>
              </a:stretch>
            </a:blipFill>
          </p:spPr>
        </p:sp>
        <p:sp>
          <p:nvSpPr>
            <p:cNvPr name="TextBox 99" id="99"/>
            <p:cNvSpPr txBox="true"/>
            <p:nvPr/>
          </p:nvSpPr>
          <p:spPr>
            <a:xfrm>
              <a:off x="0" y="-28575"/>
              <a:ext cx="635000" cy="663575"/>
            </a:xfrm>
            <a:prstGeom prst="rect">
              <a:avLst/>
            </a:prstGeom>
          </p:spPr>
          <p:txBody>
            <a:bodyPr anchor="ctr" rtlCol="false" tIns="0" lIns="0" bIns="0" rIns="0"/>
            <a:lstStyle/>
            <a:p>
              <a:pPr algn="ctr">
                <a:lnSpc>
                  <a:spcPts val="2721"/>
                </a:lnSpc>
              </a:pPr>
              <a:r>
                <a:rPr lang="en-US" sz="2100" b="true">
                  <a:solidFill>
                    <a:srgbClr val="FFFFFF"/>
                  </a:solidFill>
                  <a:latin typeface="Arial Bold"/>
                  <a:ea typeface="Arial Bold"/>
                  <a:cs typeface="Arial Bold"/>
                  <a:sym typeface="Arial Bold"/>
                </a:rPr>
                <a:t>1</a:t>
              </a:r>
            </a:p>
          </p:txBody>
        </p:sp>
      </p:grpSp>
      <p:grpSp>
        <p:nvGrpSpPr>
          <p:cNvPr name="Group 100" id="100"/>
          <p:cNvGrpSpPr/>
          <p:nvPr/>
        </p:nvGrpSpPr>
        <p:grpSpPr>
          <a:xfrm rot="0">
            <a:off x="15411450" y="7219950"/>
            <a:ext cx="2238375" cy="1085850"/>
            <a:chOff x="0" y="0"/>
            <a:chExt cx="2984500" cy="1447800"/>
          </a:xfrm>
        </p:grpSpPr>
        <p:sp>
          <p:nvSpPr>
            <p:cNvPr name="Freeform 101" id="101"/>
            <p:cNvSpPr/>
            <p:nvPr/>
          </p:nvSpPr>
          <p:spPr>
            <a:xfrm flipH="false" flipV="false" rot="0">
              <a:off x="0" y="0"/>
              <a:ext cx="2984500" cy="1447800"/>
            </a:xfrm>
            <a:custGeom>
              <a:avLst/>
              <a:gdLst/>
              <a:ahLst/>
              <a:cxnLst/>
              <a:rect r="r" b="b" t="t" l="l"/>
              <a:pathLst>
                <a:path h="1447800" w="2984500">
                  <a:moveTo>
                    <a:pt x="0" y="0"/>
                  </a:moveTo>
                  <a:lnTo>
                    <a:pt x="2984500" y="0"/>
                  </a:lnTo>
                  <a:lnTo>
                    <a:pt x="2984500" y="1447800"/>
                  </a:lnTo>
                  <a:lnTo>
                    <a:pt x="0" y="1447800"/>
                  </a:lnTo>
                  <a:close/>
                </a:path>
              </a:pathLst>
            </a:custGeom>
            <a:blipFill>
              <a:blip r:embed="rId4">
                <a:alphaModFix amt="0"/>
              </a:blip>
              <a:stretch>
                <a:fillRect l="-12240" t="0" r="-12240" b="0"/>
              </a:stretch>
            </a:blipFill>
          </p:spPr>
        </p:sp>
        <p:sp>
          <p:nvSpPr>
            <p:cNvPr name="TextBox 102" id="102"/>
            <p:cNvSpPr txBox="true"/>
            <p:nvPr/>
          </p:nvSpPr>
          <p:spPr>
            <a:xfrm>
              <a:off x="0" y="-38100"/>
              <a:ext cx="2984500" cy="14859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Manual</a:t>
              </a:r>
            </a:p>
            <a:p>
              <a:pPr algn="l">
                <a:lnSpc>
                  <a:spcPts val="3693"/>
                </a:lnSpc>
              </a:pPr>
              <a:r>
                <a:rPr lang="en-US" sz="2850" b="true">
                  <a:solidFill>
                    <a:srgbClr val="15215A"/>
                  </a:solidFill>
                  <a:latin typeface="Arial Bold"/>
                  <a:ea typeface="Arial Bold"/>
                  <a:cs typeface="Arial Bold"/>
                  <a:sym typeface="Arial Bold"/>
                </a:rPr>
                <a:t>control</a:t>
              </a:r>
            </a:p>
          </p:txBody>
        </p:sp>
      </p:grpSp>
      <p:grpSp>
        <p:nvGrpSpPr>
          <p:cNvPr name="Group 103" id="103"/>
          <p:cNvGrpSpPr/>
          <p:nvPr/>
        </p:nvGrpSpPr>
        <p:grpSpPr>
          <a:xfrm rot="0">
            <a:off x="13620750" y="8420100"/>
            <a:ext cx="4029075" cy="400050"/>
            <a:chOff x="0" y="0"/>
            <a:chExt cx="5372100" cy="533400"/>
          </a:xfrm>
        </p:grpSpPr>
        <p:sp>
          <p:nvSpPr>
            <p:cNvPr name="Freeform 104" id="104"/>
            <p:cNvSpPr/>
            <p:nvPr/>
          </p:nvSpPr>
          <p:spPr>
            <a:xfrm flipH="false" flipV="false" rot="0">
              <a:off x="0" y="0"/>
              <a:ext cx="5372100" cy="533400"/>
            </a:xfrm>
            <a:custGeom>
              <a:avLst/>
              <a:gdLst/>
              <a:ahLst/>
              <a:cxnLst/>
              <a:rect r="r" b="b" t="t" l="l"/>
              <a:pathLst>
                <a:path h="533400" w="5372100">
                  <a:moveTo>
                    <a:pt x="0" y="0"/>
                  </a:moveTo>
                  <a:lnTo>
                    <a:pt x="5372100" y="0"/>
                  </a:lnTo>
                  <a:lnTo>
                    <a:pt x="5372100" y="533400"/>
                  </a:lnTo>
                  <a:lnTo>
                    <a:pt x="0" y="533400"/>
                  </a:lnTo>
                  <a:close/>
                </a:path>
              </a:pathLst>
            </a:custGeom>
            <a:blipFill>
              <a:blip r:embed="rId4">
                <a:alphaModFix amt="0"/>
              </a:blip>
              <a:stretch>
                <a:fillRect l="0" t="-146242" r="0" b="-146242"/>
              </a:stretch>
            </a:blipFill>
          </p:spPr>
        </p:sp>
        <p:sp>
          <p:nvSpPr>
            <p:cNvPr name="TextBox 105" id="105"/>
            <p:cNvSpPr txBox="true"/>
            <p:nvPr/>
          </p:nvSpPr>
          <p:spPr>
            <a:xfrm>
              <a:off x="0" y="-38100"/>
              <a:ext cx="5372100" cy="571500"/>
            </a:xfrm>
            <a:prstGeom prst="rect">
              <a:avLst/>
            </a:prstGeom>
          </p:spPr>
          <p:txBody>
            <a:bodyPr anchor="ctr" rtlCol="false" tIns="0" lIns="0" bIns="0" rIns="0"/>
            <a:lstStyle/>
            <a:p>
              <a:pPr algn="l">
                <a:lnSpc>
                  <a:spcPts val="2916"/>
                </a:lnSpc>
              </a:pPr>
              <a:r>
                <a:rPr lang="en-US" sz="2250">
                  <a:solidFill>
                    <a:srgbClr val="526078"/>
                  </a:solidFill>
                  <a:latin typeface="Arial"/>
                  <a:ea typeface="Arial"/>
                  <a:cs typeface="Arial"/>
                  <a:sym typeface="Arial"/>
                </a:rPr>
                <a:t>People guide the inspection</a:t>
              </a:r>
            </a:p>
          </p:txBody>
        </p:sp>
      </p:grpSp>
      <p:grpSp>
        <p:nvGrpSpPr>
          <p:cNvPr name="Group 106" id="106"/>
          <p:cNvGrpSpPr/>
          <p:nvPr/>
        </p:nvGrpSpPr>
        <p:grpSpPr>
          <a:xfrm rot="0">
            <a:off x="13620750" y="8858250"/>
            <a:ext cx="4029075" cy="419100"/>
            <a:chOff x="0" y="0"/>
            <a:chExt cx="5372100" cy="558800"/>
          </a:xfrm>
        </p:grpSpPr>
        <p:sp>
          <p:nvSpPr>
            <p:cNvPr name="Freeform 107" id="107"/>
            <p:cNvSpPr/>
            <p:nvPr/>
          </p:nvSpPr>
          <p:spPr>
            <a:xfrm flipH="false" flipV="false" rot="0">
              <a:off x="0" y="0"/>
              <a:ext cx="5372100" cy="558800"/>
            </a:xfrm>
            <a:custGeom>
              <a:avLst/>
              <a:gdLst/>
              <a:ahLst/>
              <a:cxnLst/>
              <a:rect r="r" b="b" t="t" l="l"/>
              <a:pathLst>
                <a:path h="558800" w="5372100">
                  <a:moveTo>
                    <a:pt x="0" y="0"/>
                  </a:moveTo>
                  <a:lnTo>
                    <a:pt x="5372100" y="0"/>
                  </a:lnTo>
                  <a:lnTo>
                    <a:pt x="5372100" y="558800"/>
                  </a:lnTo>
                  <a:lnTo>
                    <a:pt x="0" y="558800"/>
                  </a:lnTo>
                  <a:close/>
                </a:path>
              </a:pathLst>
            </a:custGeom>
            <a:blipFill>
              <a:blip r:embed="rId4">
                <a:alphaModFix amt="0"/>
              </a:blip>
              <a:stretch>
                <a:fillRect l="0" t="-137322" r="0" b="-137322"/>
              </a:stretch>
            </a:blipFill>
          </p:spPr>
        </p:sp>
        <p:sp>
          <p:nvSpPr>
            <p:cNvPr name="TextBox 108" id="108"/>
            <p:cNvSpPr txBox="true"/>
            <p:nvPr/>
          </p:nvSpPr>
          <p:spPr>
            <a:xfrm>
              <a:off x="0" y="-38100"/>
              <a:ext cx="5372100" cy="596900"/>
            </a:xfrm>
            <a:prstGeom prst="rect">
              <a:avLst/>
            </a:prstGeom>
          </p:spPr>
          <p:txBody>
            <a:bodyPr anchor="ctr" rtlCol="false" tIns="0" lIns="0" bIns="0" rIns="0"/>
            <a:lstStyle/>
            <a:p>
              <a:pPr algn="l">
                <a:lnSpc>
                  <a:spcPts val="2916"/>
                </a:lnSpc>
              </a:pPr>
              <a:r>
                <a:rPr lang="en-US" sz="2250" b="true">
                  <a:solidFill>
                    <a:srgbClr val="15215A"/>
                  </a:solidFill>
                  <a:latin typeface="Arial Bold"/>
                  <a:ea typeface="Arial Bold"/>
                  <a:cs typeface="Arial Bold"/>
                  <a:sym typeface="Arial Bold"/>
                </a:rPr>
                <a:t>Expert process knowledge</a:t>
              </a:r>
            </a:p>
          </p:txBody>
        </p:sp>
      </p:grpSp>
      <p:grpSp>
        <p:nvGrpSpPr>
          <p:cNvPr name="Group 109" id="109"/>
          <p:cNvGrpSpPr/>
          <p:nvPr/>
        </p:nvGrpSpPr>
        <p:grpSpPr>
          <a:xfrm rot="0">
            <a:off x="638175" y="9344025"/>
            <a:ext cx="17011650" cy="19050"/>
            <a:chOff x="0" y="0"/>
            <a:chExt cx="22682200" cy="25400"/>
          </a:xfrm>
        </p:grpSpPr>
        <p:sp>
          <p:nvSpPr>
            <p:cNvPr name="Freeform 110" id="110"/>
            <p:cNvSpPr/>
            <p:nvPr/>
          </p:nvSpPr>
          <p:spPr>
            <a:xfrm flipH="false" flipV="false" rot="0">
              <a:off x="0" y="0"/>
              <a:ext cx="22682200" cy="25400"/>
            </a:xfrm>
            <a:custGeom>
              <a:avLst/>
              <a:gdLst/>
              <a:ahLst/>
              <a:cxnLst/>
              <a:rect r="r" b="b" t="t" l="l"/>
              <a:pathLst>
                <a:path h="25400" w="22682200">
                  <a:moveTo>
                    <a:pt x="0" y="25400"/>
                  </a:moveTo>
                  <a:lnTo>
                    <a:pt x="22682200" y="25400"/>
                  </a:lnTo>
                  <a:lnTo>
                    <a:pt x="22682200" y="0"/>
                  </a:lnTo>
                  <a:lnTo>
                    <a:pt x="0" y="0"/>
                  </a:lnTo>
                  <a:close/>
                </a:path>
              </a:pathLst>
            </a:custGeom>
            <a:solidFill>
              <a:srgbClr val="D8DFE8"/>
            </a:solidFill>
          </p:spPr>
        </p:sp>
      </p:grpSp>
      <p:grpSp>
        <p:nvGrpSpPr>
          <p:cNvPr name="Group 111" id="111"/>
          <p:cNvGrpSpPr/>
          <p:nvPr/>
        </p:nvGrpSpPr>
        <p:grpSpPr>
          <a:xfrm rot="0">
            <a:off x="638175" y="9544050"/>
            <a:ext cx="17011650" cy="476250"/>
            <a:chOff x="0" y="0"/>
            <a:chExt cx="22682200" cy="635000"/>
          </a:xfrm>
        </p:grpSpPr>
        <p:sp>
          <p:nvSpPr>
            <p:cNvPr name="Freeform 112" id="112"/>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113" id="113"/>
            <p:cNvSpPr txBox="true"/>
            <p:nvPr/>
          </p:nvSpPr>
          <p:spPr>
            <a:xfrm>
              <a:off x="0" y="-38100"/>
              <a:ext cx="22682200" cy="673100"/>
            </a:xfrm>
            <a:prstGeom prst="rect">
              <a:avLst/>
            </a:prstGeom>
          </p:spPr>
          <p:txBody>
            <a:bodyPr anchor="ctr" rtlCol="false" tIns="0" lIns="0" bIns="0" rIns="0"/>
            <a:lstStyle/>
            <a:p>
              <a:pPr algn="l">
                <a:lnSpc>
                  <a:spcPts val="3110"/>
                </a:lnSpc>
              </a:pPr>
              <a:r>
                <a:rPr lang="en-US" sz="2400" b="true">
                  <a:solidFill>
                    <a:srgbClr val="15215A"/>
                  </a:solidFill>
                  <a:latin typeface="Arial Bold"/>
                  <a:ea typeface="Arial Bold"/>
                  <a:cs typeface="Arial Bold"/>
                  <a:sym typeface="Arial Bold"/>
                </a:rPr>
                <a:t>Increase autonomy where it adds value. Validate every step.</a:t>
              </a:r>
            </a:p>
          </p:txBody>
        </p:sp>
      </p:grpSp>
      <p:grpSp>
        <p:nvGrpSpPr>
          <p:cNvPr name="Group 114" id="114"/>
          <p:cNvGrpSpPr/>
          <p:nvPr/>
        </p:nvGrpSpPr>
        <p:grpSpPr>
          <a:xfrm rot="0">
            <a:off x="13620750" y="2390775"/>
            <a:ext cx="1619250" cy="1085850"/>
            <a:chOff x="0" y="0"/>
            <a:chExt cx="2159000" cy="1447800"/>
          </a:xfrm>
        </p:grpSpPr>
        <p:sp>
          <p:nvSpPr>
            <p:cNvPr name="Freeform 115" id="115"/>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5"/>
              <a:stretch>
                <a:fillRect l="-293" t="0" r="-294" b="0"/>
              </a:stretch>
            </a:blipFill>
          </p:spPr>
        </p:sp>
      </p:grpSp>
      <p:grpSp>
        <p:nvGrpSpPr>
          <p:cNvPr name="Group 116" id="116"/>
          <p:cNvGrpSpPr/>
          <p:nvPr/>
        </p:nvGrpSpPr>
        <p:grpSpPr>
          <a:xfrm rot="0">
            <a:off x="638175" y="3762375"/>
            <a:ext cx="1619250" cy="1085850"/>
            <a:chOff x="0" y="0"/>
            <a:chExt cx="2159000" cy="1447800"/>
          </a:xfrm>
        </p:grpSpPr>
        <p:sp>
          <p:nvSpPr>
            <p:cNvPr name="Freeform 117" id="117"/>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6"/>
              <a:stretch>
                <a:fillRect l="-293" t="0" r="-294" b="0"/>
              </a:stretch>
            </a:blipFill>
          </p:spPr>
        </p:sp>
      </p:grpSp>
      <p:grpSp>
        <p:nvGrpSpPr>
          <p:cNvPr name="Group 118" id="118"/>
          <p:cNvGrpSpPr/>
          <p:nvPr/>
        </p:nvGrpSpPr>
        <p:grpSpPr>
          <a:xfrm rot="0">
            <a:off x="13620750" y="4981575"/>
            <a:ext cx="1619250" cy="1085850"/>
            <a:chOff x="0" y="0"/>
            <a:chExt cx="2159000" cy="1447800"/>
          </a:xfrm>
        </p:grpSpPr>
        <p:sp>
          <p:nvSpPr>
            <p:cNvPr name="Freeform 119" id="119"/>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7"/>
              <a:stretch>
                <a:fillRect l="-293" t="0" r="-294" b="0"/>
              </a:stretch>
            </a:blipFill>
          </p:spPr>
        </p:sp>
      </p:grpSp>
      <p:grpSp>
        <p:nvGrpSpPr>
          <p:cNvPr name="Group 120" id="120"/>
          <p:cNvGrpSpPr/>
          <p:nvPr/>
        </p:nvGrpSpPr>
        <p:grpSpPr>
          <a:xfrm rot="0">
            <a:off x="638175" y="6200775"/>
            <a:ext cx="1619250" cy="1085850"/>
            <a:chOff x="0" y="0"/>
            <a:chExt cx="2159000" cy="1447800"/>
          </a:xfrm>
        </p:grpSpPr>
        <p:sp>
          <p:nvSpPr>
            <p:cNvPr name="Freeform 121" id="121"/>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8"/>
              <a:stretch>
                <a:fillRect l="-293" t="0" r="-294" b="0"/>
              </a:stretch>
            </a:blipFill>
          </p:spPr>
        </p:sp>
      </p:grpSp>
      <p:grpSp>
        <p:nvGrpSpPr>
          <p:cNvPr name="Group 122" id="122"/>
          <p:cNvGrpSpPr/>
          <p:nvPr/>
        </p:nvGrpSpPr>
        <p:grpSpPr>
          <a:xfrm rot="0">
            <a:off x="13620750" y="7219950"/>
            <a:ext cx="1619250" cy="1085850"/>
            <a:chOff x="0" y="0"/>
            <a:chExt cx="2159000" cy="1447800"/>
          </a:xfrm>
        </p:grpSpPr>
        <p:sp>
          <p:nvSpPr>
            <p:cNvPr name="Freeform 123" id="123"/>
            <p:cNvSpPr/>
            <p:nvPr/>
          </p:nvSpPr>
          <p:spPr>
            <a:xfrm flipH="false" flipV="false" rot="0">
              <a:off x="0" y="0"/>
              <a:ext cx="2159000" cy="1447800"/>
            </a:xfrm>
            <a:custGeom>
              <a:avLst/>
              <a:gdLst/>
              <a:ahLst/>
              <a:cxnLst/>
              <a:rect r="r" b="b" t="t" l="l"/>
              <a:pathLst>
                <a:path h="1447800" w="2159000">
                  <a:moveTo>
                    <a:pt x="0" y="0"/>
                  </a:moveTo>
                  <a:lnTo>
                    <a:pt x="2159000" y="0"/>
                  </a:lnTo>
                  <a:lnTo>
                    <a:pt x="2159000" y="1447800"/>
                  </a:lnTo>
                  <a:lnTo>
                    <a:pt x="0" y="1447800"/>
                  </a:lnTo>
                  <a:lnTo>
                    <a:pt x="0" y="0"/>
                  </a:lnTo>
                  <a:close/>
                </a:path>
              </a:pathLst>
            </a:custGeom>
            <a:blipFill>
              <a:blip r:embed="rId9"/>
              <a:stretch>
                <a:fillRect l="-293" t="0" r="-294"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sp>
      <p:grpSp>
        <p:nvGrpSpPr>
          <p:cNvPr name="Group 3" id="3"/>
          <p:cNvGrpSpPr/>
          <p:nvPr/>
        </p:nvGrpSpPr>
        <p:grpSpPr>
          <a:xfrm rot="0">
            <a:off x="638175" y="571500"/>
            <a:ext cx="17011650" cy="914400"/>
            <a:chOff x="0" y="0"/>
            <a:chExt cx="22682200" cy="1219200"/>
          </a:xfrm>
        </p:grpSpPr>
        <p:sp>
          <p:nvSpPr>
            <p:cNvPr name="Freeform 4" id="4"/>
            <p:cNvSpPr/>
            <p:nvPr/>
          </p:nvSpPr>
          <p:spPr>
            <a:xfrm flipH="false" flipV="false" rot="0">
              <a:off x="0" y="0"/>
              <a:ext cx="22682200" cy="1219200"/>
            </a:xfrm>
            <a:custGeom>
              <a:avLst/>
              <a:gdLst/>
              <a:ahLst/>
              <a:cxnLst/>
              <a:rect r="r" b="b" t="t" l="l"/>
              <a:pathLst>
                <a:path h="1219200" w="22682200">
                  <a:moveTo>
                    <a:pt x="0" y="0"/>
                  </a:moveTo>
                  <a:lnTo>
                    <a:pt x="22682200" y="0"/>
                  </a:lnTo>
                  <a:lnTo>
                    <a:pt x="22682200" y="1219200"/>
                  </a:lnTo>
                  <a:lnTo>
                    <a:pt x="0" y="1219200"/>
                  </a:lnTo>
                  <a:close/>
                </a:path>
              </a:pathLst>
            </a:custGeom>
            <a:blipFill>
              <a:blip r:embed="rId4">
                <a:alphaModFix amt="0"/>
              </a:blip>
              <a:stretch>
                <a:fillRect l="0" t="-312502" r="0" b="-312502"/>
              </a:stretch>
            </a:blipFill>
          </p:spPr>
        </p:sp>
        <p:sp>
          <p:nvSpPr>
            <p:cNvPr name="TextBox 5" id="5"/>
            <p:cNvSpPr txBox="true"/>
            <p:nvPr/>
          </p:nvSpPr>
          <p:spPr>
            <a:xfrm>
              <a:off x="0" y="-76200"/>
              <a:ext cx="22682200" cy="1295400"/>
            </a:xfrm>
            <a:prstGeom prst="rect">
              <a:avLst/>
            </a:prstGeom>
          </p:spPr>
          <p:txBody>
            <a:bodyPr anchor="ctr" rtlCol="false" tIns="0" lIns="0" bIns="0" rIns="0"/>
            <a:lstStyle/>
            <a:p>
              <a:pPr algn="l">
                <a:lnSpc>
                  <a:spcPts val="7776"/>
                </a:lnSpc>
              </a:pPr>
              <a:r>
                <a:rPr lang="en-US" sz="6000">
                  <a:solidFill>
                    <a:srgbClr val="15215A"/>
                  </a:solidFill>
                  <a:latin typeface="Arial"/>
                  <a:ea typeface="Arial"/>
                  <a:cs typeface="Arial"/>
                  <a:sym typeface="Arial"/>
                </a:rPr>
                <a:t>Why autonomous motion matters</a:t>
              </a:r>
            </a:p>
          </p:txBody>
        </p:sp>
      </p:grpSp>
      <p:grpSp>
        <p:nvGrpSpPr>
          <p:cNvPr name="Group 6" id="6"/>
          <p:cNvGrpSpPr/>
          <p:nvPr/>
        </p:nvGrpSpPr>
        <p:grpSpPr>
          <a:xfrm rot="0">
            <a:off x="638175" y="2019300"/>
            <a:ext cx="5314950" cy="571500"/>
            <a:chOff x="0" y="0"/>
            <a:chExt cx="7086600" cy="762000"/>
          </a:xfrm>
        </p:grpSpPr>
        <p:sp>
          <p:nvSpPr>
            <p:cNvPr name="Freeform 7" id="7"/>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8" id="8"/>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A new panel</a:t>
              </a:r>
            </a:p>
          </p:txBody>
        </p:sp>
      </p:grpSp>
      <p:grpSp>
        <p:nvGrpSpPr>
          <p:cNvPr name="Group 9" id="9"/>
          <p:cNvGrpSpPr/>
          <p:nvPr/>
        </p:nvGrpSpPr>
        <p:grpSpPr>
          <a:xfrm rot="0">
            <a:off x="638175" y="2743200"/>
            <a:ext cx="5314950" cy="3543300"/>
            <a:chOff x="0" y="0"/>
            <a:chExt cx="7086600" cy="4724400"/>
          </a:xfrm>
        </p:grpSpPr>
        <p:sp>
          <p:nvSpPr>
            <p:cNvPr name="Freeform 10" id="10"/>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5"/>
              <a:stretch>
                <a:fillRect l="0" t="0" r="0" b="0"/>
              </a:stretch>
            </a:blipFill>
          </p:spPr>
        </p:sp>
      </p:grpSp>
      <p:grpSp>
        <p:nvGrpSpPr>
          <p:cNvPr name="Group 11" id="11"/>
          <p:cNvGrpSpPr/>
          <p:nvPr/>
        </p:nvGrpSpPr>
        <p:grpSpPr>
          <a:xfrm rot="0">
            <a:off x="828675" y="6448425"/>
            <a:ext cx="5124450" cy="485775"/>
            <a:chOff x="0" y="0"/>
            <a:chExt cx="6832600" cy="647700"/>
          </a:xfrm>
        </p:grpSpPr>
        <p:sp>
          <p:nvSpPr>
            <p:cNvPr name="Freeform 12" id="12"/>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13" id="13"/>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Different shape or position</a:t>
              </a:r>
            </a:p>
          </p:txBody>
        </p:sp>
      </p:grpSp>
      <p:grpSp>
        <p:nvGrpSpPr>
          <p:cNvPr name="Group 14" id="14"/>
          <p:cNvGrpSpPr/>
          <p:nvPr/>
        </p:nvGrpSpPr>
        <p:grpSpPr>
          <a:xfrm rot="0">
            <a:off x="6486525" y="2019300"/>
            <a:ext cx="5314950" cy="571500"/>
            <a:chOff x="0" y="0"/>
            <a:chExt cx="7086600" cy="762000"/>
          </a:xfrm>
        </p:grpSpPr>
        <p:sp>
          <p:nvSpPr>
            <p:cNvPr name="Freeform 15" id="15"/>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16" id="16"/>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Back to programming</a:t>
              </a:r>
            </a:p>
          </p:txBody>
        </p:sp>
      </p:grpSp>
      <p:grpSp>
        <p:nvGrpSpPr>
          <p:cNvPr name="Group 17" id="17"/>
          <p:cNvGrpSpPr/>
          <p:nvPr/>
        </p:nvGrpSpPr>
        <p:grpSpPr>
          <a:xfrm rot="0">
            <a:off x="6486525" y="2743200"/>
            <a:ext cx="5314950" cy="3543300"/>
            <a:chOff x="0" y="0"/>
            <a:chExt cx="7086600" cy="4724400"/>
          </a:xfrm>
        </p:grpSpPr>
        <p:sp>
          <p:nvSpPr>
            <p:cNvPr name="Freeform 18" id="18"/>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6"/>
              <a:stretch>
                <a:fillRect l="0" t="0" r="0" b="0"/>
              </a:stretch>
            </a:blipFill>
          </p:spPr>
        </p:sp>
      </p:grpSp>
      <p:grpSp>
        <p:nvGrpSpPr>
          <p:cNvPr name="Group 19" id="19"/>
          <p:cNvGrpSpPr/>
          <p:nvPr/>
        </p:nvGrpSpPr>
        <p:grpSpPr>
          <a:xfrm rot="0">
            <a:off x="6486525" y="6448425"/>
            <a:ext cx="5124450" cy="485775"/>
            <a:chOff x="0" y="0"/>
            <a:chExt cx="6832600" cy="647700"/>
          </a:xfrm>
        </p:grpSpPr>
        <p:sp>
          <p:nvSpPr>
            <p:cNvPr name="Freeform 20" id="20"/>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1" id="21"/>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Adjust paths. Run trials. Repeat.</a:t>
              </a:r>
            </a:p>
          </p:txBody>
        </p:sp>
      </p:grpSp>
      <p:grpSp>
        <p:nvGrpSpPr>
          <p:cNvPr name="Group 22" id="22"/>
          <p:cNvGrpSpPr/>
          <p:nvPr/>
        </p:nvGrpSpPr>
        <p:grpSpPr>
          <a:xfrm rot="0">
            <a:off x="12334875" y="2019300"/>
            <a:ext cx="5314950" cy="571500"/>
            <a:chOff x="0" y="0"/>
            <a:chExt cx="7086600" cy="762000"/>
          </a:xfrm>
        </p:grpSpPr>
        <p:sp>
          <p:nvSpPr>
            <p:cNvPr name="Freeform 23" id="23"/>
            <p:cNvSpPr/>
            <p:nvPr/>
          </p:nvSpPr>
          <p:spPr>
            <a:xfrm flipH="false" flipV="false" rot="0">
              <a:off x="0" y="0"/>
              <a:ext cx="7086600" cy="762000"/>
            </a:xfrm>
            <a:custGeom>
              <a:avLst/>
              <a:gdLst/>
              <a:ahLst/>
              <a:cxnLst/>
              <a:rect r="r" b="b" t="t" l="l"/>
              <a:pathLst>
                <a:path h="762000" w="7086600">
                  <a:moveTo>
                    <a:pt x="0" y="0"/>
                  </a:moveTo>
                  <a:lnTo>
                    <a:pt x="7086600" y="0"/>
                  </a:lnTo>
                  <a:lnTo>
                    <a:pt x="7086600" y="762000"/>
                  </a:lnTo>
                  <a:lnTo>
                    <a:pt x="0" y="762000"/>
                  </a:lnTo>
                  <a:close/>
                </a:path>
              </a:pathLst>
            </a:custGeom>
            <a:blipFill>
              <a:blip r:embed="rId4">
                <a:alphaModFix amt="0"/>
              </a:blip>
              <a:stretch>
                <a:fillRect l="0" t="-131210" r="0" b="-131210"/>
              </a:stretch>
            </a:blipFill>
          </p:spPr>
        </p:sp>
        <p:sp>
          <p:nvSpPr>
            <p:cNvPr name="TextBox 24" id="24"/>
            <p:cNvSpPr txBox="true"/>
            <p:nvPr/>
          </p:nvSpPr>
          <p:spPr>
            <a:xfrm>
              <a:off x="0" y="-38100"/>
              <a:ext cx="7086600" cy="800100"/>
            </a:xfrm>
            <a:prstGeom prst="rect">
              <a:avLst/>
            </a:prstGeom>
          </p:spPr>
          <p:txBody>
            <a:bodyPr anchor="ctr" rtlCol="false" tIns="0" lIns="0" bIns="0" rIns="0"/>
            <a:lstStyle/>
            <a:p>
              <a:pPr algn="l">
                <a:lnSpc>
                  <a:spcPts val="3693"/>
                </a:lnSpc>
              </a:pPr>
              <a:r>
                <a:rPr lang="en-US" sz="2850" b="true">
                  <a:solidFill>
                    <a:srgbClr val="15215A"/>
                  </a:solidFill>
                  <a:latin typeface="Arial Bold"/>
                  <a:ea typeface="Arial Bold"/>
                  <a:cs typeface="Arial Bold"/>
                  <a:sym typeface="Arial Bold"/>
                </a:rPr>
                <a:t>With autonomous motion</a:t>
              </a:r>
            </a:p>
          </p:txBody>
        </p:sp>
      </p:grpSp>
      <p:grpSp>
        <p:nvGrpSpPr>
          <p:cNvPr name="Group 25" id="25"/>
          <p:cNvGrpSpPr/>
          <p:nvPr/>
        </p:nvGrpSpPr>
        <p:grpSpPr>
          <a:xfrm rot="0">
            <a:off x="12334875" y="2743200"/>
            <a:ext cx="5314950" cy="3543300"/>
            <a:chOff x="0" y="0"/>
            <a:chExt cx="7086600" cy="4724400"/>
          </a:xfrm>
        </p:grpSpPr>
        <p:sp>
          <p:nvSpPr>
            <p:cNvPr name="Freeform 26" id="26"/>
            <p:cNvSpPr/>
            <p:nvPr/>
          </p:nvSpPr>
          <p:spPr>
            <a:xfrm flipH="false" flipV="false" rot="0">
              <a:off x="0" y="0"/>
              <a:ext cx="7086600" cy="4724400"/>
            </a:xfrm>
            <a:custGeom>
              <a:avLst/>
              <a:gdLst/>
              <a:ahLst/>
              <a:cxnLst/>
              <a:rect r="r" b="b" t="t" l="l"/>
              <a:pathLst>
                <a:path h="4724400" w="7086600">
                  <a:moveTo>
                    <a:pt x="0" y="0"/>
                  </a:moveTo>
                  <a:lnTo>
                    <a:pt x="7086600" y="0"/>
                  </a:lnTo>
                  <a:lnTo>
                    <a:pt x="7086600" y="4724400"/>
                  </a:lnTo>
                  <a:lnTo>
                    <a:pt x="0" y="4724400"/>
                  </a:lnTo>
                  <a:lnTo>
                    <a:pt x="0" y="0"/>
                  </a:lnTo>
                  <a:close/>
                </a:path>
              </a:pathLst>
            </a:custGeom>
            <a:blipFill>
              <a:blip r:embed="rId7"/>
              <a:stretch>
                <a:fillRect l="0" t="0" r="0" b="0"/>
              </a:stretch>
            </a:blipFill>
          </p:spPr>
        </p:sp>
      </p:grpSp>
      <p:grpSp>
        <p:nvGrpSpPr>
          <p:cNvPr name="Group 27" id="27"/>
          <p:cNvGrpSpPr/>
          <p:nvPr/>
        </p:nvGrpSpPr>
        <p:grpSpPr>
          <a:xfrm rot="0">
            <a:off x="12334875" y="6448425"/>
            <a:ext cx="5124450" cy="485775"/>
            <a:chOff x="0" y="0"/>
            <a:chExt cx="6832600" cy="647700"/>
          </a:xfrm>
        </p:grpSpPr>
        <p:sp>
          <p:nvSpPr>
            <p:cNvPr name="Freeform 28" id="28"/>
            <p:cNvSpPr/>
            <p:nvPr/>
          </p:nvSpPr>
          <p:spPr>
            <a:xfrm flipH="false" flipV="false" rot="0">
              <a:off x="0" y="0"/>
              <a:ext cx="6832600" cy="647700"/>
            </a:xfrm>
            <a:custGeom>
              <a:avLst/>
              <a:gdLst/>
              <a:ahLst/>
              <a:cxnLst/>
              <a:rect r="r" b="b" t="t" l="l"/>
              <a:pathLst>
                <a:path h="647700" w="6832600">
                  <a:moveTo>
                    <a:pt x="0" y="0"/>
                  </a:moveTo>
                  <a:lnTo>
                    <a:pt x="6832600" y="0"/>
                  </a:lnTo>
                  <a:lnTo>
                    <a:pt x="6832600" y="647700"/>
                  </a:lnTo>
                  <a:lnTo>
                    <a:pt x="0" y="647700"/>
                  </a:lnTo>
                  <a:close/>
                </a:path>
              </a:pathLst>
            </a:custGeom>
            <a:blipFill>
              <a:blip r:embed="rId4">
                <a:alphaModFix amt="0"/>
              </a:blip>
              <a:stretch>
                <a:fillRect l="0" t="-155548" r="0" b="-155548"/>
              </a:stretch>
            </a:blipFill>
          </p:spPr>
        </p:sp>
        <p:sp>
          <p:nvSpPr>
            <p:cNvPr name="TextBox 29" id="29"/>
            <p:cNvSpPr txBox="true"/>
            <p:nvPr/>
          </p:nvSpPr>
          <p:spPr>
            <a:xfrm>
              <a:off x="0" y="-38100"/>
              <a:ext cx="6832600" cy="685800"/>
            </a:xfrm>
            <a:prstGeom prst="rect">
              <a:avLst/>
            </a:prstGeom>
          </p:spPr>
          <p:txBody>
            <a:bodyPr anchor="ctr" rtlCol="false" tIns="0" lIns="0" bIns="0" rIns="0"/>
            <a:lstStyle/>
            <a:p>
              <a:pPr algn="l">
                <a:lnSpc>
                  <a:spcPts val="3110"/>
                </a:lnSpc>
              </a:pPr>
              <a:r>
                <a:rPr lang="en-US" sz="2400">
                  <a:solidFill>
                    <a:srgbClr val="526078"/>
                  </a:solidFill>
                  <a:latin typeface="Arial"/>
                  <a:ea typeface="Arial"/>
                  <a:cs typeface="Arial"/>
                  <a:sym typeface="Arial"/>
                </a:rPr>
                <a:t>Plan and adapt to the surface</a:t>
              </a:r>
            </a:p>
          </p:txBody>
        </p:sp>
      </p:grpSp>
      <p:grpSp>
        <p:nvGrpSpPr>
          <p:cNvPr name="Group 30" id="30"/>
          <p:cNvGrpSpPr/>
          <p:nvPr/>
        </p:nvGrpSpPr>
        <p:grpSpPr>
          <a:xfrm rot="0">
            <a:off x="6048375" y="4314825"/>
            <a:ext cx="342900" cy="323850"/>
            <a:chOff x="0" y="0"/>
            <a:chExt cx="457200" cy="431800"/>
          </a:xfrm>
        </p:grpSpPr>
        <p:sp>
          <p:nvSpPr>
            <p:cNvPr name="Freeform 31" id="31"/>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CE846F"/>
            </a:solidFill>
          </p:spPr>
        </p:sp>
      </p:grpSp>
      <p:grpSp>
        <p:nvGrpSpPr>
          <p:cNvPr name="Group 32" id="32"/>
          <p:cNvGrpSpPr/>
          <p:nvPr/>
        </p:nvGrpSpPr>
        <p:grpSpPr>
          <a:xfrm rot="0">
            <a:off x="11896725" y="4314825"/>
            <a:ext cx="342900" cy="323850"/>
            <a:chOff x="0" y="0"/>
            <a:chExt cx="457200" cy="431800"/>
          </a:xfrm>
        </p:grpSpPr>
        <p:sp>
          <p:nvSpPr>
            <p:cNvPr name="Freeform 33" id="33"/>
            <p:cNvSpPr/>
            <p:nvPr/>
          </p:nvSpPr>
          <p:spPr>
            <a:xfrm flipH="false" flipV="false" rot="0">
              <a:off x="0" y="0"/>
              <a:ext cx="457200" cy="431800"/>
            </a:xfrm>
            <a:custGeom>
              <a:avLst/>
              <a:gdLst/>
              <a:ahLst/>
              <a:cxnLst/>
              <a:rect r="r" b="b" t="t" l="l"/>
              <a:pathLst>
                <a:path h="431800" w="457200">
                  <a:moveTo>
                    <a:pt x="0" y="107950"/>
                  </a:moveTo>
                  <a:lnTo>
                    <a:pt x="241300" y="107950"/>
                  </a:lnTo>
                  <a:lnTo>
                    <a:pt x="241300" y="0"/>
                  </a:lnTo>
                  <a:lnTo>
                    <a:pt x="457200" y="215900"/>
                  </a:lnTo>
                  <a:lnTo>
                    <a:pt x="241300" y="431800"/>
                  </a:lnTo>
                  <a:lnTo>
                    <a:pt x="241300" y="323850"/>
                  </a:lnTo>
                  <a:lnTo>
                    <a:pt x="0" y="323850"/>
                  </a:lnTo>
                  <a:close/>
                </a:path>
              </a:pathLst>
            </a:custGeom>
            <a:solidFill>
              <a:srgbClr val="409A91"/>
            </a:solidFill>
          </p:spPr>
        </p:sp>
      </p:grpSp>
      <p:grpSp>
        <p:nvGrpSpPr>
          <p:cNvPr name="Group 34" id="34"/>
          <p:cNvGrpSpPr/>
          <p:nvPr/>
        </p:nvGrpSpPr>
        <p:grpSpPr>
          <a:xfrm rot="0">
            <a:off x="11811000" y="6315075"/>
            <a:ext cx="38100" cy="838200"/>
            <a:chOff x="0" y="0"/>
            <a:chExt cx="50800" cy="1117600"/>
          </a:xfrm>
        </p:grpSpPr>
        <p:sp>
          <p:nvSpPr>
            <p:cNvPr name="Freeform 35" id="35"/>
            <p:cNvSpPr/>
            <p:nvPr/>
          </p:nvSpPr>
          <p:spPr>
            <a:xfrm flipH="false" flipV="false" rot="0">
              <a:off x="0" y="0"/>
              <a:ext cx="50800" cy="1117600"/>
            </a:xfrm>
            <a:custGeom>
              <a:avLst/>
              <a:gdLst/>
              <a:ahLst/>
              <a:cxnLst/>
              <a:rect r="r" b="b" t="t" l="l"/>
              <a:pathLst>
                <a:path h="1117600" w="50800">
                  <a:moveTo>
                    <a:pt x="0" y="0"/>
                  </a:moveTo>
                  <a:lnTo>
                    <a:pt x="50800" y="0"/>
                  </a:lnTo>
                  <a:lnTo>
                    <a:pt x="50800" y="1117600"/>
                  </a:lnTo>
                  <a:lnTo>
                    <a:pt x="0" y="1117600"/>
                  </a:lnTo>
                  <a:close/>
                </a:path>
              </a:pathLst>
            </a:custGeom>
            <a:solidFill>
              <a:srgbClr val="CE846F"/>
            </a:solidFill>
          </p:spPr>
        </p:sp>
      </p:grpSp>
      <p:grpSp>
        <p:nvGrpSpPr>
          <p:cNvPr name="Group 36" id="36"/>
          <p:cNvGrpSpPr/>
          <p:nvPr/>
        </p:nvGrpSpPr>
        <p:grpSpPr>
          <a:xfrm rot="0">
            <a:off x="638175" y="7115175"/>
            <a:ext cx="11210925" cy="38100"/>
            <a:chOff x="0" y="0"/>
            <a:chExt cx="14947900" cy="50800"/>
          </a:xfrm>
        </p:grpSpPr>
        <p:sp>
          <p:nvSpPr>
            <p:cNvPr name="Freeform 37" id="37"/>
            <p:cNvSpPr/>
            <p:nvPr/>
          </p:nvSpPr>
          <p:spPr>
            <a:xfrm flipH="false" flipV="false" rot="0">
              <a:off x="0" y="0"/>
              <a:ext cx="14947900" cy="50800"/>
            </a:xfrm>
            <a:custGeom>
              <a:avLst/>
              <a:gdLst/>
              <a:ahLst/>
              <a:cxnLst/>
              <a:rect r="r" b="b" t="t" l="l"/>
              <a:pathLst>
                <a:path h="50800" w="14947900">
                  <a:moveTo>
                    <a:pt x="0" y="0"/>
                  </a:moveTo>
                  <a:lnTo>
                    <a:pt x="14947900" y="0"/>
                  </a:lnTo>
                  <a:lnTo>
                    <a:pt x="14947900" y="50800"/>
                  </a:lnTo>
                  <a:lnTo>
                    <a:pt x="0" y="50800"/>
                  </a:lnTo>
                  <a:close/>
                </a:path>
              </a:pathLst>
            </a:custGeom>
            <a:solidFill>
              <a:srgbClr val="CE846F"/>
            </a:solidFill>
          </p:spPr>
        </p:sp>
      </p:grpSp>
      <p:grpSp>
        <p:nvGrpSpPr>
          <p:cNvPr name="Group 38" id="38"/>
          <p:cNvGrpSpPr/>
          <p:nvPr/>
        </p:nvGrpSpPr>
        <p:grpSpPr>
          <a:xfrm rot="0">
            <a:off x="619125" y="6581775"/>
            <a:ext cx="38100" cy="571500"/>
            <a:chOff x="0" y="0"/>
            <a:chExt cx="50800" cy="762000"/>
          </a:xfrm>
        </p:grpSpPr>
        <p:sp>
          <p:nvSpPr>
            <p:cNvPr name="Freeform 39" id="39"/>
            <p:cNvSpPr/>
            <p:nvPr/>
          </p:nvSpPr>
          <p:spPr>
            <a:xfrm flipH="false" flipV="false" rot="0">
              <a:off x="0" y="0"/>
              <a:ext cx="50800" cy="762000"/>
            </a:xfrm>
            <a:custGeom>
              <a:avLst/>
              <a:gdLst/>
              <a:ahLst/>
              <a:cxnLst/>
              <a:rect r="r" b="b" t="t" l="l"/>
              <a:pathLst>
                <a:path h="762000" w="50800">
                  <a:moveTo>
                    <a:pt x="0" y="0"/>
                  </a:moveTo>
                  <a:lnTo>
                    <a:pt x="50800" y="0"/>
                  </a:lnTo>
                  <a:lnTo>
                    <a:pt x="50800" y="762000"/>
                  </a:lnTo>
                  <a:lnTo>
                    <a:pt x="0" y="762000"/>
                  </a:lnTo>
                  <a:close/>
                </a:path>
              </a:pathLst>
            </a:custGeom>
            <a:solidFill>
              <a:srgbClr val="CE846F"/>
            </a:solidFill>
          </p:spPr>
        </p:sp>
      </p:grpSp>
      <p:grpSp>
        <p:nvGrpSpPr>
          <p:cNvPr name="Group 40" id="40"/>
          <p:cNvGrpSpPr/>
          <p:nvPr/>
        </p:nvGrpSpPr>
        <p:grpSpPr>
          <a:xfrm rot="0">
            <a:off x="485775" y="6315075"/>
            <a:ext cx="304800" cy="304800"/>
            <a:chOff x="0" y="0"/>
            <a:chExt cx="406400" cy="406400"/>
          </a:xfrm>
        </p:grpSpPr>
        <p:sp>
          <p:nvSpPr>
            <p:cNvPr name="Freeform 41" id="41"/>
            <p:cNvSpPr/>
            <p:nvPr/>
          </p:nvSpPr>
          <p:spPr>
            <a:xfrm flipH="false" flipV="false" rot="0">
              <a:off x="0" y="0"/>
              <a:ext cx="406400" cy="406400"/>
            </a:xfrm>
            <a:custGeom>
              <a:avLst/>
              <a:gdLst/>
              <a:ahLst/>
              <a:cxnLst/>
              <a:rect r="r" b="b" t="t" l="l"/>
              <a:pathLst>
                <a:path h="406400" w="406400">
                  <a:moveTo>
                    <a:pt x="0" y="203200"/>
                  </a:moveTo>
                  <a:lnTo>
                    <a:pt x="203200" y="0"/>
                  </a:lnTo>
                  <a:lnTo>
                    <a:pt x="406400" y="203200"/>
                  </a:lnTo>
                  <a:lnTo>
                    <a:pt x="304800" y="203200"/>
                  </a:lnTo>
                  <a:lnTo>
                    <a:pt x="304800" y="406400"/>
                  </a:lnTo>
                  <a:lnTo>
                    <a:pt x="101600" y="406400"/>
                  </a:lnTo>
                  <a:lnTo>
                    <a:pt x="101600" y="203200"/>
                  </a:lnTo>
                  <a:close/>
                </a:path>
              </a:pathLst>
            </a:custGeom>
            <a:solidFill>
              <a:srgbClr val="CE846F"/>
            </a:solidFill>
          </p:spPr>
        </p:sp>
      </p:grpSp>
      <p:grpSp>
        <p:nvGrpSpPr>
          <p:cNvPr name="Group 42" id="42"/>
          <p:cNvGrpSpPr/>
          <p:nvPr/>
        </p:nvGrpSpPr>
        <p:grpSpPr>
          <a:xfrm rot="0">
            <a:off x="3695700" y="6924675"/>
            <a:ext cx="5191125" cy="409575"/>
            <a:chOff x="0" y="0"/>
            <a:chExt cx="6921500" cy="546100"/>
          </a:xfrm>
        </p:grpSpPr>
        <p:sp>
          <p:nvSpPr>
            <p:cNvPr name="Freeform 43" id="43"/>
            <p:cNvSpPr/>
            <p:nvPr/>
          </p:nvSpPr>
          <p:spPr>
            <a:xfrm flipH="false" flipV="false" rot="0">
              <a:off x="0" y="0"/>
              <a:ext cx="6921500" cy="546100"/>
            </a:xfrm>
            <a:custGeom>
              <a:avLst/>
              <a:gdLst/>
              <a:ahLst/>
              <a:cxnLst/>
              <a:rect r="r" b="b" t="t" l="l"/>
              <a:pathLst>
                <a:path h="546100" w="6921500">
                  <a:moveTo>
                    <a:pt x="0" y="0"/>
                  </a:moveTo>
                  <a:lnTo>
                    <a:pt x="6921500" y="0"/>
                  </a:lnTo>
                  <a:lnTo>
                    <a:pt x="6921500" y="546100"/>
                  </a:lnTo>
                  <a:lnTo>
                    <a:pt x="0" y="546100"/>
                  </a:lnTo>
                  <a:close/>
                </a:path>
              </a:pathLst>
            </a:custGeom>
            <a:solidFill>
              <a:srgbClr val="FFFFFF"/>
            </a:solidFill>
          </p:spPr>
        </p:sp>
      </p:grpSp>
      <p:grpSp>
        <p:nvGrpSpPr>
          <p:cNvPr name="Group 44" id="44"/>
          <p:cNvGrpSpPr/>
          <p:nvPr/>
        </p:nvGrpSpPr>
        <p:grpSpPr>
          <a:xfrm rot="0">
            <a:off x="3867150" y="6934200"/>
            <a:ext cx="4857750" cy="400050"/>
            <a:chOff x="0" y="0"/>
            <a:chExt cx="6477000" cy="533400"/>
          </a:xfrm>
        </p:grpSpPr>
        <p:sp>
          <p:nvSpPr>
            <p:cNvPr name="Freeform 45" id="45"/>
            <p:cNvSpPr/>
            <p:nvPr/>
          </p:nvSpPr>
          <p:spPr>
            <a:xfrm flipH="false" flipV="false" rot="0">
              <a:off x="0" y="0"/>
              <a:ext cx="6477000" cy="533400"/>
            </a:xfrm>
            <a:custGeom>
              <a:avLst/>
              <a:gdLst/>
              <a:ahLst/>
              <a:cxnLst/>
              <a:rect r="r" b="b" t="t" l="l"/>
              <a:pathLst>
                <a:path h="533400" w="6477000">
                  <a:moveTo>
                    <a:pt x="0" y="0"/>
                  </a:moveTo>
                  <a:lnTo>
                    <a:pt x="6477000" y="0"/>
                  </a:lnTo>
                  <a:lnTo>
                    <a:pt x="6477000" y="533400"/>
                  </a:lnTo>
                  <a:lnTo>
                    <a:pt x="0" y="533400"/>
                  </a:lnTo>
                  <a:close/>
                </a:path>
              </a:pathLst>
            </a:custGeom>
            <a:blipFill>
              <a:blip r:embed="rId4">
                <a:alphaModFix amt="0"/>
              </a:blip>
              <a:stretch>
                <a:fillRect l="0" t="-186604" r="0" b="-186604"/>
              </a:stretch>
            </a:blipFill>
          </p:spPr>
        </p:sp>
        <p:sp>
          <p:nvSpPr>
            <p:cNvPr name="TextBox 46" id="46"/>
            <p:cNvSpPr txBox="true"/>
            <p:nvPr/>
          </p:nvSpPr>
          <p:spPr>
            <a:xfrm>
              <a:off x="0" y="-38100"/>
              <a:ext cx="6477000" cy="571500"/>
            </a:xfrm>
            <a:prstGeom prst="rect">
              <a:avLst/>
            </a:prstGeom>
          </p:spPr>
          <p:txBody>
            <a:bodyPr anchor="ctr" rtlCol="false" tIns="0" lIns="0" bIns="0" rIns="0"/>
            <a:lstStyle/>
            <a:p>
              <a:pPr algn="l">
                <a:lnSpc>
                  <a:spcPts val="3110"/>
                </a:lnSpc>
              </a:pPr>
              <a:r>
                <a:rPr lang="en-US" sz="2400" b="true">
                  <a:solidFill>
                    <a:srgbClr val="CE846F"/>
                  </a:solidFill>
                  <a:latin typeface="Arial Bold"/>
                  <a:ea typeface="Arial Bold"/>
                  <a:cs typeface="Arial Bold"/>
                  <a:sym typeface="Arial Bold"/>
                </a:rPr>
                <a:t>Repeat for every new panel</a:t>
              </a:r>
            </a:p>
          </p:txBody>
        </p:sp>
      </p:grpSp>
      <p:grpSp>
        <p:nvGrpSpPr>
          <p:cNvPr name="Group 47" id="47"/>
          <p:cNvGrpSpPr/>
          <p:nvPr/>
        </p:nvGrpSpPr>
        <p:grpSpPr>
          <a:xfrm rot="0">
            <a:off x="638175" y="7267575"/>
            <a:ext cx="17011650" cy="342900"/>
            <a:chOff x="0" y="0"/>
            <a:chExt cx="22682200" cy="457200"/>
          </a:xfrm>
        </p:grpSpPr>
        <p:sp>
          <p:nvSpPr>
            <p:cNvPr name="Freeform 48" id="48"/>
            <p:cNvSpPr/>
            <p:nvPr/>
          </p:nvSpPr>
          <p:spPr>
            <a:xfrm flipH="false" flipV="false" rot="0">
              <a:off x="0" y="0"/>
              <a:ext cx="22682200" cy="457200"/>
            </a:xfrm>
            <a:custGeom>
              <a:avLst/>
              <a:gdLst/>
              <a:ahLst/>
              <a:cxnLst/>
              <a:rect r="r" b="b" t="t" l="l"/>
              <a:pathLst>
                <a:path h="457200" w="22682200">
                  <a:moveTo>
                    <a:pt x="0" y="0"/>
                  </a:moveTo>
                  <a:lnTo>
                    <a:pt x="22682200" y="0"/>
                  </a:lnTo>
                  <a:lnTo>
                    <a:pt x="22682200" y="457200"/>
                  </a:lnTo>
                  <a:lnTo>
                    <a:pt x="0" y="457200"/>
                  </a:lnTo>
                  <a:close/>
                </a:path>
              </a:pathLst>
            </a:custGeom>
            <a:blipFill>
              <a:blip r:embed="rId4">
                <a:alphaModFix amt="0"/>
              </a:blip>
              <a:stretch>
                <a:fillRect l="0" t="-916674" r="0" b="-916674"/>
              </a:stretch>
            </a:blipFill>
          </p:spPr>
        </p:sp>
        <p:sp>
          <p:nvSpPr>
            <p:cNvPr name="TextBox 49" id="49"/>
            <p:cNvSpPr txBox="true"/>
            <p:nvPr/>
          </p:nvSpPr>
          <p:spPr>
            <a:xfrm>
              <a:off x="0" y="-38100"/>
              <a:ext cx="22682200" cy="495300"/>
            </a:xfrm>
            <a:prstGeom prst="rect">
              <a:avLst/>
            </a:prstGeom>
          </p:spPr>
          <p:txBody>
            <a:bodyPr anchor="ctr" rtlCol="false" tIns="0" lIns="0" bIns="0" rIns="0"/>
            <a:lstStyle/>
            <a:p>
              <a:pPr algn="l">
                <a:lnSpc>
                  <a:spcPts val="2527"/>
                </a:lnSpc>
              </a:pPr>
              <a:r>
                <a:rPr lang="en-US" sz="1950" b="true">
                  <a:solidFill>
                    <a:srgbClr val="526078"/>
                  </a:solidFill>
                  <a:latin typeface="Arial Bold"/>
                  <a:ea typeface="Arial Bold"/>
                  <a:cs typeface="Arial Bold"/>
                  <a:sym typeface="Arial Bold"/>
                </a:rPr>
                <a:t>WHAT AUTONOMY CHANGES</a:t>
              </a:r>
            </a:p>
          </p:txBody>
        </p:sp>
      </p:grpSp>
      <p:grpSp>
        <p:nvGrpSpPr>
          <p:cNvPr name="Group 50" id="50"/>
          <p:cNvGrpSpPr/>
          <p:nvPr/>
        </p:nvGrpSpPr>
        <p:grpSpPr>
          <a:xfrm rot="0">
            <a:off x="638175" y="7743825"/>
            <a:ext cx="17011650" cy="1438275"/>
            <a:chOff x="0" y="0"/>
            <a:chExt cx="22682200" cy="1917700"/>
          </a:xfrm>
        </p:grpSpPr>
        <p:sp>
          <p:nvSpPr>
            <p:cNvPr name="Freeform 51" id="51"/>
            <p:cNvSpPr/>
            <p:nvPr/>
          </p:nvSpPr>
          <p:spPr>
            <a:xfrm flipH="false" flipV="false" rot="0">
              <a:off x="0" y="0"/>
              <a:ext cx="22682200" cy="1917700"/>
            </a:xfrm>
            <a:custGeom>
              <a:avLst/>
              <a:gdLst/>
              <a:ahLst/>
              <a:cxnLst/>
              <a:rect r="r" b="b" t="t" l="l"/>
              <a:pathLst>
                <a:path h="1917700" w="22682200">
                  <a:moveTo>
                    <a:pt x="0" y="0"/>
                  </a:moveTo>
                  <a:lnTo>
                    <a:pt x="22682200" y="0"/>
                  </a:lnTo>
                  <a:lnTo>
                    <a:pt x="22682200" y="1917700"/>
                  </a:lnTo>
                  <a:lnTo>
                    <a:pt x="0" y="1917700"/>
                  </a:lnTo>
                  <a:close/>
                </a:path>
              </a:pathLst>
            </a:custGeom>
            <a:solidFill>
              <a:srgbClr val="15215A"/>
            </a:solidFill>
          </p:spPr>
        </p:sp>
      </p:grpSp>
      <p:grpSp>
        <p:nvGrpSpPr>
          <p:cNvPr name="Group 52" id="52"/>
          <p:cNvGrpSpPr/>
          <p:nvPr/>
        </p:nvGrpSpPr>
        <p:grpSpPr>
          <a:xfrm rot="0">
            <a:off x="885825" y="7886700"/>
            <a:ext cx="5095875" cy="533400"/>
            <a:chOff x="0" y="0"/>
            <a:chExt cx="6794500" cy="711200"/>
          </a:xfrm>
        </p:grpSpPr>
        <p:sp>
          <p:nvSpPr>
            <p:cNvPr name="Freeform 53" id="53"/>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54" id="54"/>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Automatic motion planning</a:t>
              </a:r>
            </a:p>
          </p:txBody>
        </p:sp>
      </p:grpSp>
      <p:grpSp>
        <p:nvGrpSpPr>
          <p:cNvPr name="Group 55" id="55"/>
          <p:cNvGrpSpPr/>
          <p:nvPr/>
        </p:nvGrpSpPr>
        <p:grpSpPr>
          <a:xfrm rot="0">
            <a:off x="885825" y="8562975"/>
            <a:ext cx="5095875" cy="409575"/>
            <a:chOff x="0" y="0"/>
            <a:chExt cx="6794500" cy="546100"/>
          </a:xfrm>
        </p:grpSpPr>
        <p:sp>
          <p:nvSpPr>
            <p:cNvPr name="Freeform 56" id="56"/>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57" id="57"/>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B9DCD7"/>
                  </a:solidFill>
                  <a:latin typeface="Arial Bold"/>
                  <a:ea typeface="Arial Bold"/>
                  <a:cs typeface="Arial Bold"/>
                  <a:sym typeface="Arial Bold"/>
                </a:rPr>
                <a:t>Less programming</a:t>
              </a:r>
            </a:p>
          </p:txBody>
        </p:sp>
      </p:grpSp>
      <p:grpSp>
        <p:nvGrpSpPr>
          <p:cNvPr name="Group 58" id="58"/>
          <p:cNvGrpSpPr/>
          <p:nvPr/>
        </p:nvGrpSpPr>
        <p:grpSpPr>
          <a:xfrm rot="0">
            <a:off x="6619875" y="7886700"/>
            <a:ext cx="5095875" cy="533400"/>
            <a:chOff x="0" y="0"/>
            <a:chExt cx="6794500" cy="711200"/>
          </a:xfrm>
        </p:grpSpPr>
        <p:sp>
          <p:nvSpPr>
            <p:cNvPr name="Freeform 59" id="59"/>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0" id="60"/>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Adaptive execution</a:t>
              </a:r>
            </a:p>
          </p:txBody>
        </p:sp>
      </p:grpSp>
      <p:grpSp>
        <p:nvGrpSpPr>
          <p:cNvPr name="Group 61" id="61"/>
          <p:cNvGrpSpPr/>
          <p:nvPr/>
        </p:nvGrpSpPr>
        <p:grpSpPr>
          <a:xfrm rot="0">
            <a:off x="6619875" y="8562975"/>
            <a:ext cx="5095875" cy="409575"/>
            <a:chOff x="0" y="0"/>
            <a:chExt cx="6794500" cy="546100"/>
          </a:xfrm>
        </p:grpSpPr>
        <p:sp>
          <p:nvSpPr>
            <p:cNvPr name="Freeform 62" id="62"/>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3" id="63"/>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9C6BA"/>
                  </a:solidFill>
                  <a:latin typeface="Arial Bold"/>
                  <a:ea typeface="Arial Bold"/>
                  <a:cs typeface="Arial Bold"/>
                  <a:sym typeface="Arial Bold"/>
                </a:rPr>
                <a:t>Fewer corrections</a:t>
              </a:r>
            </a:p>
          </p:txBody>
        </p:sp>
      </p:grpSp>
      <p:grpSp>
        <p:nvGrpSpPr>
          <p:cNvPr name="Group 64" id="64"/>
          <p:cNvGrpSpPr/>
          <p:nvPr/>
        </p:nvGrpSpPr>
        <p:grpSpPr>
          <a:xfrm rot="0">
            <a:off x="12296775" y="7886700"/>
            <a:ext cx="5095875" cy="533400"/>
            <a:chOff x="0" y="0"/>
            <a:chExt cx="6794500" cy="711200"/>
          </a:xfrm>
        </p:grpSpPr>
        <p:sp>
          <p:nvSpPr>
            <p:cNvPr name="Freeform 65" id="65"/>
            <p:cNvSpPr/>
            <p:nvPr/>
          </p:nvSpPr>
          <p:spPr>
            <a:xfrm flipH="false" flipV="false" rot="0">
              <a:off x="0" y="0"/>
              <a:ext cx="6794500" cy="711200"/>
            </a:xfrm>
            <a:custGeom>
              <a:avLst/>
              <a:gdLst/>
              <a:ahLst/>
              <a:cxnLst/>
              <a:rect r="r" b="b" t="t" l="l"/>
              <a:pathLst>
                <a:path h="711200" w="6794500">
                  <a:moveTo>
                    <a:pt x="0" y="0"/>
                  </a:moveTo>
                  <a:lnTo>
                    <a:pt x="6794500" y="0"/>
                  </a:lnTo>
                  <a:lnTo>
                    <a:pt x="6794500" y="711200"/>
                  </a:lnTo>
                  <a:lnTo>
                    <a:pt x="0" y="711200"/>
                  </a:lnTo>
                  <a:close/>
                </a:path>
              </a:pathLst>
            </a:custGeom>
            <a:blipFill>
              <a:blip r:embed="rId4">
                <a:alphaModFix amt="0"/>
              </a:blip>
              <a:stretch>
                <a:fillRect l="0" t="-136151" r="0" b="-136151"/>
              </a:stretch>
            </a:blipFill>
          </p:spPr>
        </p:sp>
        <p:sp>
          <p:nvSpPr>
            <p:cNvPr name="TextBox 66" id="66"/>
            <p:cNvSpPr txBox="true"/>
            <p:nvPr/>
          </p:nvSpPr>
          <p:spPr>
            <a:xfrm>
              <a:off x="0" y="-38100"/>
              <a:ext cx="6794500" cy="749300"/>
            </a:xfrm>
            <a:prstGeom prst="rect">
              <a:avLst/>
            </a:prstGeom>
          </p:spPr>
          <p:txBody>
            <a:bodyPr anchor="ctr" rtlCol="false" tIns="0" lIns="0" bIns="0" rIns="0"/>
            <a:lstStyle/>
            <a:p>
              <a:pPr algn="l">
                <a:lnSpc>
                  <a:spcPts val="3499"/>
                </a:lnSpc>
              </a:pPr>
              <a:r>
                <a:rPr lang="en-US" sz="2700" b="true">
                  <a:solidFill>
                    <a:srgbClr val="FFFFFF"/>
                  </a:solidFill>
                  <a:latin typeface="Arial Bold"/>
                  <a:ea typeface="Arial Bold"/>
                  <a:cs typeface="Arial Bold"/>
                  <a:sym typeface="Arial Bold"/>
                </a:rPr>
                <a:t>Task autonomy</a:t>
              </a:r>
            </a:p>
          </p:txBody>
        </p:sp>
      </p:grpSp>
      <p:grpSp>
        <p:nvGrpSpPr>
          <p:cNvPr name="Group 67" id="67"/>
          <p:cNvGrpSpPr/>
          <p:nvPr/>
        </p:nvGrpSpPr>
        <p:grpSpPr>
          <a:xfrm rot="0">
            <a:off x="12296775" y="8562975"/>
            <a:ext cx="5095875" cy="409575"/>
            <a:chOff x="0" y="0"/>
            <a:chExt cx="6794500" cy="546100"/>
          </a:xfrm>
        </p:grpSpPr>
        <p:sp>
          <p:nvSpPr>
            <p:cNvPr name="Freeform 68" id="68"/>
            <p:cNvSpPr/>
            <p:nvPr/>
          </p:nvSpPr>
          <p:spPr>
            <a:xfrm flipH="false" flipV="false" rot="0">
              <a:off x="0" y="0"/>
              <a:ext cx="6794500" cy="546100"/>
            </a:xfrm>
            <a:custGeom>
              <a:avLst/>
              <a:gdLst/>
              <a:ahLst/>
              <a:cxnLst/>
              <a:rect r="r" b="b" t="t" l="l"/>
              <a:pathLst>
                <a:path h="546100" w="6794500">
                  <a:moveTo>
                    <a:pt x="0" y="0"/>
                  </a:moveTo>
                  <a:lnTo>
                    <a:pt x="6794500" y="0"/>
                  </a:lnTo>
                  <a:lnTo>
                    <a:pt x="6794500" y="546100"/>
                  </a:lnTo>
                  <a:lnTo>
                    <a:pt x="0" y="546100"/>
                  </a:lnTo>
                  <a:close/>
                </a:path>
              </a:pathLst>
            </a:custGeom>
            <a:blipFill>
              <a:blip r:embed="rId4">
                <a:alphaModFix amt="0"/>
              </a:blip>
              <a:stretch>
                <a:fillRect l="0" t="-192430" r="0" b="-192430"/>
              </a:stretch>
            </a:blipFill>
          </p:spPr>
        </p:sp>
        <p:sp>
          <p:nvSpPr>
            <p:cNvPr name="TextBox 69" id="69"/>
            <p:cNvSpPr txBox="true"/>
            <p:nvPr/>
          </p:nvSpPr>
          <p:spPr>
            <a:xfrm>
              <a:off x="0" y="-38100"/>
              <a:ext cx="6794500" cy="584200"/>
            </a:xfrm>
            <a:prstGeom prst="rect">
              <a:avLst/>
            </a:prstGeom>
          </p:spPr>
          <p:txBody>
            <a:bodyPr anchor="ctr" rtlCol="false" tIns="0" lIns="0" bIns="0" rIns="0"/>
            <a:lstStyle/>
            <a:p>
              <a:pPr algn="l">
                <a:lnSpc>
                  <a:spcPts val="3110"/>
                </a:lnSpc>
              </a:pPr>
              <a:r>
                <a:rPr lang="en-US" sz="2400" b="true">
                  <a:solidFill>
                    <a:srgbClr val="E7D7AB"/>
                  </a:solidFill>
                  <a:latin typeface="Arial Bold"/>
                  <a:ea typeface="Arial Bold"/>
                  <a:cs typeface="Arial Bold"/>
                  <a:sym typeface="Arial Bold"/>
                </a:rPr>
                <a:t>Less intervention</a:t>
              </a:r>
            </a:p>
          </p:txBody>
        </p:sp>
      </p:grpSp>
      <p:grpSp>
        <p:nvGrpSpPr>
          <p:cNvPr name="Group 70" id="70"/>
          <p:cNvGrpSpPr/>
          <p:nvPr/>
        </p:nvGrpSpPr>
        <p:grpSpPr>
          <a:xfrm rot="0">
            <a:off x="638175" y="9429750"/>
            <a:ext cx="17011650" cy="476250"/>
            <a:chOff x="0" y="0"/>
            <a:chExt cx="22682200" cy="635000"/>
          </a:xfrm>
        </p:grpSpPr>
        <p:sp>
          <p:nvSpPr>
            <p:cNvPr name="Freeform 71" id="71"/>
            <p:cNvSpPr/>
            <p:nvPr/>
          </p:nvSpPr>
          <p:spPr>
            <a:xfrm flipH="false" flipV="false" rot="0">
              <a:off x="0" y="0"/>
              <a:ext cx="22682200" cy="635000"/>
            </a:xfrm>
            <a:custGeom>
              <a:avLst/>
              <a:gdLst/>
              <a:ahLst/>
              <a:cxnLst/>
              <a:rect r="r" b="b" t="t" l="l"/>
              <a:pathLst>
                <a:path h="635000" w="22682200">
                  <a:moveTo>
                    <a:pt x="0" y="0"/>
                  </a:moveTo>
                  <a:lnTo>
                    <a:pt x="22682200" y="0"/>
                  </a:lnTo>
                  <a:lnTo>
                    <a:pt x="22682200" y="635000"/>
                  </a:lnTo>
                  <a:lnTo>
                    <a:pt x="0" y="635000"/>
                  </a:lnTo>
                  <a:close/>
                </a:path>
              </a:pathLst>
            </a:custGeom>
            <a:blipFill>
              <a:blip r:embed="rId4">
                <a:alphaModFix amt="0"/>
              </a:blip>
              <a:stretch>
                <a:fillRect l="0" t="-646005" r="0" b="-646005"/>
              </a:stretch>
            </a:blipFill>
          </p:spPr>
        </p:sp>
        <p:sp>
          <p:nvSpPr>
            <p:cNvPr name="TextBox 72" id="72"/>
            <p:cNvSpPr txBox="true"/>
            <p:nvPr/>
          </p:nvSpPr>
          <p:spPr>
            <a:xfrm>
              <a:off x="0" y="-38100"/>
              <a:ext cx="22682200" cy="673100"/>
            </a:xfrm>
            <a:prstGeom prst="rect">
              <a:avLst/>
            </a:prstGeom>
          </p:spPr>
          <p:txBody>
            <a:bodyPr anchor="ctr" rtlCol="false" tIns="0" lIns="0" bIns="0" rIns="0"/>
            <a:lstStyle/>
            <a:p>
              <a:pPr algn="l">
                <a:lnSpc>
                  <a:spcPts val="3110"/>
                </a:lnSpc>
              </a:pPr>
              <a:r>
                <a:rPr lang="en-US" sz="2400">
                  <a:solidFill>
                    <a:srgbClr val="15215A"/>
                  </a:solidFill>
                  <a:latin typeface="Arial"/>
                  <a:ea typeface="Arial"/>
                  <a:cs typeface="Arial"/>
                  <a:sym typeface="Arial"/>
                </a:rPr>
                <a:t>Target: lower preparation cost and more engineering capacity</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802609" y="484680"/>
            <a:ext cx="17011650" cy="856650"/>
          </a:xfrm>
          <a:prstGeom prst="rect">
            <a:avLst/>
          </a:prstGeom>
        </p:spPr>
        <p:txBody>
          <a:bodyPr anchor="t" rtlCol="false" tIns="0" lIns="0" bIns="0" rIns="0">
            <a:spAutoFit/>
          </a:bodyPr>
          <a:lstStyle/>
          <a:p>
            <a:pPr algn="l" marL="0" indent="0" lvl="0">
              <a:lnSpc>
                <a:spcPts val="6841"/>
              </a:lnSpc>
              <a:spcBef>
                <a:spcPct val="0"/>
              </a:spcBef>
            </a:pPr>
            <a:r>
              <a:rPr lang="en-US" b="true" sz="5699" spc="-169" strike="noStrike" u="none">
                <a:solidFill>
                  <a:srgbClr val="0B264F"/>
                </a:solidFill>
                <a:latin typeface="Inter Bold"/>
                <a:ea typeface="Inter Bold"/>
                <a:cs typeface="Inter Bold"/>
                <a:sym typeface="Inter Bold"/>
              </a:rPr>
              <a:t>My vision: one foundation, many applications</a:t>
            </a:r>
          </a:p>
        </p:txBody>
      </p:sp>
      <p:sp>
        <p:nvSpPr>
          <p:cNvPr name="TextBox 4" id="4"/>
          <p:cNvSpPr txBox="true"/>
          <p:nvPr/>
        </p:nvSpPr>
        <p:spPr>
          <a:xfrm rot="0">
            <a:off x="840225" y="1604717"/>
            <a:ext cx="9739172" cy="420002"/>
          </a:xfrm>
          <a:prstGeom prst="rect">
            <a:avLst/>
          </a:prstGeom>
        </p:spPr>
        <p:txBody>
          <a:bodyPr anchor="t" rtlCol="false" tIns="0" lIns="0" bIns="0" rIns="0">
            <a:spAutoFit/>
          </a:bodyPr>
          <a:lstStyle/>
          <a:p>
            <a:pPr algn="l" marL="0" indent="0" lvl="0">
              <a:lnSpc>
                <a:spcPts val="3312"/>
              </a:lnSpc>
              <a:spcBef>
                <a:spcPct val="0"/>
              </a:spcBef>
            </a:pPr>
            <a:r>
              <a:rPr lang="en-US" b="true" sz="2759" spc="-82" strike="noStrike" u="none">
                <a:solidFill>
                  <a:srgbClr val="0B264F"/>
                </a:solidFill>
                <a:latin typeface="Inter Semi-Bold"/>
                <a:ea typeface="Inter Semi-Bold"/>
                <a:cs typeface="Inter Semi-Bold"/>
                <a:sym typeface="Inter Semi-Bold"/>
              </a:rPr>
              <a:t>Shared capabilities. Task-specific choices.</a:t>
            </a:r>
          </a:p>
        </p:txBody>
      </p:sp>
      <p:sp>
        <p:nvSpPr>
          <p:cNvPr name="Freeform 5" id="5" descr="Highlighted shared motion-planning framework"/>
          <p:cNvSpPr/>
          <p:nvPr/>
        </p:nvSpPr>
        <p:spPr>
          <a:xfrm flipH="false" flipV="false" rot="0">
            <a:off x="5524500" y="2857500"/>
            <a:ext cx="4286250" cy="5446059"/>
          </a:xfrm>
          <a:custGeom>
            <a:avLst/>
            <a:gdLst/>
            <a:ahLst/>
            <a:cxnLst/>
            <a:rect r="r" b="b" t="t" l="l"/>
            <a:pathLst>
              <a:path h="5446059" w="4286250">
                <a:moveTo>
                  <a:pt x="0" y="0"/>
                </a:moveTo>
                <a:lnTo>
                  <a:pt x="4286250" y="0"/>
                </a:lnTo>
                <a:lnTo>
                  <a:pt x="4286250" y="5446059"/>
                </a:lnTo>
                <a:lnTo>
                  <a:pt x="0" y="5446059"/>
                </a:lnTo>
                <a:lnTo>
                  <a:pt x="0" y="0"/>
                </a:lnTo>
                <a:close/>
              </a:path>
            </a:pathLst>
          </a:custGeom>
          <a:blipFill>
            <a:blip r:embed="rId3"/>
            <a:stretch>
              <a:fillRect l="-2519" t="-2519" r="-2519" b="-2519"/>
            </a:stretch>
          </a:blipFill>
        </p:spPr>
      </p:sp>
      <p:sp>
        <p:nvSpPr>
          <p:cNvPr name="Freeform 6" id="6" descr="Shared motion-planning framework vision diagram"/>
          <p:cNvSpPr/>
          <p:nvPr/>
        </p:nvSpPr>
        <p:spPr>
          <a:xfrm flipH="false" flipV="false" rot="0">
            <a:off x="7096125" y="3238500"/>
            <a:ext cx="1143000" cy="1130999"/>
          </a:xfrm>
          <a:custGeom>
            <a:avLst/>
            <a:gdLst/>
            <a:ahLst/>
            <a:cxnLst/>
            <a:rect r="r" b="b" t="t" l="l"/>
            <a:pathLst>
              <a:path h="1130999" w="1143000">
                <a:moveTo>
                  <a:pt x="0" y="0"/>
                </a:moveTo>
                <a:lnTo>
                  <a:pt x="1143000" y="0"/>
                </a:lnTo>
                <a:lnTo>
                  <a:pt x="1143000" y="1130999"/>
                </a:lnTo>
                <a:lnTo>
                  <a:pt x="0" y="1130999"/>
                </a:lnTo>
                <a:lnTo>
                  <a:pt x="0" y="0"/>
                </a:lnTo>
                <a:close/>
              </a:path>
            </a:pathLst>
          </a:custGeom>
          <a:blipFill>
            <a:blip r:embed="rId4"/>
            <a:stretch>
              <a:fillRect l="-9519" t="-9549" r="-9519" b="-9549"/>
            </a:stretch>
          </a:blipFill>
        </p:spPr>
      </p:sp>
      <p:sp>
        <p:nvSpPr>
          <p:cNvPr name="TextBox 7" id="7"/>
          <p:cNvSpPr txBox="true"/>
          <p:nvPr/>
        </p:nvSpPr>
        <p:spPr>
          <a:xfrm rot="0">
            <a:off x="5334000" y="4619625"/>
            <a:ext cx="4667250" cy="1767040"/>
          </a:xfrm>
          <a:prstGeom prst="rect">
            <a:avLst/>
          </a:prstGeom>
        </p:spPr>
        <p:txBody>
          <a:bodyPr anchor="t" rtlCol="false" tIns="0" lIns="0" bIns="0" rIns="0">
            <a:spAutoFit/>
          </a:bodyPr>
          <a:lstStyle/>
          <a:p>
            <a:pPr algn="ctr">
              <a:lnSpc>
                <a:spcPts val="4680"/>
              </a:lnSpc>
            </a:pPr>
            <a:r>
              <a:rPr lang="en-US" b="true" sz="3899" spc="-116">
                <a:solidFill>
                  <a:srgbClr val="FFFFFF">
                    <a:alpha val="84706"/>
                  </a:srgbClr>
                </a:solidFill>
                <a:latin typeface="Inter Bold"/>
                <a:ea typeface="Inter Bold"/>
                <a:cs typeface="Inter Bold"/>
                <a:sym typeface="Inter Bold"/>
              </a:rPr>
              <a:t>Common</a:t>
            </a:r>
          </a:p>
          <a:p>
            <a:pPr algn="ctr">
              <a:lnSpc>
                <a:spcPts val="4680"/>
              </a:lnSpc>
            </a:pPr>
            <a:r>
              <a:rPr lang="en-US" b="true" sz="3899" spc="-116">
                <a:solidFill>
                  <a:srgbClr val="FFFFFF">
                    <a:alpha val="84706"/>
                  </a:srgbClr>
                </a:solidFill>
                <a:latin typeface="Inter Bold"/>
                <a:ea typeface="Inter Bold"/>
                <a:cs typeface="Inter Bold"/>
                <a:sym typeface="Inter Bold"/>
              </a:rPr>
              <a:t>Motion Planning</a:t>
            </a:r>
          </a:p>
          <a:p>
            <a:pPr algn="ctr">
              <a:lnSpc>
                <a:spcPts val="4680"/>
              </a:lnSpc>
            </a:pPr>
            <a:r>
              <a:rPr lang="en-US" b="true" sz="3899" spc="-116">
                <a:solidFill>
                  <a:srgbClr val="FFFFFF">
                    <a:alpha val="84706"/>
                  </a:srgbClr>
                </a:solidFill>
                <a:latin typeface="Inter Bold"/>
                <a:ea typeface="Inter Bold"/>
                <a:cs typeface="Inter Bold"/>
                <a:sym typeface="Inter Bold"/>
              </a:rPr>
              <a:t>Framework</a:t>
            </a:r>
          </a:p>
        </p:txBody>
      </p:sp>
      <p:sp>
        <p:nvSpPr>
          <p:cNvPr name="Freeform 8" id="8" descr="Shared motion-planning framework vision diagram"/>
          <p:cNvSpPr/>
          <p:nvPr/>
        </p:nvSpPr>
        <p:spPr>
          <a:xfrm flipH="false" flipV="false" rot="0">
            <a:off x="5334000" y="6477000"/>
            <a:ext cx="4667250" cy="209550"/>
          </a:xfrm>
          <a:custGeom>
            <a:avLst/>
            <a:gdLst/>
            <a:ahLst/>
            <a:cxnLst/>
            <a:rect r="r" b="b" t="t" l="l"/>
            <a:pathLst>
              <a:path h="209550" w="4667250">
                <a:moveTo>
                  <a:pt x="0" y="0"/>
                </a:moveTo>
                <a:lnTo>
                  <a:pt x="4667250" y="0"/>
                </a:lnTo>
                <a:lnTo>
                  <a:pt x="4667250" y="209550"/>
                </a:lnTo>
                <a:lnTo>
                  <a:pt x="0" y="209550"/>
                </a:lnTo>
                <a:lnTo>
                  <a:pt x="0" y="0"/>
                </a:lnTo>
                <a:close/>
              </a:path>
            </a:pathLst>
          </a:custGeom>
          <a:blipFill>
            <a:blip r:embed="rId5"/>
            <a:stretch>
              <a:fillRect l="-6443" t="-51539" r="-6443" b="-51539"/>
            </a:stretch>
          </a:blipFill>
        </p:spPr>
      </p:sp>
      <p:sp>
        <p:nvSpPr>
          <p:cNvPr name="TextBox 9" id="9"/>
          <p:cNvSpPr txBox="true"/>
          <p:nvPr/>
        </p:nvSpPr>
        <p:spPr>
          <a:xfrm rot="0">
            <a:off x="5334000" y="6924675"/>
            <a:ext cx="4667250" cy="783567"/>
          </a:xfrm>
          <a:prstGeom prst="rect">
            <a:avLst/>
          </a:prstGeom>
        </p:spPr>
        <p:txBody>
          <a:bodyPr anchor="t" rtlCol="false" tIns="0" lIns="0" bIns="0" rIns="0">
            <a:spAutoFit/>
          </a:bodyPr>
          <a:lstStyle/>
          <a:p>
            <a:pPr algn="ctr" marL="0" indent="0" lvl="0">
              <a:lnSpc>
                <a:spcPts val="3119"/>
              </a:lnSpc>
              <a:spcBef>
                <a:spcPct val="0"/>
              </a:spcBef>
            </a:pPr>
            <a:r>
              <a:rPr lang="en-US" b="true" sz="2400" spc="-71" strike="noStrike" u="none">
                <a:solidFill>
                  <a:srgbClr val="FFFFFF">
                    <a:alpha val="84706"/>
                  </a:srgbClr>
                </a:solidFill>
                <a:latin typeface="Inter Semi-Bold"/>
                <a:ea typeface="Inter Semi-Bold"/>
                <a:cs typeface="Inter Semi-Bold"/>
                <a:sym typeface="Inter Semi-Bold"/>
              </a:rPr>
              <a:t>Select toolpath, planner</a:t>
            </a:r>
          </a:p>
          <a:p>
            <a:pPr algn="ctr" marL="0" indent="0" lvl="0">
              <a:lnSpc>
                <a:spcPts val="3119"/>
              </a:lnSpc>
              <a:spcBef>
                <a:spcPct val="0"/>
              </a:spcBef>
            </a:pPr>
            <a:r>
              <a:rPr lang="en-US" b="true" sz="2400" spc="-71" strike="noStrike" u="none">
                <a:solidFill>
                  <a:srgbClr val="FFFFFF">
                    <a:alpha val="84706"/>
                  </a:srgbClr>
                </a:solidFill>
                <a:latin typeface="Inter Semi-Bold"/>
                <a:ea typeface="Inter Semi-Bold"/>
                <a:cs typeface="Inter Semi-Bold"/>
                <a:sym typeface="Inter Semi-Bold"/>
              </a:rPr>
              <a:t>and constraints per task</a:t>
            </a:r>
          </a:p>
        </p:txBody>
      </p:sp>
      <p:sp>
        <p:nvSpPr>
          <p:cNvPr name="TextBox 10" id="10"/>
          <p:cNvSpPr txBox="true"/>
          <p:nvPr/>
        </p:nvSpPr>
        <p:spPr>
          <a:xfrm rot="0">
            <a:off x="4857750" y="9115425"/>
            <a:ext cx="3333750" cy="851166"/>
          </a:xfrm>
          <a:prstGeom prst="rect">
            <a:avLst/>
          </a:prstGeom>
        </p:spPr>
        <p:txBody>
          <a:bodyPr anchor="t" rtlCol="false" tIns="0" lIns="0" bIns="0" rIns="0">
            <a:spAutoFit/>
          </a:bodyPr>
          <a:lstStyle/>
          <a:p>
            <a:pPr algn="ctr">
              <a:lnSpc>
                <a:spcPts val="3509"/>
              </a:lnSpc>
            </a:pPr>
            <a:r>
              <a:rPr lang="en-US" b="true" sz="2699" spc="-80">
                <a:solidFill>
                  <a:srgbClr val="309492">
                    <a:alpha val="84706"/>
                  </a:srgbClr>
                </a:solidFill>
                <a:latin typeface="Inter Bold"/>
                <a:ea typeface="Inter Bold"/>
                <a:cs typeface="Inter Bold"/>
                <a:sym typeface="Inter Bold"/>
              </a:rPr>
              <a:t>Reuse proven</a:t>
            </a:r>
          </a:p>
          <a:p>
            <a:pPr algn="ctr">
              <a:lnSpc>
                <a:spcPts val="3509"/>
              </a:lnSpc>
            </a:pPr>
            <a:r>
              <a:rPr lang="en-US" b="true" sz="2699" spc="-80">
                <a:solidFill>
                  <a:srgbClr val="309492">
                    <a:alpha val="84706"/>
                  </a:srgbClr>
                </a:solidFill>
                <a:latin typeface="Inter Bold"/>
                <a:ea typeface="Inter Bold"/>
                <a:cs typeface="Inter Bold"/>
                <a:sym typeface="Inter Bold"/>
              </a:rPr>
              <a:t>work</a:t>
            </a:r>
          </a:p>
        </p:txBody>
      </p:sp>
      <p:sp>
        <p:nvSpPr>
          <p:cNvPr name="TextBox 11" id="11"/>
          <p:cNvSpPr txBox="true"/>
          <p:nvPr/>
        </p:nvSpPr>
        <p:spPr>
          <a:xfrm rot="0">
            <a:off x="8763000" y="9115425"/>
            <a:ext cx="3333750" cy="851166"/>
          </a:xfrm>
          <a:prstGeom prst="rect">
            <a:avLst/>
          </a:prstGeom>
        </p:spPr>
        <p:txBody>
          <a:bodyPr anchor="t" rtlCol="false" tIns="0" lIns="0" bIns="0" rIns="0">
            <a:spAutoFit/>
          </a:bodyPr>
          <a:lstStyle/>
          <a:p>
            <a:pPr algn="ctr">
              <a:lnSpc>
                <a:spcPts val="3509"/>
              </a:lnSpc>
            </a:pPr>
            <a:r>
              <a:rPr lang="en-US" b="true" sz="2700" spc="-80">
                <a:solidFill>
                  <a:srgbClr val="3D6D99">
                    <a:alpha val="84706"/>
                  </a:srgbClr>
                </a:solidFill>
                <a:latin typeface="Inter Bold"/>
                <a:ea typeface="Inter Bold"/>
                <a:cs typeface="Inter Bold"/>
                <a:sym typeface="Inter Bold"/>
              </a:rPr>
              <a:t>Integrate</a:t>
            </a:r>
          </a:p>
          <a:p>
            <a:pPr algn="ctr">
              <a:lnSpc>
                <a:spcPts val="3509"/>
              </a:lnSpc>
            </a:pPr>
            <a:r>
              <a:rPr lang="en-US" b="true" sz="2700" spc="-80">
                <a:solidFill>
                  <a:srgbClr val="3D6D99">
                    <a:alpha val="84706"/>
                  </a:srgbClr>
                </a:solidFill>
                <a:latin typeface="Inter Bold"/>
                <a:ea typeface="Inter Bold"/>
                <a:cs typeface="Inter Bold"/>
                <a:sym typeface="Inter Bold"/>
              </a:rPr>
              <a:t>faster</a:t>
            </a:r>
          </a:p>
        </p:txBody>
      </p:sp>
      <p:sp>
        <p:nvSpPr>
          <p:cNvPr name="TextBox 12" id="12"/>
          <p:cNvSpPr txBox="true"/>
          <p:nvPr/>
        </p:nvSpPr>
        <p:spPr>
          <a:xfrm rot="0">
            <a:off x="12668250" y="9115425"/>
            <a:ext cx="4572000" cy="851166"/>
          </a:xfrm>
          <a:prstGeom prst="rect">
            <a:avLst/>
          </a:prstGeom>
        </p:spPr>
        <p:txBody>
          <a:bodyPr anchor="t" rtlCol="false" tIns="0" lIns="0" bIns="0" rIns="0">
            <a:spAutoFit/>
          </a:bodyPr>
          <a:lstStyle/>
          <a:p>
            <a:pPr algn="ctr">
              <a:lnSpc>
                <a:spcPts val="3509"/>
              </a:lnSpc>
            </a:pPr>
            <a:r>
              <a:rPr lang="en-US" b="true" sz="2699" spc="-80">
                <a:solidFill>
                  <a:srgbClr val="DB755A">
                    <a:alpha val="84706"/>
                  </a:srgbClr>
                </a:solidFill>
                <a:latin typeface="Inter Bold"/>
                <a:ea typeface="Inter Bold"/>
                <a:cs typeface="Inter Bold"/>
                <a:sym typeface="Inter Bold"/>
              </a:rPr>
              <a:t>Share</a:t>
            </a:r>
          </a:p>
          <a:p>
            <a:pPr algn="ctr">
              <a:lnSpc>
                <a:spcPts val="3509"/>
              </a:lnSpc>
            </a:pPr>
            <a:r>
              <a:rPr lang="en-US" b="true" sz="2699" spc="-80">
                <a:solidFill>
                  <a:srgbClr val="DB755A">
                    <a:alpha val="84706"/>
                  </a:srgbClr>
                </a:solidFill>
                <a:latin typeface="Inter Bold"/>
                <a:ea typeface="Inter Bold"/>
                <a:cs typeface="Inter Bold"/>
                <a:sym typeface="Inter Bold"/>
              </a:rPr>
              <a:t>improvements</a:t>
            </a:r>
          </a:p>
        </p:txBody>
      </p:sp>
      <p:sp>
        <p:nvSpPr>
          <p:cNvPr name="Freeform 13" id="13" descr="Shared motion-planning framework vision diagram"/>
          <p:cNvSpPr/>
          <p:nvPr/>
        </p:nvSpPr>
        <p:spPr>
          <a:xfrm flipH="false" flipV="false" rot="0">
            <a:off x="12287250" y="2381250"/>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6"/>
            <a:stretch>
              <a:fillRect l="-2061" t="-15827" r="-2061" b="-15827"/>
            </a:stretch>
          </a:blipFill>
        </p:spPr>
      </p:sp>
      <p:sp>
        <p:nvSpPr>
          <p:cNvPr name="Freeform 14" id="14" descr="Shared motion-planning framework vision diagram"/>
          <p:cNvSpPr/>
          <p:nvPr/>
        </p:nvSpPr>
        <p:spPr>
          <a:xfrm flipH="false" flipV="false" rot="0">
            <a:off x="12287250" y="2381250"/>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7"/>
            <a:stretch>
              <a:fillRect l="-9947" t="-9979" r="-9947" b="-9979"/>
            </a:stretch>
          </a:blipFill>
        </p:spPr>
      </p:sp>
      <p:sp>
        <p:nvSpPr>
          <p:cNvPr name="Freeform 15" id="15" descr="Shared motion-planning framework vision diagram"/>
          <p:cNvSpPr/>
          <p:nvPr/>
        </p:nvSpPr>
        <p:spPr>
          <a:xfrm flipH="false" flipV="false" rot="0">
            <a:off x="12287250" y="3452585"/>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8"/>
            <a:stretch>
              <a:fillRect l="-2061" t="-15827" r="-2061" b="-15827"/>
            </a:stretch>
          </a:blipFill>
        </p:spPr>
      </p:sp>
      <p:sp>
        <p:nvSpPr>
          <p:cNvPr name="Freeform 16" id="16" descr="Shared motion-planning framework vision diagram"/>
          <p:cNvSpPr/>
          <p:nvPr/>
        </p:nvSpPr>
        <p:spPr>
          <a:xfrm flipH="false" flipV="false" rot="0">
            <a:off x="12287250" y="3452585"/>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9"/>
            <a:stretch>
              <a:fillRect l="-9947" t="-9979" r="-9947" b="-9979"/>
            </a:stretch>
          </a:blipFill>
        </p:spPr>
      </p:sp>
      <p:sp>
        <p:nvSpPr>
          <p:cNvPr name="TextBox 17" id="17"/>
          <p:cNvSpPr txBox="true"/>
          <p:nvPr/>
        </p:nvSpPr>
        <p:spPr>
          <a:xfrm rot="0">
            <a:off x="13716000" y="3757385"/>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Auto Rigging</a:t>
            </a:r>
          </a:p>
        </p:txBody>
      </p:sp>
      <p:sp>
        <p:nvSpPr>
          <p:cNvPr name="Freeform 18" id="18" descr="Shared motion-planning framework vision diagram"/>
          <p:cNvSpPr/>
          <p:nvPr/>
        </p:nvSpPr>
        <p:spPr>
          <a:xfrm flipH="false" flipV="false" rot="0">
            <a:off x="12287250" y="4523920"/>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10"/>
            <a:stretch>
              <a:fillRect l="-2061" t="-28460" r="-2061" b="-28460"/>
            </a:stretch>
          </a:blipFill>
        </p:spPr>
      </p:sp>
      <p:sp>
        <p:nvSpPr>
          <p:cNvPr name="Freeform 19" id="19" descr="Shared motion-planning framework vision diagram"/>
          <p:cNvSpPr/>
          <p:nvPr/>
        </p:nvSpPr>
        <p:spPr>
          <a:xfrm flipH="false" flipV="false" rot="0">
            <a:off x="12287250" y="4523920"/>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1"/>
            <a:stretch>
              <a:fillRect l="-8228" t="-19440" r="-8228" b="-19440"/>
            </a:stretch>
          </a:blipFill>
        </p:spPr>
      </p:sp>
      <p:sp>
        <p:nvSpPr>
          <p:cNvPr name="TextBox 20" id="20"/>
          <p:cNvSpPr txBox="true"/>
          <p:nvPr/>
        </p:nvSpPr>
        <p:spPr>
          <a:xfrm rot="0">
            <a:off x="13716000" y="4828720"/>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Sealant</a:t>
            </a:r>
          </a:p>
        </p:txBody>
      </p:sp>
      <p:sp>
        <p:nvSpPr>
          <p:cNvPr name="Freeform 21" id="21" descr="Shared motion-planning framework vision diagram"/>
          <p:cNvSpPr/>
          <p:nvPr/>
        </p:nvSpPr>
        <p:spPr>
          <a:xfrm flipH="false" flipV="false" rot="0">
            <a:off x="12287250" y="5595254"/>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12"/>
            <a:stretch>
              <a:fillRect l="-2061" t="-15827" r="-2061" b="-15827"/>
            </a:stretch>
          </a:blipFill>
        </p:spPr>
      </p:sp>
      <p:sp>
        <p:nvSpPr>
          <p:cNvPr name="Freeform 22" id="22" descr="Shared motion-planning framework vision diagram"/>
          <p:cNvSpPr/>
          <p:nvPr/>
        </p:nvSpPr>
        <p:spPr>
          <a:xfrm flipH="false" flipV="false" rot="0">
            <a:off x="12287250" y="5595254"/>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3"/>
            <a:stretch>
              <a:fillRect l="-9947" t="-9979" r="-9947" b="-9979"/>
            </a:stretch>
          </a:blipFill>
        </p:spPr>
      </p:sp>
      <p:sp>
        <p:nvSpPr>
          <p:cNvPr name="TextBox 23" id="23"/>
          <p:cNvSpPr txBox="true"/>
          <p:nvPr/>
        </p:nvSpPr>
        <p:spPr>
          <a:xfrm rot="0">
            <a:off x="13716000" y="5900054"/>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Pick &amp; Place</a:t>
            </a:r>
          </a:p>
        </p:txBody>
      </p:sp>
      <p:sp>
        <p:nvSpPr>
          <p:cNvPr name="Freeform 24" id="24" descr="Shared motion-planning framework vision diagram"/>
          <p:cNvSpPr/>
          <p:nvPr/>
        </p:nvSpPr>
        <p:spPr>
          <a:xfrm flipH="false" flipV="false" rot="0">
            <a:off x="12287250" y="6666589"/>
            <a:ext cx="5238750" cy="1082267"/>
          </a:xfrm>
          <a:custGeom>
            <a:avLst/>
            <a:gdLst/>
            <a:ahLst/>
            <a:cxnLst/>
            <a:rect r="r" b="b" t="t" l="l"/>
            <a:pathLst>
              <a:path h="1082267" w="5238750">
                <a:moveTo>
                  <a:pt x="0" y="0"/>
                </a:moveTo>
                <a:lnTo>
                  <a:pt x="5238750" y="0"/>
                </a:lnTo>
                <a:lnTo>
                  <a:pt x="5238750" y="1082267"/>
                </a:lnTo>
                <a:lnTo>
                  <a:pt x="0" y="1082267"/>
                </a:lnTo>
                <a:lnTo>
                  <a:pt x="0" y="0"/>
                </a:lnTo>
                <a:close/>
              </a:path>
            </a:pathLst>
          </a:custGeom>
          <a:blipFill>
            <a:blip r:embed="rId14"/>
            <a:stretch>
              <a:fillRect l="-2061" t="-15827" r="-2061" b="-15827"/>
            </a:stretch>
          </a:blipFill>
        </p:spPr>
      </p:sp>
      <p:sp>
        <p:nvSpPr>
          <p:cNvPr name="Freeform 25" id="25" descr="Shared motion-planning framework vision diagram"/>
          <p:cNvSpPr/>
          <p:nvPr/>
        </p:nvSpPr>
        <p:spPr>
          <a:xfrm flipH="false" flipV="false" rot="0">
            <a:off x="12287250" y="6666589"/>
            <a:ext cx="1312536" cy="1082267"/>
          </a:xfrm>
          <a:custGeom>
            <a:avLst/>
            <a:gdLst/>
            <a:ahLst/>
            <a:cxnLst/>
            <a:rect r="r" b="b" t="t" l="l"/>
            <a:pathLst>
              <a:path h="1082267" w="1312536">
                <a:moveTo>
                  <a:pt x="0" y="0"/>
                </a:moveTo>
                <a:lnTo>
                  <a:pt x="1312536" y="0"/>
                </a:lnTo>
                <a:lnTo>
                  <a:pt x="1312536" y="1082267"/>
                </a:lnTo>
                <a:lnTo>
                  <a:pt x="0" y="1082267"/>
                </a:lnTo>
                <a:lnTo>
                  <a:pt x="0" y="0"/>
                </a:lnTo>
                <a:close/>
              </a:path>
            </a:pathLst>
          </a:custGeom>
          <a:blipFill>
            <a:blip r:embed="rId15"/>
            <a:stretch>
              <a:fillRect l="-9947" t="-9979" r="-9947" b="-9979"/>
            </a:stretch>
          </a:blipFill>
        </p:spPr>
      </p:sp>
      <p:sp>
        <p:nvSpPr>
          <p:cNvPr name="Freeform 26" id="26" descr="Shared motion-planning framework vision diagram"/>
          <p:cNvSpPr/>
          <p:nvPr/>
        </p:nvSpPr>
        <p:spPr>
          <a:xfrm flipH="false" flipV="false" rot="0">
            <a:off x="12287250" y="7737924"/>
            <a:ext cx="5238750" cy="1082267"/>
          </a:xfrm>
          <a:custGeom>
            <a:avLst/>
            <a:gdLst/>
            <a:ahLst/>
            <a:cxnLst/>
            <a:rect r="r" b="b" t="t" l="l"/>
            <a:pathLst>
              <a:path h="1082267" w="5238750">
                <a:moveTo>
                  <a:pt x="0" y="0"/>
                </a:moveTo>
                <a:lnTo>
                  <a:pt x="5238750" y="0"/>
                </a:lnTo>
                <a:lnTo>
                  <a:pt x="5238750" y="1082266"/>
                </a:lnTo>
                <a:lnTo>
                  <a:pt x="0" y="1082266"/>
                </a:lnTo>
                <a:lnTo>
                  <a:pt x="0" y="0"/>
                </a:lnTo>
                <a:close/>
              </a:path>
            </a:pathLst>
          </a:custGeom>
          <a:blipFill>
            <a:blip r:embed="rId16"/>
            <a:stretch>
              <a:fillRect l="-2061" t="-15827" r="-2061" b="-15827"/>
            </a:stretch>
          </a:blipFill>
        </p:spPr>
      </p:sp>
      <p:sp>
        <p:nvSpPr>
          <p:cNvPr name="Freeform 27" id="27" descr="Shared motion-planning framework vision diagram"/>
          <p:cNvSpPr/>
          <p:nvPr/>
        </p:nvSpPr>
        <p:spPr>
          <a:xfrm flipH="false" flipV="false" rot="0">
            <a:off x="12287250" y="7737924"/>
            <a:ext cx="1312536" cy="1082267"/>
          </a:xfrm>
          <a:custGeom>
            <a:avLst/>
            <a:gdLst/>
            <a:ahLst/>
            <a:cxnLst/>
            <a:rect r="r" b="b" t="t" l="l"/>
            <a:pathLst>
              <a:path h="1082267" w="1312536">
                <a:moveTo>
                  <a:pt x="0" y="0"/>
                </a:moveTo>
                <a:lnTo>
                  <a:pt x="1312536" y="0"/>
                </a:lnTo>
                <a:lnTo>
                  <a:pt x="1312536" y="1082266"/>
                </a:lnTo>
                <a:lnTo>
                  <a:pt x="0" y="1082266"/>
                </a:lnTo>
                <a:lnTo>
                  <a:pt x="0" y="0"/>
                </a:lnTo>
                <a:close/>
              </a:path>
            </a:pathLst>
          </a:custGeom>
          <a:blipFill>
            <a:blip r:embed="rId17"/>
            <a:stretch>
              <a:fillRect l="-9947" t="-9979" r="-9947" b="-9979"/>
            </a:stretch>
          </a:blipFill>
        </p:spPr>
      </p:sp>
      <p:sp>
        <p:nvSpPr>
          <p:cNvPr name="TextBox 28" id="28"/>
          <p:cNvSpPr txBox="true"/>
          <p:nvPr/>
        </p:nvSpPr>
        <p:spPr>
          <a:xfrm rot="0">
            <a:off x="13716000" y="2686050"/>
            <a:ext cx="3714750" cy="422769"/>
          </a:xfrm>
          <a:prstGeom prst="rect">
            <a:avLst/>
          </a:prstGeom>
        </p:spPr>
        <p:txBody>
          <a:bodyPr anchor="t" rtlCol="false" tIns="0" lIns="0" bIns="0" rIns="0">
            <a:spAutoFit/>
          </a:bodyPr>
          <a:lstStyle/>
          <a:p>
            <a:pPr algn="l">
              <a:lnSpc>
                <a:spcPts val="3509"/>
              </a:lnSpc>
            </a:pPr>
            <a:r>
              <a:rPr lang="en-US" sz="2699" spc="-80" b="true">
                <a:solidFill>
                  <a:srgbClr val="0B264F"/>
                </a:solidFill>
                <a:latin typeface="Inter Bold"/>
                <a:ea typeface="Inter Bold"/>
                <a:cs typeface="Inter Bold"/>
                <a:sym typeface="Inter Bold"/>
              </a:rPr>
              <a:t>Inspection</a:t>
            </a:r>
          </a:p>
        </p:txBody>
      </p:sp>
      <p:sp>
        <p:nvSpPr>
          <p:cNvPr name="TextBox 29" id="29"/>
          <p:cNvSpPr txBox="true"/>
          <p:nvPr/>
        </p:nvSpPr>
        <p:spPr>
          <a:xfrm rot="0">
            <a:off x="13716000" y="8042724"/>
            <a:ext cx="3714750" cy="422769"/>
          </a:xfrm>
          <a:prstGeom prst="rect">
            <a:avLst/>
          </a:prstGeom>
        </p:spPr>
        <p:txBody>
          <a:bodyPr anchor="t" rtlCol="false" tIns="0" lIns="0" bIns="0" rIns="0">
            <a:spAutoFit/>
          </a:bodyPr>
          <a:lstStyle/>
          <a:p>
            <a:pPr algn="l">
              <a:lnSpc>
                <a:spcPts val="3509"/>
              </a:lnSpc>
            </a:pPr>
            <a:r>
              <a:rPr lang="en-US" sz="2700" spc="-80" b="true">
                <a:solidFill>
                  <a:srgbClr val="0B264F"/>
                </a:solidFill>
                <a:latin typeface="Inter Bold"/>
                <a:ea typeface="Inter Bold"/>
                <a:cs typeface="Inter Bold"/>
                <a:sym typeface="Inter Bold"/>
              </a:rPr>
              <a:t>Polishing</a:t>
            </a:r>
          </a:p>
        </p:txBody>
      </p:sp>
      <p:sp>
        <p:nvSpPr>
          <p:cNvPr name="TextBox 30" id="30"/>
          <p:cNvSpPr txBox="true"/>
          <p:nvPr/>
        </p:nvSpPr>
        <p:spPr>
          <a:xfrm rot="0">
            <a:off x="13716000" y="6971389"/>
            <a:ext cx="3714750" cy="422769"/>
          </a:xfrm>
          <a:prstGeom prst="rect">
            <a:avLst/>
          </a:prstGeom>
        </p:spPr>
        <p:txBody>
          <a:bodyPr anchor="t" rtlCol="false" tIns="0" lIns="0" bIns="0" rIns="0">
            <a:spAutoFit/>
          </a:bodyPr>
          <a:lstStyle/>
          <a:p>
            <a:pPr algn="l">
              <a:lnSpc>
                <a:spcPts val="3509"/>
              </a:lnSpc>
            </a:pPr>
            <a:r>
              <a:rPr lang="en-US" sz="2699" spc="-80" b="true">
                <a:solidFill>
                  <a:srgbClr val="0B264F"/>
                </a:solidFill>
                <a:latin typeface="Inter Bold"/>
                <a:ea typeface="Inter Bold"/>
                <a:cs typeface="Inter Bold"/>
                <a:sym typeface="Inter Bold"/>
              </a:rPr>
              <a:t>Sanding</a:t>
            </a:r>
          </a:p>
        </p:txBody>
      </p:sp>
      <p:sp>
        <p:nvSpPr>
          <p:cNvPr name="TextBox 31" id="31"/>
          <p:cNvSpPr txBox="true"/>
          <p:nvPr/>
        </p:nvSpPr>
        <p:spPr>
          <a:xfrm rot="184570">
            <a:off x="647891" y="8429574"/>
            <a:ext cx="2857500" cy="783567"/>
          </a:xfrm>
          <a:prstGeom prst="rect">
            <a:avLst/>
          </a:prstGeom>
        </p:spPr>
        <p:txBody>
          <a:bodyPr anchor="t" rtlCol="false" tIns="0" lIns="0" bIns="0" rIns="0">
            <a:spAutoFit/>
          </a:bodyPr>
          <a:lstStyle/>
          <a:p>
            <a:pPr algn="ctr" marL="0" indent="0" lvl="0">
              <a:lnSpc>
                <a:spcPts val="3119"/>
              </a:lnSpc>
              <a:spcBef>
                <a:spcPct val="0"/>
              </a:spcBef>
            </a:pPr>
            <a:r>
              <a:rPr lang="en-US" b="true" sz="2400" spc="-71" strike="noStrike" u="none">
                <a:solidFill>
                  <a:srgbClr val="256D79">
                    <a:alpha val="84706"/>
                  </a:srgbClr>
                </a:solidFill>
                <a:latin typeface="Inter Bold"/>
                <a:ea typeface="Inter Bold"/>
                <a:cs typeface="Inter Bold"/>
                <a:sym typeface="Inter Bold"/>
              </a:rPr>
              <a:t>One phone.</a:t>
            </a:r>
          </a:p>
          <a:p>
            <a:pPr algn="ctr" marL="0" indent="0" lvl="0">
              <a:lnSpc>
                <a:spcPts val="3119"/>
              </a:lnSpc>
              <a:spcBef>
                <a:spcPct val="0"/>
              </a:spcBef>
            </a:pPr>
            <a:r>
              <a:rPr lang="en-US" b="true" sz="2400" spc="-71" strike="noStrike" u="none">
                <a:solidFill>
                  <a:srgbClr val="256D79">
                    <a:alpha val="84706"/>
                  </a:srgbClr>
                </a:solidFill>
                <a:latin typeface="Inter Bold"/>
                <a:ea typeface="Inter Bold"/>
                <a:cs typeface="Inter Bold"/>
                <a:sym typeface="Inter Bold"/>
              </a:rPr>
              <a:t>Many apps.</a:t>
            </a:r>
          </a:p>
        </p:txBody>
      </p:sp>
      <p:sp>
        <p:nvSpPr>
          <p:cNvPr name="Freeform 32" id="32" descr="Small phone analogy: one platform supporting many apps"/>
          <p:cNvSpPr/>
          <p:nvPr/>
        </p:nvSpPr>
        <p:spPr>
          <a:xfrm flipH="false" flipV="false" rot="0">
            <a:off x="857250" y="3714750"/>
            <a:ext cx="2150590" cy="4476430"/>
          </a:xfrm>
          <a:custGeom>
            <a:avLst/>
            <a:gdLst/>
            <a:ahLst/>
            <a:cxnLst/>
            <a:rect r="r" b="b" t="t" l="l"/>
            <a:pathLst>
              <a:path h="4476430" w="2150590">
                <a:moveTo>
                  <a:pt x="0" y="0"/>
                </a:moveTo>
                <a:lnTo>
                  <a:pt x="2150590" y="0"/>
                </a:lnTo>
                <a:lnTo>
                  <a:pt x="2150590" y="4476430"/>
                </a:lnTo>
                <a:lnTo>
                  <a:pt x="0" y="4476430"/>
                </a:lnTo>
                <a:lnTo>
                  <a:pt x="0" y="0"/>
                </a:lnTo>
                <a:close/>
              </a:path>
            </a:pathLst>
          </a:custGeom>
          <a:blipFill>
            <a:blip r:embed="rId18"/>
            <a:stretch>
              <a:fillRect l="0" t="-26" r="0" b="-26"/>
            </a:stretch>
          </a:blipFill>
        </p:spPr>
      </p:sp>
      <p:sp>
        <p:nvSpPr>
          <p:cNvPr name="Freeform 33" id="33" descr="Phone analogy and diagram connector"/>
          <p:cNvSpPr/>
          <p:nvPr/>
        </p:nvSpPr>
        <p:spPr>
          <a:xfrm flipH="false" flipV="false" rot="0">
            <a:off x="1237885" y="4583406"/>
            <a:ext cx="761271" cy="1001807"/>
          </a:xfrm>
          <a:custGeom>
            <a:avLst/>
            <a:gdLst/>
            <a:ahLst/>
            <a:cxnLst/>
            <a:rect r="r" b="b" t="t" l="l"/>
            <a:pathLst>
              <a:path h="1001807" w="761271">
                <a:moveTo>
                  <a:pt x="0" y="0"/>
                </a:moveTo>
                <a:lnTo>
                  <a:pt x="761271" y="0"/>
                </a:lnTo>
                <a:lnTo>
                  <a:pt x="761271" y="1001807"/>
                </a:lnTo>
                <a:lnTo>
                  <a:pt x="0" y="1001807"/>
                </a:lnTo>
                <a:lnTo>
                  <a:pt x="0" y="0"/>
                </a:lnTo>
                <a:close/>
              </a:path>
            </a:pathLst>
          </a:custGeom>
          <a:blipFill>
            <a:blip r:embed="rId19"/>
            <a:stretch>
              <a:fillRect l="0" t="-26" r="0" b="-26"/>
            </a:stretch>
          </a:blipFill>
        </p:spPr>
      </p:sp>
      <p:sp>
        <p:nvSpPr>
          <p:cNvPr name="Freeform 34" id="34" descr="Phone analogy and diagram connector"/>
          <p:cNvSpPr/>
          <p:nvPr/>
        </p:nvSpPr>
        <p:spPr>
          <a:xfrm flipH="false" flipV="false" rot="0">
            <a:off x="2119691" y="4703876"/>
            <a:ext cx="761271" cy="881337"/>
          </a:xfrm>
          <a:custGeom>
            <a:avLst/>
            <a:gdLst/>
            <a:ahLst/>
            <a:cxnLst/>
            <a:rect r="r" b="b" t="t" l="l"/>
            <a:pathLst>
              <a:path h="881337" w="761271">
                <a:moveTo>
                  <a:pt x="0" y="0"/>
                </a:moveTo>
                <a:lnTo>
                  <a:pt x="761271" y="0"/>
                </a:lnTo>
                <a:lnTo>
                  <a:pt x="761271" y="881337"/>
                </a:lnTo>
                <a:lnTo>
                  <a:pt x="0" y="881337"/>
                </a:lnTo>
                <a:lnTo>
                  <a:pt x="0" y="0"/>
                </a:lnTo>
                <a:close/>
              </a:path>
            </a:pathLst>
          </a:custGeom>
          <a:blipFill>
            <a:blip r:embed="rId20"/>
            <a:stretch>
              <a:fillRect l="0" t="-26" r="0" b="-26"/>
            </a:stretch>
          </a:blipFill>
        </p:spPr>
      </p:sp>
      <p:sp>
        <p:nvSpPr>
          <p:cNvPr name="Freeform 35" id="35" descr="Phone analogy and diagram connector"/>
          <p:cNvSpPr/>
          <p:nvPr/>
        </p:nvSpPr>
        <p:spPr>
          <a:xfrm flipH="false" flipV="false" rot="0">
            <a:off x="1237885" y="5946625"/>
            <a:ext cx="761271" cy="881337"/>
          </a:xfrm>
          <a:custGeom>
            <a:avLst/>
            <a:gdLst/>
            <a:ahLst/>
            <a:cxnLst/>
            <a:rect r="r" b="b" t="t" l="l"/>
            <a:pathLst>
              <a:path h="881337" w="761271">
                <a:moveTo>
                  <a:pt x="0" y="0"/>
                </a:moveTo>
                <a:lnTo>
                  <a:pt x="761271" y="0"/>
                </a:lnTo>
                <a:lnTo>
                  <a:pt x="761271" y="881336"/>
                </a:lnTo>
                <a:lnTo>
                  <a:pt x="0" y="881336"/>
                </a:lnTo>
                <a:lnTo>
                  <a:pt x="0" y="0"/>
                </a:lnTo>
                <a:close/>
              </a:path>
            </a:pathLst>
          </a:custGeom>
          <a:blipFill>
            <a:blip r:embed="rId21"/>
            <a:stretch>
              <a:fillRect l="0" t="-26" r="0" b="-26"/>
            </a:stretch>
          </a:blipFill>
        </p:spPr>
      </p:sp>
      <p:sp>
        <p:nvSpPr>
          <p:cNvPr name="Freeform 36" id="36" descr="Phone analogy and diagram connector"/>
          <p:cNvSpPr/>
          <p:nvPr/>
        </p:nvSpPr>
        <p:spPr>
          <a:xfrm flipH="false" flipV="false" rot="0">
            <a:off x="2119691" y="5946625"/>
            <a:ext cx="761271" cy="881337"/>
          </a:xfrm>
          <a:custGeom>
            <a:avLst/>
            <a:gdLst/>
            <a:ahLst/>
            <a:cxnLst/>
            <a:rect r="r" b="b" t="t" l="l"/>
            <a:pathLst>
              <a:path h="881337" w="761271">
                <a:moveTo>
                  <a:pt x="0" y="0"/>
                </a:moveTo>
                <a:lnTo>
                  <a:pt x="761271" y="0"/>
                </a:lnTo>
                <a:lnTo>
                  <a:pt x="761271" y="881336"/>
                </a:lnTo>
                <a:lnTo>
                  <a:pt x="0" y="881336"/>
                </a:lnTo>
                <a:lnTo>
                  <a:pt x="0" y="0"/>
                </a:lnTo>
                <a:close/>
              </a:path>
            </a:pathLst>
          </a:custGeom>
          <a:blipFill>
            <a:blip r:embed="rId22"/>
            <a:stretch>
              <a:fillRect l="0" t="-26" r="0" b="-26"/>
            </a:stretch>
          </a:blipFill>
        </p:spPr>
      </p:sp>
      <p:sp>
        <p:nvSpPr>
          <p:cNvPr name="Freeform 37" id="37" descr="Connections from the small phone analogy to a common framework and its six applications"/>
          <p:cNvSpPr/>
          <p:nvPr/>
        </p:nvSpPr>
        <p:spPr>
          <a:xfrm flipH="false" flipV="false" rot="0">
            <a:off x="3333750" y="5524500"/>
            <a:ext cx="1905000" cy="381000"/>
          </a:xfrm>
          <a:custGeom>
            <a:avLst/>
            <a:gdLst/>
            <a:ahLst/>
            <a:cxnLst/>
            <a:rect r="r" b="b" t="t" l="l"/>
            <a:pathLst>
              <a:path h="381000" w="1905000">
                <a:moveTo>
                  <a:pt x="0" y="0"/>
                </a:moveTo>
                <a:lnTo>
                  <a:pt x="1905000" y="0"/>
                </a:lnTo>
                <a:lnTo>
                  <a:pt x="1905000" y="381000"/>
                </a:lnTo>
                <a:lnTo>
                  <a:pt x="0" y="381000"/>
                </a:lnTo>
                <a:lnTo>
                  <a:pt x="0" y="0"/>
                </a:lnTo>
                <a:close/>
              </a:path>
            </a:pathLst>
          </a:custGeom>
          <a:blipFill>
            <a:blip r:embed="rId23"/>
            <a:stretch>
              <a:fillRect l="0" t="-12500" r="0" b="-12500"/>
            </a:stretch>
          </a:blipFill>
        </p:spPr>
      </p:sp>
      <p:sp>
        <p:nvSpPr>
          <p:cNvPr name="Freeform 38" id="38" descr="One common motion-planning framework connects to inspection, auto rigging, sealant, pick and place, sanding and polishing."/>
          <p:cNvSpPr/>
          <p:nvPr/>
        </p:nvSpPr>
        <p:spPr>
          <a:xfrm flipH="false" flipV="false" rot="0">
            <a:off x="9810750" y="2381250"/>
            <a:ext cx="2476500" cy="6438900"/>
          </a:xfrm>
          <a:custGeom>
            <a:avLst/>
            <a:gdLst/>
            <a:ahLst/>
            <a:cxnLst/>
            <a:rect r="r" b="b" t="t" l="l"/>
            <a:pathLst>
              <a:path h="6438900" w="2476500">
                <a:moveTo>
                  <a:pt x="0" y="0"/>
                </a:moveTo>
                <a:lnTo>
                  <a:pt x="2476500" y="0"/>
                </a:lnTo>
                <a:lnTo>
                  <a:pt x="2476500" y="6438900"/>
                </a:lnTo>
                <a:lnTo>
                  <a:pt x="0" y="643890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85800"/>
            <a:ext cx="17011650" cy="744398"/>
          </a:xfrm>
          <a:prstGeom prst="rect">
            <a:avLst/>
          </a:prstGeom>
        </p:spPr>
        <p:txBody>
          <a:bodyPr anchor="t" rtlCol="false" tIns="0" lIns="0" bIns="0" rIns="0">
            <a:spAutoFit/>
          </a:bodyPr>
          <a:lstStyle/>
          <a:p>
            <a:pPr algn="l" marL="0" indent="0" lvl="0">
              <a:lnSpc>
                <a:spcPts val="5699"/>
              </a:lnSpc>
              <a:spcBef>
                <a:spcPct val="0"/>
              </a:spcBef>
            </a:pPr>
            <a:r>
              <a:rPr lang="en-US" b="true" sz="5699" strike="noStrike" u="none">
                <a:solidFill>
                  <a:srgbClr val="06164B"/>
                </a:solidFill>
                <a:latin typeface="Inter Bold"/>
                <a:ea typeface="Inter Bold"/>
                <a:cs typeface="Inter Bold"/>
                <a:sym typeface="Inter Bold"/>
              </a:rPr>
              <a:t>My vision: a complete robotics product</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marL="0" indent="0" lvl="0">
              <a:lnSpc>
                <a:spcPts val="2400"/>
              </a:lnSpc>
              <a:spcBef>
                <a:spcPct val="0"/>
              </a:spcBef>
            </a:pPr>
            <a:r>
              <a:rPr lang="en-US" sz="2400" strike="noStrike" u="none">
                <a:solidFill>
                  <a:srgbClr val="06164B"/>
                </a:solidFill>
                <a:latin typeface="Inter"/>
                <a:ea typeface="Inter"/>
                <a:cs typeface="Inter"/>
                <a:sym typeface="Inter"/>
              </a:rPr>
              <a:t>One connected platform. Configured for each application.</a:t>
            </a:r>
          </a:p>
        </p:txBody>
      </p:sp>
      <p:sp>
        <p:nvSpPr>
          <p:cNvPr name="TextBox 5" id="5"/>
          <p:cNvSpPr txBox="true"/>
          <p:nvPr/>
        </p:nvSpPr>
        <p:spPr>
          <a:xfrm rot="0">
            <a:off x="523875" y="3514725"/>
            <a:ext cx="390525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2D767D"/>
                </a:solidFill>
                <a:latin typeface="Inter Bold"/>
                <a:ea typeface="Inter Bold"/>
                <a:cs typeface="Inter Bold"/>
                <a:sym typeface="Inter Bold"/>
              </a:rPr>
              <a:t>A car needs more</a:t>
            </a:r>
          </a:p>
          <a:p>
            <a:pPr algn="ctr" marL="0" indent="0" lvl="0">
              <a:lnSpc>
                <a:spcPts val="2400"/>
              </a:lnSpc>
              <a:spcBef>
                <a:spcPct val="0"/>
              </a:spcBef>
            </a:pPr>
            <a:r>
              <a:rPr lang="en-US" b="true" sz="2400" spc="-48" strike="noStrike" u="none">
                <a:solidFill>
                  <a:srgbClr val="2D767D"/>
                </a:solidFill>
                <a:latin typeface="Inter Bold"/>
                <a:ea typeface="Inter Bold"/>
                <a:cs typeface="Inter Bold"/>
                <a:sym typeface="Inter Bold"/>
              </a:rPr>
              <a:t>than navigation</a:t>
            </a:r>
          </a:p>
        </p:txBody>
      </p:sp>
      <p:sp>
        <p:nvSpPr>
          <p:cNvPr name="TextBox 6" id="6"/>
          <p:cNvSpPr txBox="true"/>
          <p:nvPr/>
        </p:nvSpPr>
        <p:spPr>
          <a:xfrm rot="0">
            <a:off x="5143500" y="6419850"/>
            <a:ext cx="12477750" cy="304618"/>
          </a:xfrm>
          <a:prstGeom prst="rect">
            <a:avLst/>
          </a:prstGeom>
        </p:spPr>
        <p:txBody>
          <a:bodyPr anchor="t" rtlCol="false" tIns="0" lIns="0" bIns="0" rIns="0">
            <a:spAutoFit/>
          </a:bodyPr>
          <a:lstStyle/>
          <a:p>
            <a:pPr algn="ctr" marL="0" indent="0" lvl="0">
              <a:lnSpc>
                <a:spcPts val="2250"/>
              </a:lnSpc>
              <a:spcBef>
                <a:spcPct val="0"/>
              </a:spcBef>
            </a:pPr>
            <a:r>
              <a:rPr lang="en-US" b="true" sz="2250" spc="-45" strike="noStrike" u="none">
                <a:solidFill>
                  <a:srgbClr val="256D79"/>
                </a:solidFill>
                <a:latin typeface="Inter Bold"/>
                <a:ea typeface="Inter Bold"/>
                <a:cs typeface="Inter Bold"/>
                <a:sym typeface="Inter Bold"/>
              </a:rPr>
              <a:t>Applications</a:t>
            </a:r>
          </a:p>
        </p:txBody>
      </p:sp>
      <p:sp>
        <p:nvSpPr>
          <p:cNvPr name="TextBox 7" id="7"/>
          <p:cNvSpPr txBox="true"/>
          <p:nvPr/>
        </p:nvSpPr>
        <p:spPr>
          <a:xfrm rot="0">
            <a:off x="5143500" y="5943600"/>
            <a:ext cx="1247775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Product line: shared core • task-specific configuration</a:t>
            </a:r>
          </a:p>
        </p:txBody>
      </p:sp>
      <p:sp>
        <p:nvSpPr>
          <p:cNvPr name="TextBox 8" id="8"/>
          <p:cNvSpPr txBox="true"/>
          <p:nvPr/>
        </p:nvSpPr>
        <p:spPr>
          <a:xfrm rot="0">
            <a:off x="147637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Simulation</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Test virtually</a:t>
            </a:r>
          </a:p>
        </p:txBody>
      </p:sp>
      <p:sp>
        <p:nvSpPr>
          <p:cNvPr name="Freeform 9" id="9" descr="Shared software and task coordination layer."/>
          <p:cNvSpPr/>
          <p:nvPr/>
        </p:nvSpPr>
        <p:spPr>
          <a:xfrm flipH="false" flipV="false" rot="0">
            <a:off x="5143500" y="4810125"/>
            <a:ext cx="12477750" cy="952500"/>
          </a:xfrm>
          <a:custGeom>
            <a:avLst/>
            <a:gdLst/>
            <a:ahLst/>
            <a:cxnLst/>
            <a:rect r="r" b="b" t="t" l="l"/>
            <a:pathLst>
              <a:path h="952500" w="12477750">
                <a:moveTo>
                  <a:pt x="0" y="0"/>
                </a:moveTo>
                <a:lnTo>
                  <a:pt x="12477750" y="0"/>
                </a:lnTo>
                <a:lnTo>
                  <a:pt x="12477750" y="952500"/>
                </a:lnTo>
                <a:lnTo>
                  <a:pt x="0" y="952500"/>
                </a:lnTo>
                <a:lnTo>
                  <a:pt x="0" y="0"/>
                </a:lnTo>
                <a:close/>
              </a:path>
            </a:pathLst>
          </a:custGeom>
          <a:blipFill>
            <a:blip r:embed="rId3"/>
            <a:stretch>
              <a:fillRect l="-865" t="-122754" r="-865" b="-122754"/>
            </a:stretch>
          </a:blipFill>
        </p:spPr>
      </p:sp>
      <p:sp>
        <p:nvSpPr>
          <p:cNvPr name="TextBox 10" id="10"/>
          <p:cNvSpPr txBox="true"/>
          <p:nvPr/>
        </p:nvSpPr>
        <p:spPr>
          <a:xfrm rot="0">
            <a:off x="50482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trike="noStrike" u="none">
                <a:solidFill>
                  <a:srgbClr val="15215A"/>
                </a:solidFill>
                <a:latin typeface="Inter Bold"/>
                <a:ea typeface="Inter Bold"/>
                <a:cs typeface="Inter Bold"/>
                <a:sym typeface="Inter Bold"/>
              </a:rPr>
              <a:t>Vision</a:t>
            </a:r>
          </a:p>
          <a:p>
            <a:pPr algn="ctr" marL="0" indent="0" lvl="0">
              <a:lnSpc>
                <a:spcPts val="2549"/>
              </a:lnSpc>
              <a:spcBef>
                <a:spcPct val="0"/>
              </a:spcBef>
            </a:pPr>
            <a:r>
              <a:rPr lang="en-US" b="true" sz="2549" strike="noStrike" u="none">
                <a:solidFill>
                  <a:srgbClr val="15215A"/>
                </a:solidFill>
                <a:latin typeface="Inter Bold"/>
                <a:ea typeface="Inter Bold"/>
                <a:cs typeface="Inter Bold"/>
                <a:sym typeface="Inter Bold"/>
              </a:rPr>
              <a:t>See the panel</a:t>
            </a:r>
          </a:p>
        </p:txBody>
      </p:sp>
      <p:sp>
        <p:nvSpPr>
          <p:cNvPr name="TextBox 11" id="11"/>
          <p:cNvSpPr txBox="true"/>
          <p:nvPr/>
        </p:nvSpPr>
        <p:spPr>
          <a:xfrm rot="0">
            <a:off x="5381625" y="4933950"/>
            <a:ext cx="12001500" cy="659706"/>
          </a:xfrm>
          <a:prstGeom prst="rect">
            <a:avLst/>
          </a:prstGeom>
        </p:spPr>
        <p:txBody>
          <a:bodyPr anchor="t" rtlCol="false" tIns="0" lIns="0" bIns="0" rIns="0">
            <a:spAutoFit/>
          </a:bodyPr>
          <a:lstStyle/>
          <a:p>
            <a:pPr algn="ctr" marL="0" indent="0" lvl="0">
              <a:lnSpc>
                <a:spcPts val="2549"/>
              </a:lnSpc>
              <a:spcBef>
                <a:spcPct val="0"/>
              </a:spcBef>
            </a:pPr>
            <a:r>
              <a:rPr lang="en-US" sz="2549" spc="-51" strike="noStrike" u="none">
                <a:solidFill>
                  <a:srgbClr val="FFFFFF"/>
                </a:solidFill>
                <a:latin typeface="Inter"/>
                <a:ea typeface="Inter"/>
                <a:cs typeface="Inter"/>
                <a:sym typeface="Inter"/>
              </a:rPr>
              <a:t>Software stack: connects components &amp; shares data</a:t>
            </a:r>
          </a:p>
          <a:p>
            <a:pPr algn="ctr" marL="0" indent="0" lvl="0">
              <a:lnSpc>
                <a:spcPts val="2549"/>
              </a:lnSpc>
              <a:spcBef>
                <a:spcPct val="0"/>
              </a:spcBef>
            </a:pPr>
            <a:r>
              <a:rPr lang="en-US" sz="2549" spc="-51" strike="noStrike" u="none">
                <a:solidFill>
                  <a:srgbClr val="FFFFFF"/>
                </a:solidFill>
                <a:latin typeface="Inter"/>
                <a:ea typeface="Inter"/>
                <a:cs typeface="Inter"/>
                <a:sym typeface="Inter"/>
              </a:rPr>
              <a:t>Task orchestrator: coordinates the whole task</a:t>
            </a:r>
          </a:p>
        </p:txBody>
      </p:sp>
      <p:sp>
        <p:nvSpPr>
          <p:cNvPr name="TextBox 12" id="12"/>
          <p:cNvSpPr txBox="true"/>
          <p:nvPr/>
        </p:nvSpPr>
        <p:spPr>
          <a:xfrm rot="0">
            <a:off x="6858000" y="8305800"/>
            <a:ext cx="40005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Inspection</a:t>
            </a:r>
          </a:p>
        </p:txBody>
      </p:sp>
      <p:sp>
        <p:nvSpPr>
          <p:cNvPr name="TextBox 13" id="13"/>
          <p:cNvSpPr txBox="true"/>
          <p:nvPr/>
        </p:nvSpPr>
        <p:spPr>
          <a:xfrm rot="0">
            <a:off x="11906250" y="8305800"/>
            <a:ext cx="400050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Sealant</a:t>
            </a:r>
          </a:p>
        </p:txBody>
      </p:sp>
      <p:sp>
        <p:nvSpPr>
          <p:cNvPr name="TextBox 14" id="14"/>
          <p:cNvSpPr txBox="true"/>
          <p:nvPr/>
        </p:nvSpPr>
        <p:spPr>
          <a:xfrm rot="0">
            <a:off x="115252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Control</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Execute motion</a:t>
            </a:r>
          </a:p>
        </p:txBody>
      </p:sp>
      <p:sp>
        <p:nvSpPr>
          <p:cNvPr name="TextBox 15" id="15"/>
          <p:cNvSpPr txBox="true"/>
          <p:nvPr/>
        </p:nvSpPr>
        <p:spPr>
          <a:xfrm rot="0">
            <a:off x="5143500" y="9039225"/>
            <a:ext cx="12477750" cy="326276"/>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15215A"/>
                </a:solidFill>
                <a:latin typeface="Inter Bold"/>
                <a:ea typeface="Inter Bold"/>
                <a:cs typeface="Inter Bold"/>
                <a:sym typeface="Inter Bold"/>
              </a:rPr>
              <a:t>Design  →  Test  →  Deploy  →  Support &amp; improve</a:t>
            </a:r>
          </a:p>
        </p:txBody>
      </p:sp>
      <p:sp>
        <p:nvSpPr>
          <p:cNvPr name="TextBox 16" id="16"/>
          <p:cNvSpPr txBox="true"/>
          <p:nvPr/>
        </p:nvSpPr>
        <p:spPr>
          <a:xfrm rot="0">
            <a:off x="5095875" y="9848850"/>
            <a:ext cx="12763500" cy="312922"/>
          </a:xfrm>
          <a:prstGeom prst="rect">
            <a:avLst/>
          </a:prstGeom>
        </p:spPr>
        <p:txBody>
          <a:bodyPr anchor="t" rtlCol="false" tIns="0" lIns="0" bIns="0" rIns="0">
            <a:spAutoFit/>
          </a:bodyPr>
          <a:lstStyle/>
          <a:p>
            <a:pPr algn="ctr" marL="0" indent="0" lvl="0">
              <a:lnSpc>
                <a:spcPts val="2430"/>
              </a:lnSpc>
              <a:spcBef>
                <a:spcPct val="0"/>
              </a:spcBef>
            </a:pPr>
            <a:r>
              <a:rPr lang="en-US" b="true" sz="2025" strike="noStrike" u="none">
                <a:solidFill>
                  <a:srgbClr val="06164B"/>
                </a:solidFill>
                <a:latin typeface="Inter Bold"/>
                <a:ea typeface="Inter Bold"/>
                <a:cs typeface="Inter Bold"/>
                <a:sym typeface="Inter Bold"/>
              </a:rPr>
              <a:t>Together, these capabilities contribute a foundation for Physical AI</a:t>
            </a:r>
          </a:p>
        </p:txBody>
      </p:sp>
      <p:sp>
        <p:nvSpPr>
          <p:cNvPr name="TextBox 17" id="17"/>
          <p:cNvSpPr txBox="true"/>
          <p:nvPr/>
        </p:nvSpPr>
        <p:spPr>
          <a:xfrm rot="0">
            <a:off x="8286750" y="3667125"/>
            <a:ext cx="3048000" cy="659706"/>
          </a:xfrm>
          <a:prstGeom prst="rect">
            <a:avLst/>
          </a:prstGeom>
        </p:spPr>
        <p:txBody>
          <a:bodyPr anchor="t" rtlCol="false" tIns="0" lIns="0" bIns="0" rIns="0">
            <a:spAutoFit/>
          </a:bodyPr>
          <a:lstStyle/>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Motion planning</a:t>
            </a:r>
          </a:p>
          <a:p>
            <a:pPr algn="ctr"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Choose movement</a:t>
            </a:r>
          </a:p>
        </p:txBody>
      </p:sp>
      <p:sp>
        <p:nvSpPr>
          <p:cNvPr name="Freeform 18" id="18" descr="A compact car and navigation example showing that multiple capabilities work together."/>
          <p:cNvSpPr/>
          <p:nvPr/>
        </p:nvSpPr>
        <p:spPr>
          <a:xfrm flipH="false" flipV="false" rot="0">
            <a:off x="809625" y="4524375"/>
            <a:ext cx="3333750" cy="2701230"/>
          </a:xfrm>
          <a:custGeom>
            <a:avLst/>
            <a:gdLst/>
            <a:ahLst/>
            <a:cxnLst/>
            <a:rect r="r" b="b" t="t" l="l"/>
            <a:pathLst>
              <a:path h="2701230" w="3333750">
                <a:moveTo>
                  <a:pt x="0" y="0"/>
                </a:moveTo>
                <a:lnTo>
                  <a:pt x="3333750" y="0"/>
                </a:lnTo>
                <a:lnTo>
                  <a:pt x="3333750" y="2701230"/>
                </a:lnTo>
                <a:lnTo>
                  <a:pt x="0" y="2701230"/>
                </a:lnTo>
                <a:lnTo>
                  <a:pt x="0" y="0"/>
                </a:lnTo>
                <a:close/>
              </a:path>
            </a:pathLst>
          </a:custGeom>
          <a:blipFill>
            <a:blip r:embed="rId4"/>
            <a:stretch>
              <a:fillRect l="-16" t="0" r="-16" b="0"/>
            </a:stretch>
          </a:blipFill>
        </p:spPr>
      </p:sp>
      <p:sp>
        <p:nvSpPr>
          <p:cNvPr name="Freeform 19" id="19" descr="Simulation component: test robot behaviour virtually before deployment."/>
          <p:cNvSpPr/>
          <p:nvPr/>
        </p:nvSpPr>
        <p:spPr>
          <a:xfrm flipH="false" flipV="false" rot="0">
            <a:off x="157638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Vision, motion planning, control and simulation connected to the shared robotics software stack."/>
          <p:cNvSpPr/>
          <p:nvPr/>
        </p:nvSpPr>
        <p:spPr>
          <a:xfrm flipH="false" flipV="false" rot="0">
            <a:off x="5143500" y="4476750"/>
            <a:ext cx="12477750" cy="333375"/>
          </a:xfrm>
          <a:custGeom>
            <a:avLst/>
            <a:gdLst/>
            <a:ahLst/>
            <a:cxnLst/>
            <a:rect r="r" b="b" t="t" l="l"/>
            <a:pathLst>
              <a:path h="333375" w="12477750">
                <a:moveTo>
                  <a:pt x="0" y="0"/>
                </a:moveTo>
                <a:lnTo>
                  <a:pt x="12477750" y="0"/>
                </a:lnTo>
                <a:lnTo>
                  <a:pt x="12477750" y="333375"/>
                </a:lnTo>
                <a:lnTo>
                  <a:pt x="0" y="3333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Inspection application supported by the common robotics platform."/>
          <p:cNvSpPr/>
          <p:nvPr/>
        </p:nvSpPr>
        <p:spPr>
          <a:xfrm flipH="false" flipV="false" rot="0">
            <a:off x="7429500" y="6762750"/>
            <a:ext cx="2857500" cy="1414462"/>
          </a:xfrm>
          <a:custGeom>
            <a:avLst/>
            <a:gdLst/>
            <a:ahLst/>
            <a:cxnLst/>
            <a:rect r="r" b="b" t="t" l="l"/>
            <a:pathLst>
              <a:path h="1414462" w="2857500">
                <a:moveTo>
                  <a:pt x="0" y="0"/>
                </a:moveTo>
                <a:lnTo>
                  <a:pt x="2857500" y="0"/>
                </a:lnTo>
                <a:lnTo>
                  <a:pt x="2857500" y="1414462"/>
                </a:lnTo>
                <a:lnTo>
                  <a:pt x="0" y="1414462"/>
                </a:lnTo>
                <a:lnTo>
                  <a:pt x="0" y="0"/>
                </a:lnTo>
                <a:close/>
              </a:path>
            </a:pathLst>
          </a:custGeom>
          <a:blipFill>
            <a:blip r:embed="rId9"/>
            <a:stretch>
              <a:fillRect l="0" t="0" r="0" b="0"/>
            </a:stretch>
          </a:blipFill>
        </p:spPr>
      </p:sp>
      <p:sp>
        <p:nvSpPr>
          <p:cNvPr name="Freeform 22" id="22" descr="Sealant application supported by the common robotics platform."/>
          <p:cNvSpPr/>
          <p:nvPr/>
        </p:nvSpPr>
        <p:spPr>
          <a:xfrm flipH="false" flipV="false" rot="0">
            <a:off x="12477750" y="6762750"/>
            <a:ext cx="2857500" cy="1285875"/>
          </a:xfrm>
          <a:custGeom>
            <a:avLst/>
            <a:gdLst/>
            <a:ahLst/>
            <a:cxnLst/>
            <a:rect r="r" b="b" t="t" l="l"/>
            <a:pathLst>
              <a:path h="1285875" w="2857500">
                <a:moveTo>
                  <a:pt x="0" y="0"/>
                </a:moveTo>
                <a:lnTo>
                  <a:pt x="2857500" y="0"/>
                </a:lnTo>
                <a:lnTo>
                  <a:pt x="2857500" y="1285875"/>
                </a:lnTo>
                <a:lnTo>
                  <a:pt x="0" y="1285875"/>
                </a:lnTo>
                <a:lnTo>
                  <a:pt x="0" y="0"/>
                </a:lnTo>
                <a:close/>
              </a:path>
            </a:pathLst>
          </a:custGeom>
          <a:blipFill>
            <a:blip r:embed="rId10"/>
            <a:stretch>
              <a:fillRect l="0" t="0" r="0" b="0"/>
            </a:stretch>
          </a:blipFill>
        </p:spPr>
      </p:sp>
      <p:sp>
        <p:nvSpPr>
          <p:cNvPr name="Freeform 23" id="23" descr="Vision camera icon."/>
          <p:cNvSpPr/>
          <p:nvPr/>
        </p:nvSpPr>
        <p:spPr>
          <a:xfrm flipH="false" flipV="false" rot="0">
            <a:off x="60483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descr="Motion planning route icon."/>
          <p:cNvSpPr/>
          <p:nvPr/>
        </p:nvSpPr>
        <p:spPr>
          <a:xfrm flipH="false" flipV="false" rot="0">
            <a:off x="92868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descr="Robot control icon."/>
          <p:cNvSpPr/>
          <p:nvPr/>
        </p:nvSpPr>
        <p:spPr>
          <a:xfrm flipH="false" flipV="false" rot="0">
            <a:off x="12525375" y="2476500"/>
            <a:ext cx="1047750" cy="1047750"/>
          </a:xfrm>
          <a:custGeom>
            <a:avLst/>
            <a:gdLst/>
            <a:ahLst/>
            <a:cxnLst/>
            <a:rect r="r" b="b" t="t" l="l"/>
            <a:pathLst>
              <a:path h="1047750" w="1047750">
                <a:moveTo>
                  <a:pt x="0" y="0"/>
                </a:moveTo>
                <a:lnTo>
                  <a:pt x="1047750" y="0"/>
                </a:lnTo>
                <a:lnTo>
                  <a:pt x="1047750" y="1047750"/>
                </a:lnTo>
                <a:lnTo>
                  <a:pt x="0" y="104775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6" id="26" descr="Support and improvement feed back into design, contributing a foundation for Physical AI."/>
          <p:cNvSpPr/>
          <p:nvPr/>
        </p:nvSpPr>
        <p:spPr>
          <a:xfrm flipH="false" flipV="false" rot="0">
            <a:off x="5143500" y="9477375"/>
            <a:ext cx="12477750" cy="361950"/>
          </a:xfrm>
          <a:custGeom>
            <a:avLst/>
            <a:gdLst/>
            <a:ahLst/>
            <a:cxnLst/>
            <a:rect r="r" b="b" t="t" l="l"/>
            <a:pathLst>
              <a:path h="361950" w="12477750">
                <a:moveTo>
                  <a:pt x="0" y="0"/>
                </a:moveTo>
                <a:lnTo>
                  <a:pt x="12477750" y="0"/>
                </a:lnTo>
                <a:lnTo>
                  <a:pt x="12477750" y="361950"/>
                </a:lnTo>
                <a:lnTo>
                  <a:pt x="0" y="36195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10608"/>
          </a:xfrm>
          <a:prstGeom prst="rect">
            <a:avLst/>
          </a:prstGeom>
        </p:spPr>
        <p:txBody>
          <a:bodyPr anchor="t" rtlCol="false" tIns="0" lIns="0" bIns="0" rIns="0">
            <a:spAutoFit/>
          </a:bodyPr>
          <a:lstStyle/>
          <a:p>
            <a:pPr algn="l" marL="0" indent="0" lvl="0">
              <a:lnSpc>
                <a:spcPts val="5400"/>
              </a:lnSpc>
              <a:spcBef>
                <a:spcPct val="0"/>
              </a:spcBef>
            </a:pPr>
            <a:r>
              <a:rPr lang="en-US" b="true" sz="5400" strike="noStrike" u="none">
                <a:solidFill>
                  <a:srgbClr val="081747"/>
                </a:solidFill>
                <a:latin typeface="Inter Bold"/>
                <a:ea typeface="Inter Bold"/>
                <a:cs typeface="Inter Bold"/>
                <a:sym typeface="Inter Bold"/>
              </a:rPr>
              <a:t>My vision: motion planning to a common stack</a:t>
            </a:r>
          </a:p>
        </p:txBody>
      </p:sp>
      <p:sp>
        <p:nvSpPr>
          <p:cNvPr name="TextBox 4" id="4"/>
          <p:cNvSpPr txBox="true"/>
          <p:nvPr/>
        </p:nvSpPr>
        <p:spPr>
          <a:xfrm rot="0">
            <a:off x="638175" y="1704975"/>
            <a:ext cx="17011650" cy="326276"/>
          </a:xfrm>
          <a:prstGeom prst="rect">
            <a:avLst/>
          </a:prstGeom>
        </p:spPr>
        <p:txBody>
          <a:bodyPr anchor="t" rtlCol="false" tIns="0" lIns="0" bIns="0" rIns="0">
            <a:spAutoFit/>
          </a:bodyPr>
          <a:lstStyle/>
          <a:p>
            <a:pPr algn="l" marL="0" indent="0" lvl="0">
              <a:lnSpc>
                <a:spcPts val="2400"/>
              </a:lnSpc>
              <a:spcBef>
                <a:spcPct val="0"/>
              </a:spcBef>
            </a:pPr>
            <a:r>
              <a:rPr lang="en-US" sz="2400" strike="noStrike" u="none">
                <a:solidFill>
                  <a:srgbClr val="15215A"/>
                </a:solidFill>
                <a:latin typeface="Inter"/>
                <a:ea typeface="Inter"/>
                <a:cs typeface="Inter"/>
                <a:sym typeface="Inter"/>
              </a:rPr>
              <a:t>One reusable motion core. Multiple applications. One standardised product line.</a:t>
            </a:r>
          </a:p>
        </p:txBody>
      </p:sp>
      <p:sp>
        <p:nvSpPr>
          <p:cNvPr name="TextBox 5" id="5"/>
          <p:cNvSpPr txBox="true"/>
          <p:nvPr/>
        </p:nvSpPr>
        <p:spPr>
          <a:xfrm rot="0">
            <a:off x="6524625" y="28575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Inspection</a:t>
            </a:r>
          </a:p>
        </p:txBody>
      </p:sp>
      <p:sp>
        <p:nvSpPr>
          <p:cNvPr name="TextBox 6" id="6"/>
          <p:cNvSpPr txBox="true"/>
          <p:nvPr/>
        </p:nvSpPr>
        <p:spPr>
          <a:xfrm rot="0">
            <a:off x="10715625" y="2571750"/>
            <a:ext cx="7096125" cy="738722"/>
          </a:xfrm>
          <a:prstGeom prst="rect">
            <a:avLst/>
          </a:prstGeom>
        </p:spPr>
        <p:txBody>
          <a:bodyPr anchor="t" rtlCol="false" tIns="0" lIns="0" bIns="0" rIns="0">
            <a:spAutoFit/>
          </a:bodyPr>
          <a:lstStyle/>
          <a:p>
            <a:pPr algn="ctr" marL="0" indent="0" lvl="0">
              <a:lnSpc>
                <a:spcPts val="2850"/>
              </a:lnSpc>
              <a:spcBef>
                <a:spcPct val="0"/>
              </a:spcBef>
            </a:pPr>
            <a:r>
              <a:rPr lang="en-US" b="true" sz="2850" spc="-57" strike="noStrike" u="none">
                <a:solidFill>
                  <a:srgbClr val="15215A"/>
                </a:solidFill>
                <a:latin typeface="Inter Bold"/>
                <a:ea typeface="Inter Bold"/>
                <a:cs typeface="Inter Bold"/>
                <a:sym typeface="Inter Bold"/>
              </a:rPr>
              <a:t>Common standardised</a:t>
            </a:r>
          </a:p>
          <a:p>
            <a:pPr algn="ctr" marL="0" indent="0" lvl="0">
              <a:lnSpc>
                <a:spcPts val="2850"/>
              </a:lnSpc>
              <a:spcBef>
                <a:spcPct val="0"/>
              </a:spcBef>
            </a:pPr>
            <a:r>
              <a:rPr lang="en-US" b="true" sz="2850" spc="-57" strike="noStrike" u="none">
                <a:solidFill>
                  <a:srgbClr val="15215A"/>
                </a:solidFill>
                <a:latin typeface="Inter Bold"/>
                <a:ea typeface="Inter Bold"/>
                <a:cs typeface="Inter Bold"/>
                <a:sym typeface="Inter Bold"/>
              </a:rPr>
              <a:t>robotics stack</a:t>
            </a:r>
          </a:p>
        </p:txBody>
      </p:sp>
      <p:sp>
        <p:nvSpPr>
          <p:cNvPr name="TextBox 7" id="7"/>
          <p:cNvSpPr txBox="true"/>
          <p:nvPr/>
        </p:nvSpPr>
        <p:spPr>
          <a:xfrm rot="0">
            <a:off x="6524625" y="39052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Auto rigging</a:t>
            </a:r>
          </a:p>
        </p:txBody>
      </p:sp>
      <p:sp>
        <p:nvSpPr>
          <p:cNvPr name="TextBox 8" id="8"/>
          <p:cNvSpPr txBox="true"/>
          <p:nvPr/>
        </p:nvSpPr>
        <p:spPr>
          <a:xfrm rot="0">
            <a:off x="6524625" y="49530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Sealant</a:t>
            </a:r>
          </a:p>
        </p:txBody>
      </p:sp>
      <p:sp>
        <p:nvSpPr>
          <p:cNvPr name="Freeform 9" id="9" descr="Blue shared software stack and task orchestration layer, matching slide 15."/>
          <p:cNvSpPr/>
          <p:nvPr/>
        </p:nvSpPr>
        <p:spPr>
          <a:xfrm flipH="false" flipV="false" rot="0">
            <a:off x="10953750" y="7191375"/>
            <a:ext cx="6667500" cy="1285875"/>
          </a:xfrm>
          <a:custGeom>
            <a:avLst/>
            <a:gdLst/>
            <a:ahLst/>
            <a:cxnLst/>
            <a:rect r="r" b="b" t="t" l="l"/>
            <a:pathLst>
              <a:path h="1285875" w="6667500">
                <a:moveTo>
                  <a:pt x="0" y="0"/>
                </a:moveTo>
                <a:lnTo>
                  <a:pt x="6667500" y="0"/>
                </a:lnTo>
                <a:lnTo>
                  <a:pt x="6667500" y="1285875"/>
                </a:lnTo>
                <a:lnTo>
                  <a:pt x="0" y="1285875"/>
                </a:lnTo>
                <a:lnTo>
                  <a:pt x="0" y="0"/>
                </a:lnTo>
                <a:close/>
              </a:path>
            </a:pathLst>
          </a:custGeom>
          <a:blipFill>
            <a:blip r:embed="rId3"/>
            <a:stretch>
              <a:fillRect l="-1619" t="-19392" r="-1619" b="-19392"/>
            </a:stretch>
          </a:blipFill>
        </p:spPr>
      </p:sp>
      <p:sp>
        <p:nvSpPr>
          <p:cNvPr name="TextBox 10" id="10"/>
          <p:cNvSpPr txBox="true"/>
          <p:nvPr/>
        </p:nvSpPr>
        <p:spPr>
          <a:xfrm rot="0">
            <a:off x="6524625" y="60007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trike="noStrike" u="none">
                <a:solidFill>
                  <a:srgbClr val="15215A"/>
                </a:solidFill>
                <a:latin typeface="Inter Bold"/>
                <a:ea typeface="Inter Bold"/>
                <a:cs typeface="Inter Bold"/>
                <a:sym typeface="Inter Bold"/>
              </a:rPr>
              <a:t>Pick &amp; place</a:t>
            </a:r>
          </a:p>
        </p:txBody>
      </p:sp>
      <p:sp>
        <p:nvSpPr>
          <p:cNvPr name="TextBox 11" id="11"/>
          <p:cNvSpPr txBox="true"/>
          <p:nvPr/>
        </p:nvSpPr>
        <p:spPr>
          <a:xfrm rot="0">
            <a:off x="11144250" y="7515225"/>
            <a:ext cx="6286500" cy="629724"/>
          </a:xfrm>
          <a:prstGeom prst="rect">
            <a:avLst/>
          </a:prstGeom>
        </p:spPr>
        <p:txBody>
          <a:bodyPr anchor="t" rtlCol="false" tIns="0" lIns="0" bIns="0" rIns="0">
            <a:spAutoFit/>
          </a:bodyPr>
          <a:lstStyle/>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Software stack: connects &amp; shares data</a:t>
            </a:r>
          </a:p>
          <a:p>
            <a:pPr algn="ctr" marL="0" indent="0" lvl="0">
              <a:lnSpc>
                <a:spcPts val="2400"/>
              </a:lnSpc>
              <a:spcBef>
                <a:spcPct val="0"/>
              </a:spcBef>
            </a:pPr>
            <a:r>
              <a:rPr lang="en-US" b="true" sz="2400" spc="-48" strike="noStrike" u="none">
                <a:solidFill>
                  <a:srgbClr val="FFFFFF"/>
                </a:solidFill>
                <a:latin typeface="Inter Bold"/>
                <a:ea typeface="Inter Bold"/>
                <a:cs typeface="Inter Bold"/>
                <a:sym typeface="Inter Bold"/>
              </a:rPr>
              <a:t>Task orchestrator: coordinates tasks</a:t>
            </a:r>
          </a:p>
        </p:txBody>
      </p:sp>
      <p:sp>
        <p:nvSpPr>
          <p:cNvPr name="TextBox 12" id="12"/>
          <p:cNvSpPr txBox="true"/>
          <p:nvPr/>
        </p:nvSpPr>
        <p:spPr>
          <a:xfrm rot="0">
            <a:off x="857250" y="5248275"/>
            <a:ext cx="2857500" cy="1028837"/>
          </a:xfrm>
          <a:prstGeom prst="rect">
            <a:avLst/>
          </a:prstGeom>
        </p:spPr>
        <p:txBody>
          <a:bodyPr anchor="t" rtlCol="false" tIns="0" lIns="0" bIns="0" rIns="0">
            <a:spAutoFit/>
          </a:bodyPr>
          <a:lstStyle/>
          <a:p>
            <a:pPr algn="ctr" marL="0" indent="0" lvl="0">
              <a:lnSpc>
                <a:spcPts val="2699"/>
              </a:lnSpc>
              <a:spcBef>
                <a:spcPct val="0"/>
              </a:spcBef>
            </a:pPr>
            <a:r>
              <a:rPr lang="en-US" b="true" sz="2699" spc="-54" strike="noStrike" u="none">
                <a:solidFill>
                  <a:srgbClr val="15215A"/>
                </a:solidFill>
                <a:latin typeface="Inter Bold"/>
                <a:ea typeface="Inter Bold"/>
                <a:cs typeface="Inter Bold"/>
                <a:sym typeface="Inter Bold"/>
              </a:rPr>
              <a:t>Common motion</a:t>
            </a:r>
          </a:p>
          <a:p>
            <a:pPr algn="ctr" marL="0" indent="0" lvl="0">
              <a:lnSpc>
                <a:spcPts val="2699"/>
              </a:lnSpc>
              <a:spcBef>
                <a:spcPct val="0"/>
              </a:spcBef>
            </a:pPr>
            <a:r>
              <a:rPr lang="en-US" b="true" sz="2699" spc="-54" strike="noStrike" u="none">
                <a:solidFill>
                  <a:srgbClr val="15215A"/>
                </a:solidFill>
                <a:latin typeface="Inter Bold"/>
                <a:ea typeface="Inter Bold"/>
                <a:cs typeface="Inter Bold"/>
                <a:sym typeface="Inter Bold"/>
              </a:rPr>
              <a:t>planning framework</a:t>
            </a:r>
          </a:p>
        </p:txBody>
      </p:sp>
      <p:sp>
        <p:nvSpPr>
          <p:cNvPr name="TextBox 13" id="13"/>
          <p:cNvSpPr txBox="true"/>
          <p:nvPr/>
        </p:nvSpPr>
        <p:spPr>
          <a:xfrm rot="0">
            <a:off x="857250" y="6467475"/>
            <a:ext cx="2857500" cy="875814"/>
          </a:xfrm>
          <a:prstGeom prst="rect">
            <a:avLst/>
          </a:prstGeom>
        </p:spPr>
        <p:txBody>
          <a:bodyPr anchor="t" rtlCol="false" tIns="0" lIns="0" bIns="0" rIns="0">
            <a:spAutoFit/>
          </a:bodyPr>
          <a:lstStyle/>
          <a:p>
            <a:pPr algn="ctr" marL="0" indent="0" lvl="0">
              <a:lnSpc>
                <a:spcPts val="2249"/>
              </a:lnSpc>
              <a:spcBef>
                <a:spcPct val="0"/>
              </a:spcBef>
            </a:pPr>
            <a:r>
              <a:rPr lang="en-US" sz="2249" spc="-45" strike="noStrike" u="none">
                <a:solidFill>
                  <a:srgbClr val="15215A"/>
                </a:solidFill>
                <a:latin typeface="Inter"/>
                <a:ea typeface="Inter"/>
                <a:cs typeface="Inter"/>
                <a:sym typeface="Inter"/>
              </a:rPr>
              <a:t>Task-specific</a:t>
            </a:r>
          </a:p>
          <a:p>
            <a:pPr algn="ctr" marL="0" indent="0" lvl="0">
              <a:lnSpc>
                <a:spcPts val="2249"/>
              </a:lnSpc>
              <a:spcBef>
                <a:spcPct val="0"/>
              </a:spcBef>
            </a:pPr>
            <a:r>
              <a:rPr lang="en-US" sz="2249" spc="-45" strike="noStrike" u="none">
                <a:solidFill>
                  <a:srgbClr val="15215A"/>
                </a:solidFill>
                <a:latin typeface="Inter"/>
                <a:ea typeface="Inter"/>
                <a:cs typeface="Inter"/>
                <a:sym typeface="Inter"/>
              </a:rPr>
              <a:t>planner, toolpath</a:t>
            </a:r>
          </a:p>
          <a:p>
            <a:pPr algn="ctr" marL="0" indent="0" lvl="0">
              <a:lnSpc>
                <a:spcPts val="2249"/>
              </a:lnSpc>
              <a:spcBef>
                <a:spcPct val="0"/>
              </a:spcBef>
            </a:pPr>
            <a:r>
              <a:rPr lang="en-US" sz="2249" spc="-45" strike="noStrike" u="none">
                <a:solidFill>
                  <a:srgbClr val="15215A"/>
                </a:solidFill>
                <a:latin typeface="Inter"/>
                <a:ea typeface="Inter"/>
                <a:cs typeface="Inter"/>
                <a:sym typeface="Inter"/>
              </a:rPr>
              <a:t>&amp; constraints</a:t>
            </a:r>
          </a:p>
        </p:txBody>
      </p:sp>
      <p:sp>
        <p:nvSpPr>
          <p:cNvPr name="TextBox 14" id="14"/>
          <p:cNvSpPr txBox="true"/>
          <p:nvPr/>
        </p:nvSpPr>
        <p:spPr>
          <a:xfrm rot="0">
            <a:off x="6524625" y="704850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Sanding</a:t>
            </a:r>
          </a:p>
        </p:txBody>
      </p:sp>
      <p:sp>
        <p:nvSpPr>
          <p:cNvPr name="TextBox 15" id="15"/>
          <p:cNvSpPr txBox="true"/>
          <p:nvPr/>
        </p:nvSpPr>
        <p:spPr>
          <a:xfrm rot="0">
            <a:off x="638175" y="9639300"/>
            <a:ext cx="17011650" cy="255585"/>
          </a:xfrm>
          <a:prstGeom prst="rect">
            <a:avLst/>
          </a:prstGeom>
        </p:spPr>
        <p:txBody>
          <a:bodyPr anchor="t" rtlCol="false" tIns="0" lIns="0" bIns="0" rIns="0">
            <a:spAutoFit/>
          </a:bodyPr>
          <a:lstStyle/>
          <a:p>
            <a:pPr algn="ctr" marL="0" indent="0" lvl="0">
              <a:lnSpc>
                <a:spcPts val="2099"/>
              </a:lnSpc>
              <a:spcBef>
                <a:spcPct val="0"/>
              </a:spcBef>
            </a:pPr>
            <a:r>
              <a:rPr lang="en-US" b="true" sz="2099" spc="-42" strike="noStrike" u="none">
                <a:solidFill>
                  <a:srgbClr val="256D79"/>
                </a:solidFill>
                <a:latin typeface="Inter Bold"/>
                <a:ea typeface="Inter Bold"/>
                <a:cs typeface="Inter Bold"/>
                <a:sym typeface="Inter Bold"/>
              </a:rPr>
              <a:t>Reuse proven work • Integrate faster • Share improvements</a:t>
            </a:r>
          </a:p>
        </p:txBody>
      </p:sp>
      <p:sp>
        <p:nvSpPr>
          <p:cNvPr name="TextBox 16" id="16"/>
          <p:cNvSpPr txBox="true"/>
          <p:nvPr/>
        </p:nvSpPr>
        <p:spPr>
          <a:xfrm rot="0">
            <a:off x="638175" y="9982200"/>
            <a:ext cx="17011650" cy="267703"/>
          </a:xfrm>
          <a:prstGeom prst="rect">
            <a:avLst/>
          </a:prstGeom>
        </p:spPr>
        <p:txBody>
          <a:bodyPr anchor="t" rtlCol="false" tIns="0" lIns="0" bIns="0" rIns="0">
            <a:spAutoFit/>
          </a:bodyPr>
          <a:lstStyle/>
          <a:p>
            <a:pPr algn="ctr" marL="0" indent="0" lvl="0">
              <a:lnSpc>
                <a:spcPts val="2160"/>
              </a:lnSpc>
              <a:spcBef>
                <a:spcPct val="0"/>
              </a:spcBef>
            </a:pPr>
            <a:r>
              <a:rPr lang="en-US" b="true" sz="1800" strike="noStrike" u="none">
                <a:solidFill>
                  <a:srgbClr val="15215A"/>
                </a:solidFill>
                <a:latin typeface="Inter Bold"/>
                <a:ea typeface="Inter Bold"/>
                <a:cs typeface="Inter Bold"/>
                <a:sym typeface="Inter Bold"/>
              </a:rPr>
              <a:t>A shared robotics foundation contributing to Physical AI</a:t>
            </a:r>
          </a:p>
        </p:txBody>
      </p:sp>
      <p:sp>
        <p:nvSpPr>
          <p:cNvPr name="TextBox 17" id="17"/>
          <p:cNvSpPr txBox="true"/>
          <p:nvPr/>
        </p:nvSpPr>
        <p:spPr>
          <a:xfrm rot="0">
            <a:off x="6524625" y="8096250"/>
            <a:ext cx="2762250" cy="338408"/>
          </a:xfrm>
          <a:prstGeom prst="rect">
            <a:avLst/>
          </a:prstGeom>
        </p:spPr>
        <p:txBody>
          <a:bodyPr anchor="t" rtlCol="false" tIns="0" lIns="0" bIns="0" rIns="0">
            <a:spAutoFit/>
          </a:bodyPr>
          <a:lstStyle/>
          <a:p>
            <a:pPr algn="l" marL="0" indent="0" lvl="0">
              <a:lnSpc>
                <a:spcPts val="2549"/>
              </a:lnSpc>
              <a:spcBef>
                <a:spcPct val="0"/>
              </a:spcBef>
            </a:pPr>
            <a:r>
              <a:rPr lang="en-US" b="true" sz="2549" spc="-51" strike="noStrike" u="none">
                <a:solidFill>
                  <a:srgbClr val="15215A"/>
                </a:solidFill>
                <a:latin typeface="Inter Bold"/>
                <a:ea typeface="Inter Bold"/>
                <a:cs typeface="Inter Bold"/>
                <a:sym typeface="Inter Bold"/>
              </a:rPr>
              <a:t>Polishing</a:t>
            </a:r>
          </a:p>
        </p:txBody>
      </p:sp>
      <p:sp>
        <p:nvSpPr>
          <p:cNvPr name="Freeform 18" id="18" descr="Common motion framework branches to six applications, followed by a common robotics stack with four peer components."/>
          <p:cNvSpPr/>
          <p:nvPr/>
        </p:nvSpPr>
        <p:spPr>
          <a:xfrm flipH="false" flipV="false" rot="0">
            <a:off x="476250" y="2476500"/>
            <a:ext cx="17526000" cy="6286500"/>
          </a:xfrm>
          <a:custGeom>
            <a:avLst/>
            <a:gdLst/>
            <a:ahLst/>
            <a:cxnLst/>
            <a:rect r="r" b="b" t="t" l="l"/>
            <a:pathLst>
              <a:path h="6286500" w="17526000">
                <a:moveTo>
                  <a:pt x="0" y="0"/>
                </a:moveTo>
                <a:lnTo>
                  <a:pt x="17526000" y="0"/>
                </a:lnTo>
                <a:lnTo>
                  <a:pt x="17526000" y="6286500"/>
                </a:lnTo>
                <a:lnTo>
                  <a:pt x="0" y="6286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descr="Inspection application illustration retained from slide 14."/>
          <p:cNvSpPr/>
          <p:nvPr/>
        </p:nvSpPr>
        <p:spPr>
          <a:xfrm flipH="false" flipV="false" rot="0">
            <a:off x="5334000" y="25765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6"/>
            <a:stretch>
              <a:fillRect l="0" t="-26" r="0" b="-26"/>
            </a:stretch>
          </a:blipFill>
        </p:spPr>
      </p:sp>
      <p:sp>
        <p:nvSpPr>
          <p:cNvPr name="Freeform 20" id="20" descr="Auto rigging application illustration retained from slide 14."/>
          <p:cNvSpPr/>
          <p:nvPr/>
        </p:nvSpPr>
        <p:spPr>
          <a:xfrm flipH="false" flipV="false" rot="0">
            <a:off x="5334000" y="36242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7"/>
            <a:stretch>
              <a:fillRect l="0" t="-26" r="0" b="-26"/>
            </a:stretch>
          </a:blipFill>
        </p:spPr>
      </p:sp>
      <p:sp>
        <p:nvSpPr>
          <p:cNvPr name="Freeform 21" id="21" descr="Sealant application illustration retained from slide 14."/>
          <p:cNvSpPr/>
          <p:nvPr/>
        </p:nvSpPr>
        <p:spPr>
          <a:xfrm flipH="false" flipV="false" rot="0">
            <a:off x="5334000" y="46720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8"/>
            <a:stretch>
              <a:fillRect l="0" t="-9627" r="0" b="-9627"/>
            </a:stretch>
          </a:blipFill>
        </p:spPr>
      </p:sp>
      <p:sp>
        <p:nvSpPr>
          <p:cNvPr name="Freeform 22" id="22" descr="Pick &amp; place application illustration retained from slide 14."/>
          <p:cNvSpPr/>
          <p:nvPr/>
        </p:nvSpPr>
        <p:spPr>
          <a:xfrm flipH="false" flipV="false" rot="0">
            <a:off x="5334000" y="57197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9"/>
            <a:stretch>
              <a:fillRect l="0" t="-26" r="0" b="-26"/>
            </a:stretch>
          </a:blipFill>
        </p:spPr>
      </p:sp>
      <p:sp>
        <p:nvSpPr>
          <p:cNvPr name="Freeform 23" id="23" descr="Sanding application illustration retained from slide 14."/>
          <p:cNvSpPr/>
          <p:nvPr/>
        </p:nvSpPr>
        <p:spPr>
          <a:xfrm flipH="false" flipV="false" rot="0">
            <a:off x="5334000" y="676751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10"/>
            <a:stretch>
              <a:fillRect l="0" t="-26" r="0" b="-26"/>
            </a:stretch>
          </a:blipFill>
        </p:spPr>
      </p:sp>
      <p:sp>
        <p:nvSpPr>
          <p:cNvPr name="Freeform 24" id="24" descr="Polishing application illustration retained from slide 14."/>
          <p:cNvSpPr/>
          <p:nvPr/>
        </p:nvSpPr>
        <p:spPr>
          <a:xfrm flipH="false" flipV="false" rot="0">
            <a:off x="5334000" y="7815262"/>
            <a:ext cx="1028700" cy="848227"/>
          </a:xfrm>
          <a:custGeom>
            <a:avLst/>
            <a:gdLst/>
            <a:ahLst/>
            <a:cxnLst/>
            <a:rect r="r" b="b" t="t" l="l"/>
            <a:pathLst>
              <a:path h="848227" w="1028700">
                <a:moveTo>
                  <a:pt x="0" y="0"/>
                </a:moveTo>
                <a:lnTo>
                  <a:pt x="1028700" y="0"/>
                </a:lnTo>
                <a:lnTo>
                  <a:pt x="1028700" y="848227"/>
                </a:lnTo>
                <a:lnTo>
                  <a:pt x="0" y="848227"/>
                </a:lnTo>
                <a:lnTo>
                  <a:pt x="0" y="0"/>
                </a:lnTo>
                <a:close/>
              </a:path>
            </a:pathLst>
          </a:custGeom>
          <a:blipFill>
            <a:blip r:embed="rId11"/>
            <a:stretch>
              <a:fillRect l="0" t="-26" r="0" b="-26"/>
            </a:stretch>
          </a:blipFill>
        </p:spPr>
      </p:sp>
      <p:sp>
        <p:nvSpPr>
          <p:cNvPr name="Freeform 25" id="25" descr="Transition from the reusable motion framework and its applications to a standardised robotics stack."/>
          <p:cNvSpPr/>
          <p:nvPr/>
        </p:nvSpPr>
        <p:spPr>
          <a:xfrm flipH="false" flipV="false" rot="0">
            <a:off x="9620250" y="5238750"/>
            <a:ext cx="771525" cy="762000"/>
          </a:xfrm>
          <a:custGeom>
            <a:avLst/>
            <a:gdLst/>
            <a:ahLst/>
            <a:cxnLst/>
            <a:rect r="r" b="b" t="t" l="l"/>
            <a:pathLst>
              <a:path h="762000" w="771525">
                <a:moveTo>
                  <a:pt x="0" y="0"/>
                </a:moveTo>
                <a:lnTo>
                  <a:pt x="771525" y="0"/>
                </a:lnTo>
                <a:lnTo>
                  <a:pt x="771525" y="762000"/>
                </a:lnTo>
                <a:lnTo>
                  <a:pt x="0" y="762000"/>
                </a:lnTo>
                <a:lnTo>
                  <a:pt x="0" y="0"/>
                </a:lnTo>
                <a:close/>
              </a:path>
            </a:pathLst>
          </a:custGeom>
          <a:blipFill>
            <a:blip r:embed="rId12"/>
            <a:stretch>
              <a:fillRect l="0" t="0" r="0" b="0"/>
            </a:stretch>
          </a:blipFill>
        </p:spPr>
      </p:sp>
      <p:sp>
        <p:nvSpPr>
          <p:cNvPr name="Freeform 26" id="26" descr="Vision component."/>
          <p:cNvSpPr/>
          <p:nvPr/>
        </p:nvSpPr>
        <p:spPr>
          <a:xfrm flipH="false" flipV="false" rot="0">
            <a:off x="11930062" y="381000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descr="Motion planning component."/>
          <p:cNvSpPr/>
          <p:nvPr/>
        </p:nvSpPr>
        <p:spPr>
          <a:xfrm flipH="false" flipV="false" rot="0">
            <a:off x="15263812" y="381000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8" id="28" descr="Control component."/>
          <p:cNvSpPr/>
          <p:nvPr/>
        </p:nvSpPr>
        <p:spPr>
          <a:xfrm flipH="false" flipV="false" rot="0">
            <a:off x="11930062" y="542925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9" id="29" descr="Simulation component."/>
          <p:cNvSpPr/>
          <p:nvPr/>
        </p:nvSpPr>
        <p:spPr>
          <a:xfrm flipH="false" flipV="false" rot="0">
            <a:off x="15263812" y="5429250"/>
            <a:ext cx="904875" cy="904875"/>
          </a:xfrm>
          <a:custGeom>
            <a:avLst/>
            <a:gdLst/>
            <a:ahLst/>
            <a:cxnLst/>
            <a:rect r="r" b="b" t="t" l="l"/>
            <a:pathLst>
              <a:path h="904875" w="904875">
                <a:moveTo>
                  <a:pt x="0" y="0"/>
                </a:moveTo>
                <a:lnTo>
                  <a:pt x="904876" y="0"/>
                </a:lnTo>
                <a:lnTo>
                  <a:pt x="904876" y="904875"/>
                </a:lnTo>
                <a:lnTo>
                  <a:pt x="0" y="90487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descr="Reusable motion-planning core, highlighted with a clear route icon."/>
          <p:cNvSpPr/>
          <p:nvPr/>
        </p:nvSpPr>
        <p:spPr>
          <a:xfrm flipH="false" flipV="false" rot="0">
            <a:off x="1857375" y="4095750"/>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1" id="31" descr="Highlighted robotics product lifecycle: Design → Test → Deploy → Improve."/>
          <p:cNvSpPr/>
          <p:nvPr/>
        </p:nvSpPr>
        <p:spPr>
          <a:xfrm flipH="false" flipV="false" rot="0">
            <a:off x="3048000" y="8877300"/>
            <a:ext cx="12192000" cy="609600"/>
          </a:xfrm>
          <a:custGeom>
            <a:avLst/>
            <a:gdLst/>
            <a:ahLst/>
            <a:cxnLst/>
            <a:rect r="r" b="b" t="t" l="l"/>
            <a:pathLst>
              <a:path h="609600" w="12192000">
                <a:moveTo>
                  <a:pt x="0" y="0"/>
                </a:moveTo>
                <a:lnTo>
                  <a:pt x="12192000" y="0"/>
                </a:lnTo>
                <a:lnTo>
                  <a:pt x="12192000" y="609600"/>
                </a:lnTo>
                <a:lnTo>
                  <a:pt x="0" y="6096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163" t="-1049" r="-1163" b="-1049"/>
            </a:stretch>
          </a:blipFill>
        </p:spPr>
      </p:sp>
      <p:sp>
        <p:nvSpPr>
          <p:cNvPr name="TextBox 3" id="3"/>
          <p:cNvSpPr txBox="true"/>
          <p:nvPr/>
        </p:nvSpPr>
        <p:spPr>
          <a:xfrm rot="0">
            <a:off x="638175" y="676275"/>
            <a:ext cx="17011650" cy="753923"/>
          </a:xfrm>
          <a:prstGeom prst="rect">
            <a:avLst/>
          </a:prstGeom>
        </p:spPr>
        <p:txBody>
          <a:bodyPr anchor="t" rtlCol="false" tIns="0" lIns="0" bIns="0" rIns="0">
            <a:spAutoFit/>
          </a:bodyPr>
          <a:lstStyle/>
          <a:p>
            <a:pPr algn="l" marL="0" indent="0" lvl="0">
              <a:lnSpc>
                <a:spcPts val="5699"/>
              </a:lnSpc>
              <a:spcBef>
                <a:spcPct val="0"/>
              </a:spcBef>
            </a:pPr>
            <a:r>
              <a:rPr lang="en-US" b="true" sz="5699" spc="-228" strike="noStrike" u="none">
                <a:solidFill>
                  <a:srgbClr val="15215A"/>
                </a:solidFill>
                <a:latin typeface="Open Sauce Bold"/>
                <a:ea typeface="Open Sauce Bold"/>
                <a:cs typeface="Open Sauce Bold"/>
                <a:sym typeface="Open Sauce Bold"/>
              </a:rPr>
              <a:t>Vision &amp; challenges</a:t>
            </a:r>
          </a:p>
        </p:txBody>
      </p:sp>
      <p:sp>
        <p:nvSpPr>
          <p:cNvPr name="TextBox 4" id="4"/>
          <p:cNvSpPr txBox="true"/>
          <p:nvPr/>
        </p:nvSpPr>
        <p:spPr>
          <a:xfrm rot="0">
            <a:off x="638175" y="1676400"/>
            <a:ext cx="17011650" cy="328883"/>
          </a:xfrm>
          <a:prstGeom prst="rect">
            <a:avLst/>
          </a:prstGeom>
        </p:spPr>
        <p:txBody>
          <a:bodyPr anchor="t" rtlCol="false" tIns="0" lIns="0" bIns="0" rIns="0">
            <a:spAutoFit/>
          </a:bodyPr>
          <a:lstStyle/>
          <a:p>
            <a:pPr algn="l" marL="0" indent="0" lvl="0">
              <a:lnSpc>
                <a:spcPts val="2549"/>
              </a:lnSpc>
              <a:spcBef>
                <a:spcPct val="0"/>
              </a:spcBef>
            </a:pPr>
            <a:r>
              <a:rPr lang="en-US" sz="2549" spc="-102" strike="noStrike" u="none">
                <a:solidFill>
                  <a:srgbClr val="15215A"/>
                </a:solidFill>
                <a:latin typeface="Open Sauce"/>
                <a:ea typeface="Open Sauce"/>
                <a:cs typeface="Open Sauce"/>
                <a:sym typeface="Open Sauce"/>
              </a:rPr>
              <a:t>From application-specific effort to reusable, adaptive robotics</a:t>
            </a:r>
          </a:p>
        </p:txBody>
      </p:sp>
      <p:sp>
        <p:nvSpPr>
          <p:cNvPr name="TextBox 5" id="5"/>
          <p:cNvSpPr txBox="true"/>
          <p:nvPr/>
        </p:nvSpPr>
        <p:spPr>
          <a:xfrm rot="0">
            <a:off x="876300" y="2724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Business</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6" id="6"/>
          <p:cNvSpPr txBox="true"/>
          <p:nvPr/>
        </p:nvSpPr>
        <p:spPr>
          <a:xfrm rot="0">
            <a:off x="876300" y="4248150"/>
            <a:ext cx="2476500" cy="650181"/>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Technical</a:t>
            </a:r>
          </a:p>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challenges</a:t>
            </a:r>
          </a:p>
        </p:txBody>
      </p:sp>
      <p:sp>
        <p:nvSpPr>
          <p:cNvPr name="TextBox 7" id="7"/>
          <p:cNvSpPr txBox="true"/>
          <p:nvPr/>
        </p:nvSpPr>
        <p:spPr>
          <a:xfrm rot="0">
            <a:off x="876300" y="7153275"/>
            <a:ext cx="2476500" cy="328883"/>
          </a:xfrm>
          <a:prstGeom prst="rect">
            <a:avLst/>
          </a:prstGeom>
        </p:spPr>
        <p:txBody>
          <a:bodyPr anchor="t" rtlCol="false" tIns="0" lIns="0" bIns="0" rIns="0">
            <a:spAutoFit/>
          </a:bodyPr>
          <a:lstStyle/>
          <a:p>
            <a:pPr algn="l"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The direction</a:t>
            </a:r>
          </a:p>
        </p:txBody>
      </p:sp>
      <p:sp>
        <p:nvSpPr>
          <p:cNvPr name="TextBox 8" id="8"/>
          <p:cNvSpPr txBox="true"/>
          <p:nvPr/>
        </p:nvSpPr>
        <p:spPr>
          <a:xfrm rot="0">
            <a:off x="37814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New panels,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programming</a:t>
            </a:r>
          </a:p>
        </p:txBody>
      </p:sp>
      <p:sp>
        <p:nvSpPr>
          <p:cNvPr name="TextBox 9" id="9"/>
          <p:cNvSpPr txBox="true"/>
          <p:nvPr/>
        </p:nvSpPr>
        <p:spPr>
          <a:xfrm rot="0">
            <a:off x="8543925" y="2743200"/>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One-off solutions,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repeated integration</a:t>
            </a:r>
          </a:p>
        </p:txBody>
      </p:sp>
      <p:sp>
        <p:nvSpPr>
          <p:cNvPr name="TextBox 10" id="10"/>
          <p:cNvSpPr txBox="true"/>
          <p:nvPr/>
        </p:nvSpPr>
        <p:spPr>
          <a:xfrm rot="0">
            <a:off x="13306425" y="2743200"/>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Complex tasks,</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manual intervention</a:t>
            </a:r>
          </a:p>
        </p:txBody>
      </p:sp>
      <p:sp>
        <p:nvSpPr>
          <p:cNvPr name="TextBox 11" id="11"/>
          <p:cNvSpPr txBox="true"/>
          <p:nvPr/>
        </p:nvSpPr>
        <p:spPr>
          <a:xfrm rot="0">
            <a:off x="37814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Different surfaces,</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obstacles &amp; motion limits</a:t>
            </a:r>
          </a:p>
        </p:txBody>
      </p:sp>
      <p:sp>
        <p:nvSpPr>
          <p:cNvPr name="TextBox 12" id="12"/>
          <p:cNvSpPr txBox="true"/>
          <p:nvPr/>
        </p:nvSpPr>
        <p:spPr>
          <a:xfrm rot="0">
            <a:off x="8543925" y="4229100"/>
            <a:ext cx="42862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integration,</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testing &amp; lifecycle support</a:t>
            </a:r>
          </a:p>
        </p:txBody>
      </p:sp>
      <p:sp>
        <p:nvSpPr>
          <p:cNvPr name="TextBox 13" id="13"/>
          <p:cNvSpPr txBox="true"/>
          <p:nvPr/>
        </p:nvSpPr>
        <p:spPr>
          <a:xfrm rot="0">
            <a:off x="13306425" y="4229100"/>
            <a:ext cx="4095750" cy="629724"/>
          </a:xfrm>
          <a:prstGeom prst="rect">
            <a:avLst/>
          </a:prstGeom>
        </p:spPr>
        <p:txBody>
          <a:bodyPr anchor="t" rtlCol="false" tIns="0" lIns="0" bIns="0" rIns="0">
            <a:spAutoFit/>
          </a:bodyPr>
          <a:lstStyle/>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Limited task data &amp;</a:t>
            </a:r>
          </a:p>
          <a:p>
            <a:pPr algn="ctr" marL="0" indent="0" lvl="0">
              <a:lnSpc>
                <a:spcPts val="2400"/>
              </a:lnSpc>
              <a:spcBef>
                <a:spcPct val="0"/>
              </a:spcBef>
            </a:pPr>
            <a:r>
              <a:rPr lang="en-US" sz="2400" spc="-96" strike="noStrike" u="none">
                <a:solidFill>
                  <a:srgbClr val="15215A"/>
                </a:solidFill>
                <a:latin typeface="Open Sauce"/>
                <a:ea typeface="Open Sauce"/>
                <a:cs typeface="Open Sauce"/>
                <a:sym typeface="Open Sauce"/>
              </a:rPr>
              <a:t>reliable AI decisions</a:t>
            </a:r>
          </a:p>
        </p:txBody>
      </p:sp>
      <p:sp>
        <p:nvSpPr>
          <p:cNvPr name="TextBox 14" id="14"/>
          <p:cNvSpPr txBox="true"/>
          <p:nvPr/>
        </p:nvSpPr>
        <p:spPr>
          <a:xfrm rot="0">
            <a:off x="37814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motion foundation</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Task-specific choices</a:t>
            </a:r>
          </a:p>
        </p:txBody>
      </p:sp>
      <p:sp>
        <p:nvSpPr>
          <p:cNvPr name="TextBox 15" id="15"/>
          <p:cNvSpPr txBox="true"/>
          <p:nvPr/>
        </p:nvSpPr>
        <p:spPr>
          <a:xfrm rot="0">
            <a:off x="8543925" y="7724775"/>
            <a:ext cx="42862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One robotics platform</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Reuse across its lifecycle</a:t>
            </a:r>
          </a:p>
        </p:txBody>
      </p:sp>
      <p:sp>
        <p:nvSpPr>
          <p:cNvPr name="TextBox 16" id="16"/>
          <p:cNvSpPr txBox="true"/>
          <p:nvPr/>
        </p:nvSpPr>
        <p:spPr>
          <a:xfrm rot="0">
            <a:off x="13306425" y="7724775"/>
            <a:ext cx="4095750" cy="650181"/>
          </a:xfrm>
          <a:prstGeom prst="rect">
            <a:avLst/>
          </a:prstGeom>
        </p:spPr>
        <p:txBody>
          <a:bodyPr anchor="t" rtlCol="false" tIns="0" lIns="0" bIns="0" rIns="0">
            <a:spAutoFit/>
          </a:bodyPr>
          <a:lstStyle/>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Physical AI where useful</a:t>
            </a:r>
          </a:p>
          <a:p>
            <a:pPr algn="ctr" marL="0" indent="0" lvl="0">
              <a:lnSpc>
                <a:spcPts val="2549"/>
              </a:lnSpc>
              <a:spcBef>
                <a:spcPct val="0"/>
              </a:spcBef>
            </a:pPr>
            <a:r>
              <a:rPr lang="en-US" b="true" sz="2549" spc="-102" strike="noStrike" u="none">
                <a:solidFill>
                  <a:srgbClr val="15215A"/>
                </a:solidFill>
                <a:latin typeface="Open Sauce Bold"/>
                <a:ea typeface="Open Sauce Bold"/>
                <a:cs typeface="Open Sauce Bold"/>
                <a:sym typeface="Open Sauce Bold"/>
              </a:rPr>
              <a:t>Adaptive task decisions</a:t>
            </a:r>
          </a:p>
        </p:txBody>
      </p:sp>
      <p:sp>
        <p:nvSpPr>
          <p:cNvPr name="TextBox 17" id="17"/>
          <p:cNvSpPr txBox="true"/>
          <p:nvPr/>
        </p:nvSpPr>
        <p:spPr>
          <a:xfrm rot="0">
            <a:off x="638175" y="9477375"/>
            <a:ext cx="17011650" cy="318655"/>
          </a:xfrm>
          <a:prstGeom prst="rect">
            <a:avLst/>
          </a:prstGeom>
        </p:spPr>
        <p:txBody>
          <a:bodyPr anchor="t" rtlCol="false" tIns="0" lIns="0" bIns="0" rIns="0">
            <a:spAutoFit/>
          </a:bodyPr>
          <a:lstStyle/>
          <a:p>
            <a:pPr algn="l" marL="0" indent="0" lvl="0">
              <a:lnSpc>
                <a:spcPts val="2475"/>
              </a:lnSpc>
              <a:spcBef>
                <a:spcPct val="0"/>
              </a:spcBef>
            </a:pPr>
            <a:r>
              <a:rPr lang="en-US" b="true" sz="2475" spc="-99" strike="noStrike" u="none">
                <a:solidFill>
                  <a:srgbClr val="15215A"/>
                </a:solidFill>
                <a:latin typeface="Open Sauce Bold"/>
                <a:ea typeface="Open Sauce Bold"/>
                <a:cs typeface="Open Sauce Bold"/>
                <a:sym typeface="Open Sauce Bold"/>
              </a:rPr>
              <a:t>Less preparation effort • reusable engineering • more adaptable manufacturing</a:t>
            </a:r>
          </a:p>
        </p:txBody>
      </p:sp>
      <p:sp>
        <p:nvSpPr>
          <p:cNvPr name="Freeform 18" id="18" descr="Aligned business challenges, technical challenges and future direction"/>
          <p:cNvSpPr/>
          <p:nvPr/>
        </p:nvSpPr>
        <p:spPr>
          <a:xfrm flipH="false" flipV="false" rot="0">
            <a:off x="638175" y="2381250"/>
            <a:ext cx="17011650" cy="6667500"/>
          </a:xfrm>
          <a:custGeom>
            <a:avLst/>
            <a:gdLst/>
            <a:ahLst/>
            <a:cxnLst/>
            <a:rect r="r" b="b" t="t" l="l"/>
            <a:pathLst>
              <a:path h="6667500" w="17011650">
                <a:moveTo>
                  <a:pt x="0" y="0"/>
                </a:moveTo>
                <a:lnTo>
                  <a:pt x="17011650" y="0"/>
                </a:lnTo>
                <a:lnTo>
                  <a:pt x="17011650" y="6667500"/>
                </a:lnTo>
                <a:lnTo>
                  <a:pt x="0" y="6667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descr="Reusable motion, integrated platform, or Physical AI robotics capability"/>
          <p:cNvSpPr/>
          <p:nvPr/>
        </p:nvSpPr>
        <p:spPr>
          <a:xfrm flipH="false" flipV="false" rot="0">
            <a:off x="53340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descr="Reusable motion, integrated platform, or Physical AI robotics capability"/>
          <p:cNvSpPr/>
          <p:nvPr/>
        </p:nvSpPr>
        <p:spPr>
          <a:xfrm flipH="false" flipV="false" rot="0">
            <a:off x="1009650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descr="Reusable motion, integrated platform, or Physical AI robotics capability"/>
          <p:cNvSpPr/>
          <p:nvPr/>
        </p:nvSpPr>
        <p:spPr>
          <a:xfrm flipH="false" flipV="false" rot="0">
            <a:off x="14763750" y="6191250"/>
            <a:ext cx="1190625" cy="1190625"/>
          </a:xfrm>
          <a:custGeom>
            <a:avLst/>
            <a:gdLst/>
            <a:ahLst/>
            <a:cxnLst/>
            <a:rect r="r" b="b" t="t" l="l"/>
            <a:pathLst>
              <a:path h="1190625" w="1190625">
                <a:moveTo>
                  <a:pt x="0" y="0"/>
                </a:moveTo>
                <a:lnTo>
                  <a:pt x="1190625" y="0"/>
                </a:lnTo>
                <a:lnTo>
                  <a:pt x="1190625" y="1190625"/>
                </a:lnTo>
                <a:lnTo>
                  <a:pt x="0" y="1190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DAHYhfYF8jc</dc:identifier>
  <dcterms:modified xsi:type="dcterms:W3CDTF">2011-08-01T06:04:30Z</dcterms:modified>
  <cp:revision>1</cp:revision>
  <dc:title>Autonomy in Motion — Complete presentation</dc:title>
</cp:coreProperties>
</file>