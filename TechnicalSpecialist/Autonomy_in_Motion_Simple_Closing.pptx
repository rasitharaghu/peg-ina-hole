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1ec139f4944d9c" /><Relationship Type="http://schemas.openxmlformats.org/officeDocument/2006/relationships/extended-properties" Target="/docProps/app.xml" Id="R7540ac11c0054190" /><Relationship Type="http://schemas.openxmlformats.org/officeDocument/2006/relationships/officeDocument" Target="/ppt/presentation.xml" Id="Rc37acf81ab894cfe" /></Relationships>
</file>

<file path=ppt/presentation.xml><?xml version="1.0" encoding="utf-8"?>
<p:presentation xmlns:p="http://schemas.openxmlformats.org/presentationml/2006/main">
  <p:sldMasterIdLst>
    <p:sldMasterId xmlns:r="http://schemas.openxmlformats.org/officeDocument/2006/relationships" id="2147483648" r:id="R6015e256f6c64bc7"/>
  </p:sldMasterIdLst>
  <p:notesMasterIdLst>
    <p:notesMasterId xmlns:r="http://schemas.openxmlformats.org/officeDocument/2006/relationships" r:id="R2fde76e2c6654673"/>
  </p:notesMasterIdLst>
  <p:sldIdLst>
    <p:sldId xmlns:r="http://schemas.openxmlformats.org/officeDocument/2006/relationships" id="256" r:id="R123e68df21784ce5"/>
    <p:sldId xmlns:r="http://schemas.openxmlformats.org/officeDocument/2006/relationships" id="257" r:id="Rb59b71fa1ad14b4d"/>
    <p:sldId xmlns:r="http://schemas.openxmlformats.org/officeDocument/2006/relationships" id="258" r:id="Rdf4340d8975742bc"/>
    <p:sldId xmlns:r="http://schemas.openxmlformats.org/officeDocument/2006/relationships" id="259" r:id="R0b199251be91454d"/>
    <p:sldId xmlns:r="http://schemas.openxmlformats.org/officeDocument/2006/relationships" id="260" r:id="R14ab075ae9fa4d0b"/>
    <p:sldId xmlns:r="http://schemas.openxmlformats.org/officeDocument/2006/relationships" id="261" r:id="R97fa151b57e946ea"/>
    <p:sldId xmlns:r="http://schemas.openxmlformats.org/officeDocument/2006/relationships" id="262" r:id="Rea1f5699ee2a480c"/>
    <p:sldId xmlns:r="http://schemas.openxmlformats.org/officeDocument/2006/relationships" id="263" r:id="R4ab576b6cf1a4b4b"/>
    <p:sldId xmlns:r="http://schemas.openxmlformats.org/officeDocument/2006/relationships" id="264" r:id="R06be99f18c72476e"/>
    <p:sldId xmlns:r="http://schemas.openxmlformats.org/officeDocument/2006/relationships" id="265" r:id="R5a8eadac4cd84ab1"/>
    <p:sldId xmlns:r="http://schemas.openxmlformats.org/officeDocument/2006/relationships" id="266" r:id="Ra46f055e42a342fe"/>
    <p:sldId xmlns:r="http://schemas.openxmlformats.org/officeDocument/2006/relationships" id="267" r:id="Rbd7348dc61ea449a"/>
    <p:sldId xmlns:r="http://schemas.openxmlformats.org/officeDocument/2006/relationships" id="268" r:id="Rf8e984ce8c3c43ba"/>
    <p:sldId xmlns:r="http://schemas.openxmlformats.org/officeDocument/2006/relationships" id="269" r:id="R5c6d73d5833d40ee"/>
    <p:sldId xmlns:r="http://schemas.openxmlformats.org/officeDocument/2006/relationships" id="270" r:id="R743087959fcb4000"/>
    <p:sldId xmlns:r="http://schemas.openxmlformats.org/officeDocument/2006/relationships" id="271" r:id="Ra5467a589bda4c31"/>
    <p:sldId xmlns:r="http://schemas.openxmlformats.org/officeDocument/2006/relationships" id="272" r:id="R631d4255049648fb"/>
    <p:sldId xmlns:r="http://schemas.openxmlformats.org/officeDocument/2006/relationships" id="273" r:id="R4c33711f23c946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f2c91d7f6b4417" /><Relationship Type="http://schemas.openxmlformats.org/officeDocument/2006/relationships/slideMaster" Target="/ppt/slideMasters/slideMaster1.xml" Id="R6015e256f6c64bc7" /><Relationship Type="http://schemas.openxmlformats.org/officeDocument/2006/relationships/notesMaster" Target="/ppt/notesMasters/notesMaster1.xml" Id="R2fde76e2c6654673" /><Relationship Type="http://schemas.openxmlformats.org/officeDocument/2006/relationships/presProps" Target="/ppt/presProps.xml" Id="R8802faf08f54477f" /><Relationship Type="http://schemas.openxmlformats.org/officeDocument/2006/relationships/tableStyles" Target="/ppt/tableStyles.xml" Id="Rd247aed9f3044309" /><Relationship Type="http://schemas.openxmlformats.org/officeDocument/2006/relationships/slide" Target="/ppt/slides/slide1.xml" Id="R123e68df21784ce5" /><Relationship Type="http://schemas.openxmlformats.org/officeDocument/2006/relationships/slide" Target="/ppt/slides/slide2.xml" Id="Rb59b71fa1ad14b4d" /><Relationship Type="http://schemas.openxmlformats.org/officeDocument/2006/relationships/slide" Target="/ppt/slides/slide3.xml" Id="Rdf4340d8975742bc" /><Relationship Type="http://schemas.openxmlformats.org/officeDocument/2006/relationships/slide" Target="/ppt/slides/slide4.xml" Id="R0b199251be91454d" /><Relationship Type="http://schemas.openxmlformats.org/officeDocument/2006/relationships/slide" Target="/ppt/slides/slide5.xml" Id="R14ab075ae9fa4d0b" /><Relationship Type="http://schemas.openxmlformats.org/officeDocument/2006/relationships/slide" Target="/ppt/slides/slide6.xml" Id="R97fa151b57e946ea" /><Relationship Type="http://schemas.openxmlformats.org/officeDocument/2006/relationships/slide" Target="/ppt/slides/slide7.xml" Id="Rea1f5699ee2a480c" /><Relationship Type="http://schemas.openxmlformats.org/officeDocument/2006/relationships/slide" Target="/ppt/slides/slide8.xml" Id="R4ab576b6cf1a4b4b" /><Relationship Type="http://schemas.openxmlformats.org/officeDocument/2006/relationships/slide" Target="/ppt/slides/slide9.xml" Id="R06be99f18c72476e" /><Relationship Type="http://schemas.openxmlformats.org/officeDocument/2006/relationships/slide" Target="/ppt/slides/slide10.xml" Id="R5a8eadac4cd84ab1" /><Relationship Type="http://schemas.openxmlformats.org/officeDocument/2006/relationships/slide" Target="/ppt/slides/slide11.xml" Id="Ra46f055e42a342fe" /><Relationship Type="http://schemas.openxmlformats.org/officeDocument/2006/relationships/slide" Target="/ppt/slides/slide12.xml" Id="Rbd7348dc61ea449a" /><Relationship Type="http://schemas.openxmlformats.org/officeDocument/2006/relationships/slide" Target="/ppt/slides/slide13.xml" Id="Rf8e984ce8c3c43ba" /><Relationship Type="http://schemas.openxmlformats.org/officeDocument/2006/relationships/slide" Target="/ppt/slides/slide14.xml" Id="R5c6d73d5833d40ee" /><Relationship Type="http://schemas.openxmlformats.org/officeDocument/2006/relationships/slide" Target="/ppt/slides/slide15.xml" Id="R743087959fcb4000" /><Relationship Type="http://schemas.openxmlformats.org/officeDocument/2006/relationships/slide" Target="/ppt/slides/slide16.xml" Id="Ra5467a589bda4c31" /><Relationship Type="http://schemas.openxmlformats.org/officeDocument/2006/relationships/slide" Target="/ppt/slides/slide17.xml" Id="R631d4255049648fb" /><Relationship Type="http://schemas.openxmlformats.org/officeDocument/2006/relationships/slide" Target="/ppt/slides/slide18.xml" Id="R4c33711f23c946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9f84bbd00c45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8a9f70d2d443bd" /><Relationship Type="http://schemas.openxmlformats.org/officeDocument/2006/relationships/notesMaster" Target="/ppt/notesMasters/notesMaster1.xml" Id="R380dfc9ab8fa4b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acc9f57af0450c" /><Relationship Type="http://schemas.openxmlformats.org/officeDocument/2006/relationships/notesMaster" Target="/ppt/notesMasters/notesMaster1.xml" Id="R450bec6e77294f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362b4d52274716" /><Relationship Type="http://schemas.openxmlformats.org/officeDocument/2006/relationships/notesMaster" Target="/ppt/notesMasters/notesMaster1.xml" Id="R5dc63aa9d5fe4a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d8b6bfd5f64f9b" /><Relationship Type="http://schemas.openxmlformats.org/officeDocument/2006/relationships/notesMaster" Target="/ppt/notesMasters/notesMaster1.xml" Id="R7e7db010392b45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8c77ebf49449cf" /><Relationship Type="http://schemas.openxmlformats.org/officeDocument/2006/relationships/notesMaster" Target="/ppt/notesMasters/notesMaster1.xml" Id="R6486ce1d722645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10e80ccbfd483c" /><Relationship Type="http://schemas.openxmlformats.org/officeDocument/2006/relationships/notesMaster" Target="/ppt/notesMasters/notesMaster1.xml" Id="R5bfe3515ad1549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39606c483f4e3b" /><Relationship Type="http://schemas.openxmlformats.org/officeDocument/2006/relationships/notesMaster" Target="/ppt/notesMasters/notesMaster1.xml" Id="R5e37924c77814e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9f1c30b34f4698" /><Relationship Type="http://schemas.openxmlformats.org/officeDocument/2006/relationships/notesMaster" Target="/ppt/notesMasters/notesMaster1.xml" Id="R768b6fb3460143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ea2f3e3c82401e" /><Relationship Type="http://schemas.openxmlformats.org/officeDocument/2006/relationships/notesMaster" Target="/ppt/notesMasters/notesMaster1.xml" Id="R48e8f19755ed4e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78b044b5fe42a1" /><Relationship Type="http://schemas.openxmlformats.org/officeDocument/2006/relationships/notesMaster" Target="/ppt/notesMasters/notesMaster1.xml" Id="R750bd26e9a2c43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aa2d0c30b44fe0" /><Relationship Type="http://schemas.openxmlformats.org/officeDocument/2006/relationships/notesMaster" Target="/ppt/notesMasters/notesMaster1.xml" Id="R2568ba61b8cd4f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c8074c6a514c52" /><Relationship Type="http://schemas.openxmlformats.org/officeDocument/2006/relationships/notesMaster" Target="/ppt/notesMasters/notesMaster1.xml" Id="R7da6a5ffef1140b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bb9fc8034c450f" /><Relationship Type="http://schemas.openxmlformats.org/officeDocument/2006/relationships/notesMaster" Target="/ppt/notesMasters/notesMaster1.xml" Id="R8340d136305d4d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2e4006b02748f2" /><Relationship Type="http://schemas.openxmlformats.org/officeDocument/2006/relationships/notesMaster" Target="/ppt/notesMasters/notesMaster1.xml" Id="R125fdf873075479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0ca57cef4e4956" /><Relationship Type="http://schemas.openxmlformats.org/officeDocument/2006/relationships/notesMaster" Target="/ppt/notesMasters/notesMaster1.xml" Id="Rdb766624cecd4ab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e4b1fe7c40b4910" /><Relationship Type="http://schemas.openxmlformats.org/officeDocument/2006/relationships/notesMaster" Target="/ppt/notesMasters/notesMaster1.xml" Id="Ref2a66189a664d0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4311e820e441ab" /><Relationship Type="http://schemas.openxmlformats.org/officeDocument/2006/relationships/notesMaster" Target="/ppt/notesMasters/notesMaster1.xml" Id="Rb6fe3b3d1e88457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34f22c6c3a349a8" /><Relationship Type="http://schemas.openxmlformats.org/officeDocument/2006/relationships/notesMaster" Target="/ppt/notesMasters/notesMaster1.xml" Id="Rce3fee0cfc1742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career follows a sustained interest in autonomous systems. I began in flight dynamics and control at DRDO ADE, working on autopilot, then moved to ADAS and industrial robotics. Today my focus is motion planning and execution for aircraft manufacturing.</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connect my background to the challenges of industrial robotics, then explain the specialist contribution I propose. The presentation covers personal motivation, Airbus applications, technical judgement, influence, vision and delivery strategy.</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career began in flight dynamics and control at DRDO ADE, where I worked on autopilot. I then moved into ADAS, meaning advanced driver-assistance systems, and later industrial robotics at Airbus. The common theme is how a system moves as intended and responds to feedback. Flight controls provide a foundation in dynamics and feedback. ADAS provides experience in the road-vehicle domain. Industrial robotics applies the wider systems perspective to precise manufacturing motion. The statements below explain each domain in everyday language. They do not claim that I personally developed every ADAS planning or control function. My exact ADAS responsibilities should be described using a confirmed project example in the interview.</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someone unfamiliar with motion planning, I explain it as deciding how to move from the current situation to a goal while respecting the surroundings and the machine's limits. Control then commands the machine to follow the chosen motion, using measurements to correct errors. For a car, an illustrative example is following a suitable path through a lane while maintaining clearance and feasible steering and speed. For an inspection robot, the path keeps a probe at the required position and orientation over a panel while respecting robot limits and avoiding collisions. The engineering questions transfer across domains, but the detailed algorithms and process requirements differ. These are explanatory examples, not claims that I personally implemented a particular ADAS function.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Outside engineering, my personal interests include dancing, acting, fitness, travel, trekking and hiking. These are personal interests supplied by me, without claims of awards, professional performance or athletic achievements. The image is an illustrative still life, not a photograph of my belongings.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progression of capabilities, not a dated project chronology. REACT, Primer-skin NDT and Intelligent scan plan are confirmed areas of work. Next horizon is a proposed direction, shown with a dashed connection. Images are illustrative. No completion dates or maturity levels are implied.</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benchmarking discussions compare planning approaches using application requirements. No single framework should be treated as universally best. The roadmap proposes reusing existing capabilities, building adapters and developing algorithms only for confirmed gaps. The visual is conceptual. No performance scores are claimed here.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inclusion of patents, IDDs and a published white paper. “Parent” has been interpreted as “patent” pending confirmation. Titles, counts, inventorship/authorship and patent/IDD status have not been supplied. The bracketed fields are explicit placeholders and must be completed before presenting. Do not describe a patent as granted without confirmation.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work at the intersection of application requirements, integration and research approaches. LAAS and IRT Jules Verne are relevant external connections. The IRT collaboration concerns generating motion with their planning approach, not jointly developing a common framework. The lower row describes the way I want to make technical exchanges useful: common requirements, comparable evidence and clear decisions.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priorities drawn from the applications discussed, not an official company-wide strategy. Numerical targets should be agreed with application owners after a baseline. The paired measures keep the specialist vision accountable to manufacturing value.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pyramid is a proposed capability progression, not a maturity score or a claim that the highest level is needed everywhere. Offline programming is a valuable foundation for predictable tasks and prepared cells. As part variants and process variability grow, automation can reduce repeated preparation and support adaptation. Automatic planning still requires verification. Respond to changes adds feedback and recovery within validated limits. More independent tasks is a longer-term option for selected applications and may combine conventional planning with learning. Appropriate autonomy, application validation and cell safety remain essential at each level.</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programming, offline programming (OLP) and numerical-control (NC) programming provide established engineering foundations. The user reports that preparation hours for an aircraft panel vary between people, including differences in experience and familiarity. The three bars are conceptual illustrations only: their heights are arbitrary, there is no hour scale and they are not measured Airbus data, benchmark results or personnel assessments. Programming effort also depends on panel complexity, software, reuse and validation scope. Replace the illustration with comparable measured hours before making a quantitative claim. The proposed opportunity is to capture expert knowledge in reusable planning capabilities, reduce repeated preparation and make engineering effort more predictable. Experts remain important for configuration, process requirements, validation and exceptions. No reduction percentage or autonomous-versus-current time saving is claimed.</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smartphone analogy communicates a common platform serving different applications. The everyday photographs represent banking/payments, ecommerce and navigation. Robotics photographs illustrate inspection, sanding, drilling, auto-rigging/alignment, pick-and-place and cleaning, not actual project evidence. Different applications can draw on the same framework, and one application can use more than one planning capability. HPP, MoveIt2 and Tesseract are examples, not one-to-one assignments to the pictures. Users select validated task presets, while specialists configure backends through verified adapters. Common data, validation and execution interfaces support reuse. This is a product concept, not an existing user interface.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vision is product-oriented industrial robotics: a complete capability integrated with a common software platform and supported across its end-to-end lifecycle. Motion planning is my specialist focus, but its value depends on other components working together. I also have experience beyond planning and bring that wider perspective to interfaces, integration and product decisions. The component groups here describe the proposed product scope, not a claim that I personally delivered every component. The exact examples of my broader component experience should be added when supplied. RXU is the integration context discussed in the roadmap. Product lifecycle includes manufacturing requirements, architecture, verification, deployment, operation, maintenance and controlled updates. The cell safety system remains independently engineered; software integration is not a substitute for safety validation.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capability starts with a process task and data, produces a toolpath, generates feasible robot motion, validates and executes it, then uses feedback where adaptation is required. The underlying framework can vary by supported capability. RXU integration, control, connectivity and task supervision support the pipeline. This is the architecture I propose to help build, not a claim of an already complete platform. A product line shares maintained components and interfaces while configuring robot, process and application variants. Each variant retains its own acceptance criteria and validation.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sequence follows the latest stepwise framework integration roadmap. These are integration acceptance checkpoints, not eight new algorithms. Start with a thin end-to-end application, then extend capabilities in the numbered order. Integration testing should begin early. The detailed checkpoints are data inputs, toolpath generation, planner integration, validation, sequencing, smoothing and time parameterization, simulation, and execution. Dates depend on resources, capability inventory and robot access.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roadmap places dynamic adaptation in 2028 and learning under uncertainty in 2029 and beyond, with data preparation starting in 2027. Candidate research methods include reinforcement learning and vision-language-action models, to be selected only where justified by the application. Evaluate learned policies only for selected tasks where they justify their added complexity. Compare against conventional baselines. These are proposed R&amp;T directions, subject to funding, data and resources.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closing slide connects my specialist contribution to three proposed manufacturing outcomes. Less preparation: turn repeated programming steps and expert knowledge into reusable planning methods. Reliable motion: validate the path and execution against the needs of the manufacturing process. Reuse across tasks: integrate suitable planning methods into the common robotics software platform so teams can configure capabilities for different applications. These are proposed contributions and expected benefits, not measured savings or claims that all capabilities already exist. My role combines planning and control knowledge, whole-system integration and collaboration with application and research teams.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3df9b77303427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22c60a70b82459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1c800a14b942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f5bfe65e7b44b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2facbe652334a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47cc9b8671c40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F44F40-1182-405C-A59C-89D74F3C95E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E27587-EC80-4461-9EB7-7D1B59BBD79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43615E-EF5D-4592-9C07-67DE3C017B9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A9A8F4-AE42-400E-BB0E-BF32353A6C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A7AAE71-4540-466B-B9F8-CF4317553D6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67D51CC-FF59-45FB-B216-DD821DA279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64B443-8D70-40AE-B44E-3186D962238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C3322F4-974E-474B-ACB3-069A57556D7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C152DE-DF11-4849-B8E3-F1C6B0B23D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AA5E59-2825-45FC-A13E-57ECBE76EC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a853284d85442c" /><Relationship Type="http://schemas.openxmlformats.org/officeDocument/2006/relationships/slideLayout" Target="/ppt/slideLayouts/slideLayout1.xml" Id="Ra21cca01c35d4849" /><Relationship Type="http://schemas.openxmlformats.org/officeDocument/2006/relationships/slideLayout" Target="/ppt/slideLayouts/slideLayout2.xml" Id="R6f4af0fc5a1446c1" /><Relationship Type="http://schemas.openxmlformats.org/officeDocument/2006/relationships/slideLayout" Target="/ppt/slideLayouts/slideLayout3.xml" Id="R20409274ccc94102" /><Relationship Type="http://schemas.openxmlformats.org/officeDocument/2006/relationships/slideLayout" Target="/ppt/slideLayouts/slideLayout4.xml" Id="R5acf4e991add474e" /><Relationship Type="http://schemas.openxmlformats.org/officeDocument/2006/relationships/slideLayout" Target="/ppt/slideLayouts/slideLayout5.xml" Id="Rc24d5f0719c34556" /><Relationship Type="http://schemas.openxmlformats.org/officeDocument/2006/relationships/slideLayout" Target="/ppt/slideLayouts/slideLayout6.xml" Id="R5c0aef0100484c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1cca01c35d4849"/>
    <p:sldLayoutId xmlns:r="http://schemas.openxmlformats.org/officeDocument/2006/relationships" id="2147483650" r:id="R6f4af0fc5a1446c1"/>
    <p:sldLayoutId xmlns:r="http://schemas.openxmlformats.org/officeDocument/2006/relationships" id="2147483651" r:id="R20409274ccc94102"/>
    <p:sldLayoutId xmlns:r="http://schemas.openxmlformats.org/officeDocument/2006/relationships" id="2147483652" r:id="R5acf4e991add474e"/>
    <p:sldLayoutId xmlns:r="http://schemas.openxmlformats.org/officeDocument/2006/relationships" id="2147483653" r:id="Rc24d5f0719c34556"/>
    <p:sldLayoutId xmlns:r="http://schemas.openxmlformats.org/officeDocument/2006/relationships" id="2147483654" r:id="R5c0aef0100484c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5786c7839a4a60" /><Relationship Type="http://schemas.openxmlformats.org/officeDocument/2006/relationships/image" Target="/ppt/media/image.jpeg" Id="Racaa7f72dcc3417d" /><Relationship Type="http://schemas.openxmlformats.org/officeDocument/2006/relationships/notesSlide" Target="/ppt/notesSlides/notesSlide1.xml" Id="Rc317413e98c44a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54237bfaa394f4b" /><Relationship Type="http://schemas.openxmlformats.org/officeDocument/2006/relationships/notesSlide" Target="/ppt/notesSlides/notesSlide2.xml" Id="R859e72697eb043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23c9da23186457a" /><Relationship Type="http://schemas.openxmlformats.org/officeDocument/2006/relationships/image" Target="/ppt/media/image2.jpeg" Id="R5334ff06a7f84613" /><Relationship Type="http://schemas.openxmlformats.org/officeDocument/2006/relationships/notesSlide" Target="/ppt/notesSlides/notesSlide3.xml" Id="Rc889b06dcd5948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e1744d07a3a41ca" /><Relationship Type="http://schemas.openxmlformats.org/officeDocument/2006/relationships/image" Target="/ppt/media/image3.jpeg" Id="R7682c47a44484dfd" /><Relationship Type="http://schemas.openxmlformats.org/officeDocument/2006/relationships/image" Target="/ppt/media/image4.jpeg" Id="Rf618e93485d34959" /><Relationship Type="http://schemas.openxmlformats.org/officeDocument/2006/relationships/notesSlide" Target="/ppt/notesSlides/notesSlide4.xml" Id="Rb5a26b133b5a4a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3d085f49ca642b6" /><Relationship Type="http://schemas.openxmlformats.org/officeDocument/2006/relationships/image" Target="/ppt/media/image5.jpeg" Id="R6b68f025ee8f47a4" /><Relationship Type="http://schemas.openxmlformats.org/officeDocument/2006/relationships/notesSlide" Target="/ppt/notesSlides/notesSlide5.xml" Id="Rbfab8ea4ee094b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3976843c9ee4507" /><Relationship Type="http://schemas.openxmlformats.org/officeDocument/2006/relationships/image" Target="/ppt/media/image6.jpeg" Id="Rd660291df2924bd9" /><Relationship Type="http://schemas.openxmlformats.org/officeDocument/2006/relationships/image" Target="/ppt/media/image7.jpeg" Id="R8b436a4cb27d4c61" /><Relationship Type="http://schemas.openxmlformats.org/officeDocument/2006/relationships/image" Target="/ppt/media/image8.jpeg" Id="R9c268a0bb930404f" /><Relationship Type="http://schemas.openxmlformats.org/officeDocument/2006/relationships/image" Target="/ppt/media/image9.jpeg" Id="R6c8f8d4918bf49c6" /><Relationship Type="http://schemas.openxmlformats.org/officeDocument/2006/relationships/notesSlide" Target="/ppt/notesSlides/notesSlide6.xml" Id="Rf824ee1a8b5841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e740eef3dca4c99" /><Relationship Type="http://schemas.openxmlformats.org/officeDocument/2006/relationships/image" Target="/ppt/media/image10.jpeg" Id="R9dd4215f01a746ae" /><Relationship Type="http://schemas.openxmlformats.org/officeDocument/2006/relationships/image" Target="/ppt/media/image11.jpeg" Id="R3ce821d05ff44ca3" /><Relationship Type="http://schemas.openxmlformats.org/officeDocument/2006/relationships/image" Target="/ppt/media/image12.jpeg" Id="Rdd5510b7991d4153" /><Relationship Type="http://schemas.openxmlformats.org/officeDocument/2006/relationships/notesSlide" Target="/ppt/notesSlides/notesSlide7.xml" Id="R12b6416e30d24f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fc7e2b8bcf2406d" /><Relationship Type="http://schemas.openxmlformats.org/officeDocument/2006/relationships/notesSlide" Target="/ppt/notesSlides/notesSlide8.xml" Id="R05bdcdcbbd484e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28474522b8e4415" /><Relationship Type="http://schemas.openxmlformats.org/officeDocument/2006/relationships/image" Target="/ppt/media/image13.jpeg" Id="R804b5ea8773e41d1" /><Relationship Type="http://schemas.openxmlformats.org/officeDocument/2006/relationships/notesSlide" Target="/ppt/notesSlides/notesSlide9.xml" Id="R82fe40730c694d3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de024f01064d7d" /><Relationship Type="http://schemas.openxmlformats.org/officeDocument/2006/relationships/image" Target="/ppt/media/image14.jpeg" Id="R49a5d177fe414514" /><Relationship Type="http://schemas.openxmlformats.org/officeDocument/2006/relationships/notesSlide" Target="/ppt/notesSlides/notesSlide10.xml" Id="R7db5cd1cb6b248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fc29b5ce75d46b9" /><Relationship Type="http://schemas.openxmlformats.org/officeDocument/2006/relationships/image" Target="/ppt/media/image15.jpeg" Id="R9b2b18ab7abd4748" /><Relationship Type="http://schemas.openxmlformats.org/officeDocument/2006/relationships/image" Target="/ppt/media/image16.jpeg" Id="R1361cef53ba74a6c" /><Relationship Type="http://schemas.openxmlformats.org/officeDocument/2006/relationships/image" Target="/ppt/media/image17.jpeg" Id="R078b2dca50c847ba" /><Relationship Type="http://schemas.openxmlformats.org/officeDocument/2006/relationships/image" Target="/ppt/media/image18.jpeg" Id="Rcc8c2e863b274fad" /><Relationship Type="http://schemas.openxmlformats.org/officeDocument/2006/relationships/notesSlide" Target="/ppt/notesSlides/notesSlide11.xml" Id="R7d29570d177342b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6feb5640365469d" /><Relationship Type="http://schemas.openxmlformats.org/officeDocument/2006/relationships/image" Target="/ppt/media/image19.jpeg" Id="Rf95525f91ed14fd8" /><Relationship Type="http://schemas.openxmlformats.org/officeDocument/2006/relationships/notesSlide" Target="/ppt/notesSlides/notesSlide12.xml" Id="Rfbcde4babc5e4f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20cbfd48f984922" /><Relationship Type="http://schemas.openxmlformats.org/officeDocument/2006/relationships/image" Target="/ppt/media/image20.jpeg" Id="R8f9f767f324147fe" /><Relationship Type="http://schemas.openxmlformats.org/officeDocument/2006/relationships/image" Target="/ppt/media/image21.jpeg" Id="Rbf1634c46a924f66" /><Relationship Type="http://schemas.openxmlformats.org/officeDocument/2006/relationships/image" Target="/ppt/media/image22.jpeg" Id="Rc0c582c33d694568" /><Relationship Type="http://schemas.openxmlformats.org/officeDocument/2006/relationships/image" Target="/ppt/media/image23.jpeg" Id="R1c4ab4b28adb4dfb" /><Relationship Type="http://schemas.openxmlformats.org/officeDocument/2006/relationships/image" Target="/ppt/media/image24.jpeg" Id="R09bc4701dc4846a8" /><Relationship Type="http://schemas.openxmlformats.org/officeDocument/2006/relationships/image" Target="/ppt/media/image25.jpeg" Id="R28c5958c09794dd0" /><Relationship Type="http://schemas.openxmlformats.org/officeDocument/2006/relationships/image" Target="/ppt/media/image26.jpeg" Id="R320c1f2d2a1c4b60" /><Relationship Type="http://schemas.openxmlformats.org/officeDocument/2006/relationships/image" Target="/ppt/media/image27.jpeg" Id="Rf837d680f416481b" /><Relationship Type="http://schemas.openxmlformats.org/officeDocument/2006/relationships/image" Target="/ppt/media/image28.jpeg" Id="R5f0fabcc4169442f" /><Relationship Type="http://schemas.openxmlformats.org/officeDocument/2006/relationships/notesSlide" Target="/ppt/notesSlides/notesSlide13.xml" Id="Re2cc2522d44147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2b010e72e1f487e" /><Relationship Type="http://schemas.openxmlformats.org/officeDocument/2006/relationships/image" Target="/ppt/media/image29.jpeg" Id="Rc137e978d9494222" /><Relationship Type="http://schemas.openxmlformats.org/officeDocument/2006/relationships/notesSlide" Target="/ppt/notesSlides/notesSlide14.xml" Id="Rf191b9870ade4df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db8727dbef64f16" /><Relationship Type="http://schemas.openxmlformats.org/officeDocument/2006/relationships/image" Target="/ppt/media/image30.jpeg" Id="Raa527bed875c496f" /><Relationship Type="http://schemas.openxmlformats.org/officeDocument/2006/relationships/image" Target="/ppt/media/image31.jpeg" Id="R5049d08e1f2a4497" /><Relationship Type="http://schemas.openxmlformats.org/officeDocument/2006/relationships/image" Target="/ppt/media/image32.jpeg" Id="Rfda9d564d2c94ba5" /><Relationship Type="http://schemas.openxmlformats.org/officeDocument/2006/relationships/image" Target="/ppt/media/image33.jpeg" Id="Rb86f7310a1704540" /><Relationship Type="http://schemas.openxmlformats.org/officeDocument/2006/relationships/notesSlide" Target="/ppt/notesSlides/notesSlide15.xml" Id="R0bc4274f7cf04ae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fcbc432d2bc4e8a" /><Relationship Type="http://schemas.openxmlformats.org/officeDocument/2006/relationships/image" Target="/ppt/media/image34.jpeg" Id="Rdba4e395d91849ff" /><Relationship Type="http://schemas.openxmlformats.org/officeDocument/2006/relationships/image" Target="/ppt/media/image35.jpeg" Id="R451a770e87134342" /><Relationship Type="http://schemas.openxmlformats.org/officeDocument/2006/relationships/image" Target="/ppt/media/image36.jpeg" Id="Rc9a94b0ccae84ad4" /><Relationship Type="http://schemas.openxmlformats.org/officeDocument/2006/relationships/image" Target="/ppt/media/image37.jpeg" Id="R3587376544b143f0" /><Relationship Type="http://schemas.openxmlformats.org/officeDocument/2006/relationships/notesSlide" Target="/ppt/notesSlides/notesSlide16.xml" Id="R191a4fe55c2e425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f8ad823e5484e38" /><Relationship Type="http://schemas.openxmlformats.org/officeDocument/2006/relationships/image" Target="/ppt/media/image38.jpeg" Id="R18e0f135f7b04e43" /><Relationship Type="http://schemas.openxmlformats.org/officeDocument/2006/relationships/image" Target="/ppt/media/image39.jpeg" Id="Rd3464d00cd474149" /><Relationship Type="http://schemas.openxmlformats.org/officeDocument/2006/relationships/notesSlide" Target="/ppt/notesSlides/notesSlide17.xml" Id="Ra38785b17f1249d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72e704fa495443e" /><Relationship Type="http://schemas.openxmlformats.org/officeDocument/2006/relationships/image" Target="/ppt/media/image40.jpeg" Id="R22a46ba7eceb4732" /><Relationship Type="http://schemas.openxmlformats.org/officeDocument/2006/relationships/notesSlide" Target="/ppt/notesSlides/notesSlide18.xml" Id="R77ce781a467b4920" /></Relationships>
</file>

<file path=ppt/slides/slide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CADC76F-E174-4018-BF16-152CA051FE2D}"/>
              </a:ext>
            </a:extLst>
          </p:cNvPr>
          <p:cNvPicPr>
            <a:picLocks xmlns:a="http://schemas.openxmlformats.org/drawingml/2006/main" noChangeAspect="1"/>
          </p:cNvPicPr>
          <p:nvPr/>
        </p:nvPicPr>
        <p:blipFill>
          <a:blip xmlns:r="http://schemas.openxmlformats.org/officeDocument/2006/relationships" xmlns:a="http://schemas.openxmlformats.org/drawingml/2006/main" r:embed="Racaa7f72dcc3417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77BB951-CDBD-476A-B40A-E3ECA9F74D3C}"/>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09B10FF4-8389-4B81-8B50-F4B3522C2C1F}"/>
              </a:ext>
            </a:extLst>
          </p:cNvPr>
          <p:cNvSpPr>
            <a:spLocks xmlns:a="http://schemas.openxmlformats.org/drawingml/2006/main" noGrp="1"/>
          </p:cNvSpPr>
          <p:nvPr/>
        </p:nvSpPr>
        <p:spPr>
          <a:xfrm xmlns:a="http://schemas.openxmlformats.org/drawingml/2006/main">
            <a:off x="533400" y="4191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025" b="1">
                <a:solidFill>
                  <a:srgbClr val="172744"/>
                </a:solidFill>
                <a:latin typeface="DejaVu Serif"/>
                <a:ea typeface="DejaVu Serif"/>
                <a:cs typeface="DejaVu Serif"/>
              </a:defRPr>
            </a:defPPr>
          </a:lstStyle>
          <a:p xmlns:a="http://schemas.openxmlformats.org/drawingml/2006/main">
            <a:pPr>
              <a:defRPr sz="5025" b="1">
                <a:solidFill>
                  <a:srgbClr val="172744"/>
                </a:solidFill>
                <a:latin typeface="DejaVu Serif"/>
                <a:ea typeface="DejaVu Serif"/>
                <a:cs typeface="DejaVu Serif"/>
              </a:defRPr>
            </a:pPr>
            <a:r>
              <a:rPr sz="5025" b="1">
                <a:solidFill>
                  <a:srgbClr val="172744"/>
                </a:solidFill>
                <a:latin typeface="DejaVu Serif"/>
                <a:ea typeface="DejaVu Serif"/>
                <a:cs typeface="DejaVu Serif"/>
              </a:rPr>
              <a:t>Autonomy in motion</a:t>
            </a:r>
          </a:p>
        </p:txBody>
      </p:sp>
      <p:sp>
        <p:nvSpPr>
          <p:cNvPr id="4" name="">
            <a:extLst xmlns:a="http://schemas.openxmlformats.org/drawingml/2006/main">
              <a:ext uri="{FF2B5EF4-FFF2-40B4-BE49-F238E27FC236}">
                <a16:creationId xmlns:a16="http://schemas.microsoft.com/office/drawing/2014/main" id="{7B0ECE89-2A88-407A-AB47-7392C2C7A5F2}"/>
              </a:ext>
            </a:extLst>
          </p:cNvPr>
          <p:cNvSpPr>
            <a:spLocks xmlns:a="http://schemas.openxmlformats.org/drawingml/2006/main" noGrp="1"/>
          </p:cNvSpPr>
          <p:nvPr/>
        </p:nvSpPr>
        <p:spPr>
          <a:xfrm xmlns:a="http://schemas.openxmlformats.org/drawingml/2006/main">
            <a:off x="571500" y="15144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04DD9"/>
                </a:solidFill>
                <a:latin typeface="DejaVu Sans"/>
                <a:ea typeface="DejaVu Sans"/>
                <a:cs typeface="DejaVu Sans"/>
              </a:defRPr>
            </a:defPPr>
          </a:lstStyle>
          <a:p xmlns:a="http://schemas.openxmlformats.org/drawingml/2006/main">
            <a:pPr>
              <a:defRPr sz="2175" b="0">
                <a:solidFill>
                  <a:srgbClr val="304DD9"/>
                </a:solidFill>
                <a:latin typeface="DejaVu Sans"/>
                <a:ea typeface="DejaVu Sans"/>
                <a:cs typeface="DejaVu Sans"/>
              </a:defRPr>
            </a:pPr>
            <a:r>
              <a:rPr sz="2175" b="0">
                <a:solidFill>
                  <a:srgbClr val="304DD9"/>
                </a:solidFill>
                <a:latin typeface="DejaVu Sans"/>
                <a:ea typeface="DejaVu Sans"/>
                <a:cs typeface="DejaVu Sans"/>
              </a:rPr>
              <a:t>From flight controls to intelligent manufacturing</a:t>
            </a:r>
          </a:p>
        </p:txBody>
      </p:sp>
      <p:sp>
        <p:nvSpPr>
          <p:cNvPr id="5" name="">
            <a:extLst xmlns:a="http://schemas.openxmlformats.org/drawingml/2006/main">
              <a:ext uri="{FF2B5EF4-FFF2-40B4-BE49-F238E27FC236}">
                <a16:creationId xmlns:a16="http://schemas.microsoft.com/office/drawing/2014/main" id="{BD9B48F3-9CEC-4DB3-AF99-DD4F28422020}"/>
              </a:ext>
            </a:extLst>
          </p:cNvPr>
          <p:cNvSpPr>
            <a:spLocks xmlns:a="http://schemas.openxmlformats.org/drawingml/2006/main" noGrp="1"/>
          </p:cNvSpPr>
          <p:nvPr/>
        </p:nvSpPr>
        <p:spPr>
          <a:xfrm xmlns:a="http://schemas.openxmlformats.org/drawingml/2006/main">
            <a:off x="571500" y="5505450"/>
            <a:ext cx="6810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172744"/>
                </a:solidFill>
                <a:latin typeface="DejaVu Sans"/>
                <a:ea typeface="DejaVu Sans"/>
                <a:cs typeface="DejaVu Sans"/>
              </a:defRPr>
            </a:defPPr>
          </a:lstStyle>
          <a:p xmlns:a="http://schemas.openxmlformats.org/drawingml/2006/main">
            <a:pPr>
              <a:defRPr sz="2625" b="1">
                <a:solidFill>
                  <a:srgbClr val="172744"/>
                </a:solidFill>
                <a:latin typeface="DejaVu Sans"/>
                <a:ea typeface="DejaVu Sans"/>
                <a:cs typeface="DejaVu Sans"/>
              </a:defRPr>
            </a:pPr>
            <a:r>
              <a:rPr sz="2625" b="1">
                <a:solidFill>
                  <a:srgbClr val="172744"/>
                </a:solidFill>
                <a:latin typeface="DejaVu Sans"/>
                <a:ea typeface="DejaVu Sans"/>
                <a:cs typeface="DejaVu Sans"/>
              </a:rPr>
              <a:t>Rasitha R.</a:t>
            </a:r>
          </a:p>
        </p:txBody>
      </p:sp>
      <p:sp>
        <p:nvSpPr>
          <p:cNvPr id="6" name="">
            <a:extLst xmlns:a="http://schemas.openxmlformats.org/drawingml/2006/main">
              <a:ext uri="{FF2B5EF4-FFF2-40B4-BE49-F238E27FC236}">
                <a16:creationId xmlns:a16="http://schemas.microsoft.com/office/drawing/2014/main" id="{55EF98B6-6701-4DE6-8DC6-E1F53BB0B173}"/>
              </a:ext>
            </a:extLst>
          </p:cNvPr>
          <p:cNvSpPr>
            <a:spLocks xmlns:a="http://schemas.openxmlformats.org/drawingml/2006/main" noGrp="1"/>
          </p:cNvSpPr>
          <p:nvPr/>
        </p:nvSpPr>
        <p:spPr>
          <a:xfrm xmlns:a="http://schemas.openxmlformats.org/drawingml/2006/main">
            <a:off x="590550" y="610552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Technical Specialist Interview / Motion Planning &amp; Execution</a:t>
            </a:r>
          </a:p>
        </p:txBody>
      </p:sp>
    </p:spTree>
    <p:extLst>
      <p:ext uri="{BB962C8B-B14F-4D97-AF65-F5344CB8AC3E}">
        <p14:creationId xmlns:p14="http://schemas.microsoft.com/office/powerpoint/2010/main" val="1895037474"/>
      </p:ext>
    </p:extLst>
  </p:cSld>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5C9B489-B003-4C9C-92DB-88CCE1579C1F}"/>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experience and the direction I propose</a:t>
            </a:r>
          </a:p>
        </p:txBody>
      </p:sp>
      <p:sp>
        <p:nvSpPr>
          <p:cNvPr id="2" name="">
            <a:extLst xmlns:a="http://schemas.openxmlformats.org/drawingml/2006/main">
              <a:ext uri="{FF2B5EF4-FFF2-40B4-BE49-F238E27FC236}">
                <a16:creationId xmlns:a16="http://schemas.microsoft.com/office/drawing/2014/main" id="{5F24E775-91DB-443B-BEC8-229AEF2B8DAB}"/>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1BCDB934-6E23-4A38-9FDB-EC95EAF039F1}"/>
              </a:ext>
            </a:extLst>
          </p:cNvPr>
          <p:cNvSpPr>
            <a:spLocks xmlns:a="http://schemas.openxmlformats.org/drawingml/2006/main" noGrp="1"/>
          </p:cNvSpPr>
          <p:nvPr/>
        </p:nvSpPr>
        <p:spPr>
          <a:xfrm xmlns:a="http://schemas.openxmlformats.org/drawingml/2006/main">
            <a:off x="552450" y="17145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01</a:t>
            </a:r>
          </a:p>
        </p:txBody>
      </p:sp>
      <p:sp>
        <p:nvSpPr>
          <p:cNvPr id="4" name="">
            <a:extLst xmlns:a="http://schemas.openxmlformats.org/drawingml/2006/main">
              <a:ext uri="{FF2B5EF4-FFF2-40B4-BE49-F238E27FC236}">
                <a16:creationId xmlns:a16="http://schemas.microsoft.com/office/drawing/2014/main" id="{859C526F-1243-4D48-8F91-D1D4595537C9}"/>
              </a:ext>
            </a:extLst>
          </p:cNvPr>
          <p:cNvSpPr>
            <a:spLocks xmlns:a="http://schemas.openxmlformats.org/drawingml/2006/main" noGrp="1"/>
          </p:cNvSpPr>
          <p:nvPr/>
        </p:nvSpPr>
        <p:spPr>
          <a:xfrm xmlns:a="http://schemas.openxmlformats.org/drawingml/2006/main">
            <a:off x="1504950" y="17145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foundation</a:t>
            </a:r>
          </a:p>
        </p:txBody>
      </p:sp>
      <p:sp>
        <p:nvSpPr>
          <p:cNvPr id="5" name="">
            <a:extLst xmlns:a="http://schemas.openxmlformats.org/drawingml/2006/main">
              <a:ext uri="{FF2B5EF4-FFF2-40B4-BE49-F238E27FC236}">
                <a16:creationId xmlns:a16="http://schemas.microsoft.com/office/drawing/2014/main" id="{76EEF6AE-E59B-4ED2-8C40-BCCE5AB49BD5}"/>
              </a:ext>
            </a:extLst>
          </p:cNvPr>
          <p:cNvSpPr>
            <a:spLocks xmlns:a="http://schemas.openxmlformats.org/drawingml/2006/main" noGrp="1"/>
          </p:cNvSpPr>
          <p:nvPr/>
        </p:nvSpPr>
        <p:spPr>
          <a:xfrm xmlns:a="http://schemas.openxmlformats.org/drawingml/2006/main">
            <a:off x="1504950" y="22288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DRDO ADE, autopilot and ADAS</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A continuing passion for autonomy</a:t>
            </a:r>
          </a:p>
        </p:txBody>
      </p:sp>
      <p:sp>
        <p:nvSpPr>
          <p:cNvPr id="6" name="">
            <a:extLst xmlns:a="http://schemas.openxmlformats.org/drawingml/2006/main">
              <a:ext uri="{FF2B5EF4-FFF2-40B4-BE49-F238E27FC236}">
                <a16:creationId xmlns:a16="http://schemas.microsoft.com/office/drawing/2014/main" id="{9C84DE9D-489B-4021-A05A-AAD3B790F843}"/>
              </a:ext>
            </a:extLst>
          </p:cNvPr>
          <p:cNvSpPr>
            <a:spLocks xmlns:a="http://schemas.openxmlformats.org/drawingml/2006/main" noGrp="1"/>
          </p:cNvSpPr>
          <p:nvPr/>
        </p:nvSpPr>
        <p:spPr>
          <a:xfrm xmlns:a="http://schemas.openxmlformats.org/drawingml/2006/main">
            <a:off x="6457950" y="17145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02</a:t>
            </a:r>
          </a:p>
        </p:txBody>
      </p:sp>
      <p:sp>
        <p:nvSpPr>
          <p:cNvPr id="7" name="">
            <a:extLst xmlns:a="http://schemas.openxmlformats.org/drawingml/2006/main">
              <a:ext uri="{FF2B5EF4-FFF2-40B4-BE49-F238E27FC236}">
                <a16:creationId xmlns:a16="http://schemas.microsoft.com/office/drawing/2014/main" id="{C64B8B41-B762-4F10-A357-147AB3D4BAFE}"/>
              </a:ext>
            </a:extLst>
          </p:cNvPr>
          <p:cNvSpPr>
            <a:spLocks xmlns:a="http://schemas.openxmlformats.org/drawingml/2006/main" noGrp="1"/>
          </p:cNvSpPr>
          <p:nvPr/>
        </p:nvSpPr>
        <p:spPr>
          <a:xfrm xmlns:a="http://schemas.openxmlformats.org/drawingml/2006/main">
            <a:off x="7410450" y="17145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Airbus work</a:t>
            </a:r>
          </a:p>
        </p:txBody>
      </p:sp>
      <p:sp>
        <p:nvSpPr>
          <p:cNvPr id="8" name="">
            <a:extLst xmlns:a="http://schemas.openxmlformats.org/drawingml/2006/main">
              <a:ext uri="{FF2B5EF4-FFF2-40B4-BE49-F238E27FC236}">
                <a16:creationId xmlns:a16="http://schemas.microsoft.com/office/drawing/2014/main" id="{34A86F02-DC21-42DC-A9F8-0499ED47420F}"/>
              </a:ext>
            </a:extLst>
          </p:cNvPr>
          <p:cNvSpPr>
            <a:spLocks xmlns:a="http://schemas.openxmlformats.org/drawingml/2006/main" noGrp="1"/>
          </p:cNvSpPr>
          <p:nvPr/>
        </p:nvSpPr>
        <p:spPr>
          <a:xfrm xmlns:a="http://schemas.openxmlformats.org/drawingml/2006/main">
            <a:off x="7410450" y="22288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Industrial inspection and scan planning</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Lessons from planning to execution</a:t>
            </a:r>
          </a:p>
        </p:txBody>
      </p:sp>
      <p:sp>
        <p:nvSpPr>
          <p:cNvPr id="9" name="">
            <a:extLst xmlns:a="http://schemas.openxmlformats.org/drawingml/2006/main">
              <a:ext uri="{FF2B5EF4-FFF2-40B4-BE49-F238E27FC236}">
                <a16:creationId xmlns:a16="http://schemas.microsoft.com/office/drawing/2014/main" id="{0067E386-DDEA-408D-A57F-F2731D6B5AA5}"/>
              </a:ext>
            </a:extLst>
          </p:cNvPr>
          <p:cNvSpPr>
            <a:spLocks xmlns:a="http://schemas.openxmlformats.org/drawingml/2006/main" noGrp="1"/>
          </p:cNvSpPr>
          <p:nvPr/>
        </p:nvSpPr>
        <p:spPr>
          <a:xfrm xmlns:a="http://schemas.openxmlformats.org/drawingml/2006/main">
            <a:off x="552450" y="37338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03</a:t>
            </a:r>
          </a:p>
        </p:txBody>
      </p:sp>
      <p:sp>
        <p:nvSpPr>
          <p:cNvPr id="10" name="">
            <a:extLst xmlns:a="http://schemas.openxmlformats.org/drawingml/2006/main">
              <a:ext uri="{FF2B5EF4-FFF2-40B4-BE49-F238E27FC236}">
                <a16:creationId xmlns:a16="http://schemas.microsoft.com/office/drawing/2014/main" id="{D7F07576-6069-4F47-98A9-795A244CE8E1}"/>
              </a:ext>
            </a:extLst>
          </p:cNvPr>
          <p:cNvSpPr>
            <a:spLocks xmlns:a="http://schemas.openxmlformats.org/drawingml/2006/main" noGrp="1"/>
          </p:cNvSpPr>
          <p:nvPr/>
        </p:nvSpPr>
        <p:spPr>
          <a:xfrm xmlns:a="http://schemas.openxmlformats.org/drawingml/2006/main">
            <a:off x="1504950" y="37338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influence</a:t>
            </a:r>
          </a:p>
        </p:txBody>
      </p:sp>
      <p:sp>
        <p:nvSpPr>
          <p:cNvPr id="11" name="">
            <a:extLst xmlns:a="http://schemas.openxmlformats.org/drawingml/2006/main">
              <a:ext uri="{FF2B5EF4-FFF2-40B4-BE49-F238E27FC236}">
                <a16:creationId xmlns:a16="http://schemas.microsoft.com/office/drawing/2014/main" id="{C306E053-EE6E-4E2F-A525-65F1CFB44D18}"/>
              </a:ext>
            </a:extLst>
          </p:cNvPr>
          <p:cNvSpPr>
            <a:spLocks xmlns:a="http://schemas.openxmlformats.org/drawingml/2006/main" noGrp="1"/>
          </p:cNvSpPr>
          <p:nvPr/>
        </p:nvSpPr>
        <p:spPr>
          <a:xfrm xmlns:a="http://schemas.openxmlformats.org/drawingml/2006/main">
            <a:off x="1504950" y="42481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Application teams, RXU and research partners</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Technical choices supported by evidence</a:t>
            </a:r>
          </a:p>
        </p:txBody>
      </p:sp>
      <p:sp>
        <p:nvSpPr>
          <p:cNvPr id="12" name="">
            <a:extLst xmlns:a="http://schemas.openxmlformats.org/drawingml/2006/main">
              <a:ext uri="{FF2B5EF4-FFF2-40B4-BE49-F238E27FC236}">
                <a16:creationId xmlns:a16="http://schemas.microsoft.com/office/drawing/2014/main" id="{181AA535-26B9-4D87-8FB0-6694A8181662}"/>
              </a:ext>
            </a:extLst>
          </p:cNvPr>
          <p:cNvSpPr>
            <a:spLocks xmlns:a="http://schemas.openxmlformats.org/drawingml/2006/main" noGrp="1"/>
          </p:cNvSpPr>
          <p:nvPr/>
        </p:nvSpPr>
        <p:spPr>
          <a:xfrm xmlns:a="http://schemas.openxmlformats.org/drawingml/2006/main">
            <a:off x="6457950" y="37338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04</a:t>
            </a:r>
          </a:p>
        </p:txBody>
      </p:sp>
      <p:sp>
        <p:nvSpPr>
          <p:cNvPr id="13" name="">
            <a:extLst xmlns:a="http://schemas.openxmlformats.org/drawingml/2006/main">
              <a:ext uri="{FF2B5EF4-FFF2-40B4-BE49-F238E27FC236}">
                <a16:creationId xmlns:a16="http://schemas.microsoft.com/office/drawing/2014/main" id="{D7FBC483-1554-4AC8-90AC-04C2EF510D1A}"/>
              </a:ext>
            </a:extLst>
          </p:cNvPr>
          <p:cNvSpPr>
            <a:spLocks xmlns:a="http://schemas.openxmlformats.org/drawingml/2006/main" noGrp="1"/>
          </p:cNvSpPr>
          <p:nvPr/>
        </p:nvSpPr>
        <p:spPr>
          <a:xfrm xmlns:a="http://schemas.openxmlformats.org/drawingml/2006/main">
            <a:off x="7410450" y="37338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direction</a:t>
            </a:r>
          </a:p>
        </p:txBody>
      </p:sp>
      <p:sp>
        <p:nvSpPr>
          <p:cNvPr id="14" name="">
            <a:extLst xmlns:a="http://schemas.openxmlformats.org/drawingml/2006/main">
              <a:ext uri="{FF2B5EF4-FFF2-40B4-BE49-F238E27FC236}">
                <a16:creationId xmlns:a16="http://schemas.microsoft.com/office/drawing/2014/main" id="{2F4DF3A5-6909-48C6-AAF9-352E648D1BF2}"/>
              </a:ext>
            </a:extLst>
          </p:cNvPr>
          <p:cNvSpPr>
            <a:spLocks xmlns:a="http://schemas.openxmlformats.org/drawingml/2006/main" noGrp="1"/>
          </p:cNvSpPr>
          <p:nvPr/>
        </p:nvSpPr>
        <p:spPr>
          <a:xfrm xmlns:a="http://schemas.openxmlformats.org/drawingml/2006/main">
            <a:off x="7410450" y="42481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Reusable motion capability for manufacturing</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A staged roadmap with validation gates</a:t>
            </a:r>
          </a:p>
        </p:txBody>
      </p:sp>
      <p:sp>
        <p:nvSpPr>
          <p:cNvPr id="15" name="">
            <a:extLst xmlns:a="http://schemas.openxmlformats.org/drawingml/2006/main">
              <a:ext uri="{FF2B5EF4-FFF2-40B4-BE49-F238E27FC236}">
                <a16:creationId xmlns:a16="http://schemas.microsoft.com/office/drawing/2014/main" id="{88BAC2A7-44FF-4420-A6ED-CC0D8CAC3950}"/>
              </a:ext>
            </a:extLst>
          </p:cNvPr>
          <p:cNvSpPr>
            <a:spLocks xmlns:a="http://schemas.openxmlformats.org/drawingml/2006/main" noGrp="1"/>
          </p:cNvSpPr>
          <p:nvPr/>
        </p:nvSpPr>
        <p:spPr>
          <a:xfrm xmlns:a="http://schemas.openxmlformats.org/drawingml/2006/main">
            <a:off x="552450" y="59436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The question throughout: how can our experience become a reusable capability?</a:t>
            </a:r>
          </a:p>
        </p:txBody>
      </p:sp>
    </p:spTree>
    <p:extLst>
      <p:ext uri="{BB962C8B-B14F-4D97-AF65-F5344CB8AC3E}">
        <p14:creationId xmlns:p14="http://schemas.microsoft.com/office/powerpoint/2010/main" val="861305433"/>
      </p:ext>
    </p:extLst>
  </p:cSld>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6ECD073-CADA-4543-A725-965518C2FBC2}"/>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Different platforms. A connected career journey.</a:t>
            </a:r>
          </a:p>
        </p:txBody>
      </p:sp>
      <p:sp>
        <p:nvSpPr>
          <p:cNvPr id="2" name="">
            <a:extLst xmlns:a="http://schemas.openxmlformats.org/drawingml/2006/main">
              <a:ext uri="{FF2B5EF4-FFF2-40B4-BE49-F238E27FC236}">
                <a16:creationId xmlns:a16="http://schemas.microsoft.com/office/drawing/2014/main" id="{F3F7B8A0-EB2D-4C61-A8A0-0F7AEF7A6FE7}"/>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03</a:t>
            </a:r>
          </a:p>
        </p:txBody>
      </p:sp>
      <p:pic>
        <p:nvPicPr>
          <p:cNvPr id="3" name="">
            <a:extLst xmlns:a="http://schemas.openxmlformats.org/drawingml/2006/main">
              <a:ext uri="{FF2B5EF4-FFF2-40B4-BE49-F238E27FC236}">
                <a16:creationId xmlns:a16="http://schemas.microsoft.com/office/drawing/2014/main" id="{AF3EA947-9BD9-428A-B11D-7C7E696DA35E}"/>
              </a:ext>
            </a:extLst>
          </p:cNvPr>
          <p:cNvPicPr>
            <a:picLocks xmlns:a="http://schemas.openxmlformats.org/drawingml/2006/main" noChangeAspect="1"/>
          </p:cNvPicPr>
          <p:nvPr/>
        </p:nvPicPr>
        <p:blipFill>
          <a:blip xmlns:r="http://schemas.openxmlformats.org/officeDocument/2006/relationships" xmlns:a="http://schemas.openxmlformats.org/drawingml/2006/main" r:embed="R5334ff06a7f84613"/>
          <a:srcRect xmlns:a="http://schemas.openxmlformats.org/drawingml/2006/main" l="0" t="29321" r="0" b="29321"/>
          <a:stretch xmlns:a="http://schemas.openxmlformats.org/drawingml/2006/main">
            <a:fillRect l="0" t="0" r="0" b="0"/>
          </a:stretch>
        </p:blipFill>
        <p:spPr>
          <a:xfrm xmlns:a="http://schemas.openxmlformats.org/drawingml/2006/main">
            <a:off x="552450" y="1371600"/>
            <a:ext cx="11049000" cy="2571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F603494-FA74-4203-9789-2F24B0976205}"/>
              </a:ext>
            </a:extLst>
          </p:cNvPr>
          <p:cNvSpPr>
            <a:spLocks xmlns:a="http://schemas.openxmlformats.org/drawingml/2006/main" noGrp="1"/>
          </p:cNvSpPr>
          <p:nvPr/>
        </p:nvSpPr>
        <p:spPr>
          <a:xfrm xmlns:a="http://schemas.openxmlformats.org/drawingml/2006/main">
            <a:off x="552450" y="4067175"/>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DRDO ADE / Autopilot</a:t>
            </a:r>
          </a:p>
        </p:txBody>
      </p:sp>
      <p:sp>
        <p:nvSpPr>
          <p:cNvPr id="5" name="">
            <a:extLst xmlns:a="http://schemas.openxmlformats.org/drawingml/2006/main">
              <a:ext uri="{FF2B5EF4-FFF2-40B4-BE49-F238E27FC236}">
                <a16:creationId xmlns:a16="http://schemas.microsoft.com/office/drawing/2014/main" id="{71884FD9-BACC-4719-BC3F-566F74923412}"/>
              </a:ext>
            </a:extLst>
          </p:cNvPr>
          <p:cNvSpPr>
            <a:spLocks xmlns:a="http://schemas.openxmlformats.org/drawingml/2006/main" noGrp="1"/>
          </p:cNvSpPr>
          <p:nvPr/>
        </p:nvSpPr>
        <p:spPr>
          <a:xfrm xmlns:a="http://schemas.openxmlformats.org/drawingml/2006/main">
            <a:off x="552450" y="46196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Help an aircraft maintain</a:t>
            </a:r>
          </a:p>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its intended flight.</a:t>
            </a:r>
          </a:p>
        </p:txBody>
      </p:sp>
      <p:sp>
        <p:nvSpPr>
          <p:cNvPr id="6" name="">
            <a:extLst xmlns:a="http://schemas.openxmlformats.org/drawingml/2006/main">
              <a:ext uri="{FF2B5EF4-FFF2-40B4-BE49-F238E27FC236}">
                <a16:creationId xmlns:a16="http://schemas.microsoft.com/office/drawing/2014/main" id="{18601DDF-4F14-48E6-AC7F-62A447976F40}"/>
              </a:ext>
            </a:extLst>
          </p:cNvPr>
          <p:cNvSpPr>
            <a:spLocks xmlns:a="http://schemas.openxmlformats.org/drawingml/2006/main" noGrp="1"/>
          </p:cNvSpPr>
          <p:nvPr/>
        </p:nvSpPr>
        <p:spPr>
          <a:xfrm xmlns:a="http://schemas.openxmlformats.org/drawingml/2006/main">
            <a:off x="552450" y="54578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My foundation: flight dynamics</a:t>
            </a:r>
          </a:p>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and feedback control.</a:t>
            </a:r>
          </a:p>
        </p:txBody>
      </p:sp>
      <p:sp>
        <p:nvSpPr>
          <p:cNvPr id="7" name="">
            <a:extLst xmlns:a="http://schemas.openxmlformats.org/drawingml/2006/main">
              <a:ext uri="{FF2B5EF4-FFF2-40B4-BE49-F238E27FC236}">
                <a16:creationId xmlns:a16="http://schemas.microsoft.com/office/drawing/2014/main" id="{87931AA2-7E53-4309-BB63-4F6BB033CC69}"/>
              </a:ext>
            </a:extLst>
          </p:cNvPr>
          <p:cNvSpPr>
            <a:spLocks xmlns:a="http://schemas.openxmlformats.org/drawingml/2006/main" noGrp="1"/>
          </p:cNvSpPr>
          <p:nvPr/>
        </p:nvSpPr>
        <p:spPr>
          <a:xfrm xmlns:a="http://schemas.openxmlformats.org/drawingml/2006/main">
            <a:off x="4362450" y="4067175"/>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ADAS: driver assistance</a:t>
            </a:r>
          </a:p>
        </p:txBody>
      </p:sp>
      <p:sp>
        <p:nvSpPr>
          <p:cNvPr id="8" name="">
            <a:extLst xmlns:a="http://schemas.openxmlformats.org/drawingml/2006/main">
              <a:ext uri="{FF2B5EF4-FFF2-40B4-BE49-F238E27FC236}">
                <a16:creationId xmlns:a16="http://schemas.microsoft.com/office/drawing/2014/main" id="{136DA6A3-EC15-415B-A74C-1F23BAD2DD4B}"/>
              </a:ext>
            </a:extLst>
          </p:cNvPr>
          <p:cNvSpPr>
            <a:spLocks xmlns:a="http://schemas.openxmlformats.org/drawingml/2006/main" noGrp="1"/>
          </p:cNvSpPr>
          <p:nvPr/>
        </p:nvSpPr>
        <p:spPr>
          <a:xfrm xmlns:a="http://schemas.openxmlformats.org/drawingml/2006/main">
            <a:off x="4362450" y="46196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Help a car respond to</a:t>
            </a:r>
          </a:p>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the road around it.</a:t>
            </a:r>
          </a:p>
        </p:txBody>
      </p:sp>
      <p:sp>
        <p:nvSpPr>
          <p:cNvPr id="9" name="">
            <a:extLst xmlns:a="http://schemas.openxmlformats.org/drawingml/2006/main">
              <a:ext uri="{FF2B5EF4-FFF2-40B4-BE49-F238E27FC236}">
                <a16:creationId xmlns:a16="http://schemas.microsoft.com/office/drawing/2014/main" id="{077B1AB7-A105-47BB-BABD-F0F88C05FD4B}"/>
              </a:ext>
            </a:extLst>
          </p:cNvPr>
          <p:cNvSpPr>
            <a:spLocks xmlns:a="http://schemas.openxmlformats.org/drawingml/2006/main" noGrp="1"/>
          </p:cNvSpPr>
          <p:nvPr/>
        </p:nvSpPr>
        <p:spPr>
          <a:xfrm xmlns:a="http://schemas.openxmlformats.org/drawingml/2006/main">
            <a:off x="4362450" y="54578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My next domain: assisted</a:t>
            </a:r>
          </a:p>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and automated driving.</a:t>
            </a:r>
          </a:p>
        </p:txBody>
      </p:sp>
      <p:sp>
        <p:nvSpPr>
          <p:cNvPr id="10" name="">
            <a:extLst xmlns:a="http://schemas.openxmlformats.org/drawingml/2006/main">
              <a:ext uri="{FF2B5EF4-FFF2-40B4-BE49-F238E27FC236}">
                <a16:creationId xmlns:a16="http://schemas.microsoft.com/office/drawing/2014/main" id="{C0A4CC01-0D20-45D2-A8C3-AE33DB3A98BD}"/>
              </a:ext>
            </a:extLst>
          </p:cNvPr>
          <p:cNvSpPr>
            <a:spLocks xmlns:a="http://schemas.openxmlformats.org/drawingml/2006/main" noGrp="1"/>
          </p:cNvSpPr>
          <p:nvPr/>
        </p:nvSpPr>
        <p:spPr>
          <a:xfrm xmlns:a="http://schemas.openxmlformats.org/drawingml/2006/main">
            <a:off x="8172450" y="4067175"/>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Airbus: industrial robotics</a:t>
            </a:r>
          </a:p>
        </p:txBody>
      </p:sp>
      <p:sp>
        <p:nvSpPr>
          <p:cNvPr id="11" name="">
            <a:extLst xmlns:a="http://schemas.openxmlformats.org/drawingml/2006/main">
              <a:ext uri="{FF2B5EF4-FFF2-40B4-BE49-F238E27FC236}">
                <a16:creationId xmlns:a16="http://schemas.microsoft.com/office/drawing/2014/main" id="{2080ED02-CDFC-43A6-B084-A6DFD11A0EAB}"/>
              </a:ext>
            </a:extLst>
          </p:cNvPr>
          <p:cNvSpPr>
            <a:spLocks xmlns:a="http://schemas.openxmlformats.org/drawingml/2006/main" noGrp="1"/>
          </p:cNvSpPr>
          <p:nvPr/>
        </p:nvSpPr>
        <p:spPr>
          <a:xfrm xmlns:a="http://schemas.openxmlformats.org/drawingml/2006/main">
            <a:off x="8172450" y="46196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Move a robot tool accurately</a:t>
            </a:r>
          </a:p>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across an aircraft part.</a:t>
            </a:r>
          </a:p>
        </p:txBody>
      </p:sp>
      <p:sp>
        <p:nvSpPr>
          <p:cNvPr id="12" name="">
            <a:extLst xmlns:a="http://schemas.openxmlformats.org/drawingml/2006/main">
              <a:ext uri="{FF2B5EF4-FFF2-40B4-BE49-F238E27FC236}">
                <a16:creationId xmlns:a16="http://schemas.microsoft.com/office/drawing/2014/main" id="{55693E23-4FF1-4FC2-90A5-0BA317D533FF}"/>
              </a:ext>
            </a:extLst>
          </p:cNvPr>
          <p:cNvSpPr>
            <a:spLocks xmlns:a="http://schemas.openxmlformats.org/drawingml/2006/main" noGrp="1"/>
          </p:cNvSpPr>
          <p:nvPr/>
        </p:nvSpPr>
        <p:spPr>
          <a:xfrm xmlns:a="http://schemas.openxmlformats.org/drawingml/2006/main">
            <a:off x="8172450" y="54578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My focus: manufacturing motion,</a:t>
            </a:r>
          </a:p>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from planning to execution.</a:t>
            </a:r>
          </a:p>
        </p:txBody>
      </p:sp>
      <p:sp>
        <p:nvSpPr>
          <p:cNvPr id="13" name="">
            <a:extLst xmlns:a="http://schemas.openxmlformats.org/drawingml/2006/main">
              <a:ext uri="{FF2B5EF4-FFF2-40B4-BE49-F238E27FC236}">
                <a16:creationId xmlns:a16="http://schemas.microsoft.com/office/drawing/2014/main" id="{49186AC1-5FB9-46E7-ABEB-0FA1CFB26777}"/>
              </a:ext>
            </a:extLst>
          </p:cNvPr>
          <p:cNvSpPr>
            <a:spLocks xmlns:a="http://schemas.openxmlformats.org/drawingml/2006/main" noGrp="1"/>
          </p:cNvSpPr>
          <p:nvPr/>
        </p:nvSpPr>
        <p:spPr>
          <a:xfrm xmlns:a="http://schemas.openxmlformats.org/drawingml/2006/main">
            <a:off x="552450" y="6296025"/>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One continuing interest: helping machines move reliably in the physical world.</a:t>
            </a:r>
          </a:p>
        </p:txBody>
      </p:sp>
    </p:spTree>
    <p:extLst>
      <p:ext uri="{BB962C8B-B14F-4D97-AF65-F5344CB8AC3E}">
        <p14:creationId xmlns:p14="http://schemas.microsoft.com/office/powerpoint/2010/main" val="770921436"/>
      </p:ext>
    </p:extLst>
  </p:cSld>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F90A2DD-4F2C-4283-BA0E-99EB387DCAF1}"/>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Planning chooses the path. Control follows it.</a:t>
            </a:r>
          </a:p>
        </p:txBody>
      </p:sp>
      <p:sp>
        <p:nvSpPr>
          <p:cNvPr id="2" name="">
            <a:extLst xmlns:a="http://schemas.openxmlformats.org/drawingml/2006/main">
              <a:ext uri="{FF2B5EF4-FFF2-40B4-BE49-F238E27FC236}">
                <a16:creationId xmlns:a16="http://schemas.microsoft.com/office/drawing/2014/main" id="{EDABBD41-DC72-46B1-B107-373130D365A1}"/>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31C41335-65A8-403A-A555-4FDD34C4EA6C}"/>
              </a:ext>
            </a:extLst>
          </p:cNvPr>
          <p:cNvSpPr>
            <a:spLocks xmlns:a="http://schemas.openxmlformats.org/drawingml/2006/main" noGrp="1"/>
          </p:cNvSpPr>
          <p:nvPr/>
        </p:nvSpPr>
        <p:spPr>
          <a:xfrm xmlns:a="http://schemas.openxmlformats.org/drawingml/2006/main">
            <a:off x="552450" y="16668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1</a:t>
            </a:r>
          </a:p>
        </p:txBody>
      </p:sp>
      <p:sp>
        <p:nvSpPr>
          <p:cNvPr id="4" name="">
            <a:extLst xmlns:a="http://schemas.openxmlformats.org/drawingml/2006/main">
              <a:ext uri="{FF2B5EF4-FFF2-40B4-BE49-F238E27FC236}">
                <a16:creationId xmlns:a16="http://schemas.microsoft.com/office/drawing/2014/main" id="{1A3B58FC-C280-44B1-A59C-BEAD6E7C61E6}"/>
              </a:ext>
            </a:extLst>
          </p:cNvPr>
          <p:cNvSpPr>
            <a:spLocks xmlns:a="http://schemas.openxmlformats.org/drawingml/2006/main" noGrp="1"/>
          </p:cNvSpPr>
          <p:nvPr/>
        </p:nvSpPr>
        <p:spPr>
          <a:xfrm xmlns:a="http://schemas.openxmlformats.org/drawingml/2006/main">
            <a:off x="1190625" y="166687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Understand</a:t>
            </a:r>
          </a:p>
        </p:txBody>
      </p:sp>
      <p:sp>
        <p:nvSpPr>
          <p:cNvPr id="5" name="">
            <a:extLst xmlns:a="http://schemas.openxmlformats.org/drawingml/2006/main">
              <a:ext uri="{FF2B5EF4-FFF2-40B4-BE49-F238E27FC236}">
                <a16:creationId xmlns:a16="http://schemas.microsoft.com/office/drawing/2014/main" id="{18152846-5901-4A17-AE41-DFFDF807D16B}"/>
              </a:ext>
            </a:extLst>
          </p:cNvPr>
          <p:cNvSpPr>
            <a:spLocks xmlns:a="http://schemas.openxmlformats.org/drawingml/2006/main" noGrp="1"/>
          </p:cNvSpPr>
          <p:nvPr/>
        </p:nvSpPr>
        <p:spPr>
          <a:xfrm xmlns:a="http://schemas.openxmlformats.org/drawingml/2006/main">
            <a:off x="1190625" y="207645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Where am I, and what is around me?</a:t>
            </a:r>
          </a:p>
        </p:txBody>
      </p:sp>
      <p:sp>
        <p:nvSpPr>
          <p:cNvPr id="6" name="">
            <a:extLst xmlns:a="http://schemas.openxmlformats.org/drawingml/2006/main">
              <a:ext uri="{FF2B5EF4-FFF2-40B4-BE49-F238E27FC236}">
                <a16:creationId xmlns:a16="http://schemas.microsoft.com/office/drawing/2014/main" id="{D1B2F01E-3D5E-4D38-B5F3-152E99B93C03}"/>
              </a:ext>
            </a:extLst>
          </p:cNvPr>
          <p:cNvSpPr>
            <a:spLocks xmlns:a="http://schemas.openxmlformats.org/drawingml/2006/main" noGrp="1"/>
          </p:cNvSpPr>
          <p:nvPr/>
        </p:nvSpPr>
        <p:spPr>
          <a:xfrm xmlns:a="http://schemas.openxmlformats.org/drawingml/2006/main">
            <a:off x="552450" y="26765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2</a:t>
            </a:r>
          </a:p>
        </p:txBody>
      </p:sp>
      <p:sp>
        <p:nvSpPr>
          <p:cNvPr id="7" name="">
            <a:extLst xmlns:a="http://schemas.openxmlformats.org/drawingml/2006/main">
              <a:ext uri="{FF2B5EF4-FFF2-40B4-BE49-F238E27FC236}">
                <a16:creationId xmlns:a16="http://schemas.microsoft.com/office/drawing/2014/main" id="{5AF4F163-7031-4C5C-A4CA-9FC8C444C2D6}"/>
              </a:ext>
            </a:extLst>
          </p:cNvPr>
          <p:cNvSpPr>
            <a:spLocks xmlns:a="http://schemas.openxmlformats.org/drawingml/2006/main" noGrp="1"/>
          </p:cNvSpPr>
          <p:nvPr/>
        </p:nvSpPr>
        <p:spPr>
          <a:xfrm xmlns:a="http://schemas.openxmlformats.org/drawingml/2006/main">
            <a:off x="1190625" y="267652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Plan</a:t>
            </a:r>
          </a:p>
        </p:txBody>
      </p:sp>
      <p:sp>
        <p:nvSpPr>
          <p:cNvPr id="8" name="">
            <a:extLst xmlns:a="http://schemas.openxmlformats.org/drawingml/2006/main">
              <a:ext uri="{FF2B5EF4-FFF2-40B4-BE49-F238E27FC236}">
                <a16:creationId xmlns:a16="http://schemas.microsoft.com/office/drawing/2014/main" id="{B60B8268-E583-424C-8F38-CBA0E1D2E0BE}"/>
              </a:ext>
            </a:extLst>
          </p:cNvPr>
          <p:cNvSpPr>
            <a:spLocks xmlns:a="http://schemas.openxmlformats.org/drawingml/2006/main" noGrp="1"/>
          </p:cNvSpPr>
          <p:nvPr/>
        </p:nvSpPr>
        <p:spPr>
          <a:xfrm xmlns:a="http://schemas.openxmlformats.org/drawingml/2006/main">
            <a:off x="1190625" y="308610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Where should I move, within my limits?</a:t>
            </a:r>
          </a:p>
        </p:txBody>
      </p:sp>
      <p:sp>
        <p:nvSpPr>
          <p:cNvPr id="9" name="">
            <a:extLst xmlns:a="http://schemas.openxmlformats.org/drawingml/2006/main">
              <a:ext uri="{FF2B5EF4-FFF2-40B4-BE49-F238E27FC236}">
                <a16:creationId xmlns:a16="http://schemas.microsoft.com/office/drawing/2014/main" id="{31A2A4F4-7C09-45B0-A187-5E0101A64C78}"/>
              </a:ext>
            </a:extLst>
          </p:cNvPr>
          <p:cNvSpPr>
            <a:spLocks xmlns:a="http://schemas.openxmlformats.org/drawingml/2006/main" noGrp="1"/>
          </p:cNvSpPr>
          <p:nvPr/>
        </p:nvSpPr>
        <p:spPr>
          <a:xfrm xmlns:a="http://schemas.openxmlformats.org/drawingml/2006/main">
            <a:off x="552450" y="36861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3</a:t>
            </a:r>
          </a:p>
        </p:txBody>
      </p:sp>
      <p:sp>
        <p:nvSpPr>
          <p:cNvPr id="10" name="">
            <a:extLst xmlns:a="http://schemas.openxmlformats.org/drawingml/2006/main">
              <a:ext uri="{FF2B5EF4-FFF2-40B4-BE49-F238E27FC236}">
                <a16:creationId xmlns:a16="http://schemas.microsoft.com/office/drawing/2014/main" id="{25252B9F-02E3-4164-B857-2EB2AFB7E318}"/>
              </a:ext>
            </a:extLst>
          </p:cNvPr>
          <p:cNvSpPr>
            <a:spLocks xmlns:a="http://schemas.openxmlformats.org/drawingml/2006/main" noGrp="1"/>
          </p:cNvSpPr>
          <p:nvPr/>
        </p:nvSpPr>
        <p:spPr>
          <a:xfrm xmlns:a="http://schemas.openxmlformats.org/drawingml/2006/main">
            <a:off x="1190625" y="368617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Control</a:t>
            </a:r>
          </a:p>
        </p:txBody>
      </p:sp>
      <p:sp>
        <p:nvSpPr>
          <p:cNvPr id="11" name="">
            <a:extLst xmlns:a="http://schemas.openxmlformats.org/drawingml/2006/main">
              <a:ext uri="{FF2B5EF4-FFF2-40B4-BE49-F238E27FC236}">
                <a16:creationId xmlns:a16="http://schemas.microsoft.com/office/drawing/2014/main" id="{D42D8C3B-0CBC-498F-BA93-971BFEF4EE64}"/>
              </a:ext>
            </a:extLst>
          </p:cNvPr>
          <p:cNvSpPr>
            <a:spLocks xmlns:a="http://schemas.openxmlformats.org/drawingml/2006/main" noGrp="1"/>
          </p:cNvSpPr>
          <p:nvPr/>
        </p:nvSpPr>
        <p:spPr>
          <a:xfrm xmlns:a="http://schemas.openxmlformats.org/drawingml/2006/main">
            <a:off x="1190625" y="409575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Make the machine follow that motion.</a:t>
            </a:r>
          </a:p>
        </p:txBody>
      </p:sp>
      <p:sp>
        <p:nvSpPr>
          <p:cNvPr id="12" name="">
            <a:extLst xmlns:a="http://schemas.openxmlformats.org/drawingml/2006/main">
              <a:ext uri="{FF2B5EF4-FFF2-40B4-BE49-F238E27FC236}">
                <a16:creationId xmlns:a16="http://schemas.microsoft.com/office/drawing/2014/main" id="{993CF5BE-AD90-4DBC-9F6D-4B4C98D14887}"/>
              </a:ext>
            </a:extLst>
          </p:cNvPr>
          <p:cNvSpPr>
            <a:spLocks xmlns:a="http://schemas.openxmlformats.org/drawingml/2006/main" noGrp="1"/>
          </p:cNvSpPr>
          <p:nvPr/>
        </p:nvSpPr>
        <p:spPr>
          <a:xfrm xmlns:a="http://schemas.openxmlformats.org/drawingml/2006/main">
            <a:off x="552450" y="46958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4</a:t>
            </a:r>
          </a:p>
        </p:txBody>
      </p:sp>
      <p:sp>
        <p:nvSpPr>
          <p:cNvPr id="13" name="">
            <a:extLst xmlns:a="http://schemas.openxmlformats.org/drawingml/2006/main">
              <a:ext uri="{FF2B5EF4-FFF2-40B4-BE49-F238E27FC236}">
                <a16:creationId xmlns:a16="http://schemas.microsoft.com/office/drawing/2014/main" id="{1B3E6A9B-0A8E-48EB-B733-D23235066E24}"/>
              </a:ext>
            </a:extLst>
          </p:cNvPr>
          <p:cNvSpPr>
            <a:spLocks xmlns:a="http://schemas.openxmlformats.org/drawingml/2006/main" noGrp="1"/>
          </p:cNvSpPr>
          <p:nvPr/>
        </p:nvSpPr>
        <p:spPr>
          <a:xfrm xmlns:a="http://schemas.openxmlformats.org/drawingml/2006/main">
            <a:off x="1190625" y="469582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Use feedback</a:t>
            </a:r>
          </a:p>
        </p:txBody>
      </p:sp>
      <p:sp>
        <p:nvSpPr>
          <p:cNvPr id="14" name="">
            <a:extLst xmlns:a="http://schemas.openxmlformats.org/drawingml/2006/main">
              <a:ext uri="{FF2B5EF4-FFF2-40B4-BE49-F238E27FC236}">
                <a16:creationId xmlns:a16="http://schemas.microsoft.com/office/drawing/2014/main" id="{C6977E12-2316-4B47-A1A4-9F01A2B51EB1}"/>
              </a:ext>
            </a:extLst>
          </p:cNvPr>
          <p:cNvSpPr>
            <a:spLocks xmlns:a="http://schemas.openxmlformats.org/drawingml/2006/main" noGrp="1"/>
          </p:cNvSpPr>
          <p:nvPr/>
        </p:nvSpPr>
        <p:spPr>
          <a:xfrm xmlns:a="http://schemas.openxmlformats.org/drawingml/2006/main">
            <a:off x="1190625" y="510540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Measure the result and correct or replan.</a:t>
            </a:r>
          </a:p>
        </p:txBody>
      </p:sp>
      <p:pic>
        <p:nvPicPr>
          <p:cNvPr id="15" name="">
            <a:extLst xmlns:a="http://schemas.openxmlformats.org/drawingml/2006/main">
              <a:ext uri="{FF2B5EF4-FFF2-40B4-BE49-F238E27FC236}">
                <a16:creationId xmlns:a16="http://schemas.microsoft.com/office/drawing/2014/main" id="{026F4CE8-1376-4BDD-8D1D-684BA9704F65}"/>
              </a:ext>
            </a:extLst>
          </p:cNvPr>
          <p:cNvPicPr>
            <a:picLocks xmlns:a="http://schemas.openxmlformats.org/drawingml/2006/main" noChangeAspect="1"/>
          </p:cNvPicPr>
          <p:nvPr/>
        </p:nvPicPr>
        <p:blipFill>
          <a:blip xmlns:r="http://schemas.openxmlformats.org/officeDocument/2006/relationships" xmlns:a="http://schemas.openxmlformats.org/drawingml/2006/main" r:embed="R7682c47a44484dfd"/>
          <a:srcRect xmlns:a="http://schemas.openxmlformats.org/drawingml/2006/main" l="36000" t="28000" r="34000" b="27000"/>
          <a:stretch xmlns:a="http://schemas.openxmlformats.org/drawingml/2006/main"/>
        </p:blipFill>
        <p:spPr>
          <a:xfrm xmlns:a="http://schemas.openxmlformats.org/drawingml/2006/main">
            <a:off x="7191375" y="1657350"/>
            <a:ext cx="1905000" cy="16573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41670C7B-FE34-4799-9E1A-658344920985}"/>
              </a:ext>
            </a:extLst>
          </p:cNvPr>
          <p:cNvSpPr>
            <a:spLocks xmlns:a="http://schemas.openxmlformats.org/drawingml/2006/main" noGrp="1"/>
          </p:cNvSpPr>
          <p:nvPr/>
        </p:nvSpPr>
        <p:spPr>
          <a:xfrm xmlns:a="http://schemas.openxmlformats.org/drawingml/2006/main">
            <a:off x="9296400" y="18097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A car</a:t>
            </a:r>
          </a:p>
        </p:txBody>
      </p:sp>
      <p:sp>
        <p:nvSpPr>
          <p:cNvPr id="17" name="">
            <a:extLst xmlns:a="http://schemas.openxmlformats.org/drawingml/2006/main">
              <a:ext uri="{FF2B5EF4-FFF2-40B4-BE49-F238E27FC236}">
                <a16:creationId xmlns:a16="http://schemas.microsoft.com/office/drawing/2014/main" id="{0E375635-F8D6-4F39-9A49-94E0397F9407}"/>
              </a:ext>
            </a:extLst>
          </p:cNvPr>
          <p:cNvSpPr>
            <a:spLocks xmlns:a="http://schemas.openxmlformats.org/drawingml/2006/main" noGrp="1"/>
          </p:cNvSpPr>
          <p:nvPr/>
        </p:nvSpPr>
        <p:spPr>
          <a:xfrm xmlns:a="http://schemas.openxmlformats.org/drawingml/2006/main">
            <a:off x="9296400" y="2257425"/>
            <a:ext cx="2333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Follow the road</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with suitable steering</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and speed.</a:t>
            </a:r>
          </a:p>
        </p:txBody>
      </p:sp>
      <p:pic>
        <p:nvPicPr>
          <p:cNvPr id="18" name="">
            <a:extLst xmlns:a="http://schemas.openxmlformats.org/drawingml/2006/main">
              <a:ext uri="{FF2B5EF4-FFF2-40B4-BE49-F238E27FC236}">
                <a16:creationId xmlns:a16="http://schemas.microsoft.com/office/drawing/2014/main" id="{98528B53-9B62-4316-9FCC-8CEE2DE2E79E}"/>
              </a:ext>
            </a:extLst>
          </p:cNvPr>
          <p:cNvPicPr>
            <a:picLocks xmlns:a="http://schemas.openxmlformats.org/drawingml/2006/main" noChangeAspect="1"/>
          </p:cNvPicPr>
          <p:nvPr/>
        </p:nvPicPr>
        <p:blipFill>
          <a:blip xmlns:r="http://schemas.openxmlformats.org/officeDocument/2006/relationships" xmlns:a="http://schemas.openxmlformats.org/drawingml/2006/main" r:embed="Rf618e93485d34959"/>
          <a:srcRect xmlns:a="http://schemas.openxmlformats.org/drawingml/2006/main" l="0" t="15188" r="0" b="15188"/>
          <a:stretch xmlns:a="http://schemas.openxmlformats.org/drawingml/2006/main">
            <a:fillRect l="0" t="0" r="0" b="0"/>
          </a:stretch>
        </p:blipFill>
        <p:spPr>
          <a:xfrm xmlns:a="http://schemas.openxmlformats.org/drawingml/2006/main">
            <a:off x="7191375" y="3714750"/>
            <a:ext cx="1905000" cy="16573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5DB5B454-C1AD-487C-9C5F-307AA9B7A3A5}"/>
              </a:ext>
            </a:extLst>
          </p:cNvPr>
          <p:cNvSpPr>
            <a:spLocks xmlns:a="http://schemas.openxmlformats.org/drawingml/2006/main" noGrp="1"/>
          </p:cNvSpPr>
          <p:nvPr/>
        </p:nvSpPr>
        <p:spPr>
          <a:xfrm xmlns:a="http://schemas.openxmlformats.org/drawingml/2006/main">
            <a:off x="9296400" y="385762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A robot</a:t>
            </a:r>
          </a:p>
        </p:txBody>
      </p:sp>
      <p:sp>
        <p:nvSpPr>
          <p:cNvPr id="20" name="">
            <a:extLst xmlns:a="http://schemas.openxmlformats.org/drawingml/2006/main">
              <a:ext uri="{FF2B5EF4-FFF2-40B4-BE49-F238E27FC236}">
                <a16:creationId xmlns:a16="http://schemas.microsoft.com/office/drawing/2014/main" id="{DE29C59A-1E66-4EFD-8003-8A3C13343691}"/>
              </a:ext>
            </a:extLst>
          </p:cNvPr>
          <p:cNvSpPr>
            <a:spLocks xmlns:a="http://schemas.openxmlformats.org/drawingml/2006/main" noGrp="1"/>
          </p:cNvSpPr>
          <p:nvPr/>
        </p:nvSpPr>
        <p:spPr>
          <a:xfrm xmlns:a="http://schemas.openxmlformats.org/drawingml/2006/main">
            <a:off x="9296400" y="4305300"/>
            <a:ext cx="2333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Follow the panel</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with precise tool</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position and motion.</a:t>
            </a:r>
          </a:p>
        </p:txBody>
      </p:sp>
      <p:sp>
        <p:nvSpPr>
          <p:cNvPr id="21" name="">
            <a:extLst xmlns:a="http://schemas.openxmlformats.org/drawingml/2006/main">
              <a:ext uri="{FF2B5EF4-FFF2-40B4-BE49-F238E27FC236}">
                <a16:creationId xmlns:a16="http://schemas.microsoft.com/office/drawing/2014/main" id="{ACB822A7-C6B5-44DD-842E-C60A7D21DA6C}"/>
              </a:ext>
            </a:extLst>
          </p:cNvPr>
          <p:cNvSpPr>
            <a:spLocks xmlns:a="http://schemas.openxmlformats.org/drawingml/2006/main" noGrp="1"/>
          </p:cNvSpPr>
          <p:nvPr/>
        </p:nvSpPr>
        <p:spPr>
          <a:xfrm xmlns:a="http://schemas.openxmlformats.org/drawingml/2006/main">
            <a:off x="552450" y="6191250"/>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What I bring forward: understanding the whole system, from a motion goal to execution.</a:t>
            </a:r>
          </a:p>
        </p:txBody>
      </p:sp>
    </p:spTree>
    <p:extLst>
      <p:ext uri="{BB962C8B-B14F-4D97-AF65-F5344CB8AC3E}">
        <p14:creationId xmlns:p14="http://schemas.microsoft.com/office/powerpoint/2010/main" val="36423993"/>
      </p:ext>
    </p:extLst>
  </p:cSld>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AA8328F-FD7B-4ADA-978A-229088E829D5}"/>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Beyond engineering</a:t>
            </a:r>
          </a:p>
        </p:txBody>
      </p:sp>
      <p:sp>
        <p:nvSpPr>
          <p:cNvPr id="2" name="">
            <a:extLst xmlns:a="http://schemas.openxmlformats.org/drawingml/2006/main">
              <a:ext uri="{FF2B5EF4-FFF2-40B4-BE49-F238E27FC236}">
                <a16:creationId xmlns:a16="http://schemas.microsoft.com/office/drawing/2014/main" id="{187E0CD5-25FC-480F-95BA-B2ACA1AA8898}"/>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05</a:t>
            </a:r>
          </a:p>
        </p:txBody>
      </p:sp>
      <p:pic>
        <p:nvPicPr>
          <p:cNvPr id="3" name="">
            <a:extLst xmlns:a="http://schemas.openxmlformats.org/drawingml/2006/main">
              <a:ext uri="{FF2B5EF4-FFF2-40B4-BE49-F238E27FC236}">
                <a16:creationId xmlns:a16="http://schemas.microsoft.com/office/drawing/2014/main" id="{A103CA17-BAB9-40AB-929B-B0EB8E7892FD}"/>
              </a:ext>
            </a:extLst>
          </p:cNvPr>
          <p:cNvPicPr>
            <a:picLocks xmlns:a="http://schemas.openxmlformats.org/drawingml/2006/main" noChangeAspect="1"/>
          </p:cNvPicPr>
          <p:nvPr/>
        </p:nvPicPr>
        <p:blipFill>
          <a:blip xmlns:r="http://schemas.openxmlformats.org/officeDocument/2006/relationships" xmlns:a="http://schemas.openxmlformats.org/drawingml/2006/main" r:embed="R6b68f025ee8f47a4"/>
          <a:srcRect xmlns:a="http://schemas.openxmlformats.org/drawingml/2006/main" l="0" t="9914" r="0" b="9914"/>
          <a:stretch xmlns:a="http://schemas.openxmlformats.org/drawingml/2006/main">
            <a:fillRect l="0" t="0" r="0" b="0"/>
          </a:stretch>
        </p:blipFill>
        <p:spPr>
          <a:xfrm xmlns:a="http://schemas.openxmlformats.org/drawingml/2006/main">
            <a:off x="552450" y="1495425"/>
            <a:ext cx="11049000" cy="2952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18AE439-7344-4E6A-9C08-5D28F1DD70B5}"/>
              </a:ext>
            </a:extLst>
          </p:cNvPr>
          <p:cNvSpPr>
            <a:spLocks xmlns:a="http://schemas.openxmlformats.org/drawingml/2006/main" noGrp="1"/>
          </p:cNvSpPr>
          <p:nvPr/>
        </p:nvSpPr>
        <p:spPr>
          <a:xfrm xmlns:a="http://schemas.openxmlformats.org/drawingml/2006/main">
            <a:off x="552450" y="4743450"/>
            <a:ext cx="3543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Dancing &amp; acting</a:t>
            </a:r>
          </a:p>
        </p:txBody>
      </p:sp>
      <p:sp>
        <p:nvSpPr>
          <p:cNvPr id="5" name="">
            <a:extLst xmlns:a="http://schemas.openxmlformats.org/drawingml/2006/main">
              <a:ext uri="{FF2B5EF4-FFF2-40B4-BE49-F238E27FC236}">
                <a16:creationId xmlns:a16="http://schemas.microsoft.com/office/drawing/2014/main" id="{2A59BD87-A314-421C-A580-9158394313EE}"/>
              </a:ext>
            </a:extLst>
          </p:cNvPr>
          <p:cNvSpPr>
            <a:spLocks xmlns:a="http://schemas.openxmlformats.org/drawingml/2006/main" noGrp="1"/>
          </p:cNvSpPr>
          <p:nvPr/>
        </p:nvSpPr>
        <p:spPr>
          <a:xfrm xmlns:a="http://schemas.openxmlformats.org/drawingml/2006/main">
            <a:off x="552450" y="5629275"/>
            <a:ext cx="354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Creativity and expression</a:t>
            </a:r>
          </a:p>
        </p:txBody>
      </p:sp>
      <p:sp>
        <p:nvSpPr>
          <p:cNvPr id="6" name="">
            <a:extLst xmlns:a="http://schemas.openxmlformats.org/drawingml/2006/main">
              <a:ext uri="{FF2B5EF4-FFF2-40B4-BE49-F238E27FC236}">
                <a16:creationId xmlns:a16="http://schemas.microsoft.com/office/drawing/2014/main" id="{D11EB3ED-573D-461E-99DF-ACE949E5F249}"/>
              </a:ext>
            </a:extLst>
          </p:cNvPr>
          <p:cNvSpPr>
            <a:spLocks xmlns:a="http://schemas.openxmlformats.org/drawingml/2006/main" noGrp="1"/>
          </p:cNvSpPr>
          <p:nvPr/>
        </p:nvSpPr>
        <p:spPr>
          <a:xfrm xmlns:a="http://schemas.openxmlformats.org/drawingml/2006/main">
            <a:off x="4362450" y="4743450"/>
            <a:ext cx="3543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Fitness enthusiast</a:t>
            </a:r>
          </a:p>
        </p:txBody>
      </p:sp>
      <p:sp>
        <p:nvSpPr>
          <p:cNvPr id="7" name="">
            <a:extLst xmlns:a="http://schemas.openxmlformats.org/drawingml/2006/main">
              <a:ext uri="{FF2B5EF4-FFF2-40B4-BE49-F238E27FC236}">
                <a16:creationId xmlns:a16="http://schemas.microsoft.com/office/drawing/2014/main" id="{36BAB943-0806-4C47-8B8B-3CE738224E16}"/>
              </a:ext>
            </a:extLst>
          </p:cNvPr>
          <p:cNvSpPr>
            <a:spLocks xmlns:a="http://schemas.openxmlformats.org/drawingml/2006/main" noGrp="1"/>
          </p:cNvSpPr>
          <p:nvPr/>
        </p:nvSpPr>
        <p:spPr>
          <a:xfrm xmlns:a="http://schemas.openxmlformats.org/drawingml/2006/main">
            <a:off x="4362450" y="5629275"/>
            <a:ext cx="354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An active lifestyle</a:t>
            </a:r>
          </a:p>
        </p:txBody>
      </p:sp>
      <p:sp>
        <p:nvSpPr>
          <p:cNvPr id="8" name="">
            <a:extLst xmlns:a="http://schemas.openxmlformats.org/drawingml/2006/main">
              <a:ext uri="{FF2B5EF4-FFF2-40B4-BE49-F238E27FC236}">
                <a16:creationId xmlns:a16="http://schemas.microsoft.com/office/drawing/2014/main" id="{6ECAF031-5402-4E5F-B95B-A0113802DA55}"/>
              </a:ext>
            </a:extLst>
          </p:cNvPr>
          <p:cNvSpPr>
            <a:spLocks xmlns:a="http://schemas.openxmlformats.org/drawingml/2006/main" noGrp="1"/>
          </p:cNvSpPr>
          <p:nvPr/>
        </p:nvSpPr>
        <p:spPr>
          <a:xfrm xmlns:a="http://schemas.openxmlformats.org/drawingml/2006/main">
            <a:off x="8172450" y="4743450"/>
            <a:ext cx="3543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Travel, trekking &amp; hiking</a:t>
            </a:r>
          </a:p>
        </p:txBody>
      </p:sp>
      <p:sp>
        <p:nvSpPr>
          <p:cNvPr id="9" name="">
            <a:extLst xmlns:a="http://schemas.openxmlformats.org/drawingml/2006/main">
              <a:ext uri="{FF2B5EF4-FFF2-40B4-BE49-F238E27FC236}">
                <a16:creationId xmlns:a16="http://schemas.microsoft.com/office/drawing/2014/main" id="{7CA92F23-C569-4108-A603-3B2288E394BC}"/>
              </a:ext>
            </a:extLst>
          </p:cNvPr>
          <p:cNvSpPr>
            <a:spLocks xmlns:a="http://schemas.openxmlformats.org/drawingml/2006/main" noGrp="1"/>
          </p:cNvSpPr>
          <p:nvPr/>
        </p:nvSpPr>
        <p:spPr>
          <a:xfrm xmlns:a="http://schemas.openxmlformats.org/drawingml/2006/main">
            <a:off x="8172450" y="5629275"/>
            <a:ext cx="354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Exploring new places and the outdoors</a:t>
            </a:r>
          </a:p>
        </p:txBody>
      </p:sp>
    </p:spTree>
    <p:extLst>
      <p:ext uri="{BB962C8B-B14F-4D97-AF65-F5344CB8AC3E}">
        <p14:creationId xmlns:p14="http://schemas.microsoft.com/office/powerpoint/2010/main" val="1501522924"/>
      </p:ext>
    </p:extLst>
  </p:cSld>
</p:sld>
</file>

<file path=ppt/slides/slide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197D128-0B7E-4FCC-843A-84EE4D52AADA}"/>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Airbus journey in motion</a:t>
            </a:r>
          </a:p>
        </p:txBody>
      </p:sp>
      <p:sp>
        <p:nvSpPr>
          <p:cNvPr id="2" name="">
            <a:extLst xmlns:a="http://schemas.openxmlformats.org/drawingml/2006/main">
              <a:ext uri="{FF2B5EF4-FFF2-40B4-BE49-F238E27FC236}">
                <a16:creationId xmlns:a16="http://schemas.microsoft.com/office/drawing/2014/main" id="{C451D011-3B20-4585-889C-5BCBB7C98E38}"/>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15B4C275-67D8-4F9E-B597-E01F9DF66D65}"/>
              </a:ext>
            </a:extLst>
          </p:cNvPr>
          <p:cNvSpPr>
            <a:spLocks xmlns:a="http://schemas.openxmlformats.org/drawingml/2006/main" noGrp="1"/>
          </p:cNvSpPr>
          <p:nvPr/>
        </p:nvSpPr>
        <p:spPr>
          <a:xfrm xmlns:a="http://schemas.openxmlformats.org/drawingml/2006/main">
            <a:off x="552450" y="11049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Capability progression across my industrial robotics work</a:t>
            </a:r>
          </a:p>
        </p:txBody>
      </p:sp>
      <p:pic>
        <p:nvPicPr>
          <p:cNvPr id="4" name="">
            <a:extLst xmlns:a="http://schemas.openxmlformats.org/drawingml/2006/main">
              <a:ext uri="{FF2B5EF4-FFF2-40B4-BE49-F238E27FC236}">
                <a16:creationId xmlns:a16="http://schemas.microsoft.com/office/drawing/2014/main" id="{1043F4B5-6B39-4B13-AF00-9E2D7B33F965}"/>
              </a:ext>
            </a:extLst>
          </p:cNvPr>
          <p:cNvPicPr>
            <a:picLocks xmlns:a="http://schemas.openxmlformats.org/drawingml/2006/main" noChangeAspect="1"/>
          </p:cNvPicPr>
          <p:nvPr/>
        </p:nvPicPr>
        <p:blipFill>
          <a:blip xmlns:r="http://schemas.openxmlformats.org/officeDocument/2006/relationships" xmlns:a="http://schemas.openxmlformats.org/drawingml/2006/main" r:embed="Rd660291df2924bd9"/>
          <a:srcRect xmlns:a="http://schemas.openxmlformats.org/drawingml/2006/main" l="38000" t="0" r="0" b="0"/>
          <a:stretch xmlns:a="http://schemas.openxmlformats.org/drawingml/2006/main"/>
        </p:blipFill>
        <p:spPr>
          <a:xfrm xmlns:a="http://schemas.openxmlformats.org/drawingml/2006/main">
            <a:off x="552450" y="1724025"/>
            <a:ext cx="2514600" cy="1762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3FBD0A6-A424-4FA3-8EBF-EAF00A6997D4}"/>
              </a:ext>
            </a:extLst>
          </p:cNvPr>
          <p:cNvSpPr>
            <a:spLocks xmlns:a="http://schemas.openxmlformats.org/drawingml/2006/main" noGrp="1"/>
          </p:cNvSpPr>
          <p:nvPr/>
        </p:nvSpPr>
        <p:spPr>
          <a:xfrm xmlns:a="http://schemas.openxmlformats.org/drawingml/2006/main">
            <a:off x="5524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REACT</a:t>
            </a:r>
          </a:p>
        </p:txBody>
      </p:sp>
      <p:sp>
        <p:nvSpPr>
          <p:cNvPr id="6" name="">
            <a:extLst xmlns:a="http://schemas.openxmlformats.org/drawingml/2006/main">
              <a:ext uri="{FF2B5EF4-FFF2-40B4-BE49-F238E27FC236}">
                <a16:creationId xmlns:a16="http://schemas.microsoft.com/office/drawing/2014/main" id="{655852C7-69F8-4087-8335-DB68A0B25541}"/>
              </a:ext>
            </a:extLst>
          </p:cNvPr>
          <p:cNvSpPr>
            <a:spLocks xmlns:a="http://schemas.openxmlformats.org/drawingml/2006/main" noGrp="1"/>
          </p:cNvSpPr>
          <p:nvPr/>
        </p:nvSpPr>
        <p:spPr>
          <a:xfrm xmlns:a="http://schemas.openxmlformats.org/drawingml/2006/main">
            <a:off x="5524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Planning how the robot</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completes its task</a:t>
            </a:r>
          </a:p>
        </p:txBody>
      </p:sp>
      <p:pic>
        <p:nvPicPr>
          <p:cNvPr id="7" name="">
            <a:extLst xmlns:a="http://schemas.openxmlformats.org/drawingml/2006/main">
              <a:ext uri="{FF2B5EF4-FFF2-40B4-BE49-F238E27FC236}">
                <a16:creationId xmlns:a16="http://schemas.microsoft.com/office/drawing/2014/main" id="{1ACEE463-3C44-462C-8201-9BF3B39C82B1}"/>
              </a:ext>
            </a:extLst>
          </p:cNvPr>
          <p:cNvPicPr>
            <a:picLocks xmlns:a="http://schemas.openxmlformats.org/drawingml/2006/main" noChangeAspect="1"/>
          </p:cNvPicPr>
          <p:nvPr/>
        </p:nvPicPr>
        <p:blipFill>
          <a:blip xmlns:r="http://schemas.openxmlformats.org/officeDocument/2006/relationships" xmlns:a="http://schemas.openxmlformats.org/drawingml/2006/main" r:embed="R8b436a4cb27d4c61"/>
          <a:srcRect xmlns:a="http://schemas.openxmlformats.org/drawingml/2006/main" l="0" t="21960" r="0" b="21960"/>
          <a:stretch xmlns:a="http://schemas.openxmlformats.org/drawingml/2006/main">
            <a:fillRect l="0" t="0" r="0" b="0"/>
          </a:stretch>
        </p:blipFill>
        <p:spPr>
          <a:xfrm xmlns:a="http://schemas.openxmlformats.org/drawingml/2006/main">
            <a:off x="3409950" y="1724025"/>
            <a:ext cx="2514600" cy="1762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7541AAF-E3B8-41A7-8223-2879F393C64B}"/>
              </a:ext>
            </a:extLst>
          </p:cNvPr>
          <p:cNvSpPr>
            <a:spLocks xmlns:a="http://schemas.openxmlformats.org/drawingml/2006/main" noGrp="1"/>
          </p:cNvSpPr>
          <p:nvPr/>
        </p:nvSpPr>
        <p:spPr>
          <a:xfrm xmlns:a="http://schemas.openxmlformats.org/drawingml/2006/main">
            <a:off x="34099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Primer-skin NDT</a:t>
            </a:r>
          </a:p>
        </p:txBody>
      </p:sp>
      <p:sp>
        <p:nvSpPr>
          <p:cNvPr id="9" name="">
            <a:extLst xmlns:a="http://schemas.openxmlformats.org/drawingml/2006/main">
              <a:ext uri="{FF2B5EF4-FFF2-40B4-BE49-F238E27FC236}">
                <a16:creationId xmlns:a16="http://schemas.microsoft.com/office/drawing/2014/main" id="{A124853B-9D39-4D83-B627-27D30B814CDF}"/>
              </a:ext>
            </a:extLst>
          </p:cNvPr>
          <p:cNvSpPr>
            <a:spLocks xmlns:a="http://schemas.openxmlformats.org/drawingml/2006/main" noGrp="1"/>
          </p:cNvSpPr>
          <p:nvPr/>
        </p:nvSpPr>
        <p:spPr>
          <a:xfrm xmlns:a="http://schemas.openxmlformats.org/drawingml/2006/main">
            <a:off x="34099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Moving the inspection tool</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across the panel</a:t>
            </a:r>
          </a:p>
        </p:txBody>
      </p:sp>
      <p:pic>
        <p:nvPicPr>
          <p:cNvPr id="10" name="">
            <a:extLst xmlns:a="http://schemas.openxmlformats.org/drawingml/2006/main">
              <a:ext uri="{FF2B5EF4-FFF2-40B4-BE49-F238E27FC236}">
                <a16:creationId xmlns:a16="http://schemas.microsoft.com/office/drawing/2014/main" id="{2414E968-89D6-46A1-BDD1-91EB30B44F9B}"/>
              </a:ext>
            </a:extLst>
          </p:cNvPr>
          <p:cNvPicPr>
            <a:picLocks xmlns:a="http://schemas.openxmlformats.org/drawingml/2006/main" noChangeAspect="1"/>
          </p:cNvPicPr>
          <p:nvPr/>
        </p:nvPicPr>
        <p:blipFill>
          <a:blip xmlns:r="http://schemas.openxmlformats.org/officeDocument/2006/relationships" xmlns:a="http://schemas.openxmlformats.org/drawingml/2006/main" r:embed="R9c268a0bb930404f"/>
          <a:srcRect xmlns:a="http://schemas.openxmlformats.org/drawingml/2006/main" l="0" t="14962" r="0" b="14962"/>
          <a:stretch xmlns:a="http://schemas.openxmlformats.org/drawingml/2006/main">
            <a:fillRect l="0" t="0" r="0" b="0"/>
          </a:stretch>
        </p:blipFill>
        <p:spPr>
          <a:xfrm xmlns:a="http://schemas.openxmlformats.org/drawingml/2006/main">
            <a:off x="6267450" y="1724025"/>
            <a:ext cx="2514600" cy="17621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7D1CFDC-3CE3-47E1-A14C-D7410DD1E36F}"/>
              </a:ext>
            </a:extLst>
          </p:cNvPr>
          <p:cNvSpPr>
            <a:spLocks xmlns:a="http://schemas.openxmlformats.org/drawingml/2006/main" noGrp="1"/>
          </p:cNvSpPr>
          <p:nvPr/>
        </p:nvSpPr>
        <p:spPr>
          <a:xfrm xmlns:a="http://schemas.openxmlformats.org/drawingml/2006/main">
            <a:off x="62674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Intelligent scan plan</a:t>
            </a:r>
          </a:p>
        </p:txBody>
      </p:sp>
      <p:sp>
        <p:nvSpPr>
          <p:cNvPr id="12" name="">
            <a:extLst xmlns:a="http://schemas.openxmlformats.org/drawingml/2006/main">
              <a:ext uri="{FF2B5EF4-FFF2-40B4-BE49-F238E27FC236}">
                <a16:creationId xmlns:a16="http://schemas.microsoft.com/office/drawing/2014/main" id="{FD9D18EC-25AD-46A9-9B84-F89C5CE37F43}"/>
              </a:ext>
            </a:extLst>
          </p:cNvPr>
          <p:cNvSpPr>
            <a:spLocks xmlns:a="http://schemas.openxmlformats.org/drawingml/2006/main" noGrp="1"/>
          </p:cNvSpPr>
          <p:nvPr/>
        </p:nvSpPr>
        <p:spPr>
          <a:xfrm xmlns:a="http://schemas.openxmlformats.org/drawingml/2006/main">
            <a:off x="62674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Revisiting only the areas</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that need another check</a:t>
            </a:r>
          </a:p>
        </p:txBody>
      </p:sp>
      <p:pic>
        <p:nvPicPr>
          <p:cNvPr id="13" name="">
            <a:extLst xmlns:a="http://schemas.openxmlformats.org/drawingml/2006/main">
              <a:ext uri="{FF2B5EF4-FFF2-40B4-BE49-F238E27FC236}">
                <a16:creationId xmlns:a16="http://schemas.microsoft.com/office/drawing/2014/main" id="{BFBE0821-BE15-447E-82BA-2C7D05A62F9A}"/>
              </a:ext>
            </a:extLst>
          </p:cNvPr>
          <p:cNvPicPr>
            <a:picLocks xmlns:a="http://schemas.openxmlformats.org/drawingml/2006/main" noChangeAspect="1"/>
          </p:cNvPicPr>
          <p:nvPr/>
        </p:nvPicPr>
        <p:blipFill>
          <a:blip xmlns:r="http://schemas.openxmlformats.org/officeDocument/2006/relationships" xmlns:a="http://schemas.openxmlformats.org/drawingml/2006/main" r:embed="R6c8f8d4918bf49c6"/>
          <a:srcRect xmlns:a="http://schemas.openxmlformats.org/drawingml/2006/main" l="50000" t="0" r="0" b="0"/>
          <a:stretch xmlns:a="http://schemas.openxmlformats.org/drawingml/2006/main"/>
        </p:blipFill>
        <p:spPr>
          <a:xfrm xmlns:a="http://schemas.openxmlformats.org/drawingml/2006/main">
            <a:off x="9124950" y="1724025"/>
            <a:ext cx="2514600" cy="17621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41700441-D668-4888-845D-62F9E85B5316}"/>
              </a:ext>
            </a:extLst>
          </p:cNvPr>
          <p:cNvSpPr>
            <a:spLocks xmlns:a="http://schemas.openxmlformats.org/drawingml/2006/main" noGrp="1"/>
          </p:cNvSpPr>
          <p:nvPr/>
        </p:nvSpPr>
        <p:spPr>
          <a:xfrm xmlns:a="http://schemas.openxmlformats.org/drawingml/2006/main">
            <a:off x="91249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B77720"/>
                </a:solidFill>
                <a:latin typeface="DejaVu Sans"/>
                <a:ea typeface="DejaVu Sans"/>
                <a:cs typeface="DejaVu Sans"/>
              </a:defRPr>
            </a:defPPr>
          </a:lstStyle>
          <a:p xmlns:a="http://schemas.openxmlformats.org/drawingml/2006/main">
            <a:pPr>
              <a:defRPr sz="2025" b="1">
                <a:solidFill>
                  <a:srgbClr val="B77720"/>
                </a:solidFill>
                <a:latin typeface="DejaVu Sans"/>
                <a:ea typeface="DejaVu Sans"/>
                <a:cs typeface="DejaVu Sans"/>
              </a:defRPr>
            </a:pPr>
            <a:r>
              <a:rPr sz="2025" b="1">
                <a:solidFill>
                  <a:srgbClr val="B77720"/>
                </a:solidFill>
                <a:latin typeface="DejaVu Sans"/>
                <a:ea typeface="DejaVu Sans"/>
                <a:cs typeface="DejaVu Sans"/>
              </a:rPr>
              <a:t>Next horizon</a:t>
            </a:r>
          </a:p>
        </p:txBody>
      </p:sp>
      <p:sp>
        <p:nvSpPr>
          <p:cNvPr id="15" name="">
            <a:extLst xmlns:a="http://schemas.openxmlformats.org/drawingml/2006/main">
              <a:ext uri="{FF2B5EF4-FFF2-40B4-BE49-F238E27FC236}">
                <a16:creationId xmlns:a16="http://schemas.microsoft.com/office/drawing/2014/main" id="{EEE2F979-79FA-4B45-AF2D-69A7A39C8C0B}"/>
              </a:ext>
            </a:extLst>
          </p:cNvPr>
          <p:cNvSpPr>
            <a:spLocks xmlns:a="http://schemas.openxmlformats.org/drawingml/2006/main" noGrp="1"/>
          </p:cNvSpPr>
          <p:nvPr/>
        </p:nvSpPr>
        <p:spPr>
          <a:xfrm xmlns:a="http://schemas.openxmlformats.org/drawingml/2006/main">
            <a:off x="91249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Reusing motion software</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that adapts to change</a:t>
            </a:r>
          </a:p>
        </p:txBody>
      </p:sp>
      <p:sp>
        <p:nvSpPr>
          <p:cNvPr id="16" name="">
            <a:extLst xmlns:a="http://schemas.openxmlformats.org/drawingml/2006/main">
              <a:ext uri="{FF2B5EF4-FFF2-40B4-BE49-F238E27FC236}">
                <a16:creationId xmlns:a16="http://schemas.microsoft.com/office/drawing/2014/main" id="{F771D42C-D039-460F-80E1-59386CAB8569}"/>
              </a:ext>
            </a:extLst>
          </p:cNvPr>
          <p:cNvSpPr>
            <a:spLocks xmlns:a="http://schemas.openxmlformats.org/drawingml/2006/main" noGrp="1"/>
          </p:cNvSpPr>
          <p:nvPr/>
        </p:nvSpPr>
        <p:spPr>
          <a:xfrm xmlns:a="http://schemas.openxmlformats.org/drawingml/2006/main">
            <a:off x="1809750" y="3886200"/>
            <a:ext cx="5715000" cy="47625"/>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2130FF1-5419-4CBB-8FA4-5CFFAD2107AF}"/>
              </a:ext>
            </a:extLst>
          </p:cNvPr>
          <p:cNvSpPr>
            <a:spLocks xmlns:a="http://schemas.openxmlformats.org/drawingml/2006/main" noGrp="1"/>
          </p:cNvSpPr>
          <p:nvPr/>
        </p:nvSpPr>
        <p:spPr>
          <a:xfrm xmlns:a="http://schemas.openxmlformats.org/drawingml/2006/main">
            <a:off x="75723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D251E22-7228-40C3-9D0E-570D87B64B8B}"/>
              </a:ext>
            </a:extLst>
          </p:cNvPr>
          <p:cNvSpPr>
            <a:spLocks xmlns:a="http://schemas.openxmlformats.org/drawingml/2006/main" noGrp="1"/>
          </p:cNvSpPr>
          <p:nvPr/>
        </p:nvSpPr>
        <p:spPr>
          <a:xfrm xmlns:a="http://schemas.openxmlformats.org/drawingml/2006/main">
            <a:off x="78009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E545481-27E3-47BE-AF0B-C7D909FA8FA9}"/>
              </a:ext>
            </a:extLst>
          </p:cNvPr>
          <p:cNvSpPr>
            <a:spLocks xmlns:a="http://schemas.openxmlformats.org/drawingml/2006/main" noGrp="1"/>
          </p:cNvSpPr>
          <p:nvPr/>
        </p:nvSpPr>
        <p:spPr>
          <a:xfrm xmlns:a="http://schemas.openxmlformats.org/drawingml/2006/main">
            <a:off x="80295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4D8DA0A-69C7-4BAA-85FF-C0DF02BFD5AE}"/>
              </a:ext>
            </a:extLst>
          </p:cNvPr>
          <p:cNvSpPr>
            <a:spLocks xmlns:a="http://schemas.openxmlformats.org/drawingml/2006/main" noGrp="1"/>
          </p:cNvSpPr>
          <p:nvPr/>
        </p:nvSpPr>
        <p:spPr>
          <a:xfrm xmlns:a="http://schemas.openxmlformats.org/drawingml/2006/main">
            <a:off x="82581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2E95563-745B-427E-BC42-4F59B45A527F}"/>
              </a:ext>
            </a:extLst>
          </p:cNvPr>
          <p:cNvSpPr>
            <a:spLocks xmlns:a="http://schemas.openxmlformats.org/drawingml/2006/main" noGrp="1"/>
          </p:cNvSpPr>
          <p:nvPr/>
        </p:nvSpPr>
        <p:spPr>
          <a:xfrm xmlns:a="http://schemas.openxmlformats.org/drawingml/2006/main">
            <a:off x="84867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EDEC0A3-8491-4CE5-9F8C-DDC12AAAF86D}"/>
              </a:ext>
            </a:extLst>
          </p:cNvPr>
          <p:cNvSpPr>
            <a:spLocks xmlns:a="http://schemas.openxmlformats.org/drawingml/2006/main" noGrp="1"/>
          </p:cNvSpPr>
          <p:nvPr/>
        </p:nvSpPr>
        <p:spPr>
          <a:xfrm xmlns:a="http://schemas.openxmlformats.org/drawingml/2006/main">
            <a:off x="87153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F31D3D1-CF00-41D4-BD26-B8D48E75B85E}"/>
              </a:ext>
            </a:extLst>
          </p:cNvPr>
          <p:cNvSpPr>
            <a:spLocks xmlns:a="http://schemas.openxmlformats.org/drawingml/2006/main" noGrp="1"/>
          </p:cNvSpPr>
          <p:nvPr/>
        </p:nvSpPr>
        <p:spPr>
          <a:xfrm xmlns:a="http://schemas.openxmlformats.org/drawingml/2006/main">
            <a:off x="89439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025F59D-9315-4DD3-A28A-B10C6AB8BAC6}"/>
              </a:ext>
            </a:extLst>
          </p:cNvPr>
          <p:cNvSpPr>
            <a:spLocks xmlns:a="http://schemas.openxmlformats.org/drawingml/2006/main" noGrp="1"/>
          </p:cNvSpPr>
          <p:nvPr/>
        </p:nvSpPr>
        <p:spPr>
          <a:xfrm xmlns:a="http://schemas.openxmlformats.org/drawingml/2006/main">
            <a:off x="91725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46A7BF2-17BE-405D-BD65-C514D68D1D7C}"/>
              </a:ext>
            </a:extLst>
          </p:cNvPr>
          <p:cNvSpPr>
            <a:spLocks xmlns:a="http://schemas.openxmlformats.org/drawingml/2006/main" noGrp="1"/>
          </p:cNvSpPr>
          <p:nvPr/>
        </p:nvSpPr>
        <p:spPr>
          <a:xfrm xmlns:a="http://schemas.openxmlformats.org/drawingml/2006/main">
            <a:off x="94011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350CA5E-05D7-4E65-94B3-1D726E9E6846}"/>
              </a:ext>
            </a:extLst>
          </p:cNvPr>
          <p:cNvSpPr>
            <a:spLocks xmlns:a="http://schemas.openxmlformats.org/drawingml/2006/main" noGrp="1"/>
          </p:cNvSpPr>
          <p:nvPr/>
        </p:nvSpPr>
        <p:spPr>
          <a:xfrm xmlns:a="http://schemas.openxmlformats.org/drawingml/2006/main">
            <a:off x="96297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838D23F-39C1-4DCE-B294-2EF9AC75DB9E}"/>
              </a:ext>
            </a:extLst>
          </p:cNvPr>
          <p:cNvSpPr>
            <a:spLocks xmlns:a="http://schemas.openxmlformats.org/drawingml/2006/main" noGrp="1"/>
          </p:cNvSpPr>
          <p:nvPr/>
        </p:nvSpPr>
        <p:spPr>
          <a:xfrm xmlns:a="http://schemas.openxmlformats.org/drawingml/2006/main">
            <a:off x="98583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8137745-B0AA-4D2B-B379-7BDC64BED228}"/>
              </a:ext>
            </a:extLst>
          </p:cNvPr>
          <p:cNvSpPr>
            <a:spLocks xmlns:a="http://schemas.openxmlformats.org/drawingml/2006/main" noGrp="1"/>
          </p:cNvSpPr>
          <p:nvPr/>
        </p:nvSpPr>
        <p:spPr>
          <a:xfrm xmlns:a="http://schemas.openxmlformats.org/drawingml/2006/main">
            <a:off x="100869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EA7902B-8ED5-4FB6-BDDC-9619C3FF5E78}"/>
              </a:ext>
            </a:extLst>
          </p:cNvPr>
          <p:cNvSpPr>
            <a:spLocks xmlns:a="http://schemas.openxmlformats.org/drawingml/2006/main" noGrp="1"/>
          </p:cNvSpPr>
          <p:nvPr/>
        </p:nvSpPr>
        <p:spPr>
          <a:xfrm xmlns:a="http://schemas.openxmlformats.org/drawingml/2006/main">
            <a:off x="103155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3D8073C-C568-4FBA-9CFA-69545106874E}"/>
              </a:ext>
            </a:extLst>
          </p:cNvPr>
          <p:cNvSpPr>
            <a:spLocks xmlns:a="http://schemas.openxmlformats.org/drawingml/2006/main" noGrp="1"/>
          </p:cNvSpPr>
          <p:nvPr/>
        </p:nvSpPr>
        <p:spPr>
          <a:xfrm xmlns:a="http://schemas.openxmlformats.org/drawingml/2006/main">
            <a:off x="1657350" y="3752850"/>
            <a:ext cx="304800" cy="304800"/>
          </a:xfrm>
          <a:prstGeom xmlns:a="http://schemas.openxmlformats.org/drawingml/2006/main" prst="ellipse">
            <a:avLst/>
          </a:prstGeom>
          <a:solidFill xmlns:a="http://schemas.openxmlformats.org/drawingml/2006/main">
            <a:srgbClr val="304DD9"/>
          </a:solidFill>
          <a:ln xmlns:a="http://schemas.openxmlformats.org/drawingml/2006/main" w="28575">
            <a:solidFill>
              <a:srgbClr val="304DD9"/>
            </a:solidFill>
          </a:ln>
        </p:spPr>
      </p:sp>
      <p:sp>
        <p:nvSpPr>
          <p:cNvPr id="31" name="">
            <a:extLst xmlns:a="http://schemas.openxmlformats.org/drawingml/2006/main">
              <a:ext uri="{FF2B5EF4-FFF2-40B4-BE49-F238E27FC236}">
                <a16:creationId xmlns:a16="http://schemas.microsoft.com/office/drawing/2014/main" id="{29312ABE-F82E-4005-ACB7-2EBFB4D7CBD8}"/>
              </a:ext>
            </a:extLst>
          </p:cNvPr>
          <p:cNvSpPr>
            <a:spLocks xmlns:a="http://schemas.openxmlformats.org/drawingml/2006/main" noGrp="1"/>
          </p:cNvSpPr>
          <p:nvPr/>
        </p:nvSpPr>
        <p:spPr>
          <a:xfrm xmlns:a="http://schemas.openxmlformats.org/drawingml/2006/main">
            <a:off x="4514850" y="3752850"/>
            <a:ext cx="304800" cy="304800"/>
          </a:xfrm>
          <a:prstGeom xmlns:a="http://schemas.openxmlformats.org/drawingml/2006/main" prst="ellipse">
            <a:avLst/>
          </a:prstGeom>
          <a:solidFill xmlns:a="http://schemas.openxmlformats.org/drawingml/2006/main">
            <a:srgbClr val="304DD9"/>
          </a:solidFill>
          <a:ln xmlns:a="http://schemas.openxmlformats.org/drawingml/2006/main" w="28575">
            <a:solidFill>
              <a:srgbClr val="304DD9"/>
            </a:solidFill>
          </a:ln>
        </p:spPr>
      </p:sp>
      <p:sp>
        <p:nvSpPr>
          <p:cNvPr id="32" name="">
            <a:extLst xmlns:a="http://schemas.openxmlformats.org/drawingml/2006/main">
              <a:ext uri="{FF2B5EF4-FFF2-40B4-BE49-F238E27FC236}">
                <a16:creationId xmlns:a16="http://schemas.microsoft.com/office/drawing/2014/main" id="{A01698C4-DD3D-49ED-8711-46B221FED8F8}"/>
              </a:ext>
            </a:extLst>
          </p:cNvPr>
          <p:cNvSpPr>
            <a:spLocks xmlns:a="http://schemas.openxmlformats.org/drawingml/2006/main" noGrp="1"/>
          </p:cNvSpPr>
          <p:nvPr/>
        </p:nvSpPr>
        <p:spPr>
          <a:xfrm xmlns:a="http://schemas.openxmlformats.org/drawingml/2006/main">
            <a:off x="7372350" y="3752850"/>
            <a:ext cx="304800" cy="304800"/>
          </a:xfrm>
          <a:prstGeom xmlns:a="http://schemas.openxmlformats.org/drawingml/2006/main" prst="ellipse">
            <a:avLst/>
          </a:prstGeom>
          <a:solidFill xmlns:a="http://schemas.openxmlformats.org/drawingml/2006/main">
            <a:srgbClr val="304DD9"/>
          </a:solidFill>
          <a:ln xmlns:a="http://schemas.openxmlformats.org/drawingml/2006/main" w="28575">
            <a:solidFill>
              <a:srgbClr val="304DD9"/>
            </a:solidFill>
          </a:ln>
        </p:spPr>
      </p:sp>
      <p:sp>
        <p:nvSpPr>
          <p:cNvPr id="33" name="">
            <a:extLst xmlns:a="http://schemas.openxmlformats.org/drawingml/2006/main">
              <a:ext uri="{FF2B5EF4-FFF2-40B4-BE49-F238E27FC236}">
                <a16:creationId xmlns:a16="http://schemas.microsoft.com/office/drawing/2014/main" id="{D8161745-8F6B-4FFB-B176-38D2F02FDE56}"/>
              </a:ext>
            </a:extLst>
          </p:cNvPr>
          <p:cNvSpPr>
            <a:spLocks xmlns:a="http://schemas.openxmlformats.org/drawingml/2006/main" noGrp="1"/>
          </p:cNvSpPr>
          <p:nvPr/>
        </p:nvSpPr>
        <p:spPr>
          <a:xfrm xmlns:a="http://schemas.openxmlformats.org/drawingml/2006/main">
            <a:off x="10229850" y="3752850"/>
            <a:ext cx="304800" cy="304800"/>
          </a:xfrm>
          <a:prstGeom xmlns:a="http://schemas.openxmlformats.org/drawingml/2006/main" prst="ellipse">
            <a:avLst/>
          </a:prstGeom>
          <a:solidFill xmlns:a="http://schemas.openxmlformats.org/drawingml/2006/main">
            <a:srgbClr val="FAF8F3"/>
          </a:solidFill>
          <a:ln xmlns:a="http://schemas.openxmlformats.org/drawingml/2006/main" w="28575">
            <a:solidFill>
              <a:srgbClr val="B77720"/>
            </a:solidFill>
          </a:ln>
        </p:spPr>
      </p:sp>
      <p:sp>
        <p:nvSpPr>
          <p:cNvPr id="34" name="">
            <a:extLst xmlns:a="http://schemas.openxmlformats.org/drawingml/2006/main">
              <a:ext uri="{FF2B5EF4-FFF2-40B4-BE49-F238E27FC236}">
                <a16:creationId xmlns:a16="http://schemas.microsoft.com/office/drawing/2014/main" id="{A826A34C-B82A-4175-BBE7-CF166773F913}"/>
              </a:ext>
            </a:extLst>
          </p:cNvPr>
          <p:cNvSpPr>
            <a:spLocks xmlns:a="http://schemas.openxmlformats.org/drawingml/2006/main" noGrp="1"/>
          </p:cNvSpPr>
          <p:nvPr/>
        </p:nvSpPr>
        <p:spPr>
          <a:xfrm xmlns:a="http://schemas.openxmlformats.org/drawingml/2006/main">
            <a:off x="552450" y="62484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1">
                <a:solidFill>
                  <a:srgbClr val="304DD9"/>
                </a:solidFill>
                <a:latin typeface="DejaVu Sans"/>
                <a:ea typeface="DejaVu Sans"/>
                <a:cs typeface="DejaVu Sans"/>
              </a:defRPr>
            </a:defPPr>
          </a:lstStyle>
          <a:p xmlns:a="http://schemas.openxmlformats.org/drawingml/2006/main">
            <a:pPr>
              <a:defRPr sz="1275" b="1">
                <a:solidFill>
                  <a:srgbClr val="304DD9"/>
                </a:solidFill>
                <a:latin typeface="DejaVu Sans"/>
                <a:ea typeface="DejaVu Sans"/>
                <a:cs typeface="DejaVu Sans"/>
              </a:defRPr>
            </a:pPr>
            <a:r>
              <a:rPr sz="1275" b="1">
                <a:solidFill>
                  <a:srgbClr val="304DD9"/>
                </a:solidFill>
                <a:latin typeface="DejaVu Sans"/>
                <a:ea typeface="DejaVu Sans"/>
                <a:cs typeface="DejaVu Sans"/>
              </a:rPr>
              <a:t>EXPERIENCE</a:t>
            </a:r>
          </a:p>
        </p:txBody>
      </p:sp>
      <p:sp>
        <p:nvSpPr>
          <p:cNvPr id="35" name="">
            <a:extLst xmlns:a="http://schemas.openxmlformats.org/drawingml/2006/main">
              <a:ext uri="{FF2B5EF4-FFF2-40B4-BE49-F238E27FC236}">
                <a16:creationId xmlns:a16="http://schemas.microsoft.com/office/drawing/2014/main" id="{69BC6F4F-708C-401F-806C-D4130DEBA86E}"/>
              </a:ext>
            </a:extLst>
          </p:cNvPr>
          <p:cNvSpPr>
            <a:spLocks xmlns:a="http://schemas.openxmlformats.org/drawingml/2006/main" noGrp="1"/>
          </p:cNvSpPr>
          <p:nvPr/>
        </p:nvSpPr>
        <p:spPr>
          <a:xfrm xmlns:a="http://schemas.openxmlformats.org/drawingml/2006/main">
            <a:off x="9124950" y="62484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1">
                <a:solidFill>
                  <a:srgbClr val="B77720"/>
                </a:solidFill>
                <a:latin typeface="DejaVu Sans"/>
                <a:ea typeface="DejaVu Sans"/>
                <a:cs typeface="DejaVu Sans"/>
              </a:defRPr>
            </a:defPPr>
          </a:lstStyle>
          <a:p xmlns:a="http://schemas.openxmlformats.org/drawingml/2006/main">
            <a:pPr>
              <a:defRPr sz="1275" b="1">
                <a:solidFill>
                  <a:srgbClr val="B77720"/>
                </a:solidFill>
                <a:latin typeface="DejaVu Sans"/>
                <a:ea typeface="DejaVu Sans"/>
                <a:cs typeface="DejaVu Sans"/>
              </a:defRPr>
            </a:pPr>
            <a:r>
              <a:rPr sz="1275" b="1">
                <a:solidFill>
                  <a:srgbClr val="B77720"/>
                </a:solidFill>
                <a:latin typeface="DejaVu Sans"/>
                <a:ea typeface="DejaVu Sans"/>
                <a:cs typeface="DejaVu Sans"/>
              </a:rPr>
              <a:t>PROPOSED DIRECTION</a:t>
            </a:r>
          </a:p>
        </p:txBody>
      </p:sp>
    </p:spTree>
    <p:extLst>
      <p:ext uri="{BB962C8B-B14F-4D97-AF65-F5344CB8AC3E}">
        <p14:creationId xmlns:p14="http://schemas.microsoft.com/office/powerpoint/2010/main" val="1478668550"/>
      </p:ext>
    </p:extLst>
  </p:cSld>
</p:sld>
</file>

<file path=ppt/slides/slide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731578E-6226-436C-9C5A-F0D65D4B015E}"/>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Different jobs need different ways to move</a:t>
            </a:r>
          </a:p>
        </p:txBody>
      </p:sp>
      <p:sp>
        <p:nvSpPr>
          <p:cNvPr id="2" name="">
            <a:extLst xmlns:a="http://schemas.openxmlformats.org/drawingml/2006/main">
              <a:ext uri="{FF2B5EF4-FFF2-40B4-BE49-F238E27FC236}">
                <a16:creationId xmlns:a16="http://schemas.microsoft.com/office/drawing/2014/main" id="{0B87DB34-E65C-4374-9D8A-ACF1BB244619}"/>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07</a:t>
            </a:r>
          </a:p>
        </p:txBody>
      </p:sp>
      <p:pic>
        <p:nvPicPr>
          <p:cNvPr id="3" name="">
            <a:extLst xmlns:a="http://schemas.openxmlformats.org/drawingml/2006/main">
              <a:ext uri="{FF2B5EF4-FFF2-40B4-BE49-F238E27FC236}">
                <a16:creationId xmlns:a16="http://schemas.microsoft.com/office/drawing/2014/main" id="{341A62D0-CCC5-4314-8B63-A54A33DE0338}"/>
              </a:ext>
            </a:extLst>
          </p:cNvPr>
          <p:cNvPicPr>
            <a:picLocks xmlns:a="http://schemas.openxmlformats.org/drawingml/2006/main" noChangeAspect="1"/>
          </p:cNvPicPr>
          <p:nvPr/>
        </p:nvPicPr>
        <p:blipFill>
          <a:blip xmlns:r="http://schemas.openxmlformats.org/officeDocument/2006/relationships" xmlns:a="http://schemas.openxmlformats.org/drawingml/2006/main" r:embed="R9dd4215f01a746ae"/>
          <a:srcRect xmlns:a="http://schemas.openxmlformats.org/drawingml/2006/main" l="0" t="0" r="66667" b="50000"/>
          <a:stretch xmlns:a="http://schemas.openxmlformats.org/drawingml/2006/main"/>
        </p:blipFill>
        <p:spPr>
          <a:xfrm xmlns:a="http://schemas.openxmlformats.org/drawingml/2006/main">
            <a:off x="1076325" y="1762125"/>
            <a:ext cx="2333625" cy="2333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97CF880-DB97-4AF2-9C51-727BB18911AF}"/>
              </a:ext>
            </a:extLst>
          </p:cNvPr>
          <p:cNvSpPr>
            <a:spLocks xmlns:a="http://schemas.openxmlformats.org/drawingml/2006/main" noGrp="1"/>
          </p:cNvSpPr>
          <p:nvPr/>
        </p:nvSpPr>
        <p:spPr>
          <a:xfrm xmlns:a="http://schemas.openxmlformats.org/drawingml/2006/main">
            <a:off x="552450" y="4419600"/>
            <a:ext cx="3543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Follow a surface</a:t>
            </a:r>
          </a:p>
        </p:txBody>
      </p:sp>
      <p:sp>
        <p:nvSpPr>
          <p:cNvPr id="5" name="">
            <a:extLst xmlns:a="http://schemas.openxmlformats.org/drawingml/2006/main">
              <a:ext uri="{FF2B5EF4-FFF2-40B4-BE49-F238E27FC236}">
                <a16:creationId xmlns:a16="http://schemas.microsoft.com/office/drawing/2014/main" id="{006E600D-03D6-4E52-A732-6D7BB188FF58}"/>
              </a:ext>
            </a:extLst>
          </p:cNvPr>
          <p:cNvSpPr>
            <a:spLocks xmlns:a="http://schemas.openxmlformats.org/drawingml/2006/main" noGrp="1"/>
          </p:cNvSpPr>
          <p:nvPr/>
        </p:nvSpPr>
        <p:spPr>
          <a:xfrm xmlns:a="http://schemas.openxmlformats.org/drawingml/2006/main">
            <a:off x="552450" y="5314950"/>
            <a:ext cx="3543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Keep the tool at the right distance.</a:t>
            </a:r>
          </a:p>
        </p:txBody>
      </p:sp>
      <p:pic>
        <p:nvPicPr>
          <p:cNvPr id="6" name="">
            <a:extLst xmlns:a="http://schemas.openxmlformats.org/drawingml/2006/main">
              <a:ext uri="{FF2B5EF4-FFF2-40B4-BE49-F238E27FC236}">
                <a16:creationId xmlns:a16="http://schemas.microsoft.com/office/drawing/2014/main" id="{93A2956D-ABE3-4D27-8342-7476D6FCF6EA}"/>
              </a:ext>
            </a:extLst>
          </p:cNvPr>
          <p:cNvPicPr>
            <a:picLocks xmlns:a="http://schemas.openxmlformats.org/drawingml/2006/main" noChangeAspect="1"/>
          </p:cNvPicPr>
          <p:nvPr/>
        </p:nvPicPr>
        <p:blipFill>
          <a:blip xmlns:r="http://schemas.openxmlformats.org/officeDocument/2006/relationships" xmlns:a="http://schemas.openxmlformats.org/drawingml/2006/main" r:embed="R3ce821d05ff44ca3"/>
          <a:srcRect xmlns:a="http://schemas.openxmlformats.org/drawingml/2006/main" l="66667" t="0" r="0" b="50000"/>
          <a:stretch xmlns:a="http://schemas.openxmlformats.org/drawingml/2006/main"/>
        </p:blipFill>
        <p:spPr>
          <a:xfrm xmlns:a="http://schemas.openxmlformats.org/drawingml/2006/main">
            <a:off x="4886325" y="1762125"/>
            <a:ext cx="2333625" cy="2333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99E4730-7C77-48EE-A013-10F6CCBE7A08}"/>
              </a:ext>
            </a:extLst>
          </p:cNvPr>
          <p:cNvSpPr>
            <a:spLocks xmlns:a="http://schemas.openxmlformats.org/drawingml/2006/main" noGrp="1"/>
          </p:cNvSpPr>
          <p:nvPr/>
        </p:nvSpPr>
        <p:spPr>
          <a:xfrm xmlns:a="http://schemas.openxmlformats.org/drawingml/2006/main">
            <a:off x="4362450" y="4419600"/>
            <a:ext cx="3543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Reach a precise point</a:t>
            </a:r>
          </a:p>
        </p:txBody>
      </p:sp>
      <p:sp>
        <p:nvSpPr>
          <p:cNvPr id="8" name="">
            <a:extLst xmlns:a="http://schemas.openxmlformats.org/drawingml/2006/main">
              <a:ext uri="{FF2B5EF4-FFF2-40B4-BE49-F238E27FC236}">
                <a16:creationId xmlns:a16="http://schemas.microsoft.com/office/drawing/2014/main" id="{81ED2969-D188-490B-BE55-A7C0F350C5A0}"/>
              </a:ext>
            </a:extLst>
          </p:cNvPr>
          <p:cNvSpPr>
            <a:spLocks xmlns:a="http://schemas.openxmlformats.org/drawingml/2006/main" noGrp="1"/>
          </p:cNvSpPr>
          <p:nvPr/>
        </p:nvSpPr>
        <p:spPr>
          <a:xfrm xmlns:a="http://schemas.openxmlformats.org/drawingml/2006/main">
            <a:off x="4362450" y="5314950"/>
            <a:ext cx="3543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Position the tool accurately.</a:t>
            </a:r>
          </a:p>
        </p:txBody>
      </p:sp>
      <p:pic>
        <p:nvPicPr>
          <p:cNvPr id="9" name="">
            <a:extLst xmlns:a="http://schemas.openxmlformats.org/drawingml/2006/main">
              <a:ext uri="{FF2B5EF4-FFF2-40B4-BE49-F238E27FC236}">
                <a16:creationId xmlns:a16="http://schemas.microsoft.com/office/drawing/2014/main" id="{8AF4BD10-D5F6-4AED-982D-521C703F7D6A}"/>
              </a:ext>
            </a:extLst>
          </p:cNvPr>
          <p:cNvPicPr>
            <a:picLocks xmlns:a="http://schemas.openxmlformats.org/drawingml/2006/main" noChangeAspect="1"/>
          </p:cNvPicPr>
          <p:nvPr/>
        </p:nvPicPr>
        <p:blipFill>
          <a:blip xmlns:r="http://schemas.openxmlformats.org/officeDocument/2006/relationships" xmlns:a="http://schemas.openxmlformats.org/drawingml/2006/main" r:embed="Rdd5510b7991d4153"/>
          <a:srcRect xmlns:a="http://schemas.openxmlformats.org/drawingml/2006/main" l="33333" t="50000" r="33333" b="0"/>
          <a:stretch xmlns:a="http://schemas.openxmlformats.org/drawingml/2006/main"/>
        </p:blipFill>
        <p:spPr>
          <a:xfrm xmlns:a="http://schemas.openxmlformats.org/drawingml/2006/main">
            <a:off x="8696325" y="1762125"/>
            <a:ext cx="2333625" cy="2333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9856026-1AE8-409F-A8AB-2B97042D7FC8}"/>
              </a:ext>
            </a:extLst>
          </p:cNvPr>
          <p:cNvSpPr>
            <a:spLocks xmlns:a="http://schemas.openxmlformats.org/drawingml/2006/main" noGrp="1"/>
          </p:cNvSpPr>
          <p:nvPr/>
        </p:nvSpPr>
        <p:spPr>
          <a:xfrm xmlns:a="http://schemas.openxmlformats.org/drawingml/2006/main">
            <a:off x="8172450" y="4419600"/>
            <a:ext cx="3543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Move between locations</a:t>
            </a:r>
          </a:p>
        </p:txBody>
      </p:sp>
      <p:sp>
        <p:nvSpPr>
          <p:cNvPr id="11" name="">
            <a:extLst xmlns:a="http://schemas.openxmlformats.org/drawingml/2006/main">
              <a:ext uri="{FF2B5EF4-FFF2-40B4-BE49-F238E27FC236}">
                <a16:creationId xmlns:a16="http://schemas.microsoft.com/office/drawing/2014/main" id="{F81A75CC-F614-463B-9181-F44242122957}"/>
              </a:ext>
            </a:extLst>
          </p:cNvPr>
          <p:cNvSpPr>
            <a:spLocks xmlns:a="http://schemas.openxmlformats.org/drawingml/2006/main" noGrp="1"/>
          </p:cNvSpPr>
          <p:nvPr/>
        </p:nvSpPr>
        <p:spPr>
          <a:xfrm xmlns:a="http://schemas.openxmlformats.org/drawingml/2006/main">
            <a:off x="8172450" y="5314950"/>
            <a:ext cx="3543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Pick up, transfer and place.</a:t>
            </a:r>
          </a:p>
        </p:txBody>
      </p:sp>
      <p:sp>
        <p:nvSpPr>
          <p:cNvPr id="12" name="">
            <a:extLst xmlns:a="http://schemas.openxmlformats.org/drawingml/2006/main">
              <a:ext uri="{FF2B5EF4-FFF2-40B4-BE49-F238E27FC236}">
                <a16:creationId xmlns:a16="http://schemas.microsoft.com/office/drawing/2014/main" id="{D36F9637-AC70-4FA2-A6E5-4B1845D51DFC}"/>
              </a:ext>
            </a:extLst>
          </p:cNvPr>
          <p:cNvSpPr>
            <a:spLocks xmlns:a="http://schemas.openxmlformats.org/drawingml/2006/main" noGrp="1"/>
          </p:cNvSpPr>
          <p:nvPr/>
        </p:nvSpPr>
        <p:spPr>
          <a:xfrm xmlns:a="http://schemas.openxmlformats.org/drawingml/2006/main">
            <a:off x="552450" y="63055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My approach: choose and test the method that fits the job.</a:t>
            </a:r>
          </a:p>
        </p:txBody>
      </p:sp>
    </p:spTree>
    <p:extLst>
      <p:ext uri="{BB962C8B-B14F-4D97-AF65-F5344CB8AC3E}">
        <p14:creationId xmlns:p14="http://schemas.microsoft.com/office/powerpoint/2010/main" val="354172968"/>
      </p:ext>
    </p:extLst>
  </p:cSld>
</p:sld>
</file>

<file path=ppt/slides/slide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992AC73-4302-4EB2-8DB2-D47CB5865707}"/>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Innovation and knowledge I contribute</a:t>
            </a:r>
          </a:p>
        </p:txBody>
      </p:sp>
      <p:sp>
        <p:nvSpPr>
          <p:cNvPr id="2" name="">
            <a:extLst xmlns:a="http://schemas.openxmlformats.org/drawingml/2006/main">
              <a:ext uri="{FF2B5EF4-FFF2-40B4-BE49-F238E27FC236}">
                <a16:creationId xmlns:a16="http://schemas.microsoft.com/office/drawing/2014/main" id="{927E3E09-AA74-4523-80D2-2F11A3C87212}"/>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E1E3D7F9-6D56-4AAF-A2B4-A5A77CB084F4}"/>
              </a:ext>
            </a:extLst>
          </p:cNvPr>
          <p:cNvSpPr>
            <a:spLocks xmlns:a="http://schemas.openxmlformats.org/drawingml/2006/main" noGrp="1"/>
          </p:cNvSpPr>
          <p:nvPr/>
        </p:nvSpPr>
        <p:spPr>
          <a:xfrm xmlns:a="http://schemas.openxmlformats.org/drawingml/2006/main">
            <a:off x="552450" y="16859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ans"/>
                <a:ea typeface="DejaVu Sans"/>
                <a:cs typeface="DejaVu Sans"/>
              </a:defRPr>
            </a:defPPr>
          </a:lstStyle>
          <a:p xmlns:a="http://schemas.openxmlformats.org/drawingml/2006/main">
            <a:pPr>
              <a:defRPr sz="2475" b="1">
                <a:solidFill>
                  <a:srgbClr val="304DD9"/>
                </a:solidFill>
                <a:latin typeface="DejaVu Sans"/>
                <a:ea typeface="DejaVu Sans"/>
                <a:cs typeface="DejaVu Sans"/>
              </a:defRPr>
            </a:pPr>
            <a:r>
              <a:rPr sz="2475" b="1">
                <a:solidFill>
                  <a:srgbClr val="304DD9"/>
                </a:solidFill>
                <a:latin typeface="DejaVu Sans"/>
                <a:ea typeface="DejaVu Sans"/>
                <a:cs typeface="DejaVu Sans"/>
              </a:rPr>
              <a:t>PATENTS</a:t>
            </a:r>
          </a:p>
        </p:txBody>
      </p:sp>
      <p:sp>
        <p:nvSpPr>
          <p:cNvPr id="4" name="">
            <a:extLst xmlns:a="http://schemas.openxmlformats.org/drawingml/2006/main">
              <a:ext uri="{FF2B5EF4-FFF2-40B4-BE49-F238E27FC236}">
                <a16:creationId xmlns:a16="http://schemas.microsoft.com/office/drawing/2014/main" id="{12DA18C3-96E4-4B5D-9340-6889A0AC76FA}"/>
              </a:ext>
            </a:extLst>
          </p:cNvPr>
          <p:cNvSpPr>
            <a:spLocks xmlns:a="http://schemas.openxmlformats.org/drawingml/2006/main" noGrp="1"/>
          </p:cNvSpPr>
          <p:nvPr/>
        </p:nvSpPr>
        <p:spPr>
          <a:xfrm xmlns:a="http://schemas.openxmlformats.org/drawingml/2006/main">
            <a:off x="552450" y="2676525"/>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744"/>
                </a:solidFill>
                <a:latin typeface="DejaVu Sans"/>
                <a:ea typeface="DejaVu Sans"/>
                <a:cs typeface="DejaVu Sans"/>
              </a:defRPr>
            </a:defPPr>
          </a:lstStyle>
          <a:p xmlns:a="http://schemas.openxmlformats.org/drawingml/2006/main">
            <a:pPr>
              <a:defRPr sz="2175" b="1">
                <a:solidFill>
                  <a:srgbClr val="172744"/>
                </a:solidFill>
                <a:latin typeface="DejaVu Sans"/>
                <a:ea typeface="DejaVu Sans"/>
                <a:cs typeface="DejaVu Sans"/>
              </a:defRPr>
            </a:pPr>
            <a:r>
              <a:rPr sz="2175" b="1">
                <a:solidFill>
                  <a:srgbClr val="172744"/>
                </a:solidFill>
                <a:latin typeface="DejaVu Sans"/>
                <a:ea typeface="DejaVu Sans"/>
                <a:cs typeface="DejaVu Sans"/>
              </a:rPr>
              <a:t>[Patent title]</a:t>
            </a:r>
          </a:p>
        </p:txBody>
      </p:sp>
      <p:sp>
        <p:nvSpPr>
          <p:cNvPr id="5" name="">
            <a:extLst xmlns:a="http://schemas.openxmlformats.org/drawingml/2006/main">
              <a:ext uri="{FF2B5EF4-FFF2-40B4-BE49-F238E27FC236}">
                <a16:creationId xmlns:a16="http://schemas.microsoft.com/office/drawing/2014/main" id="{C6B1B191-CABA-4783-89EB-7D7E94F7E2B0}"/>
              </a:ext>
            </a:extLst>
          </p:cNvPr>
          <p:cNvSpPr>
            <a:spLocks xmlns:a="http://schemas.openxmlformats.org/drawingml/2006/main" noGrp="1"/>
          </p:cNvSpPr>
          <p:nvPr/>
        </p:nvSpPr>
        <p:spPr>
          <a:xfrm xmlns:a="http://schemas.openxmlformats.org/drawingml/2006/main">
            <a:off x="552450" y="3867150"/>
            <a:ext cx="3476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C6777"/>
                </a:solidFill>
                <a:latin typeface="DejaVu Sans"/>
                <a:ea typeface="DejaVu Sans"/>
                <a:cs typeface="DejaVu Sans"/>
              </a:defRPr>
            </a:defPPr>
          </a:lstStyle>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[My contribution]</a:t>
            </a:r>
          </a:p>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[Filed / published / granted status]</a:t>
            </a:r>
          </a:p>
        </p:txBody>
      </p:sp>
      <p:sp>
        <p:nvSpPr>
          <p:cNvPr id="6" name="">
            <a:extLst xmlns:a="http://schemas.openxmlformats.org/drawingml/2006/main">
              <a:ext uri="{FF2B5EF4-FFF2-40B4-BE49-F238E27FC236}">
                <a16:creationId xmlns:a16="http://schemas.microsoft.com/office/drawing/2014/main" id="{E98CE7AC-A42B-4C0D-B05B-C31177933A86}"/>
              </a:ext>
            </a:extLst>
          </p:cNvPr>
          <p:cNvSpPr>
            <a:spLocks xmlns:a="http://schemas.openxmlformats.org/drawingml/2006/main" noGrp="1"/>
          </p:cNvSpPr>
          <p:nvPr/>
        </p:nvSpPr>
        <p:spPr>
          <a:xfrm xmlns:a="http://schemas.openxmlformats.org/drawingml/2006/main">
            <a:off x="4362450" y="16859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ans"/>
                <a:ea typeface="DejaVu Sans"/>
                <a:cs typeface="DejaVu Sans"/>
              </a:defRPr>
            </a:defPPr>
          </a:lstStyle>
          <a:p xmlns:a="http://schemas.openxmlformats.org/drawingml/2006/main">
            <a:pPr>
              <a:defRPr sz="2475" b="1">
                <a:solidFill>
                  <a:srgbClr val="304DD9"/>
                </a:solidFill>
                <a:latin typeface="DejaVu Sans"/>
                <a:ea typeface="DejaVu Sans"/>
                <a:cs typeface="DejaVu Sans"/>
              </a:defRPr>
            </a:pPr>
            <a:r>
              <a:rPr sz="2475" b="1">
                <a:solidFill>
                  <a:srgbClr val="304DD9"/>
                </a:solidFill>
                <a:latin typeface="DejaVu Sans"/>
                <a:ea typeface="DejaVu Sans"/>
                <a:cs typeface="DejaVu Sans"/>
              </a:rPr>
              <a:t>IDDs</a:t>
            </a:r>
          </a:p>
        </p:txBody>
      </p:sp>
      <p:sp>
        <p:nvSpPr>
          <p:cNvPr id="7" name="">
            <a:extLst xmlns:a="http://schemas.openxmlformats.org/drawingml/2006/main">
              <a:ext uri="{FF2B5EF4-FFF2-40B4-BE49-F238E27FC236}">
                <a16:creationId xmlns:a16="http://schemas.microsoft.com/office/drawing/2014/main" id="{D584A9F9-AB4D-4CA5-A97C-9AF70C79C6DE}"/>
              </a:ext>
            </a:extLst>
          </p:cNvPr>
          <p:cNvSpPr>
            <a:spLocks xmlns:a="http://schemas.openxmlformats.org/drawingml/2006/main" noGrp="1"/>
          </p:cNvSpPr>
          <p:nvPr/>
        </p:nvSpPr>
        <p:spPr>
          <a:xfrm xmlns:a="http://schemas.openxmlformats.org/drawingml/2006/main">
            <a:off x="4362450" y="2676525"/>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744"/>
                </a:solidFill>
                <a:latin typeface="DejaVu Sans"/>
                <a:ea typeface="DejaVu Sans"/>
                <a:cs typeface="DejaVu Sans"/>
              </a:defRPr>
            </a:defPPr>
          </a:lstStyle>
          <a:p xmlns:a="http://schemas.openxmlformats.org/drawingml/2006/main">
            <a:pPr>
              <a:defRPr sz="2175" b="1">
                <a:solidFill>
                  <a:srgbClr val="172744"/>
                </a:solidFill>
                <a:latin typeface="DejaVu Sans"/>
                <a:ea typeface="DejaVu Sans"/>
                <a:cs typeface="DejaVu Sans"/>
              </a:defRPr>
            </a:pPr>
            <a:r>
              <a:rPr sz="2175" b="1">
                <a:solidFill>
                  <a:srgbClr val="172744"/>
                </a:solidFill>
                <a:latin typeface="DejaVu Sans"/>
                <a:ea typeface="DejaVu Sans"/>
                <a:cs typeface="DejaVu Sans"/>
              </a:rPr>
              <a:t>[IDD title]</a:t>
            </a:r>
          </a:p>
        </p:txBody>
      </p:sp>
      <p:sp>
        <p:nvSpPr>
          <p:cNvPr id="8" name="">
            <a:extLst xmlns:a="http://schemas.openxmlformats.org/drawingml/2006/main">
              <a:ext uri="{FF2B5EF4-FFF2-40B4-BE49-F238E27FC236}">
                <a16:creationId xmlns:a16="http://schemas.microsoft.com/office/drawing/2014/main" id="{B946D3F4-4DE2-42B3-9E99-B5F058A9CEA9}"/>
              </a:ext>
            </a:extLst>
          </p:cNvPr>
          <p:cNvSpPr>
            <a:spLocks xmlns:a="http://schemas.openxmlformats.org/drawingml/2006/main" noGrp="1"/>
          </p:cNvSpPr>
          <p:nvPr/>
        </p:nvSpPr>
        <p:spPr>
          <a:xfrm xmlns:a="http://schemas.openxmlformats.org/drawingml/2006/main">
            <a:off x="4362450" y="3867150"/>
            <a:ext cx="3476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C6777"/>
                </a:solidFill>
                <a:latin typeface="DejaVu Sans"/>
                <a:ea typeface="DejaVu Sans"/>
                <a:cs typeface="DejaVu Sans"/>
              </a:defRPr>
            </a:defPPr>
          </a:lstStyle>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[My contribution]</a:t>
            </a:r>
          </a:p>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[Submitted / accepted status]</a:t>
            </a:r>
          </a:p>
        </p:txBody>
      </p:sp>
      <p:sp>
        <p:nvSpPr>
          <p:cNvPr id="9" name="">
            <a:extLst xmlns:a="http://schemas.openxmlformats.org/drawingml/2006/main">
              <a:ext uri="{FF2B5EF4-FFF2-40B4-BE49-F238E27FC236}">
                <a16:creationId xmlns:a16="http://schemas.microsoft.com/office/drawing/2014/main" id="{A5543F9E-106E-4E54-90DA-3A2F90ACDD87}"/>
              </a:ext>
            </a:extLst>
          </p:cNvPr>
          <p:cNvSpPr>
            <a:spLocks xmlns:a="http://schemas.openxmlformats.org/drawingml/2006/main" noGrp="1"/>
          </p:cNvSpPr>
          <p:nvPr/>
        </p:nvSpPr>
        <p:spPr>
          <a:xfrm xmlns:a="http://schemas.openxmlformats.org/drawingml/2006/main">
            <a:off x="8172450" y="16859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ans"/>
                <a:ea typeface="DejaVu Sans"/>
                <a:cs typeface="DejaVu Sans"/>
              </a:defRPr>
            </a:defPPr>
          </a:lstStyle>
          <a:p xmlns:a="http://schemas.openxmlformats.org/drawingml/2006/main">
            <a:pPr>
              <a:defRPr sz="2475" b="1">
                <a:solidFill>
                  <a:srgbClr val="304DD9"/>
                </a:solidFill>
                <a:latin typeface="DejaVu Sans"/>
                <a:ea typeface="DejaVu Sans"/>
                <a:cs typeface="DejaVu Sans"/>
              </a:defRPr>
            </a:pPr>
            <a:r>
              <a:rPr sz="2475" b="1">
                <a:solidFill>
                  <a:srgbClr val="304DD9"/>
                </a:solidFill>
                <a:latin typeface="DejaVu Sans"/>
                <a:ea typeface="DejaVu Sans"/>
                <a:cs typeface="DejaVu Sans"/>
              </a:rPr>
              <a:t>WHITE PAPER</a:t>
            </a:r>
          </a:p>
        </p:txBody>
      </p:sp>
      <p:sp>
        <p:nvSpPr>
          <p:cNvPr id="10" name="">
            <a:extLst xmlns:a="http://schemas.openxmlformats.org/drawingml/2006/main">
              <a:ext uri="{FF2B5EF4-FFF2-40B4-BE49-F238E27FC236}">
                <a16:creationId xmlns:a16="http://schemas.microsoft.com/office/drawing/2014/main" id="{37C2C32F-AF71-47E1-8F89-26F3B68CE48A}"/>
              </a:ext>
            </a:extLst>
          </p:cNvPr>
          <p:cNvSpPr>
            <a:spLocks xmlns:a="http://schemas.openxmlformats.org/drawingml/2006/main" noGrp="1"/>
          </p:cNvSpPr>
          <p:nvPr/>
        </p:nvSpPr>
        <p:spPr>
          <a:xfrm xmlns:a="http://schemas.openxmlformats.org/drawingml/2006/main">
            <a:off x="8172450" y="2676525"/>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744"/>
                </a:solidFill>
                <a:latin typeface="DejaVu Sans"/>
                <a:ea typeface="DejaVu Sans"/>
                <a:cs typeface="DejaVu Sans"/>
              </a:defRPr>
            </a:defPPr>
          </a:lstStyle>
          <a:p xmlns:a="http://schemas.openxmlformats.org/drawingml/2006/main">
            <a:pPr>
              <a:defRPr sz="2175" b="1">
                <a:solidFill>
                  <a:srgbClr val="172744"/>
                </a:solidFill>
                <a:latin typeface="DejaVu Sans"/>
                <a:ea typeface="DejaVu Sans"/>
                <a:cs typeface="DejaVu Sans"/>
              </a:defRPr>
            </a:pPr>
            <a:r>
              <a:rPr sz="2175" b="1">
                <a:solidFill>
                  <a:srgbClr val="172744"/>
                </a:solidFill>
                <a:latin typeface="DejaVu Sans"/>
                <a:ea typeface="DejaVu Sans"/>
                <a:cs typeface="DejaVu Sans"/>
              </a:rPr>
              <a:t>Published white paper</a:t>
            </a:r>
          </a:p>
        </p:txBody>
      </p:sp>
      <p:sp>
        <p:nvSpPr>
          <p:cNvPr id="11" name="">
            <a:extLst xmlns:a="http://schemas.openxmlformats.org/drawingml/2006/main">
              <a:ext uri="{FF2B5EF4-FFF2-40B4-BE49-F238E27FC236}">
                <a16:creationId xmlns:a16="http://schemas.microsoft.com/office/drawing/2014/main" id="{B177BB59-1281-472E-BF8D-726A61BD7FBA}"/>
              </a:ext>
            </a:extLst>
          </p:cNvPr>
          <p:cNvSpPr>
            <a:spLocks xmlns:a="http://schemas.openxmlformats.org/drawingml/2006/main" noGrp="1"/>
          </p:cNvSpPr>
          <p:nvPr/>
        </p:nvSpPr>
        <p:spPr>
          <a:xfrm xmlns:a="http://schemas.openxmlformats.org/drawingml/2006/main">
            <a:off x="8172450" y="3867150"/>
            <a:ext cx="3476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C6777"/>
                </a:solidFill>
                <a:latin typeface="DejaVu Sans"/>
                <a:ea typeface="DejaVu Sans"/>
                <a:cs typeface="DejaVu Sans"/>
              </a:defRPr>
            </a:defPPr>
          </a:lstStyle>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[Paper title and publication date]</a:t>
            </a:r>
          </a:p>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[My contribution / co-authors]</a:t>
            </a:r>
          </a:p>
        </p:txBody>
      </p:sp>
      <p:sp>
        <p:nvSpPr>
          <p:cNvPr id="12" name="">
            <a:extLst xmlns:a="http://schemas.openxmlformats.org/drawingml/2006/main">
              <a:ext uri="{FF2B5EF4-FFF2-40B4-BE49-F238E27FC236}">
                <a16:creationId xmlns:a16="http://schemas.microsoft.com/office/drawing/2014/main" id="{8CB05CED-ECA5-417D-B6E6-EF1ADAE527DA}"/>
              </a:ext>
            </a:extLst>
          </p:cNvPr>
          <p:cNvSpPr>
            <a:spLocks xmlns:a="http://schemas.openxmlformats.org/drawingml/2006/main" noGrp="1"/>
          </p:cNvSpPr>
          <p:nvPr/>
        </p:nvSpPr>
        <p:spPr>
          <a:xfrm xmlns:a="http://schemas.openxmlformats.org/drawingml/2006/main">
            <a:off x="552450" y="55340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304DD9"/>
                </a:solidFill>
                <a:latin typeface="DejaVu Sans"/>
                <a:ea typeface="DejaVu Sans"/>
                <a:cs typeface="DejaVu Sans"/>
              </a:defRPr>
            </a:defPPr>
          </a:lstStyle>
          <a:p xmlns:a="http://schemas.openxmlformats.org/drawingml/2006/main">
            <a:pPr>
              <a:defRPr sz="1725" b="0">
                <a:solidFill>
                  <a:srgbClr val="304DD9"/>
                </a:solidFill>
                <a:latin typeface="DejaVu Sans"/>
                <a:ea typeface="DejaVu Sans"/>
                <a:cs typeface="DejaVu Sans"/>
              </a:defRPr>
            </a:pPr>
            <a:r>
              <a:rPr sz="1725" b="0">
                <a:solidFill>
                  <a:srgbClr val="304DD9"/>
                </a:solidFill>
                <a:latin typeface="DejaVu Sans"/>
                <a:ea typeface="DejaVu Sans"/>
                <a:cs typeface="DejaVu Sans"/>
              </a:rPr>
              <a:t>[Add one sentence on the technical idea and its value to Airbus for each contribution.]</a:t>
            </a:r>
          </a:p>
        </p:txBody>
      </p:sp>
    </p:spTree>
    <p:extLst>
      <p:ext uri="{BB962C8B-B14F-4D97-AF65-F5344CB8AC3E}">
        <p14:creationId xmlns:p14="http://schemas.microsoft.com/office/powerpoint/2010/main" val="391575220"/>
      </p:ext>
    </p:extLst>
  </p:cSld>
</p:sld>
</file>

<file path=ppt/slides/slide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A5CC15-9AFF-4D43-9972-FC8D9FA8C94F}"/>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network connects needs, research and delivery</a:t>
            </a:r>
          </a:p>
        </p:txBody>
      </p:sp>
      <p:sp>
        <p:nvSpPr>
          <p:cNvPr id="2" name="">
            <a:extLst xmlns:a="http://schemas.openxmlformats.org/drawingml/2006/main">
              <a:ext uri="{FF2B5EF4-FFF2-40B4-BE49-F238E27FC236}">
                <a16:creationId xmlns:a16="http://schemas.microsoft.com/office/drawing/2014/main" id="{0D41103D-02EC-467E-A17E-FA3920E2C921}"/>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09</a:t>
            </a:r>
          </a:p>
        </p:txBody>
      </p:sp>
      <p:pic>
        <p:nvPicPr>
          <p:cNvPr id="3" name="">
            <a:extLst xmlns:a="http://schemas.openxmlformats.org/drawingml/2006/main">
              <a:ext uri="{FF2B5EF4-FFF2-40B4-BE49-F238E27FC236}">
                <a16:creationId xmlns:a16="http://schemas.microsoft.com/office/drawing/2014/main" id="{43B6CA6B-5390-45FB-BC83-61F3B0349218}"/>
              </a:ext>
            </a:extLst>
          </p:cNvPr>
          <p:cNvPicPr>
            <a:picLocks xmlns:a="http://schemas.openxmlformats.org/drawingml/2006/main" noChangeAspect="1"/>
          </p:cNvPicPr>
          <p:nvPr/>
        </p:nvPicPr>
        <p:blipFill>
          <a:blip xmlns:r="http://schemas.openxmlformats.org/officeDocument/2006/relationships" xmlns:a="http://schemas.openxmlformats.org/drawingml/2006/main" r:embed="R804b5ea8773e41d1"/>
          <a:srcRect xmlns:a="http://schemas.openxmlformats.org/drawingml/2006/main" l="0" t="29321" r="0" b="29321"/>
          <a:stretch xmlns:a="http://schemas.openxmlformats.org/drawingml/2006/main">
            <a:fillRect l="0" t="0" r="0" b="0"/>
          </a:stretch>
        </p:blipFill>
        <p:spPr>
          <a:xfrm xmlns:a="http://schemas.openxmlformats.org/drawingml/2006/main">
            <a:off x="552450" y="1285875"/>
            <a:ext cx="11049000" cy="2571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D5DA4F8-3CAE-4327-800E-BE7BCA666BF0}"/>
              </a:ext>
            </a:extLst>
          </p:cNvPr>
          <p:cNvSpPr>
            <a:spLocks xmlns:a="http://schemas.openxmlformats.org/drawingml/2006/main" noGrp="1"/>
          </p:cNvSpPr>
          <p:nvPr/>
        </p:nvSpPr>
        <p:spPr>
          <a:xfrm xmlns:a="http://schemas.openxmlformats.org/drawingml/2006/main">
            <a:off x="552450" y="39814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Application teams</a:t>
            </a:r>
          </a:p>
        </p:txBody>
      </p:sp>
      <p:sp>
        <p:nvSpPr>
          <p:cNvPr id="5" name="">
            <a:extLst xmlns:a="http://schemas.openxmlformats.org/drawingml/2006/main">
              <a:ext uri="{FF2B5EF4-FFF2-40B4-BE49-F238E27FC236}">
                <a16:creationId xmlns:a16="http://schemas.microsoft.com/office/drawing/2014/main" id="{BF7C063C-FEA5-4F69-A664-B06DE2C29A24}"/>
              </a:ext>
            </a:extLst>
          </p:cNvPr>
          <p:cNvSpPr>
            <a:spLocks xmlns:a="http://schemas.openxmlformats.org/drawingml/2006/main" noGrp="1"/>
          </p:cNvSpPr>
          <p:nvPr/>
        </p:nvSpPr>
        <p:spPr>
          <a:xfrm xmlns:a="http://schemas.openxmlformats.org/drawingml/2006/main">
            <a:off x="552450" y="4495800"/>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Manufacturing and inspection needs</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What needs checking and how accurately</a:t>
            </a:r>
          </a:p>
        </p:txBody>
      </p:sp>
      <p:sp>
        <p:nvSpPr>
          <p:cNvPr id="6" name="">
            <a:extLst xmlns:a="http://schemas.openxmlformats.org/drawingml/2006/main">
              <a:ext uri="{FF2B5EF4-FFF2-40B4-BE49-F238E27FC236}">
                <a16:creationId xmlns:a16="http://schemas.microsoft.com/office/drawing/2014/main" id="{7648BC33-0784-4BB6-A7A8-B304B41D7F2E}"/>
              </a:ext>
            </a:extLst>
          </p:cNvPr>
          <p:cNvSpPr>
            <a:spLocks xmlns:a="http://schemas.openxmlformats.org/drawingml/2006/main" noGrp="1"/>
          </p:cNvSpPr>
          <p:nvPr/>
        </p:nvSpPr>
        <p:spPr>
          <a:xfrm xmlns:a="http://schemas.openxmlformats.org/drawingml/2006/main">
            <a:off x="4362450" y="39814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Integration teams</a:t>
            </a:r>
          </a:p>
        </p:txBody>
      </p:sp>
      <p:sp>
        <p:nvSpPr>
          <p:cNvPr id="7" name="">
            <a:extLst xmlns:a="http://schemas.openxmlformats.org/drawingml/2006/main">
              <a:ext uri="{FF2B5EF4-FFF2-40B4-BE49-F238E27FC236}">
                <a16:creationId xmlns:a16="http://schemas.microsoft.com/office/drawing/2014/main" id="{E4F4F5EF-B066-4458-91E2-F45992CF5EE7}"/>
              </a:ext>
            </a:extLst>
          </p:cNvPr>
          <p:cNvSpPr>
            <a:spLocks xmlns:a="http://schemas.openxmlformats.org/drawingml/2006/main" noGrp="1"/>
          </p:cNvSpPr>
          <p:nvPr/>
        </p:nvSpPr>
        <p:spPr>
          <a:xfrm xmlns:a="http://schemas.openxmlformats.org/drawingml/2006/main">
            <a:off x="4362450" y="4495800"/>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Connect software to the robot</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Make the components work together</a:t>
            </a:r>
          </a:p>
        </p:txBody>
      </p:sp>
      <p:sp>
        <p:nvSpPr>
          <p:cNvPr id="8" name="">
            <a:extLst xmlns:a="http://schemas.openxmlformats.org/drawingml/2006/main">
              <a:ext uri="{FF2B5EF4-FFF2-40B4-BE49-F238E27FC236}">
                <a16:creationId xmlns:a16="http://schemas.microsoft.com/office/drawing/2014/main" id="{E9D9FDE9-2519-43B9-92AD-C53A79CDC36D}"/>
              </a:ext>
            </a:extLst>
          </p:cNvPr>
          <p:cNvSpPr>
            <a:spLocks xmlns:a="http://schemas.openxmlformats.org/drawingml/2006/main" noGrp="1"/>
          </p:cNvSpPr>
          <p:nvPr/>
        </p:nvSpPr>
        <p:spPr>
          <a:xfrm xmlns:a="http://schemas.openxmlformats.org/drawingml/2006/main">
            <a:off x="8172450" y="39814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Research partners</a:t>
            </a:r>
          </a:p>
        </p:txBody>
      </p:sp>
      <p:sp>
        <p:nvSpPr>
          <p:cNvPr id="9" name="">
            <a:extLst xmlns:a="http://schemas.openxmlformats.org/drawingml/2006/main">
              <a:ext uri="{FF2B5EF4-FFF2-40B4-BE49-F238E27FC236}">
                <a16:creationId xmlns:a16="http://schemas.microsoft.com/office/drawing/2014/main" id="{2E11D077-AC58-4FCE-B9D4-7AFE16F7D90F}"/>
              </a:ext>
            </a:extLst>
          </p:cNvPr>
          <p:cNvSpPr>
            <a:spLocks xmlns:a="http://schemas.openxmlformats.org/drawingml/2006/main" noGrp="1"/>
          </p:cNvSpPr>
          <p:nvPr/>
        </p:nvSpPr>
        <p:spPr>
          <a:xfrm xmlns:a="http://schemas.openxmlformats.org/drawingml/2006/main">
            <a:off x="8172450" y="4495800"/>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LAAS and IRT Jules Verne</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Explore and compare ways to move</a:t>
            </a:r>
          </a:p>
        </p:txBody>
      </p:sp>
      <p:sp>
        <p:nvSpPr>
          <p:cNvPr id="10" name="">
            <a:extLst xmlns:a="http://schemas.openxmlformats.org/drawingml/2006/main">
              <a:ext uri="{FF2B5EF4-FFF2-40B4-BE49-F238E27FC236}">
                <a16:creationId xmlns:a16="http://schemas.microsoft.com/office/drawing/2014/main" id="{6B188A99-322A-4FE0-91EE-68C7D5616326}"/>
              </a:ext>
            </a:extLst>
          </p:cNvPr>
          <p:cNvSpPr>
            <a:spLocks xmlns:a="http://schemas.openxmlformats.org/drawingml/2006/main" noGrp="1"/>
          </p:cNvSpPr>
          <p:nvPr/>
        </p:nvSpPr>
        <p:spPr>
          <a:xfrm xmlns:a="http://schemas.openxmlformats.org/drawingml/2006/main">
            <a:off x="552450" y="59436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How I influence: clarify requirements, compare approaches and share decisions.</a:t>
            </a:r>
          </a:p>
        </p:txBody>
      </p:sp>
    </p:spTree>
    <p:extLst>
      <p:ext uri="{BB962C8B-B14F-4D97-AF65-F5344CB8AC3E}">
        <p14:creationId xmlns:p14="http://schemas.microsoft.com/office/powerpoint/2010/main" val="291568934"/>
      </p:ext>
    </p:extLst>
  </p:cSld>
</p:sld>
</file>

<file path=ppt/slides/slide10.xml><?xml version="1.0" encoding="utf-8"?>
<p:sld xmlns:p="http://schemas.openxmlformats.org/presentationml/2006/main">
  <p:cSld>
    <p:bg>
      <p:bgPr>
        <a:solidFill xmlns:a="http://schemas.openxmlformats.org/drawingml/2006/main">
          <a:srgbClr val="17274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F471CD6-CAFE-4DD4-9CE3-4332A005FDFA}"/>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FFFFFF"/>
                </a:solidFill>
                <a:latin typeface="DejaVu Serif"/>
                <a:ea typeface="DejaVu Serif"/>
                <a:cs typeface="DejaVu Serif"/>
              </a:defRPr>
            </a:defPPr>
          </a:lstStyle>
          <a:p xmlns:a="http://schemas.openxmlformats.org/drawingml/2006/main">
            <a:pPr>
              <a:defRPr sz="3000" b="1">
                <a:solidFill>
                  <a:srgbClr val="FFFFFF"/>
                </a:solidFill>
                <a:latin typeface="DejaVu Serif"/>
                <a:ea typeface="DejaVu Serif"/>
                <a:cs typeface="DejaVu Serif"/>
              </a:defRPr>
            </a:pPr>
            <a:r>
              <a:rPr sz="3000" b="1">
                <a:solidFill>
                  <a:srgbClr val="FFFFFF"/>
                </a:solidFill>
                <a:latin typeface="DejaVu Serif"/>
                <a:ea typeface="DejaVu Serif"/>
                <a:cs typeface="DejaVu Serif"/>
              </a:rPr>
              <a:t>What manufacturing needs from robot motion</a:t>
            </a:r>
          </a:p>
        </p:txBody>
      </p:sp>
      <p:sp>
        <p:nvSpPr>
          <p:cNvPr id="2" name="">
            <a:extLst xmlns:a="http://schemas.openxmlformats.org/drawingml/2006/main">
              <a:ext uri="{FF2B5EF4-FFF2-40B4-BE49-F238E27FC236}">
                <a16:creationId xmlns:a16="http://schemas.microsoft.com/office/drawing/2014/main" id="{D3A88C81-E787-4D00-9CF0-DF0CDE557659}"/>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C7D4F0"/>
                </a:solidFill>
                <a:latin typeface="DejaVu Sans"/>
                <a:ea typeface="DejaVu Sans"/>
                <a:cs typeface="DejaVu Sans"/>
              </a:defRPr>
            </a:defPPr>
          </a:lstStyle>
          <a:p xmlns:a="http://schemas.openxmlformats.org/drawingml/2006/main">
            <a:pPr>
              <a:defRPr sz="1125" b="0">
                <a:solidFill>
                  <a:srgbClr val="C7D4F0"/>
                </a:solidFill>
                <a:latin typeface="DejaVu Sans"/>
                <a:ea typeface="DejaVu Sans"/>
                <a:cs typeface="DejaVu Sans"/>
              </a:defRPr>
            </a:pPr>
            <a:r>
              <a:rPr sz="1125" b="0">
                <a:solidFill>
                  <a:srgbClr val="C7D4F0"/>
                </a:solidFill>
                <a:latin typeface="DejaVu Sans"/>
                <a:ea typeface="DejaVu Sans"/>
                <a:cs typeface="DejaVu Sans"/>
              </a:rPr>
              <a:t>10</a:t>
            </a:r>
          </a:p>
        </p:txBody>
      </p:sp>
      <p:pic>
        <p:nvPicPr>
          <p:cNvPr id="3" name="">
            <a:extLst xmlns:a="http://schemas.openxmlformats.org/drawingml/2006/main">
              <a:ext uri="{FF2B5EF4-FFF2-40B4-BE49-F238E27FC236}">
                <a16:creationId xmlns:a16="http://schemas.microsoft.com/office/drawing/2014/main" id="{041C1149-B908-4217-9A5B-57223614036E}"/>
              </a:ext>
            </a:extLst>
          </p:cNvPr>
          <p:cNvPicPr>
            <a:picLocks xmlns:a="http://schemas.openxmlformats.org/drawingml/2006/main" noChangeAspect="1"/>
          </p:cNvPicPr>
          <p:nvPr/>
        </p:nvPicPr>
        <p:blipFill>
          <a:blip xmlns:r="http://schemas.openxmlformats.org/officeDocument/2006/relationships" xmlns:a="http://schemas.openxmlformats.org/drawingml/2006/main" r:embed="R49a5d177fe414514"/>
          <a:srcRect xmlns:a="http://schemas.openxmlformats.org/drawingml/2006/main" l="0" t="15733" r="0" b="15733"/>
          <a:stretch xmlns:a="http://schemas.openxmlformats.org/drawingml/2006/main">
            <a:fillRect l="0" t="0" r="0" b="0"/>
          </a:stretch>
        </p:blipFill>
        <p:spPr>
          <a:xfrm xmlns:a="http://schemas.openxmlformats.org/drawingml/2006/main">
            <a:off x="552450" y="1381125"/>
            <a:ext cx="11049000" cy="2524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A58C32-56FE-40DF-8294-E049F04F3985}"/>
              </a:ext>
            </a:extLst>
          </p:cNvPr>
          <p:cNvSpPr>
            <a:spLocks xmlns:a="http://schemas.openxmlformats.org/drawingml/2006/main" noGrp="1"/>
          </p:cNvSpPr>
          <p:nvPr/>
        </p:nvSpPr>
        <p:spPr>
          <a:xfrm xmlns:a="http://schemas.openxmlformats.org/drawingml/2006/main">
            <a:off x="8382000" y="39243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B5C8FF"/>
                </a:solidFill>
                <a:latin typeface="DejaVu Sans"/>
                <a:ea typeface="DejaVu Sans"/>
                <a:cs typeface="DejaVu Sans"/>
              </a:defRPr>
            </a:defPPr>
          </a:lstStyle>
          <a:p xmlns:a="http://schemas.openxmlformats.org/drawingml/2006/main">
            <a:pPr>
              <a:defRPr sz="1050" b="0">
                <a:solidFill>
                  <a:srgbClr val="B5C8FF"/>
                </a:solidFill>
                <a:latin typeface="DejaVu Sans"/>
                <a:ea typeface="DejaVu Sans"/>
                <a:cs typeface="DejaVu Sans"/>
              </a:defRPr>
            </a:pPr>
            <a:r>
              <a:rPr sz="1050" b="0">
                <a:solidFill>
                  <a:srgbClr val="B5C8FF"/>
                </a:solidFill>
                <a:latin typeface="DejaVu Sans"/>
                <a:ea typeface="DejaVu Sans"/>
                <a:cs typeface="DejaVu Sans"/>
              </a:rPr>
              <a:t>Illustrative AI-generated scenes</a:t>
            </a:r>
          </a:p>
        </p:txBody>
      </p:sp>
      <p:sp>
        <p:nvSpPr>
          <p:cNvPr id="5" name="">
            <a:extLst xmlns:a="http://schemas.openxmlformats.org/drawingml/2006/main">
              <a:ext uri="{FF2B5EF4-FFF2-40B4-BE49-F238E27FC236}">
                <a16:creationId xmlns:a16="http://schemas.microsoft.com/office/drawing/2014/main" id="{18F8CC64-056D-4BEA-B6B1-C898EBA8706C}"/>
              </a:ext>
            </a:extLst>
          </p:cNvPr>
          <p:cNvSpPr>
            <a:spLocks xmlns:a="http://schemas.openxmlformats.org/drawingml/2006/main" noGrp="1"/>
          </p:cNvSpPr>
          <p:nvPr/>
        </p:nvSpPr>
        <p:spPr>
          <a:xfrm xmlns:a="http://schemas.openxmlformats.org/drawingml/2006/main">
            <a:off x="552450" y="4076700"/>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erif"/>
                <a:ea typeface="DejaVu Serif"/>
                <a:cs typeface="DejaVu Serif"/>
              </a:defRPr>
            </a:defPPr>
          </a:lstStyle>
          <a:p xmlns:a="http://schemas.openxmlformats.org/drawingml/2006/main">
            <a:pPr>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Less programming</a:t>
            </a:r>
          </a:p>
        </p:txBody>
      </p:sp>
      <p:sp>
        <p:nvSpPr>
          <p:cNvPr id="6" name="">
            <a:extLst xmlns:a="http://schemas.openxmlformats.org/drawingml/2006/main">
              <a:ext uri="{FF2B5EF4-FFF2-40B4-BE49-F238E27FC236}">
                <a16:creationId xmlns:a16="http://schemas.microsoft.com/office/drawing/2014/main" id="{2F3550E0-CAF5-4946-8D55-14437706BE47}"/>
              </a:ext>
            </a:extLst>
          </p:cNvPr>
          <p:cNvSpPr>
            <a:spLocks xmlns:a="http://schemas.openxmlformats.org/drawingml/2006/main" noGrp="1"/>
          </p:cNvSpPr>
          <p:nvPr/>
        </p:nvSpPr>
        <p:spPr>
          <a:xfrm xmlns:a="http://schemas.openxmlformats.org/drawingml/2006/main">
            <a:off x="552450" y="462915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Prepare paths for new parts more easily.</a:t>
            </a:r>
          </a:p>
        </p:txBody>
      </p:sp>
      <p:sp>
        <p:nvSpPr>
          <p:cNvPr id="7" name="">
            <a:extLst xmlns:a="http://schemas.openxmlformats.org/drawingml/2006/main">
              <a:ext uri="{FF2B5EF4-FFF2-40B4-BE49-F238E27FC236}">
                <a16:creationId xmlns:a16="http://schemas.microsoft.com/office/drawing/2014/main" id="{14191D1E-3FEC-4D73-B5D9-10ED6733BB20}"/>
              </a:ext>
            </a:extLst>
          </p:cNvPr>
          <p:cNvSpPr>
            <a:spLocks xmlns:a="http://schemas.openxmlformats.org/drawingml/2006/main" noGrp="1"/>
          </p:cNvSpPr>
          <p:nvPr/>
        </p:nvSpPr>
        <p:spPr>
          <a:xfrm xmlns:a="http://schemas.openxmlformats.org/drawingml/2006/main">
            <a:off x="552450" y="55054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B5C8FF"/>
                </a:solidFill>
                <a:latin typeface="DejaVu Sans"/>
                <a:ea typeface="DejaVu Sans"/>
                <a:cs typeface="DejaVu Sans"/>
              </a:defRPr>
            </a:defPPr>
          </a:lstStyle>
          <a:p xmlns:a="http://schemas.openxmlformats.org/drawingml/2006/main">
            <a:pPr>
              <a:defRPr sz="1500" b="0">
                <a:solidFill>
                  <a:srgbClr val="B5C8FF"/>
                </a:solidFill>
                <a:latin typeface="DejaVu Sans"/>
                <a:ea typeface="DejaVu Sans"/>
                <a:cs typeface="DejaVu Sans"/>
              </a:defRPr>
            </a:pPr>
            <a:r>
              <a:rPr sz="1500" b="0">
                <a:solidFill>
                  <a:srgbClr val="B5C8FF"/>
                </a:solidFill>
                <a:latin typeface="DejaVu Sans"/>
                <a:ea typeface="DejaVu Sans"/>
                <a:cs typeface="DejaVu Sans"/>
              </a:rPr>
              <a:t>Measure: preparation time and manual effort</a:t>
            </a:r>
          </a:p>
        </p:txBody>
      </p:sp>
      <p:sp>
        <p:nvSpPr>
          <p:cNvPr id="8" name="">
            <a:extLst xmlns:a="http://schemas.openxmlformats.org/drawingml/2006/main">
              <a:ext uri="{FF2B5EF4-FFF2-40B4-BE49-F238E27FC236}">
                <a16:creationId xmlns:a16="http://schemas.microsoft.com/office/drawing/2014/main" id="{04D98464-E1B3-4B0F-9DA8-85365AF47B1B}"/>
              </a:ext>
            </a:extLst>
          </p:cNvPr>
          <p:cNvSpPr>
            <a:spLocks xmlns:a="http://schemas.openxmlformats.org/drawingml/2006/main" noGrp="1"/>
          </p:cNvSpPr>
          <p:nvPr/>
        </p:nvSpPr>
        <p:spPr>
          <a:xfrm xmlns:a="http://schemas.openxmlformats.org/drawingml/2006/main">
            <a:off x="4362450" y="4076700"/>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erif"/>
                <a:ea typeface="DejaVu Serif"/>
                <a:cs typeface="DejaVu Serif"/>
              </a:defRPr>
            </a:defPPr>
          </a:lstStyle>
          <a:p xmlns:a="http://schemas.openxmlformats.org/drawingml/2006/main">
            <a:pPr>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Reliable execution</a:t>
            </a:r>
          </a:p>
        </p:txBody>
      </p:sp>
      <p:sp>
        <p:nvSpPr>
          <p:cNvPr id="9" name="">
            <a:extLst xmlns:a="http://schemas.openxmlformats.org/drawingml/2006/main">
              <a:ext uri="{FF2B5EF4-FFF2-40B4-BE49-F238E27FC236}">
                <a16:creationId xmlns:a16="http://schemas.microsoft.com/office/drawing/2014/main" id="{5492C539-AD7F-4C1C-9699-2D0CBD7BF0A7}"/>
              </a:ext>
            </a:extLst>
          </p:cNvPr>
          <p:cNvSpPr>
            <a:spLocks xmlns:a="http://schemas.openxmlformats.org/drawingml/2006/main" noGrp="1"/>
          </p:cNvSpPr>
          <p:nvPr/>
        </p:nvSpPr>
        <p:spPr>
          <a:xfrm xmlns:a="http://schemas.openxmlformats.org/drawingml/2006/main">
            <a:off x="4362450" y="462915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Move smoothly and meet process needs.</a:t>
            </a:r>
          </a:p>
        </p:txBody>
      </p:sp>
      <p:sp>
        <p:nvSpPr>
          <p:cNvPr id="10" name="">
            <a:extLst xmlns:a="http://schemas.openxmlformats.org/drawingml/2006/main">
              <a:ext uri="{FF2B5EF4-FFF2-40B4-BE49-F238E27FC236}">
                <a16:creationId xmlns:a16="http://schemas.microsoft.com/office/drawing/2014/main" id="{8F5F247F-A3DC-4509-9BDF-2CD0016D86AF}"/>
              </a:ext>
            </a:extLst>
          </p:cNvPr>
          <p:cNvSpPr>
            <a:spLocks xmlns:a="http://schemas.openxmlformats.org/drawingml/2006/main" noGrp="1"/>
          </p:cNvSpPr>
          <p:nvPr/>
        </p:nvSpPr>
        <p:spPr>
          <a:xfrm xmlns:a="http://schemas.openxmlformats.org/drawingml/2006/main">
            <a:off x="4362450" y="55054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B5C8FF"/>
                </a:solidFill>
                <a:latin typeface="DejaVu Sans"/>
                <a:ea typeface="DejaVu Sans"/>
                <a:cs typeface="DejaVu Sans"/>
              </a:defRPr>
            </a:defPPr>
          </a:lstStyle>
          <a:p xmlns:a="http://schemas.openxmlformats.org/drawingml/2006/main">
            <a:pPr>
              <a:defRPr sz="1500" b="0">
                <a:solidFill>
                  <a:srgbClr val="B5C8FF"/>
                </a:solidFill>
                <a:latin typeface="DejaVu Sans"/>
                <a:ea typeface="DejaVu Sans"/>
                <a:cs typeface="DejaVu Sans"/>
              </a:defRPr>
            </a:pPr>
            <a:r>
              <a:rPr sz="1500" b="0">
                <a:solidFill>
                  <a:srgbClr val="B5C8FF"/>
                </a:solidFill>
                <a:latin typeface="DejaVu Sans"/>
                <a:ea typeface="DejaVu Sans"/>
                <a:cs typeface="DejaVu Sans"/>
              </a:rPr>
              <a:t>Check: tool accuracy and complete coverage</a:t>
            </a:r>
          </a:p>
        </p:txBody>
      </p:sp>
      <p:sp>
        <p:nvSpPr>
          <p:cNvPr id="11" name="">
            <a:extLst xmlns:a="http://schemas.openxmlformats.org/drawingml/2006/main">
              <a:ext uri="{FF2B5EF4-FFF2-40B4-BE49-F238E27FC236}">
                <a16:creationId xmlns:a16="http://schemas.microsoft.com/office/drawing/2014/main" id="{51F394EC-D60D-4176-B36B-72B73B7AD589}"/>
              </a:ext>
            </a:extLst>
          </p:cNvPr>
          <p:cNvSpPr>
            <a:spLocks xmlns:a="http://schemas.openxmlformats.org/drawingml/2006/main" noGrp="1"/>
          </p:cNvSpPr>
          <p:nvPr/>
        </p:nvSpPr>
        <p:spPr>
          <a:xfrm xmlns:a="http://schemas.openxmlformats.org/drawingml/2006/main">
            <a:off x="8172450" y="4076700"/>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erif"/>
                <a:ea typeface="DejaVu Serif"/>
                <a:cs typeface="DejaVu Serif"/>
              </a:defRPr>
            </a:defPPr>
          </a:lstStyle>
          <a:p xmlns:a="http://schemas.openxmlformats.org/drawingml/2006/main">
            <a:pPr>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Reuse across robots</a:t>
            </a:r>
          </a:p>
        </p:txBody>
      </p:sp>
      <p:sp>
        <p:nvSpPr>
          <p:cNvPr id="12" name="">
            <a:extLst xmlns:a="http://schemas.openxmlformats.org/drawingml/2006/main">
              <a:ext uri="{FF2B5EF4-FFF2-40B4-BE49-F238E27FC236}">
                <a16:creationId xmlns:a16="http://schemas.microsoft.com/office/drawing/2014/main" id="{949DECAF-3AAF-4813-BBCF-8D640E0F04D5}"/>
              </a:ext>
            </a:extLst>
          </p:cNvPr>
          <p:cNvSpPr>
            <a:spLocks xmlns:a="http://schemas.openxmlformats.org/drawingml/2006/main" noGrp="1"/>
          </p:cNvSpPr>
          <p:nvPr/>
        </p:nvSpPr>
        <p:spPr>
          <a:xfrm xmlns:a="http://schemas.openxmlformats.org/drawingml/2006/main">
            <a:off x="8172450" y="462915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Reuse tested software with other robots.</a:t>
            </a:r>
          </a:p>
        </p:txBody>
      </p:sp>
      <p:sp>
        <p:nvSpPr>
          <p:cNvPr id="13" name="">
            <a:extLst xmlns:a="http://schemas.openxmlformats.org/drawingml/2006/main">
              <a:ext uri="{FF2B5EF4-FFF2-40B4-BE49-F238E27FC236}">
                <a16:creationId xmlns:a16="http://schemas.microsoft.com/office/drawing/2014/main" id="{BF9D32A0-8709-4C22-9052-F1FCD26E3588}"/>
              </a:ext>
            </a:extLst>
          </p:cNvPr>
          <p:cNvSpPr>
            <a:spLocks xmlns:a="http://schemas.openxmlformats.org/drawingml/2006/main" noGrp="1"/>
          </p:cNvSpPr>
          <p:nvPr/>
        </p:nvSpPr>
        <p:spPr>
          <a:xfrm xmlns:a="http://schemas.openxmlformats.org/drawingml/2006/main">
            <a:off x="8172450" y="55054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B5C8FF"/>
                </a:solidFill>
                <a:latin typeface="DejaVu Sans"/>
                <a:ea typeface="DejaVu Sans"/>
                <a:cs typeface="DejaVu Sans"/>
              </a:defRPr>
            </a:defPPr>
          </a:lstStyle>
          <a:p xmlns:a="http://schemas.openxmlformats.org/drawingml/2006/main">
            <a:pPr>
              <a:defRPr sz="1500" b="0">
                <a:solidFill>
                  <a:srgbClr val="B5C8FF"/>
                </a:solidFill>
                <a:latin typeface="DejaVu Sans"/>
                <a:ea typeface="DejaVu Sans"/>
                <a:cs typeface="DejaVu Sans"/>
              </a:defRPr>
            </a:pPr>
            <a:r>
              <a:rPr sz="1500" b="0">
                <a:solidFill>
                  <a:srgbClr val="B5C8FF"/>
                </a:solidFill>
                <a:latin typeface="DejaVu Sans"/>
                <a:ea typeface="DejaVu Sans"/>
                <a:cs typeface="DejaVu Sans"/>
              </a:rPr>
              <a:t>Check: effort needed for the next application</a:t>
            </a:r>
          </a:p>
        </p:txBody>
      </p:sp>
      <p:sp>
        <p:nvSpPr>
          <p:cNvPr id="14" name="">
            <a:extLst xmlns:a="http://schemas.openxmlformats.org/drawingml/2006/main">
              <a:ext uri="{FF2B5EF4-FFF2-40B4-BE49-F238E27FC236}">
                <a16:creationId xmlns:a16="http://schemas.microsoft.com/office/drawing/2014/main" id="{F086DFD2-36EA-4E55-91CA-25DC4AE74A93}"/>
              </a:ext>
            </a:extLst>
          </p:cNvPr>
          <p:cNvSpPr>
            <a:spLocks xmlns:a="http://schemas.openxmlformats.org/drawingml/2006/main" noGrp="1"/>
          </p:cNvSpPr>
          <p:nvPr/>
        </p:nvSpPr>
        <p:spPr>
          <a:xfrm xmlns:a="http://schemas.openxmlformats.org/drawingml/2006/main">
            <a:off x="552450" y="6334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B5C8FF"/>
                </a:solidFill>
                <a:latin typeface="DejaVu Sans"/>
                <a:ea typeface="DejaVu Sans"/>
                <a:cs typeface="DejaVu Sans"/>
              </a:defRPr>
            </a:defPPr>
          </a:lstStyle>
          <a:p xmlns:a="http://schemas.openxmlformats.org/drawingml/2006/main">
            <a:pPr>
              <a:defRPr sz="1425" b="1">
                <a:solidFill>
                  <a:srgbClr val="B5C8FF"/>
                </a:solidFill>
                <a:latin typeface="DejaVu Sans"/>
                <a:ea typeface="DejaVu Sans"/>
                <a:cs typeface="DejaVu Sans"/>
              </a:defRPr>
            </a:pPr>
            <a:r>
              <a:rPr sz="1425" b="1">
                <a:solidFill>
                  <a:srgbClr val="B5C8FF"/>
                </a:solidFill>
                <a:latin typeface="DejaVu Sans"/>
                <a:ea typeface="DejaVu Sans"/>
                <a:cs typeface="DejaVu Sans"/>
              </a:rPr>
              <a:t>Manufacturing value, measured against agreed application targets.</a:t>
            </a:r>
          </a:p>
        </p:txBody>
      </p:sp>
    </p:spTree>
    <p:extLst>
      <p:ext uri="{BB962C8B-B14F-4D97-AF65-F5344CB8AC3E}">
        <p14:creationId xmlns:p14="http://schemas.microsoft.com/office/powerpoint/2010/main" val="1688731588"/>
      </p:ext>
    </p:extLst>
  </p:cSld>
</p:sld>
</file>

<file path=ppt/slides/slide1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F239B7B-C8AD-43FE-A525-EECED87EDE1D}"/>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How planning automation can evolve</a:t>
            </a:r>
          </a:p>
        </p:txBody>
      </p:sp>
      <p:sp>
        <p:nvSpPr>
          <p:cNvPr id="2" name="">
            <a:extLst xmlns:a="http://schemas.openxmlformats.org/drawingml/2006/main">
              <a:ext uri="{FF2B5EF4-FFF2-40B4-BE49-F238E27FC236}">
                <a16:creationId xmlns:a16="http://schemas.microsoft.com/office/drawing/2014/main" id="{31FD8BDB-0328-4789-B5F1-E1A72A62947E}"/>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11</a:t>
            </a:r>
          </a:p>
        </p:txBody>
      </p:sp>
      <p:sp>
        <p:nvSpPr>
          <p:cNvPr id="3" name="">
            <a:extLst xmlns:a="http://schemas.openxmlformats.org/drawingml/2006/main">
              <a:ext uri="{FF2B5EF4-FFF2-40B4-BE49-F238E27FC236}">
                <a16:creationId xmlns:a16="http://schemas.microsoft.com/office/drawing/2014/main" id="{4073EB04-71F3-4C73-AA32-1DE0F1270527}"/>
              </a:ext>
            </a:extLst>
          </p:cNvPr>
          <p:cNvSpPr>
            <a:spLocks xmlns:a="http://schemas.openxmlformats.org/drawingml/2006/main" noGrp="1"/>
          </p:cNvSpPr>
          <p:nvPr/>
        </p:nvSpPr>
        <p:spPr>
          <a:xfrm xmlns:a="http://schemas.openxmlformats.org/drawingml/2006/main">
            <a:off x="552450" y="11334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Build on offline-programming expertise as manufacturing needs evolve</a:t>
            </a:r>
          </a:p>
        </p:txBody>
      </p:sp>
      <p:sp>
        <p:nvSpPr>
          <p:cNvPr id="4" name="">
            <a:extLst xmlns:a="http://schemas.openxmlformats.org/drawingml/2006/main">
              <a:ext uri="{FF2B5EF4-FFF2-40B4-BE49-F238E27FC236}">
                <a16:creationId xmlns:a16="http://schemas.microsoft.com/office/drawing/2014/main" id="{EE734D43-629B-491A-88BB-816352751984}"/>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3143250" y="0"/>
                </a:moveTo>
                <a:lnTo>
                  <a:pt x="3143250" y="0"/>
                </a:lnTo>
                <a:lnTo>
                  <a:pt x="3879056" y="981075"/>
                </a:lnTo>
                <a:lnTo>
                  <a:pt x="2407444" y="981075"/>
                </a:lnTo>
                <a:close/>
              </a:path>
            </a:pathLst>
          </a:custGeom>
          <a:solidFill xmlns:a="http://schemas.openxmlformats.org/drawingml/2006/main">
            <a:srgbClr val="8B62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3FD4797-BFF9-4A8D-BF06-AC7D88BC8ECE}"/>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2357438" y="1047750"/>
                </a:moveTo>
                <a:lnTo>
                  <a:pt x="3929063" y="1047750"/>
                </a:lnTo>
                <a:lnTo>
                  <a:pt x="4664869" y="2028825"/>
                </a:lnTo>
                <a:lnTo>
                  <a:pt x="1621631" y="2028825"/>
                </a:lnTo>
                <a:close/>
              </a:path>
            </a:pathLst>
          </a:custGeom>
          <a:solidFill xmlns:a="http://schemas.openxmlformats.org/drawingml/2006/main">
            <a:srgbClr val="304DD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BC1D047-B272-486B-A954-2B578D648A30}"/>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1571625" y="2095500"/>
                </a:moveTo>
                <a:lnTo>
                  <a:pt x="4714875" y="2095500"/>
                </a:lnTo>
                <a:lnTo>
                  <a:pt x="5450681" y="3076575"/>
                </a:lnTo>
                <a:lnTo>
                  <a:pt x="835819" y="3076575"/>
                </a:lnTo>
                <a:close/>
              </a:path>
            </a:pathLst>
          </a:custGeom>
          <a:solidFill xmlns:a="http://schemas.openxmlformats.org/drawingml/2006/main">
            <a:srgbClr val="355A9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A2AA0A3-D07B-4BCD-91A3-15191412FD64}"/>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785813" y="3143250"/>
                </a:moveTo>
                <a:lnTo>
                  <a:pt x="5500688" y="3143250"/>
                </a:lnTo>
                <a:lnTo>
                  <a:pt x="6236494" y="4124325"/>
                </a:lnTo>
                <a:lnTo>
                  <a:pt x="50006" y="4124325"/>
                </a:lnTo>
                <a:close/>
              </a:path>
            </a:pathLst>
          </a:custGeom>
          <a:solidFill xmlns:a="http://schemas.openxmlformats.org/drawingml/2006/main">
            <a:srgbClr val="17274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F90FB14-63C7-4E48-B17F-EE83107C07E1}"/>
              </a:ext>
            </a:extLst>
          </p:cNvPr>
          <p:cNvSpPr>
            <a:spLocks xmlns:a="http://schemas.openxmlformats.org/drawingml/2006/main" noGrp="1"/>
          </p:cNvSpPr>
          <p:nvPr/>
        </p:nvSpPr>
        <p:spPr>
          <a:xfrm xmlns:a="http://schemas.openxmlformats.org/drawingml/2006/main">
            <a:off x="3467100" y="221932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FFFFFF"/>
                </a:solidFill>
                <a:latin typeface="DejaVu Sans"/>
                <a:ea typeface="DejaVu Sans"/>
                <a:cs typeface="DejaVu Sans"/>
              </a:defRPr>
            </a:defPPr>
          </a:lstStyle>
          <a:p xmlns:a="http://schemas.openxmlformats.org/drawingml/2006/main">
            <a:pPr>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4</a:t>
            </a:r>
          </a:p>
        </p:txBody>
      </p:sp>
      <p:sp>
        <p:nvSpPr>
          <p:cNvPr id="9" name="">
            <a:extLst xmlns:a="http://schemas.openxmlformats.org/drawingml/2006/main">
              <a:ext uri="{FF2B5EF4-FFF2-40B4-BE49-F238E27FC236}">
                <a16:creationId xmlns:a16="http://schemas.microsoft.com/office/drawing/2014/main" id="{49DD743F-7A41-4B67-97E2-FB42D4708F50}"/>
              </a:ext>
            </a:extLst>
          </p:cNvPr>
          <p:cNvSpPr>
            <a:spLocks xmlns:a="http://schemas.openxmlformats.org/drawingml/2006/main" noGrp="1"/>
          </p:cNvSpPr>
          <p:nvPr/>
        </p:nvSpPr>
        <p:spPr>
          <a:xfrm xmlns:a="http://schemas.openxmlformats.org/drawingml/2006/main">
            <a:off x="2524125" y="32099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DejaVu Sans"/>
                <a:ea typeface="DejaVu Sans"/>
                <a:cs typeface="DejaVu Sans"/>
              </a:defRPr>
            </a:defPPr>
          </a:lstStyle>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3  Adaptive</a:t>
            </a:r>
          </a:p>
        </p:txBody>
      </p:sp>
      <p:sp>
        <p:nvSpPr>
          <p:cNvPr id="10" name="">
            <a:extLst xmlns:a="http://schemas.openxmlformats.org/drawingml/2006/main">
              <a:ext uri="{FF2B5EF4-FFF2-40B4-BE49-F238E27FC236}">
                <a16:creationId xmlns:a16="http://schemas.microsoft.com/office/drawing/2014/main" id="{6230761D-1505-44B9-B56A-DE74FA6F7B4F}"/>
              </a:ext>
            </a:extLst>
          </p:cNvPr>
          <p:cNvSpPr>
            <a:spLocks xmlns:a="http://schemas.openxmlformats.org/drawingml/2006/main" noGrp="1"/>
          </p:cNvSpPr>
          <p:nvPr/>
        </p:nvSpPr>
        <p:spPr>
          <a:xfrm xmlns:a="http://schemas.openxmlformats.org/drawingml/2006/main">
            <a:off x="1847850" y="42481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DejaVu Sans"/>
                <a:ea typeface="DejaVu Sans"/>
                <a:cs typeface="DejaVu Sans"/>
              </a:defRPr>
            </a:defPPr>
          </a:lstStyle>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2  Automatic planning</a:t>
            </a:r>
          </a:p>
        </p:txBody>
      </p:sp>
      <p:sp>
        <p:nvSpPr>
          <p:cNvPr id="11" name="">
            <a:extLst xmlns:a="http://schemas.openxmlformats.org/drawingml/2006/main">
              <a:ext uri="{FF2B5EF4-FFF2-40B4-BE49-F238E27FC236}">
                <a16:creationId xmlns:a16="http://schemas.microsoft.com/office/drawing/2014/main" id="{51EDDD77-6B92-4D2E-B0C8-3719B65970E2}"/>
              </a:ext>
            </a:extLst>
          </p:cNvPr>
          <p:cNvSpPr>
            <a:spLocks xmlns:a="http://schemas.openxmlformats.org/drawingml/2006/main" noGrp="1"/>
          </p:cNvSpPr>
          <p:nvPr/>
        </p:nvSpPr>
        <p:spPr>
          <a:xfrm xmlns:a="http://schemas.openxmlformats.org/drawingml/2006/main">
            <a:off x="1514475" y="531495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ans"/>
                <a:ea typeface="DejaVu Sans"/>
                <a:cs typeface="DejaVu Sans"/>
              </a:defRPr>
            </a:defPPr>
          </a:lstStyle>
          <a:p xmlns:a="http://schemas.openxmlformats.org/drawingml/2006/main">
            <a:pPr>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1  Offline programming</a:t>
            </a:r>
          </a:p>
        </p:txBody>
      </p:sp>
      <p:pic>
        <p:nvPicPr>
          <p:cNvPr id="12" name="">
            <a:extLst xmlns:a="http://schemas.openxmlformats.org/drawingml/2006/main">
              <a:ext uri="{FF2B5EF4-FFF2-40B4-BE49-F238E27FC236}">
                <a16:creationId xmlns:a16="http://schemas.microsoft.com/office/drawing/2014/main" id="{46BA32CB-1681-4DC2-A70D-B1923F1A31BA}"/>
              </a:ext>
            </a:extLst>
          </p:cNvPr>
          <p:cNvPicPr>
            <a:picLocks xmlns:a="http://schemas.openxmlformats.org/drawingml/2006/main" noChangeAspect="1"/>
          </p:cNvPicPr>
          <p:nvPr/>
        </p:nvPicPr>
        <p:blipFill>
          <a:blip xmlns:r="http://schemas.openxmlformats.org/officeDocument/2006/relationships" xmlns:a="http://schemas.openxmlformats.org/drawingml/2006/main" r:embed="R9b2b18ab7abd4748"/>
          <a:srcRect xmlns:a="http://schemas.openxmlformats.org/drawingml/2006/main" l="50000" t="0" r="0" b="0"/>
          <a:stretch xmlns:a="http://schemas.openxmlformats.org/drawingml/2006/main"/>
        </p:blipFill>
        <p:spPr>
          <a:xfrm xmlns:a="http://schemas.openxmlformats.org/drawingml/2006/main">
            <a:off x="7239000" y="1647825"/>
            <a:ext cx="1428750" cy="86677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C2F7601-59B2-4A99-8ADB-00596181AFE8}"/>
              </a:ext>
            </a:extLst>
          </p:cNvPr>
          <p:cNvSpPr>
            <a:spLocks xmlns:a="http://schemas.openxmlformats.org/drawingml/2006/main" noGrp="1"/>
          </p:cNvSpPr>
          <p:nvPr/>
        </p:nvSpPr>
        <p:spPr>
          <a:xfrm xmlns:a="http://schemas.openxmlformats.org/drawingml/2006/main">
            <a:off x="8858250" y="167640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Independent tasks</a:t>
            </a:r>
          </a:p>
        </p:txBody>
      </p:sp>
      <p:sp>
        <p:nvSpPr>
          <p:cNvPr id="14" name="">
            <a:extLst xmlns:a="http://schemas.openxmlformats.org/drawingml/2006/main">
              <a:ext uri="{FF2B5EF4-FFF2-40B4-BE49-F238E27FC236}">
                <a16:creationId xmlns:a16="http://schemas.microsoft.com/office/drawing/2014/main" id="{60741763-C8F5-432C-A54B-A3C77EB459D6}"/>
              </a:ext>
            </a:extLst>
          </p:cNvPr>
          <p:cNvSpPr>
            <a:spLocks xmlns:a="http://schemas.openxmlformats.org/drawingml/2006/main" noGrp="1"/>
          </p:cNvSpPr>
          <p:nvPr/>
        </p:nvSpPr>
        <p:spPr>
          <a:xfrm xmlns:a="http://schemas.openxmlformats.org/drawingml/2006/main">
            <a:off x="8858250" y="210502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Selected jobs within agreed limits</a:t>
            </a:r>
          </a:p>
        </p:txBody>
      </p:sp>
      <p:pic>
        <p:nvPicPr>
          <p:cNvPr id="15" name="">
            <a:extLst xmlns:a="http://schemas.openxmlformats.org/drawingml/2006/main">
              <a:ext uri="{FF2B5EF4-FFF2-40B4-BE49-F238E27FC236}">
                <a16:creationId xmlns:a16="http://schemas.microsoft.com/office/drawing/2014/main" id="{73C9EE90-F6FD-4F1F-8184-0C9104DC13D9}"/>
              </a:ext>
            </a:extLst>
          </p:cNvPr>
          <p:cNvPicPr>
            <a:picLocks xmlns:a="http://schemas.openxmlformats.org/drawingml/2006/main" noChangeAspect="1"/>
          </p:cNvPicPr>
          <p:nvPr/>
        </p:nvPicPr>
        <p:blipFill>
          <a:blip xmlns:r="http://schemas.openxmlformats.org/officeDocument/2006/relationships" xmlns:a="http://schemas.openxmlformats.org/drawingml/2006/main" r:embed="R1361cef53ba74a6c"/>
          <a:srcRect xmlns:a="http://schemas.openxmlformats.org/drawingml/2006/main" l="0" t="0" r="50000" b="0"/>
          <a:stretch xmlns:a="http://schemas.openxmlformats.org/drawingml/2006/main"/>
        </p:blipFill>
        <p:spPr>
          <a:xfrm xmlns:a="http://schemas.openxmlformats.org/drawingml/2006/main">
            <a:off x="7239000" y="2695575"/>
            <a:ext cx="1428750" cy="8667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F5656441-4869-4DF8-83AA-819A625385BD}"/>
              </a:ext>
            </a:extLst>
          </p:cNvPr>
          <p:cNvSpPr>
            <a:spLocks xmlns:a="http://schemas.openxmlformats.org/drawingml/2006/main" noGrp="1"/>
          </p:cNvSpPr>
          <p:nvPr/>
        </p:nvSpPr>
        <p:spPr>
          <a:xfrm xmlns:a="http://schemas.openxmlformats.org/drawingml/2006/main">
            <a:off x="8858250" y="2724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Respond to changes</a:t>
            </a:r>
          </a:p>
        </p:txBody>
      </p:sp>
      <p:sp>
        <p:nvSpPr>
          <p:cNvPr id="17" name="">
            <a:extLst xmlns:a="http://schemas.openxmlformats.org/drawingml/2006/main">
              <a:ext uri="{FF2B5EF4-FFF2-40B4-BE49-F238E27FC236}">
                <a16:creationId xmlns:a16="http://schemas.microsoft.com/office/drawing/2014/main" id="{D694D860-19B8-42CD-BDD4-50E2C85B18B6}"/>
              </a:ext>
            </a:extLst>
          </p:cNvPr>
          <p:cNvSpPr>
            <a:spLocks xmlns:a="http://schemas.openxmlformats.org/drawingml/2006/main" noGrp="1"/>
          </p:cNvSpPr>
          <p:nvPr/>
        </p:nvSpPr>
        <p:spPr>
          <a:xfrm xmlns:a="http://schemas.openxmlformats.org/drawingml/2006/main">
            <a:off x="8858250" y="315277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Measure, adjust and recover</a:t>
            </a:r>
          </a:p>
        </p:txBody>
      </p:sp>
      <p:pic>
        <p:nvPicPr>
          <p:cNvPr id="18" name="">
            <a:extLst xmlns:a="http://schemas.openxmlformats.org/drawingml/2006/main">
              <a:ext uri="{FF2B5EF4-FFF2-40B4-BE49-F238E27FC236}">
                <a16:creationId xmlns:a16="http://schemas.microsoft.com/office/drawing/2014/main" id="{7E145DFB-A74F-4F3C-8006-82E3470DE51F}"/>
              </a:ext>
            </a:extLst>
          </p:cNvPr>
          <p:cNvPicPr>
            <a:picLocks xmlns:a="http://schemas.openxmlformats.org/drawingml/2006/main" noChangeAspect="1"/>
          </p:cNvPicPr>
          <p:nvPr/>
        </p:nvPicPr>
        <p:blipFill>
          <a:blip xmlns:r="http://schemas.openxmlformats.org/officeDocument/2006/relationships" xmlns:a="http://schemas.openxmlformats.org/drawingml/2006/main" r:embed="R078b2dca50c847ba"/>
          <a:srcRect xmlns:a="http://schemas.openxmlformats.org/drawingml/2006/main" l="0" t="19667" r="0" b="19667"/>
          <a:stretch xmlns:a="http://schemas.openxmlformats.org/drawingml/2006/main">
            <a:fillRect l="0" t="0" r="0" b="0"/>
          </a:stretch>
        </p:blipFill>
        <p:spPr>
          <a:xfrm xmlns:a="http://schemas.openxmlformats.org/drawingml/2006/main">
            <a:off x="7239000" y="3743325"/>
            <a:ext cx="1428750" cy="86677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44F80D9D-7F64-4046-A584-17E463C195D4}"/>
              </a:ext>
            </a:extLst>
          </p:cNvPr>
          <p:cNvSpPr>
            <a:spLocks xmlns:a="http://schemas.openxmlformats.org/drawingml/2006/main" noGrp="1"/>
          </p:cNvSpPr>
          <p:nvPr/>
        </p:nvSpPr>
        <p:spPr>
          <a:xfrm xmlns:a="http://schemas.openxmlformats.org/drawingml/2006/main">
            <a:off x="8858250" y="377190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Automatic planning</a:t>
            </a:r>
          </a:p>
        </p:txBody>
      </p:sp>
      <p:sp>
        <p:nvSpPr>
          <p:cNvPr id="20" name="">
            <a:extLst xmlns:a="http://schemas.openxmlformats.org/drawingml/2006/main">
              <a:ext uri="{FF2B5EF4-FFF2-40B4-BE49-F238E27FC236}">
                <a16:creationId xmlns:a16="http://schemas.microsoft.com/office/drawing/2014/main" id="{D6028C9B-EFCA-40D0-9C25-A73E6FD05445}"/>
              </a:ext>
            </a:extLst>
          </p:cNvPr>
          <p:cNvSpPr>
            <a:spLocks xmlns:a="http://schemas.openxmlformats.org/drawingml/2006/main" noGrp="1"/>
          </p:cNvSpPr>
          <p:nvPr/>
        </p:nvSpPr>
        <p:spPr>
          <a:xfrm xmlns:a="http://schemas.openxmlformats.org/drawingml/2006/main">
            <a:off x="8858250" y="420052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Software prepares the movement</a:t>
            </a:r>
          </a:p>
        </p:txBody>
      </p:sp>
      <p:pic>
        <p:nvPicPr>
          <p:cNvPr id="21" name="">
            <a:extLst xmlns:a="http://schemas.openxmlformats.org/drawingml/2006/main">
              <a:ext uri="{FF2B5EF4-FFF2-40B4-BE49-F238E27FC236}">
                <a16:creationId xmlns:a16="http://schemas.microsoft.com/office/drawing/2014/main" id="{B6ECF79C-1D15-44E9-9AFD-DDFCB899ABD4}"/>
              </a:ext>
            </a:extLst>
          </p:cNvPr>
          <p:cNvPicPr>
            <a:picLocks xmlns:a="http://schemas.openxmlformats.org/drawingml/2006/main" noChangeAspect="1"/>
          </p:cNvPicPr>
          <p:nvPr/>
        </p:nvPicPr>
        <p:blipFill>
          <a:blip xmlns:r="http://schemas.openxmlformats.org/officeDocument/2006/relationships" xmlns:a="http://schemas.openxmlformats.org/drawingml/2006/main" r:embed="Rcc8c2e863b274fad"/>
          <a:srcRect xmlns:a="http://schemas.openxmlformats.org/drawingml/2006/main" l="22527" t="0" r="22527" b="0"/>
          <a:stretch xmlns:a="http://schemas.openxmlformats.org/drawingml/2006/main">
            <a:fillRect l="0" t="0" r="0" b="0"/>
          </a:stretch>
        </p:blipFill>
        <p:spPr>
          <a:xfrm xmlns:a="http://schemas.openxmlformats.org/drawingml/2006/main">
            <a:off x="7239000" y="4791075"/>
            <a:ext cx="1428750" cy="86677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2486093E-89CF-4BCF-A100-D303DB73451A}"/>
              </a:ext>
            </a:extLst>
          </p:cNvPr>
          <p:cNvSpPr>
            <a:spLocks xmlns:a="http://schemas.openxmlformats.org/drawingml/2006/main" noGrp="1"/>
          </p:cNvSpPr>
          <p:nvPr/>
        </p:nvSpPr>
        <p:spPr>
          <a:xfrm xmlns:a="http://schemas.openxmlformats.org/drawingml/2006/main">
            <a:off x="8858250" y="4819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Offline foundation</a:t>
            </a:r>
          </a:p>
        </p:txBody>
      </p:sp>
      <p:sp>
        <p:nvSpPr>
          <p:cNvPr id="23" name="">
            <a:extLst xmlns:a="http://schemas.openxmlformats.org/drawingml/2006/main">
              <a:ext uri="{FF2B5EF4-FFF2-40B4-BE49-F238E27FC236}">
                <a16:creationId xmlns:a16="http://schemas.microsoft.com/office/drawing/2014/main" id="{E885D8FA-EC25-4CB9-AC94-0B754FF63303}"/>
              </a:ext>
            </a:extLst>
          </p:cNvPr>
          <p:cNvSpPr>
            <a:spLocks xmlns:a="http://schemas.openxmlformats.org/drawingml/2006/main" noGrp="1"/>
          </p:cNvSpPr>
          <p:nvPr/>
        </p:nvSpPr>
        <p:spPr>
          <a:xfrm xmlns:a="http://schemas.openxmlformats.org/drawingml/2006/main">
            <a:off x="8858250" y="524827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Prepared paths for known processes</a:t>
            </a:r>
          </a:p>
        </p:txBody>
      </p:sp>
      <p:sp>
        <p:nvSpPr>
          <p:cNvPr id="24" name="">
            <a:extLst xmlns:a="http://schemas.openxmlformats.org/drawingml/2006/main">
              <a:ext uri="{FF2B5EF4-FFF2-40B4-BE49-F238E27FC236}">
                <a16:creationId xmlns:a16="http://schemas.microsoft.com/office/drawing/2014/main" id="{40657F13-9D13-4F47-95B5-CE6B1593A613}"/>
              </a:ext>
            </a:extLst>
          </p:cNvPr>
          <p:cNvSpPr>
            <a:spLocks xmlns:a="http://schemas.openxmlformats.org/drawingml/2006/main" noGrp="1"/>
          </p:cNvSpPr>
          <p:nvPr/>
        </p:nvSpPr>
        <p:spPr>
          <a:xfrm xmlns:a="http://schemas.openxmlformats.org/drawingml/2006/main">
            <a:off x="552450" y="6238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Choose the level that delivers value for the application. Validate every step.</a:t>
            </a:r>
          </a:p>
        </p:txBody>
      </p:sp>
    </p:spTree>
    <p:extLst>
      <p:ext uri="{BB962C8B-B14F-4D97-AF65-F5344CB8AC3E}">
        <p14:creationId xmlns:p14="http://schemas.microsoft.com/office/powerpoint/2010/main" val="1411136579"/>
      </p:ext>
    </p:extLst>
  </p:cSld>
</p:sld>
</file>

<file path=ppt/slides/slide1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91CEF43-3527-41D3-BC55-9642BEFE0A6A}"/>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More consistent preparation, built on expertise</a:t>
            </a:r>
          </a:p>
        </p:txBody>
      </p:sp>
      <p:sp>
        <p:nvSpPr>
          <p:cNvPr id="2" name="">
            <a:extLst xmlns:a="http://schemas.openxmlformats.org/drawingml/2006/main">
              <a:ext uri="{FF2B5EF4-FFF2-40B4-BE49-F238E27FC236}">
                <a16:creationId xmlns:a16="http://schemas.microsoft.com/office/drawing/2014/main" id="{621B83BE-271E-4592-8CB3-3C38E13C9875}"/>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12</a:t>
            </a:r>
          </a:p>
        </p:txBody>
      </p:sp>
      <p:sp>
        <p:nvSpPr>
          <p:cNvPr id="3" name="">
            <a:extLst xmlns:a="http://schemas.openxmlformats.org/drawingml/2006/main">
              <a:ext uri="{FF2B5EF4-FFF2-40B4-BE49-F238E27FC236}">
                <a16:creationId xmlns:a16="http://schemas.microsoft.com/office/drawing/2014/main" id="{5561E433-1514-4DD6-AB60-E029502F0D44}"/>
              </a:ext>
            </a:extLst>
          </p:cNvPr>
          <p:cNvSpPr>
            <a:spLocks xmlns:a="http://schemas.openxmlformats.org/drawingml/2006/main" noGrp="1"/>
          </p:cNvSpPr>
          <p:nvPr/>
        </p:nvSpPr>
        <p:spPr>
          <a:xfrm xmlns:a="http://schemas.openxmlformats.org/drawingml/2006/main">
            <a:off x="552450" y="1485900"/>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304DD9"/>
                </a:solidFill>
                <a:latin typeface="DejaVu Sans"/>
                <a:ea typeface="DejaVu Sans"/>
                <a:cs typeface="DejaVu Sans"/>
              </a:defRPr>
            </a:defPPr>
          </a:lstStyle>
          <a:p xmlns:a="http://schemas.openxmlformats.org/drawingml/2006/main">
            <a:pPr>
              <a:defRPr sz="1950" b="1">
                <a:solidFill>
                  <a:srgbClr val="304DD9"/>
                </a:solidFill>
                <a:latin typeface="DejaVu Sans"/>
                <a:ea typeface="DejaVu Sans"/>
                <a:cs typeface="DejaVu Sans"/>
              </a:defRPr>
            </a:pPr>
            <a:r>
              <a:rPr sz="1950" b="1">
                <a:solidFill>
                  <a:srgbClr val="304DD9"/>
                </a:solidFill>
                <a:latin typeface="DejaVu Sans"/>
                <a:ea typeface="DejaVu Sans"/>
                <a:cs typeface="DejaVu Sans"/>
              </a:rPr>
              <a:t>Manual / OLP / NC programming</a:t>
            </a:r>
          </a:p>
        </p:txBody>
      </p:sp>
      <p:sp>
        <p:nvSpPr>
          <p:cNvPr id="4" name="">
            <a:extLst xmlns:a="http://schemas.openxmlformats.org/drawingml/2006/main">
              <a:ext uri="{FF2B5EF4-FFF2-40B4-BE49-F238E27FC236}">
                <a16:creationId xmlns:a16="http://schemas.microsoft.com/office/drawing/2014/main" id="{8959DB56-D07A-4CB3-96DB-00B2166B2C94}"/>
              </a:ext>
            </a:extLst>
          </p:cNvPr>
          <p:cNvSpPr>
            <a:spLocks xmlns:a="http://schemas.openxmlformats.org/drawingml/2006/main" noGrp="1"/>
          </p:cNvSpPr>
          <p:nvPr/>
        </p:nvSpPr>
        <p:spPr>
          <a:xfrm xmlns:a="http://schemas.openxmlformats.org/drawingml/2006/main">
            <a:off x="552450" y="2000250"/>
            <a:ext cx="638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Same panel. Preparation time can vary.</a:t>
            </a:r>
          </a:p>
        </p:txBody>
      </p:sp>
      <p:sp>
        <p:nvSpPr>
          <p:cNvPr id="5" name="">
            <a:extLst xmlns:a="http://schemas.openxmlformats.org/drawingml/2006/main">
              <a:ext uri="{FF2B5EF4-FFF2-40B4-BE49-F238E27FC236}">
                <a16:creationId xmlns:a16="http://schemas.microsoft.com/office/drawing/2014/main" id="{C981EDB4-819C-4AFE-95EC-A105333A22FB}"/>
              </a:ext>
            </a:extLst>
          </p:cNvPr>
          <p:cNvSpPr>
            <a:spLocks xmlns:a="http://schemas.openxmlformats.org/drawingml/2006/main" noGrp="1"/>
          </p:cNvSpPr>
          <p:nvPr/>
        </p:nvSpPr>
        <p:spPr>
          <a:xfrm xmlns:a="http://schemas.openxmlformats.org/drawingml/2006/main">
            <a:off x="733425" y="2524125"/>
            <a:ext cx="5286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Programming time</a:t>
            </a:r>
          </a:p>
        </p:txBody>
      </p:sp>
      <p:sp>
        <p:nvSpPr>
          <p:cNvPr id="6" name="">
            <a:extLst xmlns:a="http://schemas.openxmlformats.org/drawingml/2006/main">
              <a:ext uri="{FF2B5EF4-FFF2-40B4-BE49-F238E27FC236}">
                <a16:creationId xmlns:a16="http://schemas.microsoft.com/office/drawing/2014/main" id="{9F5B2246-32C3-4D09-B459-66FF1FCC7CED}"/>
              </a:ext>
            </a:extLst>
          </p:cNvPr>
          <p:cNvSpPr>
            <a:spLocks xmlns:a="http://schemas.openxmlformats.org/drawingml/2006/main" noGrp="1"/>
          </p:cNvSpPr>
          <p:nvPr/>
        </p:nvSpPr>
        <p:spPr>
          <a:xfrm xmlns:a="http://schemas.openxmlformats.org/drawingml/2006/main">
            <a:off x="847725" y="4886325"/>
            <a:ext cx="5429250" cy="28575"/>
          </a:xfrm>
          <a:prstGeom xmlns:a="http://schemas.openxmlformats.org/drawingml/2006/main" prst="rect">
            <a:avLst/>
          </a:prstGeom>
          <a:solidFill xmlns:a="http://schemas.openxmlformats.org/drawingml/2006/main">
            <a:srgbClr val="5C677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F484D64-0C43-42CD-8C04-882FDB6B5017}"/>
              </a:ext>
            </a:extLst>
          </p:cNvPr>
          <p:cNvSpPr>
            <a:spLocks xmlns:a="http://schemas.openxmlformats.org/drawingml/2006/main" noGrp="1"/>
          </p:cNvSpPr>
          <p:nvPr/>
        </p:nvSpPr>
        <p:spPr>
          <a:xfrm xmlns:a="http://schemas.openxmlformats.org/drawingml/2006/main">
            <a:off x="1200150" y="3648075"/>
            <a:ext cx="933450" cy="1238250"/>
          </a:xfrm>
          <a:prstGeom xmlns:a="http://schemas.openxmlformats.org/drawingml/2006/main" prst="rect">
            <a:avLst/>
          </a:prstGeom>
          <a:solidFill xmlns:a="http://schemas.openxmlformats.org/drawingml/2006/main">
            <a:srgbClr val="355A9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FD64361-D934-4F9D-91CA-CAE98C28327B}"/>
              </a:ext>
            </a:extLst>
          </p:cNvPr>
          <p:cNvSpPr>
            <a:spLocks xmlns:a="http://schemas.openxmlformats.org/drawingml/2006/main" noGrp="1"/>
          </p:cNvSpPr>
          <p:nvPr/>
        </p:nvSpPr>
        <p:spPr>
          <a:xfrm xmlns:a="http://schemas.openxmlformats.org/drawingml/2006/main">
            <a:off x="962025" y="5019675"/>
            <a:ext cx="1590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2744"/>
                </a:solidFill>
                <a:latin typeface="DejaVu Sans"/>
                <a:ea typeface="DejaVu Sans"/>
                <a:cs typeface="DejaVu Sans"/>
              </a:defRPr>
            </a:defPPr>
          </a:lstStyle>
          <a:p xmlns:a="http://schemas.openxmlformats.org/drawingml/2006/main">
            <a:pPr>
              <a:defRPr sz="1575" b="1">
                <a:solidFill>
                  <a:srgbClr val="172744"/>
                </a:solidFill>
                <a:latin typeface="DejaVu Sans"/>
                <a:ea typeface="DejaVu Sans"/>
                <a:cs typeface="DejaVu Sans"/>
              </a:defRPr>
            </a:pPr>
            <a:r>
              <a:rPr sz="1575" b="1">
                <a:solidFill>
                  <a:srgbClr val="172744"/>
                </a:solidFill>
                <a:latin typeface="DejaVu Sans"/>
                <a:ea typeface="DejaVu Sans"/>
                <a:cs typeface="DejaVu Sans"/>
              </a:rPr>
              <a:t>Engineer A</a:t>
            </a:r>
          </a:p>
        </p:txBody>
      </p:sp>
      <p:sp>
        <p:nvSpPr>
          <p:cNvPr id="9" name="">
            <a:extLst xmlns:a="http://schemas.openxmlformats.org/drawingml/2006/main">
              <a:ext uri="{FF2B5EF4-FFF2-40B4-BE49-F238E27FC236}">
                <a16:creationId xmlns:a16="http://schemas.microsoft.com/office/drawing/2014/main" id="{2507F7A2-4D23-409A-8D7B-4736C1949615}"/>
              </a:ext>
            </a:extLst>
          </p:cNvPr>
          <p:cNvSpPr>
            <a:spLocks xmlns:a="http://schemas.openxmlformats.org/drawingml/2006/main" noGrp="1"/>
          </p:cNvSpPr>
          <p:nvPr/>
        </p:nvSpPr>
        <p:spPr>
          <a:xfrm xmlns:a="http://schemas.openxmlformats.org/drawingml/2006/main">
            <a:off x="2867025" y="2933700"/>
            <a:ext cx="933450" cy="1952625"/>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F104212-30D5-4C45-845A-B134122904B5}"/>
              </a:ext>
            </a:extLst>
          </p:cNvPr>
          <p:cNvSpPr>
            <a:spLocks xmlns:a="http://schemas.openxmlformats.org/drawingml/2006/main" noGrp="1"/>
          </p:cNvSpPr>
          <p:nvPr/>
        </p:nvSpPr>
        <p:spPr>
          <a:xfrm xmlns:a="http://schemas.openxmlformats.org/drawingml/2006/main">
            <a:off x="2628900" y="5019675"/>
            <a:ext cx="1590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2744"/>
                </a:solidFill>
                <a:latin typeface="DejaVu Sans"/>
                <a:ea typeface="DejaVu Sans"/>
                <a:cs typeface="DejaVu Sans"/>
              </a:defRPr>
            </a:defPPr>
          </a:lstStyle>
          <a:p xmlns:a="http://schemas.openxmlformats.org/drawingml/2006/main">
            <a:pPr>
              <a:defRPr sz="1575" b="1">
                <a:solidFill>
                  <a:srgbClr val="172744"/>
                </a:solidFill>
                <a:latin typeface="DejaVu Sans"/>
                <a:ea typeface="DejaVu Sans"/>
                <a:cs typeface="DejaVu Sans"/>
              </a:defRPr>
            </a:pPr>
            <a:r>
              <a:rPr sz="1575" b="1">
                <a:solidFill>
                  <a:srgbClr val="172744"/>
                </a:solidFill>
                <a:latin typeface="DejaVu Sans"/>
                <a:ea typeface="DejaVu Sans"/>
                <a:cs typeface="DejaVu Sans"/>
              </a:rPr>
              <a:t>Engineer B</a:t>
            </a:r>
          </a:p>
        </p:txBody>
      </p:sp>
      <p:sp>
        <p:nvSpPr>
          <p:cNvPr id="11" name="">
            <a:extLst xmlns:a="http://schemas.openxmlformats.org/drawingml/2006/main">
              <a:ext uri="{FF2B5EF4-FFF2-40B4-BE49-F238E27FC236}">
                <a16:creationId xmlns:a16="http://schemas.microsoft.com/office/drawing/2014/main" id="{0111D487-BF87-4248-A2D0-06588908E092}"/>
              </a:ext>
            </a:extLst>
          </p:cNvPr>
          <p:cNvSpPr>
            <a:spLocks xmlns:a="http://schemas.openxmlformats.org/drawingml/2006/main" noGrp="1"/>
          </p:cNvSpPr>
          <p:nvPr/>
        </p:nvSpPr>
        <p:spPr>
          <a:xfrm xmlns:a="http://schemas.openxmlformats.org/drawingml/2006/main">
            <a:off x="4533900" y="3314700"/>
            <a:ext cx="933450" cy="1571625"/>
          </a:xfrm>
          <a:prstGeom xmlns:a="http://schemas.openxmlformats.org/drawingml/2006/main" prst="rect">
            <a:avLst/>
          </a:prstGeom>
          <a:solidFill xmlns:a="http://schemas.openxmlformats.org/drawingml/2006/main">
            <a:srgbClr val="6686B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C5076F8-D9B5-4DAB-810C-15B7870ABB50}"/>
              </a:ext>
            </a:extLst>
          </p:cNvPr>
          <p:cNvSpPr>
            <a:spLocks xmlns:a="http://schemas.openxmlformats.org/drawingml/2006/main" noGrp="1"/>
          </p:cNvSpPr>
          <p:nvPr/>
        </p:nvSpPr>
        <p:spPr>
          <a:xfrm xmlns:a="http://schemas.openxmlformats.org/drawingml/2006/main">
            <a:off x="4295775" y="5019675"/>
            <a:ext cx="1590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2744"/>
                </a:solidFill>
                <a:latin typeface="DejaVu Sans"/>
                <a:ea typeface="DejaVu Sans"/>
                <a:cs typeface="DejaVu Sans"/>
              </a:defRPr>
            </a:defPPr>
          </a:lstStyle>
          <a:p xmlns:a="http://schemas.openxmlformats.org/drawingml/2006/main">
            <a:pPr>
              <a:defRPr sz="1575" b="1">
                <a:solidFill>
                  <a:srgbClr val="172744"/>
                </a:solidFill>
                <a:latin typeface="DejaVu Sans"/>
                <a:ea typeface="DejaVu Sans"/>
                <a:cs typeface="DejaVu Sans"/>
              </a:defRPr>
            </a:pPr>
            <a:r>
              <a:rPr sz="1575" b="1">
                <a:solidFill>
                  <a:srgbClr val="172744"/>
                </a:solidFill>
                <a:latin typeface="DejaVu Sans"/>
                <a:ea typeface="DejaVu Sans"/>
                <a:cs typeface="DejaVu Sans"/>
              </a:rPr>
              <a:t>Engineer C</a:t>
            </a:r>
          </a:p>
        </p:txBody>
      </p:sp>
      <p:sp>
        <p:nvSpPr>
          <p:cNvPr id="13" name="">
            <a:extLst xmlns:a="http://schemas.openxmlformats.org/drawingml/2006/main">
              <a:ext uri="{FF2B5EF4-FFF2-40B4-BE49-F238E27FC236}">
                <a16:creationId xmlns:a16="http://schemas.microsoft.com/office/drawing/2014/main" id="{B3C09505-3EEB-46D7-A623-F95423924445}"/>
              </a:ext>
            </a:extLst>
          </p:cNvPr>
          <p:cNvSpPr>
            <a:spLocks xmlns:a="http://schemas.openxmlformats.org/drawingml/2006/main" noGrp="1"/>
          </p:cNvSpPr>
          <p:nvPr/>
        </p:nvSpPr>
        <p:spPr>
          <a:xfrm xmlns:a="http://schemas.openxmlformats.org/drawingml/2006/main">
            <a:off x="733425" y="5543550"/>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Illustrative only; not measured hours.</a:t>
            </a:r>
          </a:p>
        </p:txBody>
      </p:sp>
      <p:pic>
        <p:nvPicPr>
          <p:cNvPr id="14" name="">
            <a:extLst xmlns:a="http://schemas.openxmlformats.org/drawingml/2006/main">
              <a:ext uri="{FF2B5EF4-FFF2-40B4-BE49-F238E27FC236}">
                <a16:creationId xmlns:a16="http://schemas.microsoft.com/office/drawing/2014/main" id="{A24824BA-A0E2-4531-907C-8ECA679E5070}"/>
              </a:ext>
            </a:extLst>
          </p:cNvPr>
          <p:cNvPicPr>
            <a:picLocks xmlns:a="http://schemas.openxmlformats.org/drawingml/2006/main" noChangeAspect="1"/>
          </p:cNvPicPr>
          <p:nvPr/>
        </p:nvPicPr>
        <p:blipFill>
          <a:blip xmlns:r="http://schemas.openxmlformats.org/officeDocument/2006/relationships" xmlns:a="http://schemas.openxmlformats.org/drawingml/2006/main" r:embed="Rf95525f91ed14fd8"/>
          <a:srcRect xmlns:a="http://schemas.openxmlformats.org/drawingml/2006/main" l="0" t="0" r="66700" b="0"/>
          <a:stretch xmlns:a="http://schemas.openxmlformats.org/drawingml/2006/main"/>
        </p:blipFill>
        <p:spPr>
          <a:xfrm xmlns:a="http://schemas.openxmlformats.org/drawingml/2006/main">
            <a:off x="8067675" y="1581150"/>
            <a:ext cx="2238375" cy="22383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DBB4DA1-3CAA-42B3-8922-A713C4FA60F1}"/>
              </a:ext>
            </a:extLst>
          </p:cNvPr>
          <p:cNvSpPr>
            <a:spLocks xmlns:a="http://schemas.openxmlformats.org/drawingml/2006/main" noGrp="1"/>
          </p:cNvSpPr>
          <p:nvPr/>
        </p:nvSpPr>
        <p:spPr>
          <a:xfrm xmlns:a="http://schemas.openxmlformats.org/drawingml/2006/main">
            <a:off x="7229475" y="3952875"/>
            <a:ext cx="4429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Capture expertise</a:t>
            </a:r>
          </a:p>
        </p:txBody>
      </p:sp>
      <p:sp>
        <p:nvSpPr>
          <p:cNvPr id="16" name="">
            <a:extLst xmlns:a="http://schemas.openxmlformats.org/drawingml/2006/main">
              <a:ext uri="{FF2B5EF4-FFF2-40B4-BE49-F238E27FC236}">
                <a16:creationId xmlns:a16="http://schemas.microsoft.com/office/drawing/2014/main" id="{E60B09DC-6008-4026-AC9C-DB4668AD3E78}"/>
              </a:ext>
            </a:extLst>
          </p:cNvPr>
          <p:cNvSpPr>
            <a:spLocks xmlns:a="http://schemas.openxmlformats.org/drawingml/2006/main" noGrp="1"/>
          </p:cNvSpPr>
          <p:nvPr/>
        </p:nvSpPr>
        <p:spPr>
          <a:xfrm xmlns:a="http://schemas.openxmlformats.org/drawingml/2006/main">
            <a:off x="7229475" y="4562475"/>
            <a:ext cx="4429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Reuse proven methods</a:t>
            </a:r>
          </a:p>
        </p:txBody>
      </p:sp>
      <p:sp>
        <p:nvSpPr>
          <p:cNvPr id="17" name="">
            <a:extLst xmlns:a="http://schemas.openxmlformats.org/drawingml/2006/main">
              <a:ext uri="{FF2B5EF4-FFF2-40B4-BE49-F238E27FC236}">
                <a16:creationId xmlns:a16="http://schemas.microsoft.com/office/drawing/2014/main" id="{0F580D1A-D5C7-40AD-AFEE-AA956402FC3F}"/>
              </a:ext>
            </a:extLst>
          </p:cNvPr>
          <p:cNvSpPr>
            <a:spLocks xmlns:a="http://schemas.openxmlformats.org/drawingml/2006/main" noGrp="1"/>
          </p:cNvSpPr>
          <p:nvPr/>
        </p:nvSpPr>
        <p:spPr>
          <a:xfrm xmlns:a="http://schemas.openxmlformats.org/drawingml/2006/main">
            <a:off x="7229475" y="5172075"/>
            <a:ext cx="4429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Make effort predictable</a:t>
            </a:r>
          </a:p>
        </p:txBody>
      </p:sp>
      <p:sp>
        <p:nvSpPr>
          <p:cNvPr id="18" name="">
            <a:extLst xmlns:a="http://schemas.openxmlformats.org/drawingml/2006/main">
              <a:ext uri="{FF2B5EF4-FFF2-40B4-BE49-F238E27FC236}">
                <a16:creationId xmlns:a16="http://schemas.microsoft.com/office/drawing/2014/main" id="{B10235ED-98C9-486B-83AD-FFCF96088756}"/>
              </a:ext>
            </a:extLst>
          </p:cNvPr>
          <p:cNvSpPr>
            <a:spLocks xmlns:a="http://schemas.openxmlformats.org/drawingml/2006/main" noGrp="1"/>
          </p:cNvSpPr>
          <p:nvPr/>
        </p:nvSpPr>
        <p:spPr>
          <a:xfrm xmlns:a="http://schemas.openxmlformats.org/drawingml/2006/main">
            <a:off x="552450" y="62103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More engineering capacity for new applications and process improvements.</a:t>
            </a:r>
          </a:p>
        </p:txBody>
      </p:sp>
    </p:spTree>
    <p:extLst>
      <p:ext uri="{BB962C8B-B14F-4D97-AF65-F5344CB8AC3E}">
        <p14:creationId xmlns:p14="http://schemas.microsoft.com/office/powerpoint/2010/main" val="1427709130"/>
      </p:ext>
    </p:extLst>
  </p:cSld>
</p:sld>
</file>

<file path=ppt/slides/slide1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E1E5DEF-3800-418C-953F-5699F513625A}"/>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One platform. Different tasks. Shared capabilities.</a:t>
            </a:r>
          </a:p>
        </p:txBody>
      </p:sp>
      <p:sp>
        <p:nvSpPr>
          <p:cNvPr id="2" name="">
            <a:extLst xmlns:a="http://schemas.openxmlformats.org/drawingml/2006/main">
              <a:ext uri="{FF2B5EF4-FFF2-40B4-BE49-F238E27FC236}">
                <a16:creationId xmlns:a16="http://schemas.microsoft.com/office/drawing/2014/main" id="{02993206-B504-473A-9A03-1303F42D1349}"/>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13</a:t>
            </a:r>
          </a:p>
        </p:txBody>
      </p:sp>
      <p:sp>
        <p:nvSpPr>
          <p:cNvPr id="3" name="">
            <a:extLst xmlns:a="http://schemas.openxmlformats.org/drawingml/2006/main">
              <a:ext uri="{FF2B5EF4-FFF2-40B4-BE49-F238E27FC236}">
                <a16:creationId xmlns:a16="http://schemas.microsoft.com/office/drawing/2014/main" id="{8DA3046A-6818-4CBB-AF9C-DCEED665C681}"/>
              </a:ext>
            </a:extLst>
          </p:cNvPr>
          <p:cNvSpPr>
            <a:spLocks xmlns:a="http://schemas.openxmlformats.org/drawingml/2006/main" noGrp="1"/>
          </p:cNvSpPr>
          <p:nvPr/>
        </p:nvSpPr>
        <p:spPr>
          <a:xfrm xmlns:a="http://schemas.openxmlformats.org/drawingml/2006/main">
            <a:off x="552450" y="1647825"/>
            <a:ext cx="2990850" cy="4181475"/>
          </a:xfrm>
          <a:prstGeom xmlns:a="http://schemas.openxmlformats.org/drawingml/2006/main" prst="roundRect">
            <a:avLst>
              <a:gd name="adj" fmla="val 7643"/>
            </a:avLst>
          </a:prstGeom>
          <a:solidFill xmlns:a="http://schemas.openxmlformats.org/drawingml/2006/main">
            <a:srgbClr val="17274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1DB43D-018A-4001-8A31-BABF069830A1}"/>
              </a:ext>
            </a:extLst>
          </p:cNvPr>
          <p:cNvSpPr>
            <a:spLocks xmlns:a="http://schemas.openxmlformats.org/drawingml/2006/main" noGrp="1"/>
          </p:cNvSpPr>
          <p:nvPr/>
        </p:nvSpPr>
        <p:spPr>
          <a:xfrm xmlns:a="http://schemas.openxmlformats.org/drawingml/2006/main">
            <a:off x="685800" y="1828800"/>
            <a:ext cx="2724150" cy="3733800"/>
          </a:xfrm>
          <a:prstGeom xmlns:a="http://schemas.openxmlformats.org/drawingml/2006/main" prst="roundRect">
            <a:avLst>
              <a:gd name="adj" fmla="val 4545"/>
            </a:avLst>
          </a:prstGeom>
          <a:solidFill xmlns:a="http://schemas.openxmlformats.org/drawingml/2006/main">
            <a:srgbClr val="FAF8F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40F43F-5772-4FE0-8304-2F2FCD5D709D}"/>
              </a:ext>
            </a:extLst>
          </p:cNvPr>
          <p:cNvSpPr>
            <a:spLocks xmlns:a="http://schemas.openxmlformats.org/drawingml/2006/main" noGrp="1"/>
          </p:cNvSpPr>
          <p:nvPr/>
        </p:nvSpPr>
        <p:spPr>
          <a:xfrm xmlns:a="http://schemas.openxmlformats.org/drawingml/2006/main">
            <a:off x="866775" y="1981200"/>
            <a:ext cx="2362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72744"/>
                </a:solidFill>
                <a:latin typeface="DejaVu Sans"/>
                <a:ea typeface="DejaVu Sans"/>
                <a:cs typeface="DejaVu Sans"/>
              </a:defRPr>
            </a:defPPr>
          </a:lstStyle>
          <a:p xmlns:a="http://schemas.openxmlformats.org/drawingml/2006/main">
            <a:pPr>
              <a:defRPr sz="1950" b="1">
                <a:solidFill>
                  <a:srgbClr val="172744"/>
                </a:solidFill>
                <a:latin typeface="DejaVu Sans"/>
                <a:ea typeface="DejaVu Sans"/>
                <a:cs typeface="DejaVu Sans"/>
              </a:defRPr>
            </a:pPr>
            <a:r>
              <a:rPr sz="1950" b="1">
                <a:solidFill>
                  <a:srgbClr val="172744"/>
                </a:solidFill>
                <a:latin typeface="DejaVu Sans"/>
                <a:ea typeface="DejaVu Sans"/>
                <a:cs typeface="DejaVu Sans"/>
              </a:rPr>
              <a:t>ONE PHONE</a:t>
            </a:r>
          </a:p>
        </p:txBody>
      </p:sp>
      <p:pic>
        <p:nvPicPr>
          <p:cNvPr id="6" name="">
            <a:extLst xmlns:a="http://schemas.openxmlformats.org/drawingml/2006/main">
              <a:ext uri="{FF2B5EF4-FFF2-40B4-BE49-F238E27FC236}">
                <a16:creationId xmlns:a16="http://schemas.microsoft.com/office/drawing/2014/main" id="{CB6FF8BD-1EE7-43D8-901A-3C346E8BA51B}"/>
              </a:ext>
            </a:extLst>
          </p:cNvPr>
          <p:cNvPicPr>
            <a:picLocks xmlns:a="http://schemas.openxmlformats.org/drawingml/2006/main" noChangeAspect="1"/>
          </p:cNvPicPr>
          <p:nvPr/>
        </p:nvPicPr>
        <p:blipFill>
          <a:blip xmlns:r="http://schemas.openxmlformats.org/officeDocument/2006/relationships" xmlns:a="http://schemas.openxmlformats.org/drawingml/2006/main" r:embed="R8f9f767f324147fe"/>
          <a:srcRect xmlns:a="http://schemas.openxmlformats.org/drawingml/2006/main" l="0" t="0" r="66667" b="0"/>
          <a:stretch xmlns:a="http://schemas.openxmlformats.org/drawingml/2006/main"/>
        </p:blipFill>
        <p:spPr>
          <a:xfrm xmlns:a="http://schemas.openxmlformats.org/drawingml/2006/main">
            <a:off x="838200" y="2524125"/>
            <a:ext cx="809625" cy="7334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99F5402-CAFF-4A18-981A-5F1E473DE495}"/>
              </a:ext>
            </a:extLst>
          </p:cNvPr>
          <p:cNvSpPr>
            <a:spLocks xmlns:a="http://schemas.openxmlformats.org/drawingml/2006/main" noGrp="1"/>
          </p:cNvSpPr>
          <p:nvPr/>
        </p:nvSpPr>
        <p:spPr>
          <a:xfrm xmlns:a="http://schemas.openxmlformats.org/drawingml/2006/main">
            <a:off x="1714500" y="2695575"/>
            <a:ext cx="1581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Banking</a:t>
            </a:r>
          </a:p>
        </p:txBody>
      </p:sp>
      <p:pic>
        <p:nvPicPr>
          <p:cNvPr id="8" name="">
            <a:extLst xmlns:a="http://schemas.openxmlformats.org/drawingml/2006/main">
              <a:ext uri="{FF2B5EF4-FFF2-40B4-BE49-F238E27FC236}">
                <a16:creationId xmlns:a16="http://schemas.microsoft.com/office/drawing/2014/main" id="{E481356F-BFB5-44D6-9FA9-AAF8E86AD530}"/>
              </a:ext>
            </a:extLst>
          </p:cNvPr>
          <p:cNvPicPr>
            <a:picLocks xmlns:a="http://schemas.openxmlformats.org/drawingml/2006/main" noChangeAspect="1"/>
          </p:cNvPicPr>
          <p:nvPr/>
        </p:nvPicPr>
        <p:blipFill>
          <a:blip xmlns:r="http://schemas.openxmlformats.org/officeDocument/2006/relationships" xmlns:a="http://schemas.openxmlformats.org/drawingml/2006/main" r:embed="Rbf1634c46a924f66"/>
          <a:srcRect xmlns:a="http://schemas.openxmlformats.org/drawingml/2006/main" l="33333" t="0" r="33333" b="0"/>
          <a:stretch xmlns:a="http://schemas.openxmlformats.org/drawingml/2006/main"/>
        </p:blipFill>
        <p:spPr>
          <a:xfrm xmlns:a="http://schemas.openxmlformats.org/drawingml/2006/main">
            <a:off x="838200" y="3400425"/>
            <a:ext cx="809625" cy="7334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7AA6039-CB29-41EC-A31E-8220F353A723}"/>
              </a:ext>
            </a:extLst>
          </p:cNvPr>
          <p:cNvSpPr>
            <a:spLocks xmlns:a="http://schemas.openxmlformats.org/drawingml/2006/main" noGrp="1"/>
          </p:cNvSpPr>
          <p:nvPr/>
        </p:nvSpPr>
        <p:spPr>
          <a:xfrm xmlns:a="http://schemas.openxmlformats.org/drawingml/2006/main">
            <a:off x="1714500" y="3571875"/>
            <a:ext cx="1581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Shopping</a:t>
            </a:r>
          </a:p>
        </p:txBody>
      </p:sp>
      <p:pic>
        <p:nvPicPr>
          <p:cNvPr id="10" name="">
            <a:extLst xmlns:a="http://schemas.openxmlformats.org/drawingml/2006/main">
              <a:ext uri="{FF2B5EF4-FFF2-40B4-BE49-F238E27FC236}">
                <a16:creationId xmlns:a16="http://schemas.microsoft.com/office/drawing/2014/main" id="{841FDAB9-95F5-46E3-BCFF-50F70DACA91F}"/>
              </a:ext>
            </a:extLst>
          </p:cNvPr>
          <p:cNvPicPr>
            <a:picLocks xmlns:a="http://schemas.openxmlformats.org/drawingml/2006/main" noChangeAspect="1"/>
          </p:cNvPicPr>
          <p:nvPr/>
        </p:nvPicPr>
        <p:blipFill>
          <a:blip xmlns:r="http://schemas.openxmlformats.org/officeDocument/2006/relationships" xmlns:a="http://schemas.openxmlformats.org/drawingml/2006/main" r:embed="Rc0c582c33d694568"/>
          <a:srcRect xmlns:a="http://schemas.openxmlformats.org/drawingml/2006/main" l="66667" t="0" r="0" b="0"/>
          <a:stretch xmlns:a="http://schemas.openxmlformats.org/drawingml/2006/main"/>
        </p:blipFill>
        <p:spPr>
          <a:xfrm xmlns:a="http://schemas.openxmlformats.org/drawingml/2006/main">
            <a:off x="838200" y="4276725"/>
            <a:ext cx="809625" cy="7334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B8F90A7-4020-418C-B0D5-965F1172410B}"/>
              </a:ext>
            </a:extLst>
          </p:cNvPr>
          <p:cNvSpPr>
            <a:spLocks xmlns:a="http://schemas.openxmlformats.org/drawingml/2006/main" noGrp="1"/>
          </p:cNvSpPr>
          <p:nvPr/>
        </p:nvSpPr>
        <p:spPr>
          <a:xfrm xmlns:a="http://schemas.openxmlformats.org/drawingml/2006/main">
            <a:off x="1714500" y="4448175"/>
            <a:ext cx="1581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Navigation</a:t>
            </a:r>
          </a:p>
        </p:txBody>
      </p:sp>
      <p:sp>
        <p:nvSpPr>
          <p:cNvPr id="12" name="">
            <a:extLst xmlns:a="http://schemas.openxmlformats.org/drawingml/2006/main">
              <a:ext uri="{FF2B5EF4-FFF2-40B4-BE49-F238E27FC236}">
                <a16:creationId xmlns:a16="http://schemas.microsoft.com/office/drawing/2014/main" id="{A0D423F2-016F-4418-9879-BC15407EC650}"/>
              </a:ext>
            </a:extLst>
          </p:cNvPr>
          <p:cNvSpPr>
            <a:spLocks xmlns:a="http://schemas.openxmlformats.org/drawingml/2006/main" noGrp="1"/>
          </p:cNvSpPr>
          <p:nvPr/>
        </p:nvSpPr>
        <p:spPr>
          <a:xfrm xmlns:a="http://schemas.openxmlformats.org/drawingml/2006/main">
            <a:off x="866775" y="5295900"/>
            <a:ext cx="2447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72744"/>
                </a:solidFill>
                <a:latin typeface="DejaVu Sans"/>
                <a:ea typeface="DejaVu Sans"/>
                <a:cs typeface="DejaVu Sans"/>
              </a:defRPr>
            </a:defPPr>
          </a:lstStyle>
          <a:p xmlns:a="http://schemas.openxmlformats.org/drawingml/2006/main">
            <a:pPr>
              <a:defRPr sz="1425" b="1">
                <a:solidFill>
                  <a:srgbClr val="172744"/>
                </a:solidFill>
                <a:latin typeface="DejaVu Sans"/>
                <a:ea typeface="DejaVu Sans"/>
                <a:cs typeface="DejaVu Sans"/>
              </a:defRPr>
            </a:pPr>
            <a:r>
              <a:rPr sz="1425" b="1">
                <a:solidFill>
                  <a:srgbClr val="172744"/>
                </a:solidFill>
                <a:latin typeface="DejaVu Sans"/>
                <a:ea typeface="DejaVu Sans"/>
                <a:cs typeface="DejaVu Sans"/>
              </a:rPr>
              <a:t>Common services</a:t>
            </a:r>
          </a:p>
        </p:txBody>
      </p:sp>
      <p:sp>
        <p:nvSpPr>
          <p:cNvPr id="13" name="">
            <a:extLst xmlns:a="http://schemas.openxmlformats.org/drawingml/2006/main">
              <a:ext uri="{FF2B5EF4-FFF2-40B4-BE49-F238E27FC236}">
                <a16:creationId xmlns:a16="http://schemas.microsoft.com/office/drawing/2014/main" id="{8C37738E-CCE2-4248-9F06-F6C9B7E11D72}"/>
              </a:ext>
            </a:extLst>
          </p:cNvPr>
          <p:cNvSpPr>
            <a:spLocks xmlns:a="http://schemas.openxmlformats.org/drawingml/2006/main" noGrp="1"/>
          </p:cNvSpPr>
          <p:nvPr/>
        </p:nvSpPr>
        <p:spPr>
          <a:xfrm xmlns:a="http://schemas.openxmlformats.org/drawingml/2006/main">
            <a:off x="3705225" y="3448050"/>
            <a:ext cx="447675" cy="323850"/>
          </a:xfrm>
          <a:prstGeom xmlns:a="http://schemas.openxmlformats.org/drawingml/2006/main" prst="rightArrow">
            <a:avLst/>
          </a:prstGeom>
          <a:solidFill xmlns:a="http://schemas.openxmlformats.org/drawingml/2006/main">
            <a:srgbClr val="304DD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814BCF-4294-4A45-9DFD-BC8C3D44E06A}"/>
              </a:ext>
            </a:extLst>
          </p:cNvPr>
          <p:cNvSpPr>
            <a:spLocks xmlns:a="http://schemas.openxmlformats.org/drawingml/2006/main" noGrp="1"/>
          </p:cNvSpPr>
          <p:nvPr/>
        </p:nvSpPr>
        <p:spPr>
          <a:xfrm xmlns:a="http://schemas.openxmlformats.org/drawingml/2006/main">
            <a:off x="4305300" y="1647825"/>
            <a:ext cx="7353300" cy="4181475"/>
          </a:xfrm>
          <a:prstGeom xmlns:a="http://schemas.openxmlformats.org/drawingml/2006/main" prst="roundRect">
            <a:avLst>
              <a:gd name="adj" fmla="val 5467"/>
            </a:avLst>
          </a:prstGeom>
          <a:solidFill xmlns:a="http://schemas.openxmlformats.org/drawingml/2006/main">
            <a:srgbClr val="17274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3D75D3D-2778-48A2-B177-7E3BACD3CC6F}"/>
              </a:ext>
            </a:extLst>
          </p:cNvPr>
          <p:cNvSpPr>
            <a:spLocks xmlns:a="http://schemas.openxmlformats.org/drawingml/2006/main" noGrp="1"/>
          </p:cNvSpPr>
          <p:nvPr/>
        </p:nvSpPr>
        <p:spPr>
          <a:xfrm xmlns:a="http://schemas.openxmlformats.org/drawingml/2006/main">
            <a:off x="4438650" y="1781175"/>
            <a:ext cx="7086600" cy="3914775"/>
          </a:xfrm>
          <a:prstGeom xmlns:a="http://schemas.openxmlformats.org/drawingml/2006/main" prst="roundRect">
            <a:avLst>
              <a:gd name="adj" fmla="val 3163"/>
            </a:avLst>
          </a:prstGeom>
          <a:solidFill xmlns:a="http://schemas.openxmlformats.org/drawingml/2006/main">
            <a:srgbClr val="FAF8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DD1FDB8-86F3-40C4-8356-27A721C9ACB5}"/>
              </a:ext>
            </a:extLst>
          </p:cNvPr>
          <p:cNvSpPr>
            <a:spLocks xmlns:a="http://schemas.openxmlformats.org/drawingml/2006/main" noGrp="1"/>
          </p:cNvSpPr>
          <p:nvPr/>
        </p:nvSpPr>
        <p:spPr>
          <a:xfrm xmlns:a="http://schemas.openxmlformats.org/drawingml/2006/main">
            <a:off x="4600575" y="1885950"/>
            <a:ext cx="676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2744"/>
                </a:solidFill>
                <a:latin typeface="DejaVu Sans"/>
                <a:ea typeface="DejaVu Sans"/>
                <a:cs typeface="DejaVu Sans"/>
              </a:defRPr>
            </a:defPPr>
          </a:lstStyle>
          <a:p xmlns:a="http://schemas.openxmlformats.org/drawingml/2006/main">
            <a:pPr>
              <a:defRPr sz="2025" b="1">
                <a:solidFill>
                  <a:srgbClr val="172744"/>
                </a:solidFill>
                <a:latin typeface="DejaVu Sans"/>
                <a:ea typeface="DejaVu Sans"/>
                <a:cs typeface="DejaVu Sans"/>
              </a:defRPr>
            </a:pPr>
            <a:r>
              <a:rPr sz="2025" b="1">
                <a:solidFill>
                  <a:srgbClr val="172744"/>
                </a:solidFill>
                <a:latin typeface="DejaVu Sans"/>
                <a:ea typeface="DejaVu Sans"/>
                <a:cs typeface="DejaVu Sans"/>
              </a:rPr>
              <a:t>ONE ROBOTICS PLATFORM</a:t>
            </a:r>
          </a:p>
        </p:txBody>
      </p:sp>
      <p:pic>
        <p:nvPicPr>
          <p:cNvPr id="17" name="">
            <a:extLst xmlns:a="http://schemas.openxmlformats.org/drawingml/2006/main">
              <a:ext uri="{FF2B5EF4-FFF2-40B4-BE49-F238E27FC236}">
                <a16:creationId xmlns:a16="http://schemas.microsoft.com/office/drawing/2014/main" id="{10D8BA85-8DD9-45B8-A667-9D9B7EB526F4}"/>
              </a:ext>
            </a:extLst>
          </p:cNvPr>
          <p:cNvPicPr>
            <a:picLocks xmlns:a="http://schemas.openxmlformats.org/drawingml/2006/main" noChangeAspect="1"/>
          </p:cNvPicPr>
          <p:nvPr/>
        </p:nvPicPr>
        <p:blipFill>
          <a:blip xmlns:r="http://schemas.openxmlformats.org/officeDocument/2006/relationships" xmlns:a="http://schemas.openxmlformats.org/drawingml/2006/main" r:embed="R1c4ab4b28adb4dfb"/>
          <a:srcRect xmlns:a="http://schemas.openxmlformats.org/drawingml/2006/main" l="0" t="0" r="66667" b="50000"/>
          <a:stretch xmlns:a="http://schemas.openxmlformats.org/drawingml/2006/main"/>
        </p:blipFill>
        <p:spPr>
          <a:xfrm xmlns:a="http://schemas.openxmlformats.org/drawingml/2006/main">
            <a:off x="5057775" y="2352675"/>
            <a:ext cx="1095375" cy="109537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71939003-61CD-4EF5-BD3E-CD2A2A92B67A}"/>
              </a:ext>
            </a:extLst>
          </p:cNvPr>
          <p:cNvSpPr>
            <a:spLocks xmlns:a="http://schemas.openxmlformats.org/drawingml/2006/main" noGrp="1"/>
          </p:cNvSpPr>
          <p:nvPr/>
        </p:nvSpPr>
        <p:spPr>
          <a:xfrm xmlns:a="http://schemas.openxmlformats.org/drawingml/2006/main">
            <a:off x="4600575" y="344805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Inspection</a:t>
            </a:r>
          </a:p>
        </p:txBody>
      </p:sp>
      <p:pic>
        <p:nvPicPr>
          <p:cNvPr id="19" name="">
            <a:extLst xmlns:a="http://schemas.openxmlformats.org/drawingml/2006/main">
              <a:ext uri="{FF2B5EF4-FFF2-40B4-BE49-F238E27FC236}">
                <a16:creationId xmlns:a16="http://schemas.microsoft.com/office/drawing/2014/main" id="{BD7167D8-C117-4EA6-93C2-6643D6161B33}"/>
              </a:ext>
            </a:extLst>
          </p:cNvPr>
          <p:cNvPicPr>
            <a:picLocks xmlns:a="http://schemas.openxmlformats.org/drawingml/2006/main" noChangeAspect="1"/>
          </p:cNvPicPr>
          <p:nvPr/>
        </p:nvPicPr>
        <p:blipFill>
          <a:blip xmlns:r="http://schemas.openxmlformats.org/officeDocument/2006/relationships" xmlns:a="http://schemas.openxmlformats.org/drawingml/2006/main" r:embed="R09bc4701dc4846a8"/>
          <a:srcRect xmlns:a="http://schemas.openxmlformats.org/drawingml/2006/main" l="33333" t="0" r="33333" b="50000"/>
          <a:stretch xmlns:a="http://schemas.openxmlformats.org/drawingml/2006/main"/>
        </p:blipFill>
        <p:spPr>
          <a:xfrm xmlns:a="http://schemas.openxmlformats.org/drawingml/2006/main">
            <a:off x="7334250" y="2352675"/>
            <a:ext cx="1095375" cy="109537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6A5860A7-8C8A-4FC6-BF42-C81B517FE2D2}"/>
              </a:ext>
            </a:extLst>
          </p:cNvPr>
          <p:cNvSpPr>
            <a:spLocks xmlns:a="http://schemas.openxmlformats.org/drawingml/2006/main" noGrp="1"/>
          </p:cNvSpPr>
          <p:nvPr/>
        </p:nvSpPr>
        <p:spPr>
          <a:xfrm xmlns:a="http://schemas.openxmlformats.org/drawingml/2006/main">
            <a:off x="6877050" y="344805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Sanding</a:t>
            </a:r>
          </a:p>
        </p:txBody>
      </p:sp>
      <p:pic>
        <p:nvPicPr>
          <p:cNvPr id="21" name="">
            <a:extLst xmlns:a="http://schemas.openxmlformats.org/drawingml/2006/main">
              <a:ext uri="{FF2B5EF4-FFF2-40B4-BE49-F238E27FC236}">
                <a16:creationId xmlns:a16="http://schemas.microsoft.com/office/drawing/2014/main" id="{EC834163-0174-4BF6-9083-9083151ACF7D}"/>
              </a:ext>
            </a:extLst>
          </p:cNvPr>
          <p:cNvPicPr>
            <a:picLocks xmlns:a="http://schemas.openxmlformats.org/drawingml/2006/main" noChangeAspect="1"/>
          </p:cNvPicPr>
          <p:nvPr/>
        </p:nvPicPr>
        <p:blipFill>
          <a:blip xmlns:r="http://schemas.openxmlformats.org/officeDocument/2006/relationships" xmlns:a="http://schemas.openxmlformats.org/drawingml/2006/main" r:embed="R28c5958c09794dd0"/>
          <a:srcRect xmlns:a="http://schemas.openxmlformats.org/drawingml/2006/main" l="66667" t="0" r="0" b="50000"/>
          <a:stretch xmlns:a="http://schemas.openxmlformats.org/drawingml/2006/main"/>
        </p:blipFill>
        <p:spPr>
          <a:xfrm xmlns:a="http://schemas.openxmlformats.org/drawingml/2006/main">
            <a:off x="9610725" y="2352675"/>
            <a:ext cx="1095375" cy="109537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BDA59F4F-D62C-4014-9F78-A0BB61DD4429}"/>
              </a:ext>
            </a:extLst>
          </p:cNvPr>
          <p:cNvSpPr>
            <a:spLocks xmlns:a="http://schemas.openxmlformats.org/drawingml/2006/main" noGrp="1"/>
          </p:cNvSpPr>
          <p:nvPr/>
        </p:nvSpPr>
        <p:spPr>
          <a:xfrm xmlns:a="http://schemas.openxmlformats.org/drawingml/2006/main">
            <a:off x="9153525" y="344805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Drilling</a:t>
            </a:r>
          </a:p>
        </p:txBody>
      </p:sp>
      <p:pic>
        <p:nvPicPr>
          <p:cNvPr id="23" name="">
            <a:extLst xmlns:a="http://schemas.openxmlformats.org/drawingml/2006/main">
              <a:ext uri="{FF2B5EF4-FFF2-40B4-BE49-F238E27FC236}">
                <a16:creationId xmlns:a16="http://schemas.microsoft.com/office/drawing/2014/main" id="{103D4CC5-B4A8-412D-A39F-8F43959F2C6D}"/>
              </a:ext>
            </a:extLst>
          </p:cNvPr>
          <p:cNvPicPr>
            <a:picLocks xmlns:a="http://schemas.openxmlformats.org/drawingml/2006/main" noChangeAspect="1"/>
          </p:cNvPicPr>
          <p:nvPr/>
        </p:nvPicPr>
        <p:blipFill>
          <a:blip xmlns:r="http://schemas.openxmlformats.org/officeDocument/2006/relationships" xmlns:a="http://schemas.openxmlformats.org/drawingml/2006/main" r:embed="R320c1f2d2a1c4b60"/>
          <a:srcRect xmlns:a="http://schemas.openxmlformats.org/drawingml/2006/main" l="0" t="50000" r="66667" b="0"/>
          <a:stretch xmlns:a="http://schemas.openxmlformats.org/drawingml/2006/main"/>
        </p:blipFill>
        <p:spPr>
          <a:xfrm xmlns:a="http://schemas.openxmlformats.org/drawingml/2006/main">
            <a:off x="5057775" y="3733800"/>
            <a:ext cx="1095375" cy="1095375"/>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641540D1-5615-49C2-8AAA-FFFE58407213}"/>
              </a:ext>
            </a:extLst>
          </p:cNvPr>
          <p:cNvSpPr>
            <a:spLocks xmlns:a="http://schemas.openxmlformats.org/drawingml/2006/main" noGrp="1"/>
          </p:cNvSpPr>
          <p:nvPr/>
        </p:nvSpPr>
        <p:spPr>
          <a:xfrm xmlns:a="http://schemas.openxmlformats.org/drawingml/2006/main">
            <a:off x="4600575" y="4829175"/>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Auto-rigging</a:t>
            </a:r>
          </a:p>
        </p:txBody>
      </p:sp>
      <p:pic>
        <p:nvPicPr>
          <p:cNvPr id="25" name="">
            <a:extLst xmlns:a="http://schemas.openxmlformats.org/drawingml/2006/main">
              <a:ext uri="{FF2B5EF4-FFF2-40B4-BE49-F238E27FC236}">
                <a16:creationId xmlns:a16="http://schemas.microsoft.com/office/drawing/2014/main" id="{E3D6C461-9B31-4FBC-9871-A5CBDDD491BE}"/>
              </a:ext>
            </a:extLst>
          </p:cNvPr>
          <p:cNvPicPr>
            <a:picLocks xmlns:a="http://schemas.openxmlformats.org/drawingml/2006/main" noChangeAspect="1"/>
          </p:cNvPicPr>
          <p:nvPr/>
        </p:nvPicPr>
        <p:blipFill>
          <a:blip xmlns:r="http://schemas.openxmlformats.org/officeDocument/2006/relationships" xmlns:a="http://schemas.openxmlformats.org/drawingml/2006/main" r:embed="Rf837d680f416481b"/>
          <a:srcRect xmlns:a="http://schemas.openxmlformats.org/drawingml/2006/main" l="33333" t="50000" r="33333" b="0"/>
          <a:stretch xmlns:a="http://schemas.openxmlformats.org/drawingml/2006/main"/>
        </p:blipFill>
        <p:spPr>
          <a:xfrm xmlns:a="http://schemas.openxmlformats.org/drawingml/2006/main">
            <a:off x="7334250" y="3733800"/>
            <a:ext cx="1095375" cy="1095375"/>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BAA11B36-1E86-4F9E-8A01-4655256D7461}"/>
              </a:ext>
            </a:extLst>
          </p:cNvPr>
          <p:cNvSpPr>
            <a:spLocks xmlns:a="http://schemas.openxmlformats.org/drawingml/2006/main" noGrp="1"/>
          </p:cNvSpPr>
          <p:nvPr/>
        </p:nvSpPr>
        <p:spPr>
          <a:xfrm xmlns:a="http://schemas.openxmlformats.org/drawingml/2006/main">
            <a:off x="6877050" y="4829175"/>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Pick-and-place</a:t>
            </a:r>
          </a:p>
        </p:txBody>
      </p:sp>
      <p:pic>
        <p:nvPicPr>
          <p:cNvPr id="27" name="">
            <a:extLst xmlns:a="http://schemas.openxmlformats.org/drawingml/2006/main">
              <a:ext uri="{FF2B5EF4-FFF2-40B4-BE49-F238E27FC236}">
                <a16:creationId xmlns:a16="http://schemas.microsoft.com/office/drawing/2014/main" id="{935455E0-656A-44EB-932C-05E7846A1FBE}"/>
              </a:ext>
            </a:extLst>
          </p:cNvPr>
          <p:cNvPicPr>
            <a:picLocks xmlns:a="http://schemas.openxmlformats.org/drawingml/2006/main" noChangeAspect="1"/>
          </p:cNvPicPr>
          <p:nvPr/>
        </p:nvPicPr>
        <p:blipFill>
          <a:blip xmlns:r="http://schemas.openxmlformats.org/officeDocument/2006/relationships" xmlns:a="http://schemas.openxmlformats.org/drawingml/2006/main" r:embed="R5f0fabcc4169442f"/>
          <a:srcRect xmlns:a="http://schemas.openxmlformats.org/drawingml/2006/main" l="66667" t="50000" r="0" b="0"/>
          <a:stretch xmlns:a="http://schemas.openxmlformats.org/drawingml/2006/main"/>
        </p:blipFill>
        <p:spPr>
          <a:xfrm xmlns:a="http://schemas.openxmlformats.org/drawingml/2006/main">
            <a:off x="9610725" y="3733800"/>
            <a:ext cx="1095375" cy="1095375"/>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CD9FA4BF-EF82-486F-AEFE-B46A42E23268}"/>
              </a:ext>
            </a:extLst>
          </p:cNvPr>
          <p:cNvSpPr>
            <a:spLocks xmlns:a="http://schemas.openxmlformats.org/drawingml/2006/main" noGrp="1"/>
          </p:cNvSpPr>
          <p:nvPr/>
        </p:nvSpPr>
        <p:spPr>
          <a:xfrm xmlns:a="http://schemas.openxmlformats.org/drawingml/2006/main">
            <a:off x="9153525" y="4829175"/>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Cleaning</a:t>
            </a:r>
          </a:p>
        </p:txBody>
      </p:sp>
      <p:sp>
        <p:nvSpPr>
          <p:cNvPr id="29" name="">
            <a:extLst xmlns:a="http://schemas.openxmlformats.org/drawingml/2006/main">
              <a:ext uri="{FF2B5EF4-FFF2-40B4-BE49-F238E27FC236}">
                <a16:creationId xmlns:a16="http://schemas.microsoft.com/office/drawing/2014/main" id="{171E3F9B-4C66-4A3B-A283-3F02F3B34960}"/>
              </a:ext>
            </a:extLst>
          </p:cNvPr>
          <p:cNvSpPr>
            <a:spLocks xmlns:a="http://schemas.openxmlformats.org/drawingml/2006/main" noGrp="1"/>
          </p:cNvSpPr>
          <p:nvPr/>
        </p:nvSpPr>
        <p:spPr>
          <a:xfrm xmlns:a="http://schemas.openxmlformats.org/drawingml/2006/main">
            <a:off x="4600575" y="5257800"/>
            <a:ext cx="6638925" cy="352425"/>
          </a:xfrm>
          <a:prstGeom xmlns:a="http://schemas.openxmlformats.org/drawingml/2006/main" prst="roundRect">
            <a:avLst>
              <a:gd name="adj" fmla="val 13514"/>
            </a:avLst>
          </a:prstGeom>
          <a:solidFill xmlns:a="http://schemas.openxmlformats.org/drawingml/2006/main">
            <a:srgbClr val="17274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9C4A014-6E31-4C5C-831A-9ACDF2048C40}"/>
              </a:ext>
            </a:extLst>
          </p:cNvPr>
          <p:cNvSpPr>
            <a:spLocks xmlns:a="http://schemas.openxmlformats.org/drawingml/2006/main" noGrp="1"/>
          </p:cNvSpPr>
          <p:nvPr/>
        </p:nvSpPr>
        <p:spPr>
          <a:xfrm xmlns:a="http://schemas.openxmlformats.org/drawingml/2006/main">
            <a:off x="4695825" y="5276850"/>
            <a:ext cx="6448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FFFFFF"/>
                </a:solidFill>
                <a:latin typeface="DejaVu Sans"/>
                <a:ea typeface="DejaVu Sans"/>
                <a:cs typeface="DejaVu Sans"/>
              </a:defRPr>
            </a:defPPr>
          </a:lstStyle>
          <a:p xmlns:a="http://schemas.openxmlformats.org/drawingml/2006/main">
            <a:pPr>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Choose the right planning method for the task</a:t>
            </a:r>
          </a:p>
        </p:txBody>
      </p:sp>
      <p:sp>
        <p:nvSpPr>
          <p:cNvPr id="31" name="">
            <a:extLst xmlns:a="http://schemas.openxmlformats.org/drawingml/2006/main">
              <a:ext uri="{FF2B5EF4-FFF2-40B4-BE49-F238E27FC236}">
                <a16:creationId xmlns:a16="http://schemas.microsoft.com/office/drawing/2014/main" id="{5D737F40-724A-46A8-8F22-CB737EA1C65A}"/>
              </a:ext>
            </a:extLst>
          </p:cNvPr>
          <p:cNvSpPr>
            <a:spLocks xmlns:a="http://schemas.openxmlformats.org/drawingml/2006/main" noGrp="1"/>
          </p:cNvSpPr>
          <p:nvPr/>
        </p:nvSpPr>
        <p:spPr>
          <a:xfrm xmlns:a="http://schemas.openxmlformats.org/drawingml/2006/main">
            <a:off x="4438650" y="5953125"/>
            <a:ext cx="7105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Shared data, validation and execution</a:t>
            </a:r>
          </a:p>
        </p:txBody>
      </p:sp>
      <p:sp>
        <p:nvSpPr>
          <p:cNvPr id="32" name="">
            <a:extLst xmlns:a="http://schemas.openxmlformats.org/drawingml/2006/main">
              <a:ext uri="{FF2B5EF4-FFF2-40B4-BE49-F238E27FC236}">
                <a16:creationId xmlns:a16="http://schemas.microsoft.com/office/drawing/2014/main" id="{B184EDB7-74C2-4442-A826-83065F87D5F4}"/>
              </a:ext>
            </a:extLst>
          </p:cNvPr>
          <p:cNvSpPr>
            <a:spLocks xmlns:a="http://schemas.openxmlformats.org/drawingml/2006/main" noGrp="1"/>
          </p:cNvSpPr>
          <p:nvPr/>
        </p:nvSpPr>
        <p:spPr>
          <a:xfrm xmlns:a="http://schemas.openxmlformats.org/drawingml/2006/main">
            <a:off x="723900" y="6019800"/>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One foundation</a:t>
            </a:r>
          </a:p>
        </p:txBody>
      </p:sp>
    </p:spTree>
    <p:extLst>
      <p:ext uri="{BB962C8B-B14F-4D97-AF65-F5344CB8AC3E}">
        <p14:creationId xmlns:p14="http://schemas.microsoft.com/office/powerpoint/2010/main" val="155010832"/>
      </p:ext>
    </p:extLst>
  </p:cSld>
</p:sld>
</file>

<file path=ppt/slides/slide1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55E5CDD-C1B5-4636-8AF7-A2E5E6E62157}"/>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A complete product, from first need to daily use</a:t>
            </a:r>
          </a:p>
        </p:txBody>
      </p:sp>
      <p:sp>
        <p:nvSpPr>
          <p:cNvPr id="2" name="">
            <a:extLst xmlns:a="http://schemas.openxmlformats.org/drawingml/2006/main">
              <a:ext uri="{FF2B5EF4-FFF2-40B4-BE49-F238E27FC236}">
                <a16:creationId xmlns:a16="http://schemas.microsoft.com/office/drawing/2014/main" id="{89C9A99D-D32A-47AC-B7F7-5BA20877F3F6}"/>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14</a:t>
            </a:r>
          </a:p>
        </p:txBody>
      </p:sp>
      <p:pic>
        <p:nvPicPr>
          <p:cNvPr id="3" name="">
            <a:extLst xmlns:a="http://schemas.openxmlformats.org/drawingml/2006/main">
              <a:ext uri="{FF2B5EF4-FFF2-40B4-BE49-F238E27FC236}">
                <a16:creationId xmlns:a16="http://schemas.microsoft.com/office/drawing/2014/main" id="{136F8F67-5D7B-4B14-8AA2-11746C17ED32}"/>
              </a:ext>
            </a:extLst>
          </p:cNvPr>
          <p:cNvPicPr>
            <a:picLocks xmlns:a="http://schemas.openxmlformats.org/drawingml/2006/main" noChangeAspect="1"/>
          </p:cNvPicPr>
          <p:nvPr/>
        </p:nvPicPr>
        <p:blipFill>
          <a:blip xmlns:r="http://schemas.openxmlformats.org/officeDocument/2006/relationships" xmlns:a="http://schemas.openxmlformats.org/drawingml/2006/main" r:embed="Rc137e978d9494222"/>
          <a:srcRect xmlns:a="http://schemas.openxmlformats.org/drawingml/2006/main" l="0" t="9986" r="0" b="9986"/>
          <a:stretch xmlns:a="http://schemas.openxmlformats.org/drawingml/2006/main">
            <a:fillRect l="0" t="0" r="0" b="0"/>
          </a:stretch>
        </p:blipFill>
        <p:spPr>
          <a:xfrm xmlns:a="http://schemas.openxmlformats.org/drawingml/2006/main">
            <a:off x="4714875" y="1809750"/>
            <a:ext cx="2524125" cy="2524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EEA97D9-FBF2-440B-92FB-DE004CDA0F18}"/>
              </a:ext>
            </a:extLst>
          </p:cNvPr>
          <p:cNvSpPr>
            <a:spLocks xmlns:a="http://schemas.openxmlformats.org/drawingml/2006/main" noGrp="1"/>
          </p:cNvSpPr>
          <p:nvPr/>
        </p:nvSpPr>
        <p:spPr>
          <a:xfrm xmlns:a="http://schemas.openxmlformats.org/drawingml/2006/main">
            <a:off x="552450" y="1971675"/>
            <a:ext cx="3429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04DD9"/>
                </a:solidFill>
                <a:latin typeface="DejaVu Sans"/>
                <a:ea typeface="DejaVu Sans"/>
                <a:cs typeface="DejaVu Sans"/>
              </a:defRPr>
            </a:defPPr>
          </a:lstStyle>
          <a:p xmlns:a="http://schemas.openxmlformats.org/drawingml/2006/main">
            <a:pPr>
              <a:defRPr sz="2175" b="1">
                <a:solidFill>
                  <a:srgbClr val="304DD9"/>
                </a:solidFill>
                <a:latin typeface="DejaVu Sans"/>
                <a:ea typeface="DejaVu Sans"/>
                <a:cs typeface="DejaVu Sans"/>
              </a:defRPr>
            </a:pPr>
            <a:r>
              <a:rPr sz="2175" b="1">
                <a:solidFill>
                  <a:srgbClr val="304DD9"/>
                </a:solidFill>
                <a:latin typeface="DejaVu Sans"/>
                <a:ea typeface="DejaVu Sans"/>
                <a:cs typeface="DejaVu Sans"/>
              </a:rPr>
              <a:t>See the part</a:t>
            </a:r>
          </a:p>
        </p:txBody>
      </p:sp>
      <p:sp>
        <p:nvSpPr>
          <p:cNvPr id="5" name="">
            <a:extLst xmlns:a="http://schemas.openxmlformats.org/drawingml/2006/main">
              <a:ext uri="{FF2B5EF4-FFF2-40B4-BE49-F238E27FC236}">
                <a16:creationId xmlns:a16="http://schemas.microsoft.com/office/drawing/2014/main" id="{BEF86653-3C3C-4DC6-A19D-952F79C42677}"/>
              </a:ext>
            </a:extLst>
          </p:cNvPr>
          <p:cNvSpPr>
            <a:spLocks xmlns:a="http://schemas.openxmlformats.org/drawingml/2006/main" noGrp="1"/>
          </p:cNvSpPr>
          <p:nvPr/>
        </p:nvSpPr>
        <p:spPr>
          <a:xfrm xmlns:a="http://schemas.openxmlformats.org/drawingml/2006/main">
            <a:off x="552450" y="271462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Know its position.</a:t>
            </a:r>
          </a:p>
        </p:txBody>
      </p:sp>
      <p:sp>
        <p:nvSpPr>
          <p:cNvPr id="6" name="">
            <a:extLst xmlns:a="http://schemas.openxmlformats.org/drawingml/2006/main">
              <a:ext uri="{FF2B5EF4-FFF2-40B4-BE49-F238E27FC236}">
                <a16:creationId xmlns:a16="http://schemas.microsoft.com/office/drawing/2014/main" id="{CB6383E2-B331-42C7-843E-CB449FF2A054}"/>
              </a:ext>
            </a:extLst>
          </p:cNvPr>
          <p:cNvSpPr>
            <a:spLocks xmlns:a="http://schemas.openxmlformats.org/drawingml/2006/main" noGrp="1"/>
          </p:cNvSpPr>
          <p:nvPr/>
        </p:nvSpPr>
        <p:spPr>
          <a:xfrm xmlns:a="http://schemas.openxmlformats.org/drawingml/2006/main">
            <a:off x="8267700" y="1971675"/>
            <a:ext cx="3429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04DD9"/>
                </a:solidFill>
                <a:latin typeface="DejaVu Sans"/>
                <a:ea typeface="DejaVu Sans"/>
                <a:cs typeface="DejaVu Sans"/>
              </a:defRPr>
            </a:defPPr>
          </a:lstStyle>
          <a:p xmlns:a="http://schemas.openxmlformats.org/drawingml/2006/main">
            <a:pPr>
              <a:defRPr sz="2175" b="1">
                <a:solidFill>
                  <a:srgbClr val="304DD9"/>
                </a:solidFill>
                <a:latin typeface="DejaVu Sans"/>
                <a:ea typeface="DejaVu Sans"/>
                <a:cs typeface="DejaVu Sans"/>
              </a:defRPr>
            </a:pPr>
            <a:r>
              <a:rPr sz="2175" b="1">
                <a:solidFill>
                  <a:srgbClr val="304DD9"/>
                </a:solidFill>
                <a:latin typeface="DejaVu Sans"/>
                <a:ea typeface="DejaVu Sans"/>
                <a:cs typeface="DejaVu Sans"/>
              </a:rPr>
              <a:t>Plan the movement</a:t>
            </a:r>
          </a:p>
        </p:txBody>
      </p:sp>
      <p:sp>
        <p:nvSpPr>
          <p:cNvPr id="7" name="">
            <a:extLst xmlns:a="http://schemas.openxmlformats.org/drawingml/2006/main">
              <a:ext uri="{FF2B5EF4-FFF2-40B4-BE49-F238E27FC236}">
                <a16:creationId xmlns:a16="http://schemas.microsoft.com/office/drawing/2014/main" id="{7C319731-FBC0-41CF-ABCD-F4325FA8FA79}"/>
              </a:ext>
            </a:extLst>
          </p:cNvPr>
          <p:cNvSpPr>
            <a:spLocks xmlns:a="http://schemas.openxmlformats.org/drawingml/2006/main" noGrp="1"/>
          </p:cNvSpPr>
          <p:nvPr/>
        </p:nvSpPr>
        <p:spPr>
          <a:xfrm xmlns:a="http://schemas.openxmlformats.org/drawingml/2006/main">
            <a:off x="8267700" y="271462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Choose a suitable path.</a:t>
            </a:r>
          </a:p>
        </p:txBody>
      </p:sp>
      <p:sp>
        <p:nvSpPr>
          <p:cNvPr id="8" name="">
            <a:extLst xmlns:a="http://schemas.openxmlformats.org/drawingml/2006/main">
              <a:ext uri="{FF2B5EF4-FFF2-40B4-BE49-F238E27FC236}">
                <a16:creationId xmlns:a16="http://schemas.microsoft.com/office/drawing/2014/main" id="{CF3DF92C-9D9D-414D-820A-CF36741D8519}"/>
              </a:ext>
            </a:extLst>
          </p:cNvPr>
          <p:cNvSpPr>
            <a:spLocks xmlns:a="http://schemas.openxmlformats.org/drawingml/2006/main" noGrp="1"/>
          </p:cNvSpPr>
          <p:nvPr/>
        </p:nvSpPr>
        <p:spPr>
          <a:xfrm xmlns:a="http://schemas.openxmlformats.org/drawingml/2006/main">
            <a:off x="552450" y="3324225"/>
            <a:ext cx="3429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04DD9"/>
                </a:solidFill>
                <a:latin typeface="DejaVu Sans"/>
                <a:ea typeface="DejaVu Sans"/>
                <a:cs typeface="DejaVu Sans"/>
              </a:defRPr>
            </a:defPPr>
          </a:lstStyle>
          <a:p xmlns:a="http://schemas.openxmlformats.org/drawingml/2006/main">
            <a:pPr>
              <a:defRPr sz="2175" b="1">
                <a:solidFill>
                  <a:srgbClr val="304DD9"/>
                </a:solidFill>
                <a:latin typeface="DejaVu Sans"/>
                <a:ea typeface="DejaVu Sans"/>
                <a:cs typeface="DejaVu Sans"/>
              </a:defRPr>
            </a:pPr>
            <a:r>
              <a:rPr sz="2175" b="1">
                <a:solidFill>
                  <a:srgbClr val="304DD9"/>
                </a:solidFill>
                <a:latin typeface="DejaVu Sans"/>
                <a:ea typeface="DejaVu Sans"/>
                <a:cs typeface="DejaVu Sans"/>
              </a:rPr>
              <a:t>Move accurately</a:t>
            </a:r>
          </a:p>
        </p:txBody>
      </p:sp>
      <p:sp>
        <p:nvSpPr>
          <p:cNvPr id="9" name="">
            <a:extLst xmlns:a="http://schemas.openxmlformats.org/drawingml/2006/main">
              <a:ext uri="{FF2B5EF4-FFF2-40B4-BE49-F238E27FC236}">
                <a16:creationId xmlns:a16="http://schemas.microsoft.com/office/drawing/2014/main" id="{D77F3B33-AF86-40E1-AA6B-CAED7D9AA4E2}"/>
              </a:ext>
            </a:extLst>
          </p:cNvPr>
          <p:cNvSpPr>
            <a:spLocks xmlns:a="http://schemas.openxmlformats.org/drawingml/2006/main" noGrp="1"/>
          </p:cNvSpPr>
          <p:nvPr/>
        </p:nvSpPr>
        <p:spPr>
          <a:xfrm xmlns:a="http://schemas.openxmlformats.org/drawingml/2006/main">
            <a:off x="552450" y="40671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Measure and correct motion.</a:t>
            </a:r>
          </a:p>
        </p:txBody>
      </p:sp>
      <p:sp>
        <p:nvSpPr>
          <p:cNvPr id="10" name="">
            <a:extLst xmlns:a="http://schemas.openxmlformats.org/drawingml/2006/main">
              <a:ext uri="{FF2B5EF4-FFF2-40B4-BE49-F238E27FC236}">
                <a16:creationId xmlns:a16="http://schemas.microsoft.com/office/drawing/2014/main" id="{07753303-194A-4B33-BF8F-97C7E052BD4F}"/>
              </a:ext>
            </a:extLst>
          </p:cNvPr>
          <p:cNvSpPr>
            <a:spLocks xmlns:a="http://schemas.openxmlformats.org/drawingml/2006/main" noGrp="1"/>
          </p:cNvSpPr>
          <p:nvPr/>
        </p:nvSpPr>
        <p:spPr>
          <a:xfrm xmlns:a="http://schemas.openxmlformats.org/drawingml/2006/main">
            <a:off x="8267700" y="3324225"/>
            <a:ext cx="3429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04DD9"/>
                </a:solidFill>
                <a:latin typeface="DejaVu Sans"/>
                <a:ea typeface="DejaVu Sans"/>
                <a:cs typeface="DejaVu Sans"/>
              </a:defRPr>
            </a:defPPr>
          </a:lstStyle>
          <a:p xmlns:a="http://schemas.openxmlformats.org/drawingml/2006/main">
            <a:pPr>
              <a:defRPr sz="2175" b="1">
                <a:solidFill>
                  <a:srgbClr val="304DD9"/>
                </a:solidFill>
                <a:latin typeface="DejaVu Sans"/>
                <a:ea typeface="DejaVu Sans"/>
                <a:cs typeface="DejaVu Sans"/>
              </a:defRPr>
            </a:pPr>
            <a:r>
              <a:rPr sz="2175" b="1">
                <a:solidFill>
                  <a:srgbClr val="304DD9"/>
                </a:solidFill>
                <a:latin typeface="DejaVu Sans"/>
                <a:ea typeface="DejaVu Sans"/>
                <a:cs typeface="DejaVu Sans"/>
              </a:rPr>
              <a:t>Work as one system</a:t>
            </a:r>
          </a:p>
        </p:txBody>
      </p:sp>
      <p:sp>
        <p:nvSpPr>
          <p:cNvPr id="11" name="">
            <a:extLst xmlns:a="http://schemas.openxmlformats.org/drawingml/2006/main">
              <a:ext uri="{FF2B5EF4-FFF2-40B4-BE49-F238E27FC236}">
                <a16:creationId xmlns:a16="http://schemas.microsoft.com/office/drawing/2014/main" id="{F7F02731-7CF7-426C-AC6B-7FEEE41D4542}"/>
              </a:ext>
            </a:extLst>
          </p:cNvPr>
          <p:cNvSpPr>
            <a:spLocks xmlns:a="http://schemas.openxmlformats.org/drawingml/2006/main" noGrp="1"/>
          </p:cNvSpPr>
          <p:nvPr/>
        </p:nvSpPr>
        <p:spPr>
          <a:xfrm xmlns:a="http://schemas.openxmlformats.org/drawingml/2006/main">
            <a:off x="8267700" y="40671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Connect equipment and people.</a:t>
            </a:r>
          </a:p>
        </p:txBody>
      </p:sp>
      <p:sp>
        <p:nvSpPr>
          <p:cNvPr id="12" name="">
            <a:extLst xmlns:a="http://schemas.openxmlformats.org/drawingml/2006/main">
              <a:ext uri="{FF2B5EF4-FFF2-40B4-BE49-F238E27FC236}">
                <a16:creationId xmlns:a16="http://schemas.microsoft.com/office/drawing/2014/main" id="{8D62BE3D-E1BB-4325-96F0-50A128B6DD93}"/>
              </a:ext>
            </a:extLst>
          </p:cNvPr>
          <p:cNvSpPr>
            <a:spLocks xmlns:a="http://schemas.openxmlformats.org/drawingml/2006/main" noGrp="1"/>
          </p:cNvSpPr>
          <p:nvPr/>
        </p:nvSpPr>
        <p:spPr>
          <a:xfrm xmlns:a="http://schemas.openxmlformats.org/drawingml/2006/main">
            <a:off x="552450" y="4733925"/>
            <a:ext cx="11125200" cy="514350"/>
          </a:xfrm>
          <a:prstGeom xmlns:a="http://schemas.openxmlformats.org/drawingml/2006/main" prst="rect">
            <a:avLst/>
          </a:prstGeom>
          <a:solidFill xmlns:a="http://schemas.openxmlformats.org/drawingml/2006/main">
            <a:srgbClr val="17274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0BA36C2-5F50-4885-8781-CF8E69887FDB}"/>
              </a:ext>
            </a:extLst>
          </p:cNvPr>
          <p:cNvSpPr>
            <a:spLocks xmlns:a="http://schemas.openxmlformats.org/drawingml/2006/main" noGrp="1"/>
          </p:cNvSpPr>
          <p:nvPr/>
        </p:nvSpPr>
        <p:spPr>
          <a:xfrm xmlns:a="http://schemas.openxmlformats.org/drawingml/2006/main">
            <a:off x="714375" y="48101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DejaVu Sans"/>
                <a:ea typeface="DejaVu Sans"/>
                <a:cs typeface="DejaVu Sans"/>
              </a:defRPr>
            </a:defPPr>
          </a:lstStyle>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ONE SHARED SOFTWARE PLATFORM</a:t>
            </a:r>
          </a:p>
        </p:txBody>
      </p:sp>
      <p:sp>
        <p:nvSpPr>
          <p:cNvPr id="14" name="">
            <a:extLst xmlns:a="http://schemas.openxmlformats.org/drawingml/2006/main">
              <a:ext uri="{FF2B5EF4-FFF2-40B4-BE49-F238E27FC236}">
                <a16:creationId xmlns:a16="http://schemas.microsoft.com/office/drawing/2014/main" id="{FDFCB535-FF0F-4DF7-B496-D3C8440AC620}"/>
              </a:ext>
            </a:extLst>
          </p:cNvPr>
          <p:cNvSpPr>
            <a:spLocks xmlns:a="http://schemas.openxmlformats.org/drawingml/2006/main" noGrp="1"/>
          </p:cNvSpPr>
          <p:nvPr/>
        </p:nvSpPr>
        <p:spPr>
          <a:xfrm xmlns:a="http://schemas.openxmlformats.org/drawingml/2006/main">
            <a:off x="552450" y="5581650"/>
            <a:ext cx="2133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Understand the need</a:t>
            </a:r>
          </a:p>
        </p:txBody>
      </p:sp>
      <p:sp>
        <p:nvSpPr>
          <p:cNvPr id="15" name="">
            <a:extLst xmlns:a="http://schemas.openxmlformats.org/drawingml/2006/main">
              <a:ext uri="{FF2B5EF4-FFF2-40B4-BE49-F238E27FC236}">
                <a16:creationId xmlns:a16="http://schemas.microsoft.com/office/drawing/2014/main" id="{6C9B3419-B71C-4122-8699-BD0F411BFCF9}"/>
              </a:ext>
            </a:extLst>
          </p:cNvPr>
          <p:cNvSpPr>
            <a:spLocks xmlns:a="http://schemas.openxmlformats.org/drawingml/2006/main" noGrp="1"/>
          </p:cNvSpPr>
          <p:nvPr/>
        </p:nvSpPr>
        <p:spPr>
          <a:xfrm xmlns:a="http://schemas.openxmlformats.org/drawingml/2006/main">
            <a:off x="2790825" y="5581650"/>
            <a:ext cx="2133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Build together</a:t>
            </a:r>
          </a:p>
        </p:txBody>
      </p:sp>
      <p:sp>
        <p:nvSpPr>
          <p:cNvPr id="16" name="">
            <a:extLst xmlns:a="http://schemas.openxmlformats.org/drawingml/2006/main">
              <a:ext uri="{FF2B5EF4-FFF2-40B4-BE49-F238E27FC236}">
                <a16:creationId xmlns:a16="http://schemas.microsoft.com/office/drawing/2014/main" id="{5E436176-CA21-4575-8795-09D57E97BC01}"/>
              </a:ext>
            </a:extLst>
          </p:cNvPr>
          <p:cNvSpPr>
            <a:spLocks xmlns:a="http://schemas.openxmlformats.org/drawingml/2006/main" noGrp="1"/>
          </p:cNvSpPr>
          <p:nvPr/>
        </p:nvSpPr>
        <p:spPr>
          <a:xfrm xmlns:a="http://schemas.openxmlformats.org/drawingml/2006/main">
            <a:off x="5029200" y="5581650"/>
            <a:ext cx="2133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Test on the robot</a:t>
            </a:r>
          </a:p>
        </p:txBody>
      </p:sp>
      <p:sp>
        <p:nvSpPr>
          <p:cNvPr id="17" name="">
            <a:extLst xmlns:a="http://schemas.openxmlformats.org/drawingml/2006/main">
              <a:ext uri="{FF2B5EF4-FFF2-40B4-BE49-F238E27FC236}">
                <a16:creationId xmlns:a16="http://schemas.microsoft.com/office/drawing/2014/main" id="{467D798D-70F7-4022-93A1-7A57880AB672}"/>
              </a:ext>
            </a:extLst>
          </p:cNvPr>
          <p:cNvSpPr>
            <a:spLocks xmlns:a="http://schemas.openxmlformats.org/drawingml/2006/main" noGrp="1"/>
          </p:cNvSpPr>
          <p:nvPr/>
        </p:nvSpPr>
        <p:spPr>
          <a:xfrm xmlns:a="http://schemas.openxmlformats.org/drawingml/2006/main">
            <a:off x="7267575" y="5581650"/>
            <a:ext cx="2133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Put into use</a:t>
            </a:r>
          </a:p>
        </p:txBody>
      </p:sp>
      <p:sp>
        <p:nvSpPr>
          <p:cNvPr id="18" name="">
            <a:extLst xmlns:a="http://schemas.openxmlformats.org/drawingml/2006/main">
              <a:ext uri="{FF2B5EF4-FFF2-40B4-BE49-F238E27FC236}">
                <a16:creationId xmlns:a16="http://schemas.microsoft.com/office/drawing/2014/main" id="{CCE622F2-F895-41D3-AC44-01AB32ABA36A}"/>
              </a:ext>
            </a:extLst>
          </p:cNvPr>
          <p:cNvSpPr>
            <a:spLocks xmlns:a="http://schemas.openxmlformats.org/drawingml/2006/main" noGrp="1"/>
          </p:cNvSpPr>
          <p:nvPr/>
        </p:nvSpPr>
        <p:spPr>
          <a:xfrm xmlns:a="http://schemas.openxmlformats.org/drawingml/2006/main">
            <a:off x="9505950" y="5581650"/>
            <a:ext cx="2133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Support &amp; improve</a:t>
            </a:r>
          </a:p>
        </p:txBody>
      </p:sp>
      <p:sp>
        <p:nvSpPr>
          <p:cNvPr id="19" name="">
            <a:extLst xmlns:a="http://schemas.openxmlformats.org/drawingml/2006/main">
              <a:ext uri="{FF2B5EF4-FFF2-40B4-BE49-F238E27FC236}">
                <a16:creationId xmlns:a16="http://schemas.microsoft.com/office/drawing/2014/main" id="{32057238-6CBB-42A3-B7EB-CA9315200175}"/>
              </a:ext>
            </a:extLst>
          </p:cNvPr>
          <p:cNvSpPr>
            <a:spLocks xmlns:a="http://schemas.openxmlformats.org/drawingml/2006/main" noGrp="1"/>
          </p:cNvSpPr>
          <p:nvPr/>
        </p:nvSpPr>
        <p:spPr>
          <a:xfrm xmlns:a="http://schemas.openxmlformats.org/drawingml/2006/main">
            <a:off x="552450" y="6343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Reuse the foundation. Adapt it to each manufacturing job.</a:t>
            </a:r>
          </a:p>
        </p:txBody>
      </p:sp>
    </p:spTree>
    <p:extLst>
      <p:ext uri="{BB962C8B-B14F-4D97-AF65-F5344CB8AC3E}">
        <p14:creationId xmlns:p14="http://schemas.microsoft.com/office/powerpoint/2010/main" val="631918578"/>
      </p:ext>
    </p:extLst>
  </p:cSld>
</p:sld>
</file>

<file path=ppt/slides/slide1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AFB8340-979A-4A2D-A0D5-01E983A76A4B}"/>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From a manufacturing task to robot movement</a:t>
            </a:r>
          </a:p>
        </p:txBody>
      </p:sp>
      <p:sp>
        <p:nvSpPr>
          <p:cNvPr id="2" name="">
            <a:extLst xmlns:a="http://schemas.openxmlformats.org/drawingml/2006/main">
              <a:ext uri="{FF2B5EF4-FFF2-40B4-BE49-F238E27FC236}">
                <a16:creationId xmlns:a16="http://schemas.microsoft.com/office/drawing/2014/main" id="{ED8A8F4E-3F6A-43D8-8038-0DD92ABB6F2D}"/>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15</a:t>
            </a:r>
          </a:p>
        </p:txBody>
      </p:sp>
      <p:pic>
        <p:nvPicPr>
          <p:cNvPr id="3" name="">
            <a:extLst xmlns:a="http://schemas.openxmlformats.org/drawingml/2006/main">
              <a:ext uri="{FF2B5EF4-FFF2-40B4-BE49-F238E27FC236}">
                <a16:creationId xmlns:a16="http://schemas.microsoft.com/office/drawing/2014/main" id="{755E73E6-594C-4352-84CD-DA2BE01DA091}"/>
              </a:ext>
            </a:extLst>
          </p:cNvPr>
          <p:cNvPicPr>
            <a:picLocks xmlns:a="http://schemas.openxmlformats.org/drawingml/2006/main" noChangeAspect="1"/>
          </p:cNvPicPr>
          <p:nvPr/>
        </p:nvPicPr>
        <p:blipFill>
          <a:blip xmlns:r="http://schemas.openxmlformats.org/officeDocument/2006/relationships" xmlns:a="http://schemas.openxmlformats.org/drawingml/2006/main" r:embed="Raa527bed875c496f"/>
          <a:srcRect xmlns:a="http://schemas.openxmlformats.org/drawingml/2006/main" l="0" t="0" r="66667" b="50000"/>
          <a:stretch xmlns:a="http://schemas.openxmlformats.org/drawingml/2006/main"/>
        </p:blipFill>
        <p:spPr>
          <a:xfrm xmlns:a="http://schemas.openxmlformats.org/drawingml/2006/main">
            <a:off x="742950" y="1971675"/>
            <a:ext cx="2238375" cy="2238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CA6A24F-EA14-4A74-BC18-96EF38FB2E54}"/>
              </a:ext>
            </a:extLst>
          </p:cNvPr>
          <p:cNvSpPr>
            <a:spLocks xmlns:a="http://schemas.openxmlformats.org/drawingml/2006/main" noGrp="1"/>
          </p:cNvSpPr>
          <p:nvPr/>
        </p:nvSpPr>
        <p:spPr>
          <a:xfrm xmlns:a="http://schemas.openxmlformats.org/drawingml/2006/main">
            <a:off x="552450" y="4438650"/>
            <a:ext cx="2638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Choose the task</a:t>
            </a:r>
          </a:p>
        </p:txBody>
      </p:sp>
      <p:sp>
        <p:nvSpPr>
          <p:cNvPr id="5" name="">
            <a:extLst xmlns:a="http://schemas.openxmlformats.org/drawingml/2006/main">
              <a:ext uri="{FF2B5EF4-FFF2-40B4-BE49-F238E27FC236}">
                <a16:creationId xmlns:a16="http://schemas.microsoft.com/office/drawing/2014/main" id="{1AD08C3A-561E-4BE1-86BF-9706487BD030}"/>
              </a:ext>
            </a:extLst>
          </p:cNvPr>
          <p:cNvSpPr>
            <a:spLocks xmlns:a="http://schemas.openxmlformats.org/drawingml/2006/main" noGrp="1"/>
          </p:cNvSpPr>
          <p:nvPr/>
        </p:nvSpPr>
        <p:spPr>
          <a:xfrm xmlns:a="http://schemas.openxmlformats.org/drawingml/2006/main">
            <a:off x="552450" y="5257800"/>
            <a:ext cx="2619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For example: inspect this panel.</a:t>
            </a:r>
          </a:p>
        </p:txBody>
      </p:sp>
      <p:sp>
        <p:nvSpPr>
          <p:cNvPr id="6" name="">
            <a:extLst xmlns:a="http://schemas.openxmlformats.org/drawingml/2006/main">
              <a:ext uri="{FF2B5EF4-FFF2-40B4-BE49-F238E27FC236}">
                <a16:creationId xmlns:a16="http://schemas.microsoft.com/office/drawing/2014/main" id="{0D299F9F-CD1E-4951-9412-E04EFBBC58E4}"/>
              </a:ext>
            </a:extLst>
          </p:cNvPr>
          <p:cNvSpPr>
            <a:spLocks xmlns:a="http://schemas.openxmlformats.org/drawingml/2006/main" noGrp="1"/>
          </p:cNvSpPr>
          <p:nvPr/>
        </p:nvSpPr>
        <p:spPr>
          <a:xfrm xmlns:a="http://schemas.openxmlformats.org/drawingml/2006/main">
            <a:off x="3067050" y="2943225"/>
            <a:ext cx="257175" cy="247650"/>
          </a:xfrm>
          <a:prstGeom xmlns:a="http://schemas.openxmlformats.org/drawingml/2006/main" prst="rightArrow">
            <a:avLst/>
          </a:prstGeom>
          <a:solidFill xmlns:a="http://schemas.openxmlformats.org/drawingml/2006/main">
            <a:srgbClr val="304DD9"/>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E1480B1-5D83-4888-BB57-9109C18B4BA1}"/>
              </a:ext>
            </a:extLst>
          </p:cNvPr>
          <p:cNvPicPr>
            <a:picLocks xmlns:a="http://schemas.openxmlformats.org/drawingml/2006/main" noChangeAspect="1"/>
          </p:cNvPicPr>
          <p:nvPr/>
        </p:nvPicPr>
        <p:blipFill>
          <a:blip xmlns:r="http://schemas.openxmlformats.org/officeDocument/2006/relationships" xmlns:a="http://schemas.openxmlformats.org/drawingml/2006/main" r:embed="R5049d08e1f2a4497"/>
          <a:srcRect xmlns:a="http://schemas.openxmlformats.org/drawingml/2006/main" l="0" t="0" r="0" b="0"/>
          <a:stretch xmlns:a="http://schemas.openxmlformats.org/drawingml/2006/main">
            <a:fillRect l="0" t="0" r="0" b="0"/>
          </a:stretch>
        </p:blipFill>
        <p:spPr>
          <a:xfrm xmlns:a="http://schemas.openxmlformats.org/drawingml/2006/main">
            <a:off x="3600450" y="1971675"/>
            <a:ext cx="2238375" cy="2238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72AAA24-A0AA-4BB5-953A-6B62AEEC7C5F}"/>
              </a:ext>
            </a:extLst>
          </p:cNvPr>
          <p:cNvSpPr>
            <a:spLocks xmlns:a="http://schemas.openxmlformats.org/drawingml/2006/main" noGrp="1"/>
          </p:cNvSpPr>
          <p:nvPr/>
        </p:nvSpPr>
        <p:spPr>
          <a:xfrm xmlns:a="http://schemas.openxmlformats.org/drawingml/2006/main">
            <a:off x="3409950" y="4438650"/>
            <a:ext cx="2638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Prepare the path</a:t>
            </a:r>
          </a:p>
        </p:txBody>
      </p:sp>
      <p:sp>
        <p:nvSpPr>
          <p:cNvPr id="9" name="">
            <a:extLst xmlns:a="http://schemas.openxmlformats.org/drawingml/2006/main">
              <a:ext uri="{FF2B5EF4-FFF2-40B4-BE49-F238E27FC236}">
                <a16:creationId xmlns:a16="http://schemas.microsoft.com/office/drawing/2014/main" id="{E8F2C5AC-2C6D-4A7C-81A9-079DBE3532C6}"/>
              </a:ext>
            </a:extLst>
          </p:cNvPr>
          <p:cNvSpPr>
            <a:spLocks xmlns:a="http://schemas.openxmlformats.org/drawingml/2006/main" noGrp="1"/>
          </p:cNvSpPr>
          <p:nvPr/>
        </p:nvSpPr>
        <p:spPr>
          <a:xfrm xmlns:a="http://schemas.openxmlformats.org/drawingml/2006/main">
            <a:off x="3409950" y="5257800"/>
            <a:ext cx="2619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Decide where the tool should move.</a:t>
            </a:r>
          </a:p>
        </p:txBody>
      </p:sp>
      <p:sp>
        <p:nvSpPr>
          <p:cNvPr id="10" name="">
            <a:extLst xmlns:a="http://schemas.openxmlformats.org/drawingml/2006/main">
              <a:ext uri="{FF2B5EF4-FFF2-40B4-BE49-F238E27FC236}">
                <a16:creationId xmlns:a16="http://schemas.microsoft.com/office/drawing/2014/main" id="{990C06D7-802E-4091-8BFD-C5C993640551}"/>
              </a:ext>
            </a:extLst>
          </p:cNvPr>
          <p:cNvSpPr>
            <a:spLocks xmlns:a="http://schemas.openxmlformats.org/drawingml/2006/main" noGrp="1"/>
          </p:cNvSpPr>
          <p:nvPr/>
        </p:nvSpPr>
        <p:spPr>
          <a:xfrm xmlns:a="http://schemas.openxmlformats.org/drawingml/2006/main">
            <a:off x="5924550" y="2943225"/>
            <a:ext cx="257175" cy="247650"/>
          </a:xfrm>
          <a:prstGeom xmlns:a="http://schemas.openxmlformats.org/drawingml/2006/main" prst="rightArrow">
            <a:avLst/>
          </a:prstGeom>
          <a:solidFill xmlns:a="http://schemas.openxmlformats.org/drawingml/2006/main">
            <a:srgbClr val="304DD9"/>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C742EA4E-2CF9-4BA6-B371-428E21D042E3}"/>
              </a:ext>
            </a:extLst>
          </p:cNvPr>
          <p:cNvPicPr>
            <a:picLocks xmlns:a="http://schemas.openxmlformats.org/drawingml/2006/main" noChangeAspect="1"/>
          </p:cNvPicPr>
          <p:nvPr/>
        </p:nvPicPr>
        <p:blipFill>
          <a:blip xmlns:r="http://schemas.openxmlformats.org/officeDocument/2006/relationships" xmlns:a="http://schemas.openxmlformats.org/drawingml/2006/main" r:embed="Rfda9d564d2c94ba5"/>
          <a:srcRect xmlns:a="http://schemas.openxmlformats.org/drawingml/2006/main" l="0" t="0" r="66667" b="0"/>
          <a:stretch xmlns:a="http://schemas.openxmlformats.org/drawingml/2006/main"/>
        </p:blipFill>
        <p:spPr>
          <a:xfrm xmlns:a="http://schemas.openxmlformats.org/drawingml/2006/main">
            <a:off x="6457950" y="1971675"/>
            <a:ext cx="2238375" cy="22383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E1C198C-940F-485C-91DE-A6D26811CB73}"/>
              </a:ext>
            </a:extLst>
          </p:cNvPr>
          <p:cNvSpPr>
            <a:spLocks xmlns:a="http://schemas.openxmlformats.org/drawingml/2006/main" noGrp="1"/>
          </p:cNvSpPr>
          <p:nvPr/>
        </p:nvSpPr>
        <p:spPr>
          <a:xfrm xmlns:a="http://schemas.openxmlformats.org/drawingml/2006/main">
            <a:off x="6267450" y="4438650"/>
            <a:ext cx="2638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Check it virtually</a:t>
            </a:r>
          </a:p>
        </p:txBody>
      </p:sp>
      <p:sp>
        <p:nvSpPr>
          <p:cNvPr id="13" name="">
            <a:extLst xmlns:a="http://schemas.openxmlformats.org/drawingml/2006/main">
              <a:ext uri="{FF2B5EF4-FFF2-40B4-BE49-F238E27FC236}">
                <a16:creationId xmlns:a16="http://schemas.microsoft.com/office/drawing/2014/main" id="{0F08ABDD-3855-451D-B593-4C1049805A02}"/>
              </a:ext>
            </a:extLst>
          </p:cNvPr>
          <p:cNvSpPr>
            <a:spLocks xmlns:a="http://schemas.openxmlformats.org/drawingml/2006/main" noGrp="1"/>
          </p:cNvSpPr>
          <p:nvPr/>
        </p:nvSpPr>
        <p:spPr>
          <a:xfrm xmlns:a="http://schemas.openxmlformats.org/drawingml/2006/main">
            <a:off x="6267450" y="5257800"/>
            <a:ext cx="2619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Check the motion before robot trials.</a:t>
            </a:r>
          </a:p>
        </p:txBody>
      </p:sp>
      <p:sp>
        <p:nvSpPr>
          <p:cNvPr id="14" name="">
            <a:extLst xmlns:a="http://schemas.openxmlformats.org/drawingml/2006/main">
              <a:ext uri="{FF2B5EF4-FFF2-40B4-BE49-F238E27FC236}">
                <a16:creationId xmlns:a16="http://schemas.microsoft.com/office/drawing/2014/main" id="{55845904-0B75-4A19-A410-FF26FB80CF24}"/>
              </a:ext>
            </a:extLst>
          </p:cNvPr>
          <p:cNvSpPr>
            <a:spLocks xmlns:a="http://schemas.openxmlformats.org/drawingml/2006/main" noGrp="1"/>
          </p:cNvSpPr>
          <p:nvPr/>
        </p:nvSpPr>
        <p:spPr>
          <a:xfrm xmlns:a="http://schemas.openxmlformats.org/drawingml/2006/main">
            <a:off x="8782050" y="2943225"/>
            <a:ext cx="257175" cy="247650"/>
          </a:xfrm>
          <a:prstGeom xmlns:a="http://schemas.openxmlformats.org/drawingml/2006/main" prst="rightArrow">
            <a:avLst/>
          </a:prstGeom>
          <a:solidFill xmlns:a="http://schemas.openxmlformats.org/drawingml/2006/main">
            <a:srgbClr val="304DD9"/>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87BD8D59-5AF9-499F-8402-EF2ED30F980D}"/>
              </a:ext>
            </a:extLst>
          </p:cNvPr>
          <p:cNvPicPr>
            <a:picLocks xmlns:a="http://schemas.openxmlformats.org/drawingml/2006/main" noChangeAspect="1"/>
          </p:cNvPicPr>
          <p:nvPr/>
        </p:nvPicPr>
        <p:blipFill>
          <a:blip xmlns:r="http://schemas.openxmlformats.org/officeDocument/2006/relationships" xmlns:a="http://schemas.openxmlformats.org/drawingml/2006/main" r:embed="Rb86f7310a1704540"/>
          <a:srcRect xmlns:a="http://schemas.openxmlformats.org/drawingml/2006/main" l="0" t="9986" r="0" b="9986"/>
          <a:stretch xmlns:a="http://schemas.openxmlformats.org/drawingml/2006/main">
            <a:fillRect l="0" t="0" r="0" b="0"/>
          </a:stretch>
        </p:blipFill>
        <p:spPr>
          <a:xfrm xmlns:a="http://schemas.openxmlformats.org/drawingml/2006/main">
            <a:off x="9315450" y="1971675"/>
            <a:ext cx="2238375" cy="22383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0CAFDF85-2415-4C69-8896-05BD5152FB25}"/>
              </a:ext>
            </a:extLst>
          </p:cNvPr>
          <p:cNvSpPr>
            <a:spLocks xmlns:a="http://schemas.openxmlformats.org/drawingml/2006/main" noGrp="1"/>
          </p:cNvSpPr>
          <p:nvPr/>
        </p:nvSpPr>
        <p:spPr>
          <a:xfrm xmlns:a="http://schemas.openxmlformats.org/drawingml/2006/main">
            <a:off x="9124950" y="4438650"/>
            <a:ext cx="2638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Run and monitor</a:t>
            </a:r>
          </a:p>
        </p:txBody>
      </p:sp>
      <p:sp>
        <p:nvSpPr>
          <p:cNvPr id="17" name="">
            <a:extLst xmlns:a="http://schemas.openxmlformats.org/drawingml/2006/main">
              <a:ext uri="{FF2B5EF4-FFF2-40B4-BE49-F238E27FC236}">
                <a16:creationId xmlns:a16="http://schemas.microsoft.com/office/drawing/2014/main" id="{8A3F0C32-CA67-4361-9F7B-21CBE156C130}"/>
              </a:ext>
            </a:extLst>
          </p:cNvPr>
          <p:cNvSpPr>
            <a:spLocks xmlns:a="http://schemas.openxmlformats.org/drawingml/2006/main" noGrp="1"/>
          </p:cNvSpPr>
          <p:nvPr/>
        </p:nvSpPr>
        <p:spPr>
          <a:xfrm xmlns:a="http://schemas.openxmlformats.org/drawingml/2006/main">
            <a:off x="9124950" y="5257800"/>
            <a:ext cx="2619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Measure the result and adjust.</a:t>
            </a:r>
          </a:p>
        </p:txBody>
      </p:sp>
      <p:sp>
        <p:nvSpPr>
          <p:cNvPr id="18" name="">
            <a:extLst xmlns:a="http://schemas.openxmlformats.org/drawingml/2006/main">
              <a:ext uri="{FF2B5EF4-FFF2-40B4-BE49-F238E27FC236}">
                <a16:creationId xmlns:a16="http://schemas.microsoft.com/office/drawing/2014/main" id="{F7AC0208-43F2-4EAA-856B-3C2A53C9CF02}"/>
              </a:ext>
            </a:extLst>
          </p:cNvPr>
          <p:cNvSpPr>
            <a:spLocks xmlns:a="http://schemas.openxmlformats.org/drawingml/2006/main" noGrp="1"/>
          </p:cNvSpPr>
          <p:nvPr/>
        </p:nvSpPr>
        <p:spPr>
          <a:xfrm xmlns:a="http://schemas.openxmlformats.org/drawingml/2006/main">
            <a:off x="552450" y="62769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My goal: make a new manufacturing task easier to prepare and deploy.</a:t>
            </a:r>
          </a:p>
        </p:txBody>
      </p:sp>
    </p:spTree>
    <p:extLst>
      <p:ext uri="{BB962C8B-B14F-4D97-AF65-F5344CB8AC3E}">
        <p14:creationId xmlns:p14="http://schemas.microsoft.com/office/powerpoint/2010/main" val="701071882"/>
      </p:ext>
    </p:extLst>
  </p:cSld>
</p:sld>
</file>

<file path=ppt/slides/slide1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A546634-1D59-4AAA-B43B-927AD7411149}"/>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2027: prove the product in manageable steps</a:t>
            </a:r>
          </a:p>
        </p:txBody>
      </p:sp>
      <p:sp>
        <p:nvSpPr>
          <p:cNvPr id="2" name="">
            <a:extLst xmlns:a="http://schemas.openxmlformats.org/drawingml/2006/main">
              <a:ext uri="{FF2B5EF4-FFF2-40B4-BE49-F238E27FC236}">
                <a16:creationId xmlns:a16="http://schemas.microsoft.com/office/drawing/2014/main" id="{7FC2DB2E-7834-4B42-B510-9B2802450F94}"/>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16</a:t>
            </a:r>
          </a:p>
        </p:txBody>
      </p:sp>
      <p:sp>
        <p:nvSpPr>
          <p:cNvPr id="3" name="">
            <a:extLst xmlns:a="http://schemas.openxmlformats.org/drawingml/2006/main">
              <a:ext uri="{FF2B5EF4-FFF2-40B4-BE49-F238E27FC236}">
                <a16:creationId xmlns:a16="http://schemas.microsoft.com/office/drawing/2014/main" id="{9093222B-1D4F-45DC-A992-8E92FBF081D5}"/>
              </a:ext>
            </a:extLst>
          </p:cNvPr>
          <p:cNvSpPr>
            <a:spLocks xmlns:a="http://schemas.openxmlformats.org/drawingml/2006/main" noGrp="1"/>
          </p:cNvSpPr>
          <p:nvPr/>
        </p:nvSpPr>
        <p:spPr>
          <a:xfrm xmlns:a="http://schemas.openxmlformats.org/drawingml/2006/main">
            <a:off x="552450" y="152400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Q1</a:t>
            </a:r>
          </a:p>
        </p:txBody>
      </p:sp>
      <p:pic>
        <p:nvPicPr>
          <p:cNvPr id="4" name="">
            <a:extLst xmlns:a="http://schemas.openxmlformats.org/drawingml/2006/main">
              <a:ext uri="{FF2B5EF4-FFF2-40B4-BE49-F238E27FC236}">
                <a16:creationId xmlns:a16="http://schemas.microsoft.com/office/drawing/2014/main" id="{53E4AC11-3014-493F-A355-1BDB8E32CBDA}"/>
              </a:ext>
            </a:extLst>
          </p:cNvPr>
          <p:cNvPicPr>
            <a:picLocks xmlns:a="http://schemas.openxmlformats.org/drawingml/2006/main" noChangeAspect="1"/>
          </p:cNvPicPr>
          <p:nvPr/>
        </p:nvPicPr>
        <p:blipFill>
          <a:blip xmlns:r="http://schemas.openxmlformats.org/officeDocument/2006/relationships" xmlns:a="http://schemas.openxmlformats.org/drawingml/2006/main" r:embed="Rdba4e395d91849ff"/>
          <a:srcRect xmlns:a="http://schemas.openxmlformats.org/drawingml/2006/main" l="0" t="0" r="75000" b="0"/>
          <a:stretch xmlns:a="http://schemas.openxmlformats.org/drawingml/2006/main"/>
        </p:blipFill>
        <p:spPr>
          <a:xfrm xmlns:a="http://schemas.openxmlformats.org/drawingml/2006/main">
            <a:off x="885825" y="2238375"/>
            <a:ext cx="1714500" cy="2095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131948D-90CA-4AFE-B25B-5D2590E32A8C}"/>
              </a:ext>
            </a:extLst>
          </p:cNvPr>
          <p:cNvSpPr>
            <a:spLocks xmlns:a="http://schemas.openxmlformats.org/drawingml/2006/main" noGrp="1"/>
          </p:cNvSpPr>
          <p:nvPr/>
        </p:nvSpPr>
        <p:spPr>
          <a:xfrm xmlns:a="http://schemas.openxmlformats.org/drawingml/2006/main">
            <a:off x="552450" y="4572000"/>
            <a:ext cx="266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2744"/>
                </a:solidFill>
                <a:latin typeface="DejaVu Sans"/>
                <a:ea typeface="DejaVu Sans"/>
                <a:cs typeface="DejaVu Sans"/>
              </a:defRPr>
            </a:defPPr>
          </a:lstStyle>
          <a:p xmlns:a="http://schemas.openxmlformats.org/drawingml/2006/main">
            <a:pPr>
              <a:defRPr sz="2025" b="1">
                <a:solidFill>
                  <a:srgbClr val="172744"/>
                </a:solidFill>
                <a:latin typeface="DejaVu Sans"/>
                <a:ea typeface="DejaVu Sans"/>
                <a:cs typeface="DejaVu Sans"/>
              </a:defRPr>
            </a:pPr>
            <a:r>
              <a:rPr sz="2025" b="1">
                <a:solidFill>
                  <a:srgbClr val="172744"/>
                </a:solidFill>
                <a:latin typeface="DejaVu Sans"/>
                <a:ea typeface="DejaVu Sans"/>
                <a:cs typeface="DejaVu Sans"/>
              </a:rPr>
              <a:t>Connect the inputs</a:t>
            </a:r>
          </a:p>
        </p:txBody>
      </p:sp>
      <p:sp>
        <p:nvSpPr>
          <p:cNvPr id="6" name="">
            <a:extLst xmlns:a="http://schemas.openxmlformats.org/drawingml/2006/main">
              <a:ext uri="{FF2B5EF4-FFF2-40B4-BE49-F238E27FC236}">
                <a16:creationId xmlns:a16="http://schemas.microsoft.com/office/drawing/2014/main" id="{69A9C765-E29E-45F2-99C7-AADD8320667B}"/>
              </a:ext>
            </a:extLst>
          </p:cNvPr>
          <p:cNvSpPr>
            <a:spLocks xmlns:a="http://schemas.openxmlformats.org/drawingml/2006/main" noGrp="1"/>
          </p:cNvSpPr>
          <p:nvPr/>
        </p:nvSpPr>
        <p:spPr>
          <a:xfrm xmlns:a="http://schemas.openxmlformats.org/drawingml/2006/main">
            <a:off x="552450" y="5362575"/>
            <a:ext cx="26289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Use the robot and part data.</a:t>
            </a:r>
          </a:p>
        </p:txBody>
      </p:sp>
      <p:sp>
        <p:nvSpPr>
          <p:cNvPr id="7" name="">
            <a:extLst xmlns:a="http://schemas.openxmlformats.org/drawingml/2006/main">
              <a:ext uri="{FF2B5EF4-FFF2-40B4-BE49-F238E27FC236}">
                <a16:creationId xmlns:a16="http://schemas.microsoft.com/office/drawing/2014/main" id="{4C899091-34C9-42BD-813E-F2DB3D8A4941}"/>
              </a:ext>
            </a:extLst>
          </p:cNvPr>
          <p:cNvSpPr>
            <a:spLocks xmlns:a="http://schemas.openxmlformats.org/drawingml/2006/main" noGrp="1"/>
          </p:cNvSpPr>
          <p:nvPr/>
        </p:nvSpPr>
        <p:spPr>
          <a:xfrm xmlns:a="http://schemas.openxmlformats.org/drawingml/2006/main">
            <a:off x="3409950" y="152400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Q2</a:t>
            </a:r>
          </a:p>
        </p:txBody>
      </p:sp>
      <p:pic>
        <p:nvPicPr>
          <p:cNvPr id="8" name="">
            <a:extLst xmlns:a="http://schemas.openxmlformats.org/drawingml/2006/main">
              <a:ext uri="{FF2B5EF4-FFF2-40B4-BE49-F238E27FC236}">
                <a16:creationId xmlns:a16="http://schemas.microsoft.com/office/drawing/2014/main" id="{8314F146-858C-4274-85D2-E097A4310277}"/>
              </a:ext>
            </a:extLst>
          </p:cNvPr>
          <p:cNvPicPr>
            <a:picLocks xmlns:a="http://schemas.openxmlformats.org/drawingml/2006/main" noChangeAspect="1"/>
          </p:cNvPicPr>
          <p:nvPr/>
        </p:nvPicPr>
        <p:blipFill>
          <a:blip xmlns:r="http://schemas.openxmlformats.org/officeDocument/2006/relationships" xmlns:a="http://schemas.openxmlformats.org/drawingml/2006/main" r:embed="R451a770e87134342"/>
          <a:srcRect xmlns:a="http://schemas.openxmlformats.org/drawingml/2006/main" l="25000" t="0" r="50000" b="0"/>
          <a:stretch xmlns:a="http://schemas.openxmlformats.org/drawingml/2006/main"/>
        </p:blipFill>
        <p:spPr>
          <a:xfrm xmlns:a="http://schemas.openxmlformats.org/drawingml/2006/main">
            <a:off x="3743325" y="2238375"/>
            <a:ext cx="1714500" cy="2095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833C4A5-D7F6-41E8-8BB3-EC18CBC898CD}"/>
              </a:ext>
            </a:extLst>
          </p:cNvPr>
          <p:cNvSpPr>
            <a:spLocks xmlns:a="http://schemas.openxmlformats.org/drawingml/2006/main" noGrp="1"/>
          </p:cNvSpPr>
          <p:nvPr/>
        </p:nvSpPr>
        <p:spPr>
          <a:xfrm xmlns:a="http://schemas.openxmlformats.org/drawingml/2006/main">
            <a:off x="3409950" y="4572000"/>
            <a:ext cx="266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2744"/>
                </a:solidFill>
                <a:latin typeface="DejaVu Sans"/>
                <a:ea typeface="DejaVu Sans"/>
                <a:cs typeface="DejaVu Sans"/>
              </a:defRPr>
            </a:defPPr>
          </a:lstStyle>
          <a:p xmlns:a="http://schemas.openxmlformats.org/drawingml/2006/main">
            <a:pPr>
              <a:defRPr sz="2025" b="1">
                <a:solidFill>
                  <a:srgbClr val="172744"/>
                </a:solidFill>
                <a:latin typeface="DejaVu Sans"/>
                <a:ea typeface="DejaVu Sans"/>
                <a:cs typeface="DejaVu Sans"/>
              </a:defRPr>
            </a:pPr>
            <a:r>
              <a:rPr sz="2025" b="1">
                <a:solidFill>
                  <a:srgbClr val="172744"/>
                </a:solidFill>
                <a:latin typeface="DejaVu Sans"/>
                <a:ea typeface="DejaVu Sans"/>
                <a:cs typeface="DejaVu Sans"/>
              </a:rPr>
              <a:t>Generate &amp; check</a:t>
            </a:r>
          </a:p>
        </p:txBody>
      </p:sp>
      <p:sp>
        <p:nvSpPr>
          <p:cNvPr id="10" name="">
            <a:extLst xmlns:a="http://schemas.openxmlformats.org/drawingml/2006/main">
              <a:ext uri="{FF2B5EF4-FFF2-40B4-BE49-F238E27FC236}">
                <a16:creationId xmlns:a16="http://schemas.microsoft.com/office/drawing/2014/main" id="{98345AD8-6AB1-4FF0-ACCB-10496A9BF415}"/>
              </a:ext>
            </a:extLst>
          </p:cNvPr>
          <p:cNvSpPr>
            <a:spLocks xmlns:a="http://schemas.openxmlformats.org/drawingml/2006/main" noGrp="1"/>
          </p:cNvSpPr>
          <p:nvPr/>
        </p:nvSpPr>
        <p:spPr>
          <a:xfrm xmlns:a="http://schemas.openxmlformats.org/drawingml/2006/main">
            <a:off x="3409950" y="5362575"/>
            <a:ext cx="26289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Produce a usable robot path.</a:t>
            </a:r>
          </a:p>
        </p:txBody>
      </p:sp>
      <p:sp>
        <p:nvSpPr>
          <p:cNvPr id="11" name="">
            <a:extLst xmlns:a="http://schemas.openxmlformats.org/drawingml/2006/main">
              <a:ext uri="{FF2B5EF4-FFF2-40B4-BE49-F238E27FC236}">
                <a16:creationId xmlns:a16="http://schemas.microsoft.com/office/drawing/2014/main" id="{1859154C-39EE-42C7-A630-3498B77C9B3B}"/>
              </a:ext>
            </a:extLst>
          </p:cNvPr>
          <p:cNvSpPr>
            <a:spLocks xmlns:a="http://schemas.openxmlformats.org/drawingml/2006/main" noGrp="1"/>
          </p:cNvSpPr>
          <p:nvPr/>
        </p:nvSpPr>
        <p:spPr>
          <a:xfrm xmlns:a="http://schemas.openxmlformats.org/drawingml/2006/main">
            <a:off x="6267450" y="152400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Q3</a:t>
            </a:r>
          </a:p>
        </p:txBody>
      </p:sp>
      <p:pic>
        <p:nvPicPr>
          <p:cNvPr id="12" name="">
            <a:extLst xmlns:a="http://schemas.openxmlformats.org/drawingml/2006/main">
              <a:ext uri="{FF2B5EF4-FFF2-40B4-BE49-F238E27FC236}">
                <a16:creationId xmlns:a16="http://schemas.microsoft.com/office/drawing/2014/main" id="{6057DDB6-A7BF-4F0D-B232-9E8CF155FF07}"/>
              </a:ext>
            </a:extLst>
          </p:cNvPr>
          <p:cNvPicPr>
            <a:picLocks xmlns:a="http://schemas.openxmlformats.org/drawingml/2006/main" noChangeAspect="1"/>
          </p:cNvPicPr>
          <p:nvPr/>
        </p:nvPicPr>
        <p:blipFill>
          <a:blip xmlns:r="http://schemas.openxmlformats.org/officeDocument/2006/relationships" xmlns:a="http://schemas.openxmlformats.org/drawingml/2006/main" r:embed="Rc9a94b0ccae84ad4"/>
          <a:srcRect xmlns:a="http://schemas.openxmlformats.org/drawingml/2006/main" l="50000" t="0" r="25000" b="0"/>
          <a:stretch xmlns:a="http://schemas.openxmlformats.org/drawingml/2006/main"/>
        </p:blipFill>
        <p:spPr>
          <a:xfrm xmlns:a="http://schemas.openxmlformats.org/drawingml/2006/main">
            <a:off x="6600825" y="2238375"/>
            <a:ext cx="1714500" cy="20955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88F6E9D7-95A7-4040-B29B-1AA8D4652E26}"/>
              </a:ext>
            </a:extLst>
          </p:cNvPr>
          <p:cNvSpPr>
            <a:spLocks xmlns:a="http://schemas.openxmlformats.org/drawingml/2006/main" noGrp="1"/>
          </p:cNvSpPr>
          <p:nvPr/>
        </p:nvSpPr>
        <p:spPr>
          <a:xfrm xmlns:a="http://schemas.openxmlformats.org/drawingml/2006/main">
            <a:off x="6267450" y="4572000"/>
            <a:ext cx="266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2744"/>
                </a:solidFill>
                <a:latin typeface="DejaVu Sans"/>
                <a:ea typeface="DejaVu Sans"/>
                <a:cs typeface="DejaVu Sans"/>
              </a:defRPr>
            </a:defPPr>
          </a:lstStyle>
          <a:p xmlns:a="http://schemas.openxmlformats.org/drawingml/2006/main">
            <a:pPr>
              <a:defRPr sz="2025" b="1">
                <a:solidFill>
                  <a:srgbClr val="172744"/>
                </a:solidFill>
                <a:latin typeface="DejaVu Sans"/>
                <a:ea typeface="DejaVu Sans"/>
                <a:cs typeface="DejaVu Sans"/>
              </a:defRPr>
            </a:pPr>
            <a:r>
              <a:rPr sz="2025" b="1">
                <a:solidFill>
                  <a:srgbClr val="172744"/>
                </a:solidFill>
                <a:latin typeface="DejaVu Sans"/>
                <a:ea typeface="DejaVu Sans"/>
                <a:cs typeface="DejaVu Sans"/>
              </a:rPr>
              <a:t>Improve the motion</a:t>
            </a:r>
          </a:p>
        </p:txBody>
      </p:sp>
      <p:sp>
        <p:nvSpPr>
          <p:cNvPr id="14" name="">
            <a:extLst xmlns:a="http://schemas.openxmlformats.org/drawingml/2006/main">
              <a:ext uri="{FF2B5EF4-FFF2-40B4-BE49-F238E27FC236}">
                <a16:creationId xmlns:a16="http://schemas.microsoft.com/office/drawing/2014/main" id="{63FDDB18-8AB5-4836-AB4F-DED8F8BA3C79}"/>
              </a:ext>
            </a:extLst>
          </p:cNvPr>
          <p:cNvSpPr>
            <a:spLocks xmlns:a="http://schemas.openxmlformats.org/drawingml/2006/main" noGrp="1"/>
          </p:cNvSpPr>
          <p:nvPr/>
        </p:nvSpPr>
        <p:spPr>
          <a:xfrm xmlns:a="http://schemas.openxmlformats.org/drawingml/2006/main">
            <a:off x="6267450" y="5362575"/>
            <a:ext cx="26289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Reduce unnecessary travel and stops.</a:t>
            </a:r>
          </a:p>
        </p:txBody>
      </p:sp>
      <p:sp>
        <p:nvSpPr>
          <p:cNvPr id="15" name="">
            <a:extLst xmlns:a="http://schemas.openxmlformats.org/drawingml/2006/main">
              <a:ext uri="{FF2B5EF4-FFF2-40B4-BE49-F238E27FC236}">
                <a16:creationId xmlns:a16="http://schemas.microsoft.com/office/drawing/2014/main" id="{6D7A7CC7-A2CC-49E8-A280-BAAE5F988790}"/>
              </a:ext>
            </a:extLst>
          </p:cNvPr>
          <p:cNvSpPr>
            <a:spLocks xmlns:a="http://schemas.openxmlformats.org/drawingml/2006/main" noGrp="1"/>
          </p:cNvSpPr>
          <p:nvPr/>
        </p:nvSpPr>
        <p:spPr>
          <a:xfrm xmlns:a="http://schemas.openxmlformats.org/drawingml/2006/main">
            <a:off x="9124950" y="152400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Q4</a:t>
            </a:r>
          </a:p>
        </p:txBody>
      </p:sp>
      <p:pic>
        <p:nvPicPr>
          <p:cNvPr id="16" name="">
            <a:extLst xmlns:a="http://schemas.openxmlformats.org/drawingml/2006/main">
              <a:ext uri="{FF2B5EF4-FFF2-40B4-BE49-F238E27FC236}">
                <a16:creationId xmlns:a16="http://schemas.microsoft.com/office/drawing/2014/main" id="{539A61CE-1319-4627-86FE-D541C65E52BA}"/>
              </a:ext>
            </a:extLst>
          </p:cNvPr>
          <p:cNvPicPr>
            <a:picLocks xmlns:a="http://schemas.openxmlformats.org/drawingml/2006/main" noChangeAspect="1"/>
          </p:cNvPicPr>
          <p:nvPr/>
        </p:nvPicPr>
        <p:blipFill>
          <a:blip xmlns:r="http://schemas.openxmlformats.org/officeDocument/2006/relationships" xmlns:a="http://schemas.openxmlformats.org/drawingml/2006/main" r:embed="R3587376544b143f0"/>
          <a:srcRect xmlns:a="http://schemas.openxmlformats.org/drawingml/2006/main" l="75000" t="0" r="0" b="0"/>
          <a:stretch xmlns:a="http://schemas.openxmlformats.org/drawingml/2006/main"/>
        </p:blipFill>
        <p:spPr>
          <a:xfrm xmlns:a="http://schemas.openxmlformats.org/drawingml/2006/main">
            <a:off x="9458325" y="2238375"/>
            <a:ext cx="1714500" cy="20955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7CCFFBC6-072D-46E1-B79F-C4023B34448F}"/>
              </a:ext>
            </a:extLst>
          </p:cNvPr>
          <p:cNvSpPr>
            <a:spLocks xmlns:a="http://schemas.openxmlformats.org/drawingml/2006/main" noGrp="1"/>
          </p:cNvSpPr>
          <p:nvPr/>
        </p:nvSpPr>
        <p:spPr>
          <a:xfrm xmlns:a="http://schemas.openxmlformats.org/drawingml/2006/main">
            <a:off x="9124950" y="4572000"/>
            <a:ext cx="266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2744"/>
                </a:solidFill>
                <a:latin typeface="DejaVu Sans"/>
                <a:ea typeface="DejaVu Sans"/>
                <a:cs typeface="DejaVu Sans"/>
              </a:defRPr>
            </a:defPPr>
          </a:lstStyle>
          <a:p xmlns:a="http://schemas.openxmlformats.org/drawingml/2006/main">
            <a:pPr>
              <a:defRPr sz="2025" b="1">
                <a:solidFill>
                  <a:srgbClr val="172744"/>
                </a:solidFill>
                <a:latin typeface="DejaVu Sans"/>
                <a:ea typeface="DejaVu Sans"/>
                <a:cs typeface="DejaVu Sans"/>
              </a:defRPr>
            </a:pPr>
            <a:r>
              <a:rPr sz="2025" b="1">
                <a:solidFill>
                  <a:srgbClr val="172744"/>
                </a:solidFill>
                <a:latin typeface="DejaVu Sans"/>
                <a:ea typeface="DejaVu Sans"/>
                <a:cs typeface="DejaVu Sans"/>
              </a:rPr>
              <a:t>Prove it in use</a:t>
            </a:r>
          </a:p>
        </p:txBody>
      </p:sp>
      <p:sp>
        <p:nvSpPr>
          <p:cNvPr id="18" name="">
            <a:extLst xmlns:a="http://schemas.openxmlformats.org/drawingml/2006/main">
              <a:ext uri="{FF2B5EF4-FFF2-40B4-BE49-F238E27FC236}">
                <a16:creationId xmlns:a16="http://schemas.microsoft.com/office/drawing/2014/main" id="{47C2B284-BCBB-4ABE-9A25-907DC98BEE3D}"/>
              </a:ext>
            </a:extLst>
          </p:cNvPr>
          <p:cNvSpPr>
            <a:spLocks xmlns:a="http://schemas.openxmlformats.org/drawingml/2006/main" noGrp="1"/>
          </p:cNvSpPr>
          <p:nvPr/>
        </p:nvSpPr>
        <p:spPr>
          <a:xfrm xmlns:a="http://schemas.openxmlformats.org/drawingml/2006/main">
            <a:off x="9124950" y="5362575"/>
            <a:ext cx="26289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Test in simulation and on the robot.</a:t>
            </a:r>
          </a:p>
        </p:txBody>
      </p:sp>
      <p:sp>
        <p:nvSpPr>
          <p:cNvPr id="19" name="">
            <a:extLst xmlns:a="http://schemas.openxmlformats.org/drawingml/2006/main">
              <a:ext uri="{FF2B5EF4-FFF2-40B4-BE49-F238E27FC236}">
                <a16:creationId xmlns:a16="http://schemas.microsoft.com/office/drawing/2014/main" id="{90D59036-DEBB-4EC2-A267-35EEFBE77542}"/>
              </a:ext>
            </a:extLst>
          </p:cNvPr>
          <p:cNvSpPr>
            <a:spLocks xmlns:a="http://schemas.openxmlformats.org/drawingml/2006/main" noGrp="1"/>
          </p:cNvSpPr>
          <p:nvPr/>
        </p:nvSpPr>
        <p:spPr>
          <a:xfrm xmlns:a="http://schemas.openxmlformats.org/drawingml/2006/main">
            <a:off x="552450" y="62865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04DD9"/>
                </a:solidFill>
                <a:latin typeface="DejaVu Sans"/>
                <a:ea typeface="DejaVu Sans"/>
                <a:cs typeface="DejaVu Sans"/>
              </a:defRPr>
            </a:defPPr>
          </a:lstStyle>
          <a:p xmlns:a="http://schemas.openxmlformats.org/drawingml/2006/main">
            <a:pPr>
              <a:defRPr sz="1500" b="1">
                <a:solidFill>
                  <a:srgbClr val="304DD9"/>
                </a:solidFill>
                <a:latin typeface="DejaVu Sans"/>
                <a:ea typeface="DejaVu Sans"/>
                <a:cs typeface="DejaVu Sans"/>
              </a:defRPr>
            </a:pPr>
            <a:r>
              <a:rPr sz="1500" b="1">
                <a:solidFill>
                  <a:srgbClr val="304DD9"/>
                </a:solidFill>
                <a:latin typeface="DejaVu Sans"/>
                <a:ea typeface="DejaVu Sans"/>
                <a:cs typeface="DejaVu Sans"/>
              </a:rPr>
              <a:t>Shared software and testing throughout. Proposed dates depend on resources and robot access.</a:t>
            </a:r>
          </a:p>
        </p:txBody>
      </p:sp>
    </p:spTree>
    <p:extLst>
      <p:ext uri="{BB962C8B-B14F-4D97-AF65-F5344CB8AC3E}">
        <p14:creationId xmlns:p14="http://schemas.microsoft.com/office/powerpoint/2010/main" val="1367938952"/>
      </p:ext>
    </p:extLst>
  </p:cSld>
</p:sld>
</file>

<file path=ppt/slides/slide1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033E73C-5B13-4426-84A5-AB4A720EC5EE}"/>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Next: robots that respond to changing conditions</a:t>
            </a:r>
          </a:p>
        </p:txBody>
      </p:sp>
      <p:sp>
        <p:nvSpPr>
          <p:cNvPr id="2" name="">
            <a:extLst xmlns:a="http://schemas.openxmlformats.org/drawingml/2006/main">
              <a:ext uri="{FF2B5EF4-FFF2-40B4-BE49-F238E27FC236}">
                <a16:creationId xmlns:a16="http://schemas.microsoft.com/office/drawing/2014/main" id="{A075485F-5475-4863-83D1-AF4778076F9C}"/>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17</a:t>
            </a:r>
          </a:p>
        </p:txBody>
      </p:sp>
      <p:pic>
        <p:nvPicPr>
          <p:cNvPr id="3" name="">
            <a:extLst xmlns:a="http://schemas.openxmlformats.org/drawingml/2006/main">
              <a:ext uri="{FF2B5EF4-FFF2-40B4-BE49-F238E27FC236}">
                <a16:creationId xmlns:a16="http://schemas.microsoft.com/office/drawing/2014/main" id="{9B9FF93E-714E-49A9-92F6-DBF65949C2D3}"/>
              </a:ext>
            </a:extLst>
          </p:cNvPr>
          <p:cNvPicPr>
            <a:picLocks xmlns:a="http://schemas.openxmlformats.org/drawingml/2006/main" noChangeAspect="1"/>
          </p:cNvPicPr>
          <p:nvPr/>
        </p:nvPicPr>
        <p:blipFill>
          <a:blip xmlns:r="http://schemas.openxmlformats.org/officeDocument/2006/relationships" xmlns:a="http://schemas.openxmlformats.org/drawingml/2006/main" r:embed="R18e0f135f7b04e43"/>
          <a:srcRect xmlns:a="http://schemas.openxmlformats.org/drawingml/2006/main" l="0" t="0" r="50000" b="0"/>
          <a:stretch xmlns:a="http://schemas.openxmlformats.org/drawingml/2006/main"/>
        </p:blipFill>
        <p:spPr>
          <a:xfrm xmlns:a="http://schemas.openxmlformats.org/drawingml/2006/main">
            <a:off x="552450" y="1485900"/>
            <a:ext cx="5334000" cy="29527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4E24D71B-AA43-4F5E-807B-65E0D9DB7984}"/>
              </a:ext>
            </a:extLst>
          </p:cNvPr>
          <p:cNvPicPr>
            <a:picLocks xmlns:a="http://schemas.openxmlformats.org/drawingml/2006/main" noChangeAspect="1"/>
          </p:cNvPicPr>
          <p:nvPr/>
        </p:nvPicPr>
        <p:blipFill>
          <a:blip xmlns:r="http://schemas.openxmlformats.org/officeDocument/2006/relationships" xmlns:a="http://schemas.openxmlformats.org/drawingml/2006/main" r:embed="Rd3464d00cd474149"/>
          <a:srcRect xmlns:a="http://schemas.openxmlformats.org/drawingml/2006/main" l="50000" t="0" r="0" b="0"/>
          <a:stretch xmlns:a="http://schemas.openxmlformats.org/drawingml/2006/main"/>
        </p:blipFill>
        <p:spPr>
          <a:xfrm xmlns:a="http://schemas.openxmlformats.org/drawingml/2006/main">
            <a:off x="6362700" y="1485900"/>
            <a:ext cx="5334000" cy="2952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01A4F0C-990F-4956-B437-D144F74D80AE}"/>
              </a:ext>
            </a:extLst>
          </p:cNvPr>
          <p:cNvSpPr>
            <a:spLocks xmlns:a="http://schemas.openxmlformats.org/drawingml/2006/main" noGrp="1"/>
          </p:cNvSpPr>
          <p:nvPr/>
        </p:nvSpPr>
        <p:spPr>
          <a:xfrm xmlns:a="http://schemas.openxmlformats.org/drawingml/2006/main">
            <a:off x="552450" y="4629150"/>
            <a:ext cx="5353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04DD9"/>
                </a:solidFill>
                <a:latin typeface="DejaVu Sans"/>
                <a:ea typeface="DejaVu Sans"/>
                <a:cs typeface="DejaVu Sans"/>
              </a:defRPr>
            </a:defPPr>
          </a:lstStyle>
          <a:p xmlns:a="http://schemas.openxmlformats.org/drawingml/2006/main">
            <a:pPr>
              <a:defRPr sz="2175" b="1">
                <a:solidFill>
                  <a:srgbClr val="304DD9"/>
                </a:solidFill>
                <a:latin typeface="DejaVu Sans"/>
                <a:ea typeface="DejaVu Sans"/>
                <a:cs typeface="DejaVu Sans"/>
              </a:defRPr>
            </a:pPr>
            <a:r>
              <a:rPr sz="2175" b="1">
                <a:solidFill>
                  <a:srgbClr val="304DD9"/>
                </a:solidFill>
                <a:latin typeface="DejaVu Sans"/>
                <a:ea typeface="DejaVu Sans"/>
                <a:cs typeface="DejaVu Sans"/>
              </a:rPr>
              <a:t>2028 / Adjust during the task</a:t>
            </a:r>
          </a:p>
        </p:txBody>
      </p:sp>
      <p:sp>
        <p:nvSpPr>
          <p:cNvPr id="6" name="">
            <a:extLst xmlns:a="http://schemas.openxmlformats.org/drawingml/2006/main">
              <a:ext uri="{FF2B5EF4-FFF2-40B4-BE49-F238E27FC236}">
                <a16:creationId xmlns:a16="http://schemas.microsoft.com/office/drawing/2014/main" id="{9AE426DD-CB92-4E33-893B-B0FF1656B463}"/>
              </a:ext>
            </a:extLst>
          </p:cNvPr>
          <p:cNvSpPr>
            <a:spLocks xmlns:a="http://schemas.openxmlformats.org/drawingml/2006/main" noGrp="1"/>
          </p:cNvSpPr>
          <p:nvPr/>
        </p:nvSpPr>
        <p:spPr>
          <a:xfrm xmlns:a="http://schemas.openxmlformats.org/drawingml/2006/main">
            <a:off x="552450" y="5476875"/>
            <a:ext cx="5353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Respond when the part or process changes.</a:t>
            </a:r>
          </a:p>
        </p:txBody>
      </p:sp>
      <p:sp>
        <p:nvSpPr>
          <p:cNvPr id="7" name="">
            <a:extLst xmlns:a="http://schemas.openxmlformats.org/drawingml/2006/main">
              <a:ext uri="{FF2B5EF4-FFF2-40B4-BE49-F238E27FC236}">
                <a16:creationId xmlns:a16="http://schemas.microsoft.com/office/drawing/2014/main" id="{B7FC423E-BBF5-4F23-984A-54B4332A1E04}"/>
              </a:ext>
            </a:extLst>
          </p:cNvPr>
          <p:cNvSpPr>
            <a:spLocks xmlns:a="http://schemas.openxmlformats.org/drawingml/2006/main" noGrp="1"/>
          </p:cNvSpPr>
          <p:nvPr/>
        </p:nvSpPr>
        <p:spPr>
          <a:xfrm xmlns:a="http://schemas.openxmlformats.org/drawingml/2006/main">
            <a:off x="6362700" y="4629150"/>
            <a:ext cx="5353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04DD9"/>
                </a:solidFill>
                <a:latin typeface="DejaVu Sans"/>
                <a:ea typeface="DejaVu Sans"/>
                <a:cs typeface="DejaVu Sans"/>
              </a:defRPr>
            </a:defPPr>
          </a:lstStyle>
          <a:p xmlns:a="http://schemas.openxmlformats.org/drawingml/2006/main">
            <a:pPr>
              <a:defRPr sz="2175" b="1">
                <a:solidFill>
                  <a:srgbClr val="304DD9"/>
                </a:solidFill>
                <a:latin typeface="DejaVu Sans"/>
                <a:ea typeface="DejaVu Sans"/>
                <a:cs typeface="DejaVu Sans"/>
              </a:defRPr>
            </a:pPr>
            <a:r>
              <a:rPr sz="2175" b="1">
                <a:solidFill>
                  <a:srgbClr val="304DD9"/>
                </a:solidFill>
                <a:latin typeface="DejaVu Sans"/>
                <a:ea typeface="DejaVu Sans"/>
                <a:cs typeface="DejaVu Sans"/>
              </a:rPr>
              <a:t>2029+ / Handle more variation</a:t>
            </a:r>
          </a:p>
        </p:txBody>
      </p:sp>
      <p:sp>
        <p:nvSpPr>
          <p:cNvPr id="8" name="">
            <a:extLst xmlns:a="http://schemas.openxmlformats.org/drawingml/2006/main">
              <a:ext uri="{FF2B5EF4-FFF2-40B4-BE49-F238E27FC236}">
                <a16:creationId xmlns:a16="http://schemas.microsoft.com/office/drawing/2014/main" id="{EDCD9194-22A8-42DD-AA6F-D0856C330D2E}"/>
              </a:ext>
            </a:extLst>
          </p:cNvPr>
          <p:cNvSpPr>
            <a:spLocks xmlns:a="http://schemas.openxmlformats.org/drawingml/2006/main" noGrp="1"/>
          </p:cNvSpPr>
          <p:nvPr/>
        </p:nvSpPr>
        <p:spPr>
          <a:xfrm xmlns:a="http://schemas.openxmlformats.org/drawingml/2006/main">
            <a:off x="6362700" y="5476875"/>
            <a:ext cx="5353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Explore flexible materials and unfamiliar shapes.</a:t>
            </a:r>
          </a:p>
        </p:txBody>
      </p:sp>
      <p:sp>
        <p:nvSpPr>
          <p:cNvPr id="9" name="">
            <a:extLst xmlns:a="http://schemas.openxmlformats.org/drawingml/2006/main">
              <a:ext uri="{FF2B5EF4-FFF2-40B4-BE49-F238E27FC236}">
                <a16:creationId xmlns:a16="http://schemas.microsoft.com/office/drawing/2014/main" id="{ECEDE97C-49FA-4DDB-8F09-C2B592F463E8}"/>
              </a:ext>
            </a:extLst>
          </p:cNvPr>
          <p:cNvSpPr>
            <a:spLocks xmlns:a="http://schemas.openxmlformats.org/drawingml/2006/main" noGrp="1"/>
          </p:cNvSpPr>
          <p:nvPr/>
        </p:nvSpPr>
        <p:spPr>
          <a:xfrm xmlns:a="http://schemas.openxmlformats.org/drawingml/2006/main">
            <a:off x="552450" y="63055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Proposed direction: prove reliability before wider use.</a:t>
            </a:r>
          </a:p>
        </p:txBody>
      </p:sp>
    </p:spTree>
    <p:extLst>
      <p:ext uri="{BB962C8B-B14F-4D97-AF65-F5344CB8AC3E}">
        <p14:creationId xmlns:p14="http://schemas.microsoft.com/office/powerpoint/2010/main" val="1376493113"/>
      </p:ext>
    </p:extLst>
  </p:cSld>
</p:sld>
</file>

<file path=ppt/slides/slide1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DB14C1C8-F3C2-4C41-A606-4C8A02BADCF3}"/>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contribution to industrial robotics</a:t>
            </a:r>
          </a:p>
        </p:txBody>
      </p:sp>
      <p:sp>
        <p:nvSpPr>
          <p:cNvPr id="2" name="">
            <a:extLst xmlns:a="http://schemas.openxmlformats.org/drawingml/2006/main">
              <a:ext uri="{FF2B5EF4-FFF2-40B4-BE49-F238E27FC236}">
                <a16:creationId xmlns:a16="http://schemas.microsoft.com/office/drawing/2014/main" id="{605D868E-1014-4D65-9505-BB0B3B6C7858}"/>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18</a:t>
            </a:r>
          </a:p>
        </p:txBody>
      </p:sp>
      <p:sp>
        <p:nvSpPr>
          <p:cNvPr id="3" name="">
            <a:extLst xmlns:a="http://schemas.openxmlformats.org/drawingml/2006/main">
              <a:ext uri="{FF2B5EF4-FFF2-40B4-BE49-F238E27FC236}">
                <a16:creationId xmlns:a16="http://schemas.microsoft.com/office/drawing/2014/main" id="{59097662-5C95-4536-A4C2-A3D821BF4B36}"/>
              </a:ext>
            </a:extLst>
          </p:cNvPr>
          <p:cNvSpPr>
            <a:spLocks xmlns:a="http://schemas.openxmlformats.org/drawingml/2006/main" noGrp="1"/>
          </p:cNvSpPr>
          <p:nvPr/>
        </p:nvSpPr>
        <p:spPr>
          <a:xfrm xmlns:a="http://schemas.openxmlformats.org/drawingml/2006/main">
            <a:off x="1371600" y="1847850"/>
            <a:ext cx="1809750" cy="1809750"/>
          </a:xfrm>
          <a:prstGeom xmlns:a="http://schemas.openxmlformats.org/drawingml/2006/main" prst="ellipse">
            <a:avLst/>
          </a:prstGeom>
          <a:noFill xmlns:a="http://schemas.openxmlformats.org/drawingml/2006/main"/>
          <a:ln xmlns:a="http://schemas.openxmlformats.org/drawingml/2006/main" w="85725">
            <a:solidFill>
              <a:srgbClr val="304DD9"/>
            </a:solidFill>
          </a:ln>
        </p:spPr>
      </p:sp>
      <p:sp>
        <p:nvSpPr>
          <p:cNvPr id="4" name="">
            <a:extLst xmlns:a="http://schemas.openxmlformats.org/drawingml/2006/main">
              <a:ext uri="{FF2B5EF4-FFF2-40B4-BE49-F238E27FC236}">
                <a16:creationId xmlns:a16="http://schemas.microsoft.com/office/drawing/2014/main" id="{6D52D6B6-D85D-4341-B226-9B21E07F32FC}"/>
              </a:ext>
            </a:extLst>
          </p:cNvPr>
          <p:cNvSpPr>
            <a:spLocks xmlns:a="http://schemas.openxmlformats.org/drawingml/2006/main" noGrp="1"/>
          </p:cNvSpPr>
          <p:nvPr/>
        </p:nvSpPr>
        <p:spPr>
          <a:xfrm xmlns:a="http://schemas.openxmlformats.org/drawingml/2006/main">
            <a:off x="2209800" y="2219325"/>
            <a:ext cx="85725" cy="600075"/>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131C64B-A191-4A64-9080-309FCB45F0C8}"/>
              </a:ext>
            </a:extLst>
          </p:cNvPr>
          <p:cNvSpPr>
            <a:spLocks xmlns:a="http://schemas.openxmlformats.org/drawingml/2006/main" noGrp="1"/>
          </p:cNvSpPr>
          <p:nvPr/>
        </p:nvSpPr>
        <p:spPr>
          <a:xfrm xmlns:a="http://schemas.openxmlformats.org/drawingml/2006/main">
            <a:off x="2219325" y="2724150"/>
            <a:ext cx="514350" cy="85725"/>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B83BCF6-6D1A-49D2-835A-57BB9C23B437}"/>
              </a:ext>
            </a:extLst>
          </p:cNvPr>
          <p:cNvSpPr>
            <a:spLocks xmlns:a="http://schemas.openxmlformats.org/drawingml/2006/main" noGrp="1"/>
          </p:cNvSpPr>
          <p:nvPr/>
        </p:nvSpPr>
        <p:spPr>
          <a:xfrm xmlns:a="http://schemas.openxmlformats.org/drawingml/2006/main">
            <a:off x="2143125" y="2647950"/>
            <a:ext cx="228600" cy="228600"/>
          </a:xfrm>
          <a:prstGeom xmlns:a="http://schemas.openxmlformats.org/drawingml/2006/main" prst="ellipse">
            <a:avLst/>
          </a:prstGeom>
          <a:solidFill xmlns:a="http://schemas.openxmlformats.org/drawingml/2006/main">
            <a:srgbClr val="304DD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F4E43DB-B2D7-4383-8991-648698728FDA}"/>
              </a:ext>
            </a:extLst>
          </p:cNvPr>
          <p:cNvSpPr>
            <a:spLocks xmlns:a="http://schemas.openxmlformats.org/drawingml/2006/main" noGrp="1"/>
          </p:cNvSpPr>
          <p:nvPr/>
        </p:nvSpPr>
        <p:spPr>
          <a:xfrm xmlns:a="http://schemas.openxmlformats.org/drawingml/2006/main">
            <a:off x="5210175" y="2305050"/>
            <a:ext cx="1428750" cy="76200"/>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8B895AA-286F-40BD-AD7E-B08F35418CDB}"/>
              </a:ext>
            </a:extLst>
          </p:cNvPr>
          <p:cNvSpPr>
            <a:spLocks xmlns:a="http://schemas.openxmlformats.org/drawingml/2006/main" noGrp="1"/>
          </p:cNvSpPr>
          <p:nvPr/>
        </p:nvSpPr>
        <p:spPr>
          <a:xfrm xmlns:a="http://schemas.openxmlformats.org/drawingml/2006/main">
            <a:off x="6562725" y="2324100"/>
            <a:ext cx="76200" cy="1028700"/>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F8D3701-B4FF-42D9-AD97-F77B3B1893B7}"/>
              </a:ext>
            </a:extLst>
          </p:cNvPr>
          <p:cNvSpPr>
            <a:spLocks xmlns:a="http://schemas.openxmlformats.org/drawingml/2006/main" noGrp="1"/>
          </p:cNvSpPr>
          <p:nvPr/>
        </p:nvSpPr>
        <p:spPr>
          <a:xfrm xmlns:a="http://schemas.openxmlformats.org/drawingml/2006/main">
            <a:off x="5086350" y="2200275"/>
            <a:ext cx="285750" cy="285750"/>
          </a:xfrm>
          <a:prstGeom xmlns:a="http://schemas.openxmlformats.org/drawingml/2006/main" prst="ellipse">
            <a:avLst/>
          </a:prstGeom>
          <a:solidFill xmlns:a="http://schemas.openxmlformats.org/drawingml/2006/main">
            <a:srgbClr val="FAF8F3"/>
          </a:solidFill>
          <a:ln xmlns:a="http://schemas.openxmlformats.org/drawingml/2006/main" w="57150">
            <a:solidFill>
              <a:srgbClr val="304DD9"/>
            </a:solidFill>
          </a:ln>
        </p:spPr>
      </p:sp>
      <p:sp>
        <p:nvSpPr>
          <p:cNvPr id="10" name="">
            <a:extLst xmlns:a="http://schemas.openxmlformats.org/drawingml/2006/main">
              <a:ext uri="{FF2B5EF4-FFF2-40B4-BE49-F238E27FC236}">
                <a16:creationId xmlns:a16="http://schemas.microsoft.com/office/drawing/2014/main" id="{D3B4500D-B4E5-4846-91C3-6C58C42B6093}"/>
              </a:ext>
            </a:extLst>
          </p:cNvPr>
          <p:cNvSpPr>
            <a:spLocks xmlns:a="http://schemas.openxmlformats.org/drawingml/2006/main" noGrp="1"/>
          </p:cNvSpPr>
          <p:nvPr/>
        </p:nvSpPr>
        <p:spPr>
          <a:xfrm xmlns:a="http://schemas.openxmlformats.org/drawingml/2006/main">
            <a:off x="6477000" y="2200275"/>
            <a:ext cx="285750" cy="285750"/>
          </a:xfrm>
          <a:prstGeom xmlns:a="http://schemas.openxmlformats.org/drawingml/2006/main" prst="ellipse">
            <a:avLst/>
          </a:prstGeom>
          <a:solidFill xmlns:a="http://schemas.openxmlformats.org/drawingml/2006/main">
            <a:srgbClr val="FAF8F3"/>
          </a:solidFill>
          <a:ln xmlns:a="http://schemas.openxmlformats.org/drawingml/2006/main" w="57150">
            <a:solidFill>
              <a:srgbClr val="304DD9"/>
            </a:solidFill>
          </a:ln>
        </p:spPr>
      </p:sp>
      <p:sp>
        <p:nvSpPr>
          <p:cNvPr id="11" name="">
            <a:extLst xmlns:a="http://schemas.openxmlformats.org/drawingml/2006/main">
              <a:ext uri="{FF2B5EF4-FFF2-40B4-BE49-F238E27FC236}">
                <a16:creationId xmlns:a16="http://schemas.microsoft.com/office/drawing/2014/main" id="{C91641F7-C881-48D3-B418-08C75F756280}"/>
              </a:ext>
            </a:extLst>
          </p:cNvPr>
          <p:cNvSpPr>
            <a:spLocks xmlns:a="http://schemas.openxmlformats.org/drawingml/2006/main" noGrp="1"/>
          </p:cNvSpPr>
          <p:nvPr/>
        </p:nvSpPr>
        <p:spPr>
          <a:xfrm xmlns:a="http://schemas.openxmlformats.org/drawingml/2006/main">
            <a:off x="6477000" y="3219450"/>
            <a:ext cx="285750" cy="285750"/>
          </a:xfrm>
          <a:prstGeom xmlns:a="http://schemas.openxmlformats.org/drawingml/2006/main" prst="ellipse">
            <a:avLst/>
          </a:prstGeom>
          <a:solidFill xmlns:a="http://schemas.openxmlformats.org/drawingml/2006/main">
            <a:srgbClr val="FAF8F3"/>
          </a:solidFill>
          <a:ln xmlns:a="http://schemas.openxmlformats.org/drawingml/2006/main" w="57150">
            <a:solidFill>
              <a:srgbClr val="304DD9"/>
            </a:solidFill>
          </a:ln>
        </p:spPr>
      </p:sp>
      <p:sp>
        <p:nvSpPr>
          <p:cNvPr id="12" name="">
            <a:extLst xmlns:a="http://schemas.openxmlformats.org/drawingml/2006/main">
              <a:ext uri="{FF2B5EF4-FFF2-40B4-BE49-F238E27FC236}">
                <a16:creationId xmlns:a16="http://schemas.microsoft.com/office/drawing/2014/main" id="{257616EC-1377-4B1E-A9FF-5EE241D51102}"/>
              </a:ext>
            </a:extLst>
          </p:cNvPr>
          <p:cNvSpPr>
            <a:spLocks xmlns:a="http://schemas.openxmlformats.org/drawingml/2006/main" noGrp="1"/>
          </p:cNvSpPr>
          <p:nvPr/>
        </p:nvSpPr>
        <p:spPr>
          <a:xfrm xmlns:a="http://schemas.openxmlformats.org/drawingml/2006/main">
            <a:off x="5276850" y="2667000"/>
            <a:ext cx="85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800" b="1">
                <a:solidFill>
                  <a:srgbClr val="304DD9"/>
                </a:solidFill>
                <a:latin typeface="DejaVu Sans"/>
                <a:ea typeface="DejaVu Sans"/>
                <a:cs typeface="DejaVu Sans"/>
              </a:defRPr>
            </a:defPPr>
          </a:lstStyle>
          <a:p xmlns:a="http://schemas.openxmlformats.org/drawingml/2006/main">
            <a:pPr>
              <a:defRPr sz="4800" b="1">
                <a:solidFill>
                  <a:srgbClr val="304DD9"/>
                </a:solidFill>
                <a:latin typeface="DejaVu Sans"/>
                <a:ea typeface="DejaVu Sans"/>
                <a:cs typeface="DejaVu Sans"/>
              </a:defRPr>
            </a:pPr>
            <a:r>
              <a:rPr sz="4800" b="1">
                <a:solidFill>
                  <a:srgbClr val="304DD9"/>
                </a:solidFill>
                <a:latin typeface="DejaVu Sans"/>
                <a:ea typeface="DejaVu Sans"/>
                <a:cs typeface="DejaVu Sans"/>
              </a:rPr>
              <a:t>✓</a:t>
            </a:r>
          </a:p>
        </p:txBody>
      </p:sp>
      <p:sp>
        <p:nvSpPr>
          <p:cNvPr id="13" name="">
            <a:extLst xmlns:a="http://schemas.openxmlformats.org/drawingml/2006/main">
              <a:ext uri="{FF2B5EF4-FFF2-40B4-BE49-F238E27FC236}">
                <a16:creationId xmlns:a16="http://schemas.microsoft.com/office/drawing/2014/main" id="{0501B3E0-A108-457A-B38A-7A87C781B5E1}"/>
              </a:ext>
            </a:extLst>
          </p:cNvPr>
          <p:cNvSpPr>
            <a:spLocks xmlns:a="http://schemas.openxmlformats.org/drawingml/2006/main" noGrp="1"/>
          </p:cNvSpPr>
          <p:nvPr/>
        </p:nvSpPr>
        <p:spPr>
          <a:xfrm xmlns:a="http://schemas.openxmlformats.org/drawingml/2006/main">
            <a:off x="9153525" y="1895475"/>
            <a:ext cx="1400175" cy="552450"/>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C1ED4BD-BEDD-441E-8F55-2B2668A36CE1}"/>
              </a:ext>
            </a:extLst>
          </p:cNvPr>
          <p:cNvSpPr>
            <a:spLocks xmlns:a="http://schemas.openxmlformats.org/drawingml/2006/main" noGrp="1"/>
          </p:cNvSpPr>
          <p:nvPr/>
        </p:nvSpPr>
        <p:spPr>
          <a:xfrm xmlns:a="http://schemas.openxmlformats.org/drawingml/2006/main">
            <a:off x="9248775" y="1971675"/>
            <a:ext cx="128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FFFFFF"/>
                </a:solidFill>
                <a:latin typeface="DejaVu Sans"/>
                <a:ea typeface="DejaVu Sans"/>
                <a:cs typeface="DejaVu Sans"/>
              </a:defRPr>
            </a:defPPr>
          </a:lstStyle>
          <a:p xmlns:a="http://schemas.openxmlformats.org/drawingml/2006/main">
            <a:pP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Software</a:t>
            </a:r>
          </a:p>
        </p:txBody>
      </p:sp>
      <p:sp>
        <p:nvSpPr>
          <p:cNvPr id="15" name="">
            <a:extLst xmlns:a="http://schemas.openxmlformats.org/drawingml/2006/main">
              <a:ext uri="{FF2B5EF4-FFF2-40B4-BE49-F238E27FC236}">
                <a16:creationId xmlns:a16="http://schemas.microsoft.com/office/drawing/2014/main" id="{FF0800A7-19DF-4422-AC02-449AEECDC671}"/>
              </a:ext>
            </a:extLst>
          </p:cNvPr>
          <p:cNvSpPr>
            <a:spLocks xmlns:a="http://schemas.openxmlformats.org/drawingml/2006/main" noGrp="1"/>
          </p:cNvSpPr>
          <p:nvPr/>
        </p:nvSpPr>
        <p:spPr>
          <a:xfrm xmlns:a="http://schemas.openxmlformats.org/drawingml/2006/main">
            <a:off x="9829800" y="2447925"/>
            <a:ext cx="38100" cy="371475"/>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B605C67-B61D-4A42-8979-4F993A692665}"/>
              </a:ext>
            </a:extLst>
          </p:cNvPr>
          <p:cNvSpPr>
            <a:spLocks xmlns:a="http://schemas.openxmlformats.org/drawingml/2006/main" noGrp="1"/>
          </p:cNvSpPr>
          <p:nvPr/>
        </p:nvSpPr>
        <p:spPr>
          <a:xfrm xmlns:a="http://schemas.openxmlformats.org/drawingml/2006/main">
            <a:off x="8763000" y="2781300"/>
            <a:ext cx="2181225" cy="38100"/>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BF0B529-B4AA-4FD8-BEAF-F2F3FA6E3755}"/>
              </a:ext>
            </a:extLst>
          </p:cNvPr>
          <p:cNvSpPr>
            <a:spLocks xmlns:a="http://schemas.openxmlformats.org/drawingml/2006/main" noGrp="1"/>
          </p:cNvSpPr>
          <p:nvPr/>
        </p:nvSpPr>
        <p:spPr>
          <a:xfrm xmlns:a="http://schemas.openxmlformats.org/drawingml/2006/main">
            <a:off x="8763000" y="2790825"/>
            <a:ext cx="38100" cy="285750"/>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7991B16-B90D-4E27-9B1A-046C963A66BF}"/>
              </a:ext>
            </a:extLst>
          </p:cNvPr>
          <p:cNvSpPr>
            <a:spLocks xmlns:a="http://schemas.openxmlformats.org/drawingml/2006/main" noGrp="1"/>
          </p:cNvSpPr>
          <p:nvPr/>
        </p:nvSpPr>
        <p:spPr>
          <a:xfrm xmlns:a="http://schemas.openxmlformats.org/drawingml/2006/main">
            <a:off x="9829800" y="2790825"/>
            <a:ext cx="38100" cy="285750"/>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79AAE3F-8E7A-4E39-8CF1-B8FA8F626C95}"/>
              </a:ext>
            </a:extLst>
          </p:cNvPr>
          <p:cNvSpPr>
            <a:spLocks xmlns:a="http://schemas.openxmlformats.org/drawingml/2006/main" noGrp="1"/>
          </p:cNvSpPr>
          <p:nvPr/>
        </p:nvSpPr>
        <p:spPr>
          <a:xfrm xmlns:a="http://schemas.openxmlformats.org/drawingml/2006/main">
            <a:off x="10906125" y="2790825"/>
            <a:ext cx="38100" cy="285750"/>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14969D7-6BF7-469B-B612-ECB1FE1D3A74}"/>
              </a:ext>
            </a:extLst>
          </p:cNvPr>
          <p:cNvSpPr>
            <a:spLocks xmlns:a="http://schemas.openxmlformats.org/drawingml/2006/main" noGrp="1"/>
          </p:cNvSpPr>
          <p:nvPr/>
        </p:nvSpPr>
        <p:spPr>
          <a:xfrm xmlns:a="http://schemas.openxmlformats.org/drawingml/2006/main">
            <a:off x="8543925" y="3152775"/>
            <a:ext cx="466725" cy="466725"/>
          </a:xfrm>
          <a:prstGeom xmlns:a="http://schemas.openxmlformats.org/drawingml/2006/main" prst="ellipse">
            <a:avLst/>
          </a:prstGeom>
          <a:noFill xmlns:a="http://schemas.openxmlformats.org/drawingml/2006/main"/>
          <a:ln xmlns:a="http://schemas.openxmlformats.org/drawingml/2006/main" w="38100">
            <a:solidFill>
              <a:srgbClr val="304DD9"/>
            </a:solidFill>
          </a:ln>
        </p:spPr>
      </p:sp>
      <p:sp>
        <p:nvSpPr>
          <p:cNvPr id="21" name="">
            <a:extLst xmlns:a="http://schemas.openxmlformats.org/drawingml/2006/main">
              <a:ext uri="{FF2B5EF4-FFF2-40B4-BE49-F238E27FC236}">
                <a16:creationId xmlns:a16="http://schemas.microsoft.com/office/drawing/2014/main" id="{52528C12-BD3F-44C5-BC33-C5B4D1DBB1E2}"/>
              </a:ext>
            </a:extLst>
          </p:cNvPr>
          <p:cNvSpPr>
            <a:spLocks xmlns:a="http://schemas.openxmlformats.org/drawingml/2006/main" noGrp="1"/>
          </p:cNvSpPr>
          <p:nvPr/>
        </p:nvSpPr>
        <p:spPr>
          <a:xfrm xmlns:a="http://schemas.openxmlformats.org/drawingml/2006/main">
            <a:off x="8620125" y="3152775"/>
            <a:ext cx="419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304DD9"/>
                </a:solidFill>
                <a:latin typeface="DejaVu Sans"/>
                <a:ea typeface="DejaVu Sans"/>
                <a:cs typeface="DejaVu Sans"/>
              </a:defRPr>
            </a:defPPr>
          </a:lstStyle>
          <a:p xmlns:a="http://schemas.openxmlformats.org/drawingml/2006/main">
            <a:pPr>
              <a:defRPr sz="2100" b="1">
                <a:solidFill>
                  <a:srgbClr val="304DD9"/>
                </a:solidFill>
                <a:latin typeface="DejaVu Sans"/>
                <a:ea typeface="DejaVu Sans"/>
                <a:cs typeface="DejaVu Sans"/>
              </a:defRPr>
            </a:pPr>
            <a:r>
              <a:rPr sz="2100" b="1">
                <a:solidFill>
                  <a:srgbClr val="304DD9"/>
                </a:solidFill>
                <a:latin typeface="DejaVu Sans"/>
                <a:ea typeface="DejaVu Sans"/>
                <a:cs typeface="DejaVu Sans"/>
              </a:rPr>
              <a:t>✓</a:t>
            </a:r>
          </a:p>
        </p:txBody>
      </p:sp>
      <p:sp>
        <p:nvSpPr>
          <p:cNvPr id="22" name="">
            <a:extLst xmlns:a="http://schemas.openxmlformats.org/drawingml/2006/main">
              <a:ext uri="{FF2B5EF4-FFF2-40B4-BE49-F238E27FC236}">
                <a16:creationId xmlns:a16="http://schemas.microsoft.com/office/drawing/2014/main" id="{9744AA2D-4808-47BF-B881-4F227B31E255}"/>
              </a:ext>
            </a:extLst>
          </p:cNvPr>
          <p:cNvSpPr>
            <a:spLocks xmlns:a="http://schemas.openxmlformats.org/drawingml/2006/main" noGrp="1"/>
          </p:cNvSpPr>
          <p:nvPr/>
        </p:nvSpPr>
        <p:spPr>
          <a:xfrm xmlns:a="http://schemas.openxmlformats.org/drawingml/2006/main">
            <a:off x="8305800" y="3695700"/>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Inspect</a:t>
            </a:r>
          </a:p>
        </p:txBody>
      </p:sp>
      <p:sp>
        <p:nvSpPr>
          <p:cNvPr id="23" name="">
            <a:extLst xmlns:a="http://schemas.openxmlformats.org/drawingml/2006/main">
              <a:ext uri="{FF2B5EF4-FFF2-40B4-BE49-F238E27FC236}">
                <a16:creationId xmlns:a16="http://schemas.microsoft.com/office/drawing/2014/main" id="{0E0C84E7-7FC7-403C-B038-44BF47D948D6}"/>
              </a:ext>
            </a:extLst>
          </p:cNvPr>
          <p:cNvSpPr>
            <a:spLocks xmlns:a="http://schemas.openxmlformats.org/drawingml/2006/main" noGrp="1"/>
          </p:cNvSpPr>
          <p:nvPr/>
        </p:nvSpPr>
        <p:spPr>
          <a:xfrm xmlns:a="http://schemas.openxmlformats.org/drawingml/2006/main">
            <a:off x="9648825" y="3152775"/>
            <a:ext cx="466725" cy="466725"/>
          </a:xfrm>
          <a:prstGeom xmlns:a="http://schemas.openxmlformats.org/drawingml/2006/main" prst="ellipse">
            <a:avLst/>
          </a:prstGeom>
          <a:noFill xmlns:a="http://schemas.openxmlformats.org/drawingml/2006/main"/>
          <a:ln xmlns:a="http://schemas.openxmlformats.org/drawingml/2006/main" w="38100">
            <a:solidFill>
              <a:srgbClr val="304DD9"/>
            </a:solidFill>
          </a:ln>
        </p:spPr>
      </p:sp>
      <p:sp>
        <p:nvSpPr>
          <p:cNvPr id="24" name="">
            <a:extLst xmlns:a="http://schemas.openxmlformats.org/drawingml/2006/main">
              <a:ext uri="{FF2B5EF4-FFF2-40B4-BE49-F238E27FC236}">
                <a16:creationId xmlns:a16="http://schemas.microsoft.com/office/drawing/2014/main" id="{382BDDCE-C983-4E12-8287-30E8D8E3BF85}"/>
              </a:ext>
            </a:extLst>
          </p:cNvPr>
          <p:cNvSpPr>
            <a:spLocks xmlns:a="http://schemas.openxmlformats.org/drawingml/2006/main" noGrp="1"/>
          </p:cNvSpPr>
          <p:nvPr/>
        </p:nvSpPr>
        <p:spPr>
          <a:xfrm xmlns:a="http://schemas.openxmlformats.org/drawingml/2006/main">
            <a:off x="9725025" y="3152775"/>
            <a:ext cx="419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304DD9"/>
                </a:solidFill>
                <a:latin typeface="DejaVu Sans"/>
                <a:ea typeface="DejaVu Sans"/>
                <a:cs typeface="DejaVu Sans"/>
              </a:defRPr>
            </a:defPPr>
          </a:lstStyle>
          <a:p xmlns:a="http://schemas.openxmlformats.org/drawingml/2006/main">
            <a:pPr>
              <a:defRPr sz="2100" b="1">
                <a:solidFill>
                  <a:srgbClr val="304DD9"/>
                </a:solidFill>
                <a:latin typeface="DejaVu Sans"/>
                <a:ea typeface="DejaVu Sans"/>
                <a:cs typeface="DejaVu Sans"/>
              </a:defRPr>
            </a:pPr>
            <a:r>
              <a:rPr sz="2100" b="1">
                <a:solidFill>
                  <a:srgbClr val="304DD9"/>
                </a:solidFill>
                <a:latin typeface="DejaVu Sans"/>
                <a:ea typeface="DejaVu Sans"/>
                <a:cs typeface="DejaVu Sans"/>
              </a:rPr>
              <a:t>✓</a:t>
            </a:r>
          </a:p>
        </p:txBody>
      </p:sp>
      <p:sp>
        <p:nvSpPr>
          <p:cNvPr id="25" name="">
            <a:extLst xmlns:a="http://schemas.openxmlformats.org/drawingml/2006/main">
              <a:ext uri="{FF2B5EF4-FFF2-40B4-BE49-F238E27FC236}">
                <a16:creationId xmlns:a16="http://schemas.microsoft.com/office/drawing/2014/main" id="{935A7539-A178-4E82-B526-927B42A6B819}"/>
              </a:ext>
            </a:extLst>
          </p:cNvPr>
          <p:cNvSpPr>
            <a:spLocks xmlns:a="http://schemas.openxmlformats.org/drawingml/2006/main" noGrp="1"/>
          </p:cNvSpPr>
          <p:nvPr/>
        </p:nvSpPr>
        <p:spPr>
          <a:xfrm xmlns:a="http://schemas.openxmlformats.org/drawingml/2006/main">
            <a:off x="9410700" y="3695700"/>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Drill</a:t>
            </a:r>
          </a:p>
        </p:txBody>
      </p:sp>
      <p:sp>
        <p:nvSpPr>
          <p:cNvPr id="26" name="">
            <a:extLst xmlns:a="http://schemas.openxmlformats.org/drawingml/2006/main">
              <a:ext uri="{FF2B5EF4-FFF2-40B4-BE49-F238E27FC236}">
                <a16:creationId xmlns:a16="http://schemas.microsoft.com/office/drawing/2014/main" id="{1EA41193-BA05-4581-A63B-EB66A12694C2}"/>
              </a:ext>
            </a:extLst>
          </p:cNvPr>
          <p:cNvSpPr>
            <a:spLocks xmlns:a="http://schemas.openxmlformats.org/drawingml/2006/main" noGrp="1"/>
          </p:cNvSpPr>
          <p:nvPr/>
        </p:nvSpPr>
        <p:spPr>
          <a:xfrm xmlns:a="http://schemas.openxmlformats.org/drawingml/2006/main">
            <a:off x="10696575" y="3152775"/>
            <a:ext cx="466725" cy="466725"/>
          </a:xfrm>
          <a:prstGeom xmlns:a="http://schemas.openxmlformats.org/drawingml/2006/main" prst="ellipse">
            <a:avLst/>
          </a:prstGeom>
          <a:noFill xmlns:a="http://schemas.openxmlformats.org/drawingml/2006/main"/>
          <a:ln xmlns:a="http://schemas.openxmlformats.org/drawingml/2006/main" w="38100">
            <a:solidFill>
              <a:srgbClr val="304DD9"/>
            </a:solidFill>
          </a:ln>
        </p:spPr>
      </p:sp>
      <p:sp>
        <p:nvSpPr>
          <p:cNvPr id="27" name="">
            <a:extLst xmlns:a="http://schemas.openxmlformats.org/drawingml/2006/main">
              <a:ext uri="{FF2B5EF4-FFF2-40B4-BE49-F238E27FC236}">
                <a16:creationId xmlns:a16="http://schemas.microsoft.com/office/drawing/2014/main" id="{9B7EFB1D-8A71-4A82-BA0E-32BEE6E3B09E}"/>
              </a:ext>
            </a:extLst>
          </p:cNvPr>
          <p:cNvSpPr>
            <a:spLocks xmlns:a="http://schemas.openxmlformats.org/drawingml/2006/main" noGrp="1"/>
          </p:cNvSpPr>
          <p:nvPr/>
        </p:nvSpPr>
        <p:spPr>
          <a:xfrm xmlns:a="http://schemas.openxmlformats.org/drawingml/2006/main">
            <a:off x="10772775" y="3152775"/>
            <a:ext cx="419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304DD9"/>
                </a:solidFill>
                <a:latin typeface="DejaVu Sans"/>
                <a:ea typeface="DejaVu Sans"/>
                <a:cs typeface="DejaVu Sans"/>
              </a:defRPr>
            </a:defPPr>
          </a:lstStyle>
          <a:p xmlns:a="http://schemas.openxmlformats.org/drawingml/2006/main">
            <a:pPr>
              <a:defRPr sz="2100" b="1">
                <a:solidFill>
                  <a:srgbClr val="304DD9"/>
                </a:solidFill>
                <a:latin typeface="DejaVu Sans"/>
                <a:ea typeface="DejaVu Sans"/>
                <a:cs typeface="DejaVu Sans"/>
              </a:defRPr>
            </a:pPr>
            <a:r>
              <a:rPr sz="2100" b="1">
                <a:solidFill>
                  <a:srgbClr val="304DD9"/>
                </a:solidFill>
                <a:latin typeface="DejaVu Sans"/>
                <a:ea typeface="DejaVu Sans"/>
                <a:cs typeface="DejaVu Sans"/>
              </a:rPr>
              <a:t>✓</a:t>
            </a:r>
          </a:p>
        </p:txBody>
      </p:sp>
      <p:sp>
        <p:nvSpPr>
          <p:cNvPr id="28" name="">
            <a:extLst xmlns:a="http://schemas.openxmlformats.org/drawingml/2006/main">
              <a:ext uri="{FF2B5EF4-FFF2-40B4-BE49-F238E27FC236}">
                <a16:creationId xmlns:a16="http://schemas.microsoft.com/office/drawing/2014/main" id="{0A891542-3B85-4237-A611-EA7ABB480BE6}"/>
              </a:ext>
            </a:extLst>
          </p:cNvPr>
          <p:cNvSpPr>
            <a:spLocks xmlns:a="http://schemas.openxmlformats.org/drawingml/2006/main" noGrp="1"/>
          </p:cNvSpPr>
          <p:nvPr/>
        </p:nvSpPr>
        <p:spPr>
          <a:xfrm xmlns:a="http://schemas.openxmlformats.org/drawingml/2006/main">
            <a:off x="10458450" y="3695700"/>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Clean</a:t>
            </a:r>
          </a:p>
        </p:txBody>
      </p:sp>
      <p:sp>
        <p:nvSpPr>
          <p:cNvPr id="29" name="">
            <a:extLst xmlns:a="http://schemas.openxmlformats.org/drawingml/2006/main">
              <a:ext uri="{FF2B5EF4-FFF2-40B4-BE49-F238E27FC236}">
                <a16:creationId xmlns:a16="http://schemas.microsoft.com/office/drawing/2014/main" id="{5C1ABECB-F753-49FE-AD56-F7498B22E9A8}"/>
              </a:ext>
            </a:extLst>
          </p:cNvPr>
          <p:cNvSpPr>
            <a:spLocks xmlns:a="http://schemas.openxmlformats.org/drawingml/2006/main" noGrp="1"/>
          </p:cNvSpPr>
          <p:nvPr/>
        </p:nvSpPr>
        <p:spPr>
          <a:xfrm xmlns:a="http://schemas.openxmlformats.org/drawingml/2006/main">
            <a:off x="552450" y="4419600"/>
            <a:ext cx="3543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304DD9"/>
                </a:solidFill>
                <a:latin typeface="DejaVu Sans"/>
                <a:ea typeface="DejaVu Sans"/>
                <a:cs typeface="DejaVu Sans"/>
              </a:defRPr>
            </a:defPPr>
          </a:lstStyle>
          <a:p xmlns:a="http://schemas.openxmlformats.org/drawingml/2006/main">
            <a:pPr>
              <a:defRPr sz="2325" b="1">
                <a:solidFill>
                  <a:srgbClr val="304DD9"/>
                </a:solidFill>
                <a:latin typeface="DejaVu Sans"/>
                <a:ea typeface="DejaVu Sans"/>
                <a:cs typeface="DejaVu Sans"/>
              </a:defRPr>
            </a:pPr>
            <a:r>
              <a:rPr sz="2325" b="1">
                <a:solidFill>
                  <a:srgbClr val="304DD9"/>
                </a:solidFill>
                <a:latin typeface="DejaVu Sans"/>
                <a:ea typeface="DejaVu Sans"/>
                <a:cs typeface="DejaVu Sans"/>
              </a:rPr>
              <a:t>Less preparation</a:t>
            </a:r>
          </a:p>
        </p:txBody>
      </p:sp>
      <p:sp>
        <p:nvSpPr>
          <p:cNvPr id="30" name="">
            <a:extLst xmlns:a="http://schemas.openxmlformats.org/drawingml/2006/main">
              <a:ext uri="{FF2B5EF4-FFF2-40B4-BE49-F238E27FC236}">
                <a16:creationId xmlns:a16="http://schemas.microsoft.com/office/drawing/2014/main" id="{C6886C58-01A2-4F91-B2CB-B5398BFA9C3A}"/>
              </a:ext>
            </a:extLst>
          </p:cNvPr>
          <p:cNvSpPr>
            <a:spLocks xmlns:a="http://schemas.openxmlformats.org/drawingml/2006/main" noGrp="1"/>
          </p:cNvSpPr>
          <p:nvPr/>
        </p:nvSpPr>
        <p:spPr>
          <a:xfrm xmlns:a="http://schemas.openxmlformats.org/drawingml/2006/main">
            <a:off x="552450" y="5191125"/>
            <a:ext cx="3543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2744"/>
                </a:solidFill>
                <a:latin typeface="DejaVu Sans"/>
                <a:ea typeface="DejaVu Sans"/>
                <a:cs typeface="DejaVu Sans"/>
              </a:defRPr>
            </a:defPPr>
          </a:lstStyle>
          <a:p xmlns:a="http://schemas.openxmlformats.org/drawingml/2006/main">
            <a:pPr>
              <a:defRPr sz="1875" b="0">
                <a:solidFill>
                  <a:srgbClr val="172744"/>
                </a:solidFill>
                <a:latin typeface="DejaVu Sans"/>
                <a:ea typeface="DejaVu Sans"/>
                <a:cs typeface="DejaVu Sans"/>
              </a:defRPr>
            </a:pPr>
            <a:r>
              <a:rPr sz="1875" b="0">
                <a:solidFill>
                  <a:srgbClr val="172744"/>
                </a:solidFill>
                <a:latin typeface="DejaVu Sans"/>
                <a:ea typeface="DejaVu Sans"/>
                <a:cs typeface="DejaVu Sans"/>
              </a:rPr>
              <a:t>Automate repeated</a:t>
            </a:r>
          </a:p>
          <a:p xmlns:a="http://schemas.openxmlformats.org/drawingml/2006/main">
            <a:pPr>
              <a:defRPr sz="1875" b="0">
                <a:solidFill>
                  <a:srgbClr val="172744"/>
                </a:solidFill>
                <a:latin typeface="DejaVu Sans"/>
                <a:ea typeface="DejaVu Sans"/>
                <a:cs typeface="DejaVu Sans"/>
              </a:defRPr>
            </a:pPr>
            <a:r>
              <a:rPr sz="1875" b="0">
                <a:solidFill>
                  <a:srgbClr val="172744"/>
                </a:solidFill>
                <a:latin typeface="DejaVu Sans"/>
                <a:ea typeface="DejaVu Sans"/>
                <a:cs typeface="DejaVu Sans"/>
              </a:rPr>
              <a:t>programming steps.</a:t>
            </a:r>
          </a:p>
        </p:txBody>
      </p:sp>
      <p:sp>
        <p:nvSpPr>
          <p:cNvPr id="31" name="">
            <a:extLst xmlns:a="http://schemas.openxmlformats.org/drawingml/2006/main">
              <a:ext uri="{FF2B5EF4-FFF2-40B4-BE49-F238E27FC236}">
                <a16:creationId xmlns:a16="http://schemas.microsoft.com/office/drawing/2014/main" id="{FD2979D4-9D1D-4BA4-9B6E-BB9875E4267C}"/>
              </a:ext>
            </a:extLst>
          </p:cNvPr>
          <p:cNvSpPr>
            <a:spLocks xmlns:a="http://schemas.openxmlformats.org/drawingml/2006/main" noGrp="1"/>
          </p:cNvSpPr>
          <p:nvPr/>
        </p:nvSpPr>
        <p:spPr>
          <a:xfrm xmlns:a="http://schemas.openxmlformats.org/drawingml/2006/main">
            <a:off x="4362450" y="4419600"/>
            <a:ext cx="3543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304DD9"/>
                </a:solidFill>
                <a:latin typeface="DejaVu Sans"/>
                <a:ea typeface="DejaVu Sans"/>
                <a:cs typeface="DejaVu Sans"/>
              </a:defRPr>
            </a:defPPr>
          </a:lstStyle>
          <a:p xmlns:a="http://schemas.openxmlformats.org/drawingml/2006/main">
            <a:pPr>
              <a:defRPr sz="2325" b="1">
                <a:solidFill>
                  <a:srgbClr val="304DD9"/>
                </a:solidFill>
                <a:latin typeface="DejaVu Sans"/>
                <a:ea typeface="DejaVu Sans"/>
                <a:cs typeface="DejaVu Sans"/>
              </a:defRPr>
            </a:pPr>
            <a:r>
              <a:rPr sz="2325" b="1">
                <a:solidFill>
                  <a:srgbClr val="304DD9"/>
                </a:solidFill>
                <a:latin typeface="DejaVu Sans"/>
                <a:ea typeface="DejaVu Sans"/>
                <a:cs typeface="DejaVu Sans"/>
              </a:rPr>
              <a:t>Reliable motion</a:t>
            </a:r>
          </a:p>
        </p:txBody>
      </p:sp>
      <p:sp>
        <p:nvSpPr>
          <p:cNvPr id="32" name="">
            <a:extLst xmlns:a="http://schemas.openxmlformats.org/drawingml/2006/main">
              <a:ext uri="{FF2B5EF4-FFF2-40B4-BE49-F238E27FC236}">
                <a16:creationId xmlns:a16="http://schemas.microsoft.com/office/drawing/2014/main" id="{DA315B99-F380-4DB9-B1ED-5BE92A350E5F}"/>
              </a:ext>
            </a:extLst>
          </p:cNvPr>
          <p:cNvSpPr>
            <a:spLocks xmlns:a="http://schemas.openxmlformats.org/drawingml/2006/main" noGrp="1"/>
          </p:cNvSpPr>
          <p:nvPr/>
        </p:nvSpPr>
        <p:spPr>
          <a:xfrm xmlns:a="http://schemas.openxmlformats.org/drawingml/2006/main">
            <a:off x="4362450" y="5191125"/>
            <a:ext cx="3543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2744"/>
                </a:solidFill>
                <a:latin typeface="DejaVu Sans"/>
                <a:ea typeface="DejaVu Sans"/>
                <a:cs typeface="DejaVu Sans"/>
              </a:defRPr>
            </a:defPPr>
          </a:lstStyle>
          <a:p xmlns:a="http://schemas.openxmlformats.org/drawingml/2006/main">
            <a:pPr>
              <a:defRPr sz="1875" b="0">
                <a:solidFill>
                  <a:srgbClr val="172744"/>
                </a:solidFill>
                <a:latin typeface="DejaVu Sans"/>
                <a:ea typeface="DejaVu Sans"/>
                <a:cs typeface="DejaVu Sans"/>
              </a:defRPr>
            </a:pPr>
            <a:r>
              <a:rPr sz="1875" b="0">
                <a:solidFill>
                  <a:srgbClr val="172744"/>
                </a:solidFill>
                <a:latin typeface="DejaVu Sans"/>
                <a:ea typeface="DejaVu Sans"/>
                <a:cs typeface="DejaVu Sans"/>
              </a:rPr>
              <a:t>Validate paths against</a:t>
            </a:r>
          </a:p>
          <a:p xmlns:a="http://schemas.openxmlformats.org/drawingml/2006/main">
            <a:pPr>
              <a:defRPr sz="1875" b="0">
                <a:solidFill>
                  <a:srgbClr val="172744"/>
                </a:solidFill>
                <a:latin typeface="DejaVu Sans"/>
                <a:ea typeface="DejaVu Sans"/>
                <a:cs typeface="DejaVu Sans"/>
              </a:defRPr>
            </a:pPr>
            <a:r>
              <a:rPr sz="1875" b="0">
                <a:solidFill>
                  <a:srgbClr val="172744"/>
                </a:solidFill>
                <a:latin typeface="DejaVu Sans"/>
                <a:ea typeface="DejaVu Sans"/>
                <a:cs typeface="DejaVu Sans"/>
              </a:rPr>
              <a:t>manufacturing needs.</a:t>
            </a:r>
          </a:p>
        </p:txBody>
      </p:sp>
      <p:sp>
        <p:nvSpPr>
          <p:cNvPr id="33" name="">
            <a:extLst xmlns:a="http://schemas.openxmlformats.org/drawingml/2006/main">
              <a:ext uri="{FF2B5EF4-FFF2-40B4-BE49-F238E27FC236}">
                <a16:creationId xmlns:a16="http://schemas.microsoft.com/office/drawing/2014/main" id="{6894989D-6D60-4DC5-8AB6-C65C6F5FF2D3}"/>
              </a:ext>
            </a:extLst>
          </p:cNvPr>
          <p:cNvSpPr>
            <a:spLocks xmlns:a="http://schemas.openxmlformats.org/drawingml/2006/main" noGrp="1"/>
          </p:cNvSpPr>
          <p:nvPr/>
        </p:nvSpPr>
        <p:spPr>
          <a:xfrm xmlns:a="http://schemas.openxmlformats.org/drawingml/2006/main">
            <a:off x="8172450" y="4419600"/>
            <a:ext cx="3543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304DD9"/>
                </a:solidFill>
                <a:latin typeface="DejaVu Sans"/>
                <a:ea typeface="DejaVu Sans"/>
                <a:cs typeface="DejaVu Sans"/>
              </a:defRPr>
            </a:defPPr>
          </a:lstStyle>
          <a:p xmlns:a="http://schemas.openxmlformats.org/drawingml/2006/main">
            <a:pPr>
              <a:defRPr sz="2325" b="1">
                <a:solidFill>
                  <a:srgbClr val="304DD9"/>
                </a:solidFill>
                <a:latin typeface="DejaVu Sans"/>
                <a:ea typeface="DejaVu Sans"/>
                <a:cs typeface="DejaVu Sans"/>
              </a:defRPr>
            </a:pPr>
            <a:r>
              <a:rPr sz="2325" b="1">
                <a:solidFill>
                  <a:srgbClr val="304DD9"/>
                </a:solidFill>
                <a:latin typeface="DejaVu Sans"/>
                <a:ea typeface="DejaVu Sans"/>
                <a:cs typeface="DejaVu Sans"/>
              </a:rPr>
              <a:t>Reuse across tasks</a:t>
            </a:r>
          </a:p>
        </p:txBody>
      </p:sp>
      <p:sp>
        <p:nvSpPr>
          <p:cNvPr id="34" name="">
            <a:extLst xmlns:a="http://schemas.openxmlformats.org/drawingml/2006/main">
              <a:ext uri="{FF2B5EF4-FFF2-40B4-BE49-F238E27FC236}">
                <a16:creationId xmlns:a16="http://schemas.microsoft.com/office/drawing/2014/main" id="{DA258BD3-F7E2-4BCE-B393-595A84559B6D}"/>
              </a:ext>
            </a:extLst>
          </p:cNvPr>
          <p:cNvSpPr>
            <a:spLocks xmlns:a="http://schemas.openxmlformats.org/drawingml/2006/main" noGrp="1"/>
          </p:cNvSpPr>
          <p:nvPr/>
        </p:nvSpPr>
        <p:spPr>
          <a:xfrm xmlns:a="http://schemas.openxmlformats.org/drawingml/2006/main">
            <a:off x="8172450" y="5191125"/>
            <a:ext cx="3543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2744"/>
                </a:solidFill>
                <a:latin typeface="DejaVu Sans"/>
                <a:ea typeface="DejaVu Sans"/>
                <a:cs typeface="DejaVu Sans"/>
              </a:defRPr>
            </a:defPPr>
          </a:lstStyle>
          <a:p xmlns:a="http://schemas.openxmlformats.org/drawingml/2006/main">
            <a:pPr>
              <a:defRPr sz="1875" b="0">
                <a:solidFill>
                  <a:srgbClr val="172744"/>
                </a:solidFill>
                <a:latin typeface="DejaVu Sans"/>
                <a:ea typeface="DejaVu Sans"/>
                <a:cs typeface="DejaVu Sans"/>
              </a:defRPr>
            </a:pPr>
            <a:r>
              <a:rPr sz="1875" b="0">
                <a:solidFill>
                  <a:srgbClr val="172744"/>
                </a:solidFill>
                <a:latin typeface="DejaVu Sans"/>
                <a:ea typeface="DejaVu Sans"/>
                <a:cs typeface="DejaVu Sans"/>
              </a:rPr>
              <a:t>Integrate planning methods</a:t>
            </a:r>
          </a:p>
          <a:p xmlns:a="http://schemas.openxmlformats.org/drawingml/2006/main">
            <a:pPr>
              <a:defRPr sz="1875" b="0">
                <a:solidFill>
                  <a:srgbClr val="172744"/>
                </a:solidFill>
                <a:latin typeface="DejaVu Sans"/>
                <a:ea typeface="DejaVu Sans"/>
                <a:cs typeface="DejaVu Sans"/>
              </a:defRPr>
            </a:pPr>
            <a:r>
              <a:rPr sz="1875" b="0">
                <a:solidFill>
                  <a:srgbClr val="172744"/>
                </a:solidFill>
                <a:latin typeface="DejaVu Sans"/>
                <a:ea typeface="DejaVu Sans"/>
                <a:cs typeface="DejaVu Sans"/>
              </a:rPr>
              <a:t>in one shared platform.</a:t>
            </a:r>
          </a:p>
        </p:txBody>
      </p:sp>
    </p:spTree>
    <p:extLst>
      <p:ext uri="{BB962C8B-B14F-4D97-AF65-F5344CB8AC3E}">
        <p14:creationId xmlns:p14="http://schemas.microsoft.com/office/powerpoint/2010/main" val="20066572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2026-10-11T07:34:14.7080000Z</dcterms:created>
  <dcterms:modified xsi:type="dcterms:W3CDTF">2026-10-11T07:34:14.7080000Z</dcterms:modified>
</coreProperties>
</file>