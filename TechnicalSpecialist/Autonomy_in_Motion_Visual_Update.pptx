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dba7bfb6574471" /><Relationship Type="http://schemas.openxmlformats.org/officeDocument/2006/relationships/extended-properties" Target="/docProps/app.xml" Id="R8b450845f79f448e" /><Relationship Type="http://schemas.openxmlformats.org/officeDocument/2006/relationships/officeDocument" Target="/ppt/presentation.xml" Id="Rbf20bf137c8c4cdf" /></Relationships>
</file>

<file path=ppt/presentation.xml><?xml version="1.0" encoding="utf-8"?>
<p:presentation xmlns:p="http://schemas.openxmlformats.org/presentationml/2006/main">
  <p:sldMasterIdLst>
    <p:sldMasterId xmlns:r="http://schemas.openxmlformats.org/officeDocument/2006/relationships" id="2147483648" r:id="Rf4a56ef3fa934b60"/>
  </p:sldMasterIdLst>
  <p:notesMasterIdLst>
    <p:notesMasterId xmlns:r="http://schemas.openxmlformats.org/officeDocument/2006/relationships" r:id="Rcf2a2a2060e649b1"/>
  </p:notesMasterIdLst>
  <p:sldIdLst>
    <p:sldId xmlns:r="http://schemas.openxmlformats.org/officeDocument/2006/relationships" id="256" r:id="Rf019c599ef734999"/>
    <p:sldId xmlns:r="http://schemas.openxmlformats.org/officeDocument/2006/relationships" id="257" r:id="R75593c427f6c4bdd"/>
    <p:sldId xmlns:r="http://schemas.openxmlformats.org/officeDocument/2006/relationships" id="258" r:id="R9c8f774f02fb4cc8"/>
    <p:sldId xmlns:r="http://schemas.openxmlformats.org/officeDocument/2006/relationships" id="259" r:id="Re5145faf51f64f5f"/>
    <p:sldId xmlns:r="http://schemas.openxmlformats.org/officeDocument/2006/relationships" id="260" r:id="Rcf8e0a93c76345b4"/>
    <p:sldId xmlns:r="http://schemas.openxmlformats.org/officeDocument/2006/relationships" id="261" r:id="R02c31922e6534b43"/>
    <p:sldId xmlns:r="http://schemas.openxmlformats.org/officeDocument/2006/relationships" id="262" r:id="R8973863ba6724468"/>
    <p:sldId xmlns:r="http://schemas.openxmlformats.org/officeDocument/2006/relationships" id="263" r:id="R88b8b6236cc047e7"/>
    <p:sldId xmlns:r="http://schemas.openxmlformats.org/officeDocument/2006/relationships" id="264" r:id="R47dc40b519f544b4"/>
    <p:sldId xmlns:r="http://schemas.openxmlformats.org/officeDocument/2006/relationships" id="265" r:id="R45ab445605484ea2"/>
    <p:sldId xmlns:r="http://schemas.openxmlformats.org/officeDocument/2006/relationships" id="266" r:id="Rf9df861ff00f45b9"/>
    <p:sldId xmlns:r="http://schemas.openxmlformats.org/officeDocument/2006/relationships" id="267" r:id="Rbfa1fbca54d8422f"/>
    <p:sldId xmlns:r="http://schemas.openxmlformats.org/officeDocument/2006/relationships" id="268" r:id="R3c9429575bc8480e"/>
    <p:sldId xmlns:r="http://schemas.openxmlformats.org/officeDocument/2006/relationships" id="269" r:id="R372bbe1e34004f85"/>
    <p:sldId xmlns:r="http://schemas.openxmlformats.org/officeDocument/2006/relationships" id="270" r:id="R6a86a69bdabf485d"/>
    <p:sldId xmlns:r="http://schemas.openxmlformats.org/officeDocument/2006/relationships" id="271" r:id="R2cde17609aff4a8c"/>
    <p:sldId xmlns:r="http://schemas.openxmlformats.org/officeDocument/2006/relationships" id="272" r:id="R0abf7d0f747b4aa1"/>
    <p:sldId xmlns:r="http://schemas.openxmlformats.org/officeDocument/2006/relationships" id="273" r:id="Rb63bf0b8da684c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47ba6d803147ca" /><Relationship Type="http://schemas.openxmlformats.org/officeDocument/2006/relationships/slideMaster" Target="/ppt/slideMasters/slideMaster1.xml" Id="Rf4a56ef3fa934b60" /><Relationship Type="http://schemas.openxmlformats.org/officeDocument/2006/relationships/notesMaster" Target="/ppt/notesMasters/notesMaster1.xml" Id="Rcf2a2a2060e649b1" /><Relationship Type="http://schemas.openxmlformats.org/officeDocument/2006/relationships/presProps" Target="/ppt/presProps.xml" Id="Rce762c94ae244d7d" /><Relationship Type="http://schemas.openxmlformats.org/officeDocument/2006/relationships/tableStyles" Target="/ppt/tableStyles.xml" Id="Rc122a94fa12e48bb" /><Relationship Type="http://schemas.openxmlformats.org/officeDocument/2006/relationships/slide" Target="/ppt/slides/slide1.xml" Id="Rf019c599ef734999" /><Relationship Type="http://schemas.openxmlformats.org/officeDocument/2006/relationships/slide" Target="/ppt/slides/slide2.xml" Id="R75593c427f6c4bdd" /><Relationship Type="http://schemas.openxmlformats.org/officeDocument/2006/relationships/slide" Target="/ppt/slides/slide3.xml" Id="R9c8f774f02fb4cc8" /><Relationship Type="http://schemas.openxmlformats.org/officeDocument/2006/relationships/slide" Target="/ppt/slides/slide4.xml" Id="Re5145faf51f64f5f" /><Relationship Type="http://schemas.openxmlformats.org/officeDocument/2006/relationships/slide" Target="/ppt/slides/slide5.xml" Id="Rcf8e0a93c76345b4" /><Relationship Type="http://schemas.openxmlformats.org/officeDocument/2006/relationships/slide" Target="/ppt/slides/slide6.xml" Id="R02c31922e6534b43" /><Relationship Type="http://schemas.openxmlformats.org/officeDocument/2006/relationships/slide" Target="/ppt/slides/slide7.xml" Id="R8973863ba6724468" /><Relationship Type="http://schemas.openxmlformats.org/officeDocument/2006/relationships/slide" Target="/ppt/slides/slide8.xml" Id="R88b8b6236cc047e7" /><Relationship Type="http://schemas.openxmlformats.org/officeDocument/2006/relationships/slide" Target="/ppt/slides/slide9.xml" Id="R47dc40b519f544b4" /><Relationship Type="http://schemas.openxmlformats.org/officeDocument/2006/relationships/slide" Target="/ppt/slides/slide10.xml" Id="R45ab445605484ea2" /><Relationship Type="http://schemas.openxmlformats.org/officeDocument/2006/relationships/slide" Target="/ppt/slides/slide11.xml" Id="Rf9df861ff00f45b9" /><Relationship Type="http://schemas.openxmlformats.org/officeDocument/2006/relationships/slide" Target="/ppt/slides/slide12.xml" Id="Rbfa1fbca54d8422f" /><Relationship Type="http://schemas.openxmlformats.org/officeDocument/2006/relationships/slide" Target="/ppt/slides/slide13.xml" Id="R3c9429575bc8480e" /><Relationship Type="http://schemas.openxmlformats.org/officeDocument/2006/relationships/slide" Target="/ppt/slides/slide14.xml" Id="R372bbe1e34004f85" /><Relationship Type="http://schemas.openxmlformats.org/officeDocument/2006/relationships/slide" Target="/ppt/slides/slide15.xml" Id="R6a86a69bdabf485d" /><Relationship Type="http://schemas.openxmlformats.org/officeDocument/2006/relationships/slide" Target="/ppt/slides/slide16.xml" Id="R2cde17609aff4a8c" /><Relationship Type="http://schemas.openxmlformats.org/officeDocument/2006/relationships/slide" Target="/ppt/slides/slide17.xml" Id="R0abf7d0f747b4aa1" /><Relationship Type="http://schemas.openxmlformats.org/officeDocument/2006/relationships/slide" Target="/ppt/slides/slide18.xml" Id="Rb63bf0b8da684c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681ddb803249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110d0ca37041e5" /><Relationship Type="http://schemas.openxmlformats.org/officeDocument/2006/relationships/notesMaster" Target="/ppt/notesMasters/notesMaster1.xml" Id="R75eee73a66164e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6ce8726b314a7a" /><Relationship Type="http://schemas.openxmlformats.org/officeDocument/2006/relationships/notesMaster" Target="/ppt/notesMasters/notesMaster1.xml" Id="R343fe44b62cc4c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b97f473a854655" /><Relationship Type="http://schemas.openxmlformats.org/officeDocument/2006/relationships/notesMaster" Target="/ppt/notesMasters/notesMaster1.xml" Id="R9d1a5cdbfaf64b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b3dc1c73504e89" /><Relationship Type="http://schemas.openxmlformats.org/officeDocument/2006/relationships/notesMaster" Target="/ppt/notesMasters/notesMaster1.xml" Id="R28e0023d49594a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d5d9ba180441c5" /><Relationship Type="http://schemas.openxmlformats.org/officeDocument/2006/relationships/notesMaster" Target="/ppt/notesMasters/notesMaster1.xml" Id="R6d2f0139b0d143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485c4a6b254c5a" /><Relationship Type="http://schemas.openxmlformats.org/officeDocument/2006/relationships/notesMaster" Target="/ppt/notesMasters/notesMaster1.xml" Id="R3bcd3ec9137642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d19e9754d24cec" /><Relationship Type="http://schemas.openxmlformats.org/officeDocument/2006/relationships/notesMaster" Target="/ppt/notesMasters/notesMaster1.xml" Id="Rbb08cf1df4dc4f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1da9260c334b8a" /><Relationship Type="http://schemas.openxmlformats.org/officeDocument/2006/relationships/notesMaster" Target="/ppt/notesMasters/notesMaster1.xml" Id="R1d09b44a89014f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f9204068ae466c" /><Relationship Type="http://schemas.openxmlformats.org/officeDocument/2006/relationships/notesMaster" Target="/ppt/notesMasters/notesMaster1.xml" Id="Rd070f2ff49ab45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feb6a081f1497f" /><Relationship Type="http://schemas.openxmlformats.org/officeDocument/2006/relationships/notesMaster" Target="/ppt/notesMasters/notesMaster1.xml" Id="R8d372d3fbce74e1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da4fd626280422f" /><Relationship Type="http://schemas.openxmlformats.org/officeDocument/2006/relationships/notesMaster" Target="/ppt/notesMasters/notesMaster1.xml" Id="R79fd9100941740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59d316cf6d49c7" /><Relationship Type="http://schemas.openxmlformats.org/officeDocument/2006/relationships/notesMaster" Target="/ppt/notesMasters/notesMaster1.xml" Id="Rbd7d2cb785354b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8b8f1eaf5ed4e8c" /><Relationship Type="http://schemas.openxmlformats.org/officeDocument/2006/relationships/notesMaster" Target="/ppt/notesMasters/notesMaster1.xml" Id="Rf8c1baa000f04ea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5f396e7b1b4174" /><Relationship Type="http://schemas.openxmlformats.org/officeDocument/2006/relationships/notesMaster" Target="/ppt/notesMasters/notesMaster1.xml" Id="Rb1bea137519949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081d35b16eb4c7f" /><Relationship Type="http://schemas.openxmlformats.org/officeDocument/2006/relationships/notesMaster" Target="/ppt/notesMasters/notesMaster1.xml" Id="R91b99ef33d3341b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ebd419e7b742f0" /><Relationship Type="http://schemas.openxmlformats.org/officeDocument/2006/relationships/notesMaster" Target="/ppt/notesMasters/notesMaster1.xml" Id="Rf1a9dbb07b5c450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35c5475aa14d12" /><Relationship Type="http://schemas.openxmlformats.org/officeDocument/2006/relationships/notesMaster" Target="/ppt/notesMasters/notesMaster1.xml" Id="R78bfaead0da64e3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dc94f76e714a01" /><Relationship Type="http://schemas.openxmlformats.org/officeDocument/2006/relationships/notesMaster" Target="/ppt/notesMasters/notesMaster1.xml" Id="Rade96b73771448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career follows a sustained interest in autonomous systems. I began in flight dynamics and control at DRDO ADE, working on autopilot, then moved to ADAS and industrial robotics. Today my focus is motion planning and execution for aircraft manufacturing.</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connect my background to the challenges of industrial robotics, then explain the specialist contribution I propose. The presentation covers personal motivation, Airbus applications, technical judgement, influence, vision and delivery strategy.</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career began in flight dynamics and control at DRDO ADE, where I worked on autopilot. I then moved into ADAS, meaning advanced driver-assistance systems, and later industrial robotics at Airbus. The common theme is how a system moves as intended and responds to feedback. Flight controls provide a foundation in dynamics and feedback. ADAS provides experience in the road-vehicle domain. Industrial robotics applies the wider systems perspective to precise manufacturing motion. The statements below explain each domain in everyday language. They do not claim that I personally developed every ADAS planning or control function. My exact ADAS responsibilities should be described using a confirmed project example in the interview.</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someone unfamiliar with motion planning, I explain it as deciding how to move from the current situation to a goal while respecting the surroundings and the machine's limits. Control then commands the machine to follow the chosen motion, using measurements to correct errors. For a car, an illustrative example is following a suitable path through a lane while maintaining clearance and feasible steering and speed. For an inspection robot, the path keeps a probe at the required position and orientation over a panel while respecting robot limits and avoiding collisions. The engineering questions transfer across domains, but the detailed algorithms and process requirements differ. These are explanatory examples, not claims that I personally implemented a particular ADAS function.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Outside engineering, my personal interests include dancing, acting, fitness, travel, trekking and hiking. These are personal interests supplied by me, without claims of awards, professional performance or athletic achievements. The image is an illustrative still life, not a photograph of my belongings.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progression of capabilities, not a dated project chronology. REACT, Primer-skin NDT and Intelligent scan plan are confirmed areas of work. Next horizon is a proposed direction, shown with a dashed connection. Images are illustrative. No completion dates or maturity levels are implied.</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benchmarking discussions compare planning approaches using application requirements. No single framework should be treated as universally best. The roadmap proposes reusing existing capabilities, building adapters and developing algorithms only for confirmed gaps. The visual is conceptual. No performance scores are claimed here.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inclusion of patents, IDDs and a published white paper. “Parent” has been interpreted as “patent” pending confirmation. Titles, counts, inventorship/authorship and patent/IDD status have not been supplied. The bracketed fields are explicit placeholders and must be completed before presenting. Do not describe a patent as granted without confirmation.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work at the intersection of application requirements, integration and research approaches. LAAS and IRT Jules Verne are relevant external connections. The IRT collaboration concerns generating motion with their planning approach, not jointly developing a common framework. The lower row describes the way I want to make technical exchanges useful: common requirements, comparable evidence and clear decisions.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priorities drawn from the applications discussed, not an official company-wide strategy. Numerical targets should be agreed with application owners after a baseline. The paired measures keep the specialist vision accountable to manufacturing value.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pyramid is a proposed capability progression, not a maturity score or a claim that the highest level is needed everywhere. Offline programming is a valuable foundation for predictable tasks and prepared cells. As part variants and process variability grow, automation can reduce repeated preparation and support adaptation. Automatic planning still requires verification. Adaptive execution adds feedback and recovery within validated limits. Task-level autonomy is a longer-term option for selected applications and may combine conventional planning with learning. Appropriate autonomy, application validation and cell safety remain essential at each level.</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programming, offline programming (OLP) and numerical-control (NC) programming provide established engineering foundations. The user reports that preparation hours for an aircraft panel vary between people, including differences in experience and familiarity. The three bars are conceptual illustrations only: their heights are arbitrary, there is no hour scale and they are not measured Airbus data, benchmark results or personnel assessments. Programming effort also depends on panel complexity, software, reuse and validation scope. Replace the illustration with comparable measured hours before making a quantitative claim. The proposed opportunity is to capture expert knowledge in reusable planning capabilities, reduce repeated preparation and make engineering effort more predictable. Experts remain important for configuration, process requirements, validation and exceptions. No reduction percentage or autonomous-versus-current time saving is claimed.</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smartphone analogy communicates a common platform serving different applications. The everyday photographs represent banking/payments, ecommerce and navigation. Robotics photographs illustrate inspection, sanding, drilling, auto-rigging/alignment, pick-and-place and cleaning, not actual project evidence. Different applications can draw on the same framework, and one application can use more than one planning capability. HPP, MoveIt2 and Tesseract are examples, not one-to-one assignments to the pictures. Users select validated task presets, while specialists configure backends through verified adapters. Common data, validation and execution interfaces support reuse. This is a product concept, not an existing user interface.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vision is product-oriented industrial robotics: a complete capability integrated with a common software platform and supported across its end-to-end lifecycle. Motion planning is my specialist focus, but its value depends on other components working together. I also have experience beyond planning and bring that wider perspective to interfaces, integration and product decisions. The component groups here describe the proposed product scope, not a claim that I personally delivered every component. The exact examples of my broader component experience should be added when supplied. RXU is the integration context discussed in the roadmap. Product lifecycle includes manufacturing requirements, architecture, verification, deployment, operation, maintenance and controlled updates. The cell safety system remains independently engineered; software integration is not a substitute for safety validation.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capability starts with a process task and data, produces a toolpath, generates feasible robot motion, validates and executes it, then uses feedback where adaptation is required. The underlying framework can vary by supported capability. RXU integration, control, connectivity and task supervision support the pipeline. This is the architecture I propose to help build, not a claim of an already complete platform. A product line shares maintained components and interfaces while configuring robot, process and application variants. Each variant retains its own acceptance criteria and validation.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sequence follows the latest stepwise framework integration roadmap. These are integration acceptance checkpoints, not eight new algorithms. Start with a thin end-to-end application, then extend capabilities in the numbered order. Integration testing should begin early. Dates depend on resources, capability inventory and robot access.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roadmap places dynamic adaptation in 2028 and learning under uncertainty in 2029 and beyond, with data preparation starting in 2027. Evaluate learned policies only for selected tasks where they justify their added complexity. Compare against conventional baselines. These are proposed R&amp;T directions, subject to funding, data and resources.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role I propose is to guide technical direction and make it reviewable through evidence, reusable interfaces and shared engineering practices. My first steps would be a capability inventory, agreement on a reference application and baseline measures, then an integration contract with validation gates. These are commitments I propose, not claims of achievements already completed.</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6bb96bf4d243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26d184d5eb47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e9cfc5ddec49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a3b3935f7b4c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86827a0aea4a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bad76befb2e4e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7280AA-E3C4-45AB-8485-FD24B9EBD58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E309443-360A-41CA-8EFF-5A66120A2BE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1FAC86-8C45-4D7F-9CAC-96C246D2562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CDA68C-18AA-4B11-A9C3-B9EF1570E6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15F83E9-3F65-4200-B2D6-F5F7A379A8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5843ED8-5805-4F17-9136-F77692BD4B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87528E-398E-46FE-B5CB-6EDFD41249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59C863-FBC8-4A46-AAA4-6D051EB2F63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D290C4-DB79-4305-B0D4-BB9E282644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79B696-2F9B-4463-AB09-9D9BC26AFE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22fa6d1c9b43b1" /><Relationship Type="http://schemas.openxmlformats.org/officeDocument/2006/relationships/slideLayout" Target="/ppt/slideLayouts/slideLayout1.xml" Id="Ra2dcff6549734805" /><Relationship Type="http://schemas.openxmlformats.org/officeDocument/2006/relationships/slideLayout" Target="/ppt/slideLayouts/slideLayout2.xml" Id="R5a2bee936b1d420f" /><Relationship Type="http://schemas.openxmlformats.org/officeDocument/2006/relationships/slideLayout" Target="/ppt/slideLayouts/slideLayout3.xml" Id="R2d194990b64e4b56" /><Relationship Type="http://schemas.openxmlformats.org/officeDocument/2006/relationships/slideLayout" Target="/ppt/slideLayouts/slideLayout4.xml" Id="R0dfaca078a664895" /><Relationship Type="http://schemas.openxmlformats.org/officeDocument/2006/relationships/slideLayout" Target="/ppt/slideLayouts/slideLayout5.xml" Id="R4679385b16b54d9f" /><Relationship Type="http://schemas.openxmlformats.org/officeDocument/2006/relationships/slideLayout" Target="/ppt/slideLayouts/slideLayout6.xml" Id="Rce4946df16e84f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dcff6549734805"/>
    <p:sldLayoutId xmlns:r="http://schemas.openxmlformats.org/officeDocument/2006/relationships" id="2147483650" r:id="R5a2bee936b1d420f"/>
    <p:sldLayoutId xmlns:r="http://schemas.openxmlformats.org/officeDocument/2006/relationships" id="2147483651" r:id="R2d194990b64e4b56"/>
    <p:sldLayoutId xmlns:r="http://schemas.openxmlformats.org/officeDocument/2006/relationships" id="2147483652" r:id="R0dfaca078a664895"/>
    <p:sldLayoutId xmlns:r="http://schemas.openxmlformats.org/officeDocument/2006/relationships" id="2147483653" r:id="R4679385b16b54d9f"/>
    <p:sldLayoutId xmlns:r="http://schemas.openxmlformats.org/officeDocument/2006/relationships" id="2147483654" r:id="Rce4946df16e84f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4dc9f7b0389403c" /><Relationship Type="http://schemas.openxmlformats.org/officeDocument/2006/relationships/image" Target="/ppt/media/image.png" Id="R6bac2bd90c484aaa" /><Relationship Type="http://schemas.openxmlformats.org/officeDocument/2006/relationships/notesSlide" Target="/ppt/notesSlides/notesSlide1.xml" Id="R895e2d02072247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96f4f82f604868" /><Relationship Type="http://schemas.openxmlformats.org/officeDocument/2006/relationships/notesSlide" Target="/ppt/notesSlides/notesSlide2.xml" Id="R940025e9b05a41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52e5489a3f84c84" /><Relationship Type="http://schemas.openxmlformats.org/officeDocument/2006/relationships/image" Target="/ppt/media/image2.png" Id="R00f9d0452ce74af2" /><Relationship Type="http://schemas.openxmlformats.org/officeDocument/2006/relationships/notesSlide" Target="/ppt/notesSlides/notesSlide3.xml" Id="Rce3d27e5562041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1aee6960d774264" /><Relationship Type="http://schemas.openxmlformats.org/officeDocument/2006/relationships/image" Target="/ppt/media/image3.png" Id="Rc46f8e5dd0c54282" /><Relationship Type="http://schemas.openxmlformats.org/officeDocument/2006/relationships/image" Target="/ppt/media/image4.png" Id="R8463cd2840bf4d98" /><Relationship Type="http://schemas.openxmlformats.org/officeDocument/2006/relationships/notesSlide" Target="/ppt/notesSlides/notesSlide4.xml" Id="R3b0e911dc88142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71d9539d19d45c9" /><Relationship Type="http://schemas.openxmlformats.org/officeDocument/2006/relationships/image" Target="/ppt/media/image5.png" Id="Rd0bc8a8375a24e5a" /><Relationship Type="http://schemas.openxmlformats.org/officeDocument/2006/relationships/notesSlide" Target="/ppt/notesSlides/notesSlide5.xml" Id="Re54b8aba70c247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76494a581142c6" /><Relationship Type="http://schemas.openxmlformats.org/officeDocument/2006/relationships/image" Target="/ppt/media/image6.png" Id="R2755915cdfa647b5" /><Relationship Type="http://schemas.openxmlformats.org/officeDocument/2006/relationships/image" Target="/ppt/media/image7.png" Id="R647c978d68744190" /><Relationship Type="http://schemas.openxmlformats.org/officeDocument/2006/relationships/image" Target="/ppt/media/image8.png" Id="R95ca8a721226432c" /><Relationship Type="http://schemas.openxmlformats.org/officeDocument/2006/relationships/image" Target="/ppt/media/image9.png" Id="R5fe41dd3b9c041da" /><Relationship Type="http://schemas.openxmlformats.org/officeDocument/2006/relationships/notesSlide" Target="/ppt/notesSlides/notesSlide6.xml" Id="R62b60935a3d842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f47a9dba964a6c" /><Relationship Type="http://schemas.openxmlformats.org/officeDocument/2006/relationships/image" Target="/ppt/media/image10.png" Id="R1cc728b0fe334c74" /><Relationship Type="http://schemas.openxmlformats.org/officeDocument/2006/relationships/notesSlide" Target="/ppt/notesSlides/notesSlide7.xml" Id="Rceb7ae132ffc49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6d92fd2432748aa" /><Relationship Type="http://schemas.openxmlformats.org/officeDocument/2006/relationships/notesSlide" Target="/ppt/notesSlides/notesSlide8.xml" Id="Rfd41d35642c144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9195fea06cf47b7" /><Relationship Type="http://schemas.openxmlformats.org/officeDocument/2006/relationships/image" Target="/ppt/media/image11.png" Id="R3552d259146942ba" /><Relationship Type="http://schemas.openxmlformats.org/officeDocument/2006/relationships/notesSlide" Target="/ppt/notesSlides/notesSlide9.xml" Id="R8a13826f6e4a47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3015a49859e487f" /><Relationship Type="http://schemas.openxmlformats.org/officeDocument/2006/relationships/image" Target="/ppt/media/image12.png" Id="R35d5152f67d84131" /><Relationship Type="http://schemas.openxmlformats.org/officeDocument/2006/relationships/notesSlide" Target="/ppt/notesSlides/notesSlide10.xml" Id="R885e0a707e434d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3a5ccf756ea4f2e" /><Relationship Type="http://schemas.openxmlformats.org/officeDocument/2006/relationships/image" Target="/ppt/media/image13.png" Id="R3677b8f371444621" /><Relationship Type="http://schemas.openxmlformats.org/officeDocument/2006/relationships/image" Target="/ppt/media/image14.png" Id="R1a60dac58e55499a" /><Relationship Type="http://schemas.openxmlformats.org/officeDocument/2006/relationships/image" Target="/ppt/media/image15.png" Id="R62eae80194664777" /><Relationship Type="http://schemas.openxmlformats.org/officeDocument/2006/relationships/image" Target="/ppt/media/image16.png" Id="R94592d1793f24e11" /><Relationship Type="http://schemas.openxmlformats.org/officeDocument/2006/relationships/notesSlide" Target="/ppt/notesSlides/notesSlide11.xml" Id="Rfed6b630613f49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36f93c4d6144d90" /><Relationship Type="http://schemas.openxmlformats.org/officeDocument/2006/relationships/image" Target="/ppt/media/image17.png" Id="Reb9688bb27ad4f5c" /><Relationship Type="http://schemas.openxmlformats.org/officeDocument/2006/relationships/notesSlide" Target="/ppt/notesSlides/notesSlide12.xml" Id="Rb80e6f2ef9fe42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b7b1ded287d46ca" /><Relationship Type="http://schemas.openxmlformats.org/officeDocument/2006/relationships/image" Target="/ppt/media/image.jpeg" Id="R29b8c8949e02465a" /><Relationship Type="http://schemas.openxmlformats.org/officeDocument/2006/relationships/image" Target="/ppt/media/image2.jpeg" Id="R0228719203854ca3" /><Relationship Type="http://schemas.openxmlformats.org/officeDocument/2006/relationships/image" Target="/ppt/media/image3.jpeg" Id="Rebcd46b60aa142f7" /><Relationship Type="http://schemas.openxmlformats.org/officeDocument/2006/relationships/image" Target="/ppt/media/image4.jpeg" Id="R84c6afbbb21a41d0" /><Relationship Type="http://schemas.openxmlformats.org/officeDocument/2006/relationships/image" Target="/ppt/media/image5.jpeg" Id="R565da06fac614ca9" /><Relationship Type="http://schemas.openxmlformats.org/officeDocument/2006/relationships/image" Target="/ppt/media/image6.jpeg" Id="Rc98f4517fa084ccc" /><Relationship Type="http://schemas.openxmlformats.org/officeDocument/2006/relationships/image" Target="/ppt/media/image7.jpeg" Id="R5f4cf470209948d4" /><Relationship Type="http://schemas.openxmlformats.org/officeDocument/2006/relationships/image" Target="/ppt/media/image8.jpeg" Id="Rae912efaa80e46e8" /><Relationship Type="http://schemas.openxmlformats.org/officeDocument/2006/relationships/image" Target="/ppt/media/image9.jpeg" Id="R19d84e6fa7234569" /><Relationship Type="http://schemas.openxmlformats.org/officeDocument/2006/relationships/notesSlide" Target="/ppt/notesSlides/notesSlide13.xml" Id="R889611823bb146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ebf7faa5c9943cc" /><Relationship Type="http://schemas.openxmlformats.org/officeDocument/2006/relationships/notesSlide" Target="/ppt/notesSlides/notesSlide14.xml" Id="R57f9e5b0e7ee43b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095143961d34798" /><Relationship Type="http://schemas.openxmlformats.org/officeDocument/2006/relationships/image" Target="/ppt/media/image18.png" Id="Rb211e207470547c3" /><Relationship Type="http://schemas.openxmlformats.org/officeDocument/2006/relationships/notesSlide" Target="/ppt/notesSlides/notesSlide15.xml" Id="R74c1964e97fe4b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808354b74ae4900" /><Relationship Type="http://schemas.openxmlformats.org/officeDocument/2006/relationships/image" Target="/ppt/media/image19.png" Id="Rf9eb782324e64850" /><Relationship Type="http://schemas.openxmlformats.org/officeDocument/2006/relationships/notesSlide" Target="/ppt/notesSlides/notesSlide16.xml" Id="R04df662ba5a04ad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eb02784198541f4" /><Relationship Type="http://schemas.openxmlformats.org/officeDocument/2006/relationships/image" Target="/ppt/media/image20.png" Id="R89b049cc898a471c" /><Relationship Type="http://schemas.openxmlformats.org/officeDocument/2006/relationships/notesSlide" Target="/ppt/notesSlides/notesSlide17.xml" Id="Rdceef8abec4d4c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618bac8b1f44912" /><Relationship Type="http://schemas.openxmlformats.org/officeDocument/2006/relationships/notesSlide" Target="/ppt/notesSlides/notesSlide18.xml" Id="Rae1d182e98e447c6" /></Relationships>
</file>

<file path=ppt/slides/slide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FD93A75-828B-4F5F-ADA1-810591452382}"/>
              </a:ext>
            </a:extLst>
          </p:cNvPr>
          <p:cNvPicPr>
            <a:picLocks xmlns:a="http://schemas.openxmlformats.org/drawingml/2006/main" noChangeAspect="1"/>
          </p:cNvPicPr>
          <p:nvPr/>
        </p:nvPicPr>
        <p:blipFill>
          <a:blip xmlns:r="http://schemas.openxmlformats.org/officeDocument/2006/relationships" xmlns:a="http://schemas.openxmlformats.org/drawingml/2006/main" r:embed="R6bac2bd90c484aa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7E54B3-3F78-43C3-A43E-E6C1C15B48E6}"/>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9510C9BD-061A-4142-BD0E-9D50D9197547}"/>
              </a:ext>
            </a:extLst>
          </p:cNvPr>
          <p:cNvSpPr>
            <a:spLocks xmlns:a="http://schemas.openxmlformats.org/drawingml/2006/main" noGrp="1"/>
          </p:cNvSpPr>
          <p:nvPr/>
        </p:nvSpPr>
        <p:spPr>
          <a:xfrm xmlns:a="http://schemas.openxmlformats.org/drawingml/2006/main">
            <a:off x="533400" y="419100"/>
            <a:ext cx="1114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025" b="1">
                <a:solidFill>
                  <a:srgbClr val="172744"/>
                </a:solidFill>
                <a:latin typeface="DejaVu Serif"/>
                <a:ea typeface="DejaVu Serif"/>
                <a:cs typeface="DejaVu Serif"/>
              </a:defRPr>
            </a:defPPr>
          </a:lstStyle>
          <a:p xmlns:a="http://schemas.openxmlformats.org/drawingml/2006/main">
            <a:pPr>
              <a:defRPr sz="5025" b="1">
                <a:solidFill>
                  <a:srgbClr val="172744"/>
                </a:solidFill>
                <a:latin typeface="DejaVu Serif"/>
                <a:ea typeface="DejaVu Serif"/>
                <a:cs typeface="DejaVu Serif"/>
              </a:defRPr>
            </a:pPr>
            <a:r>
              <a:rPr sz="5025" b="1">
                <a:solidFill>
                  <a:srgbClr val="172744"/>
                </a:solidFill>
                <a:latin typeface="DejaVu Serif"/>
                <a:ea typeface="DejaVu Serif"/>
                <a:cs typeface="DejaVu Serif"/>
              </a:rPr>
              <a:t>Autonomy in motion</a:t>
            </a:r>
          </a:p>
        </p:txBody>
      </p:sp>
      <p:sp>
        <p:nvSpPr>
          <p:cNvPr id="4" name="">
            <a:extLst xmlns:a="http://schemas.openxmlformats.org/drawingml/2006/main">
              <a:ext uri="{FF2B5EF4-FFF2-40B4-BE49-F238E27FC236}">
                <a16:creationId xmlns:a16="http://schemas.microsoft.com/office/drawing/2014/main" id="{796B7BF3-EFDB-44A3-93B5-7429BD4A25FC}"/>
              </a:ext>
            </a:extLst>
          </p:cNvPr>
          <p:cNvSpPr>
            <a:spLocks xmlns:a="http://schemas.openxmlformats.org/drawingml/2006/main" noGrp="1"/>
          </p:cNvSpPr>
          <p:nvPr/>
        </p:nvSpPr>
        <p:spPr>
          <a:xfrm xmlns:a="http://schemas.openxmlformats.org/drawingml/2006/main">
            <a:off x="571500" y="15144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04DD9"/>
                </a:solidFill>
                <a:latin typeface="DejaVu Sans"/>
                <a:ea typeface="DejaVu Sans"/>
                <a:cs typeface="DejaVu Sans"/>
              </a:defRPr>
            </a:defPPr>
          </a:lstStyle>
          <a:p xmlns:a="http://schemas.openxmlformats.org/drawingml/2006/main">
            <a:pPr>
              <a:defRPr sz="2175" b="0">
                <a:solidFill>
                  <a:srgbClr val="304DD9"/>
                </a:solidFill>
                <a:latin typeface="DejaVu Sans"/>
                <a:ea typeface="DejaVu Sans"/>
                <a:cs typeface="DejaVu Sans"/>
              </a:defRPr>
            </a:pPr>
            <a:r>
              <a:rPr sz="2175" b="0">
                <a:solidFill>
                  <a:srgbClr val="304DD9"/>
                </a:solidFill>
                <a:latin typeface="DejaVu Sans"/>
                <a:ea typeface="DejaVu Sans"/>
                <a:cs typeface="DejaVu Sans"/>
              </a:rPr>
              <a:t>From flight controls to intelligent manufacturing</a:t>
            </a:r>
          </a:p>
        </p:txBody>
      </p:sp>
      <p:sp>
        <p:nvSpPr>
          <p:cNvPr id="5" name="">
            <a:extLst xmlns:a="http://schemas.openxmlformats.org/drawingml/2006/main">
              <a:ext uri="{FF2B5EF4-FFF2-40B4-BE49-F238E27FC236}">
                <a16:creationId xmlns:a16="http://schemas.microsoft.com/office/drawing/2014/main" id="{31AD2877-207E-462A-9336-AAE956694078}"/>
              </a:ext>
            </a:extLst>
          </p:cNvPr>
          <p:cNvSpPr>
            <a:spLocks xmlns:a="http://schemas.openxmlformats.org/drawingml/2006/main" noGrp="1"/>
          </p:cNvSpPr>
          <p:nvPr/>
        </p:nvSpPr>
        <p:spPr>
          <a:xfrm xmlns:a="http://schemas.openxmlformats.org/drawingml/2006/main">
            <a:off x="571500" y="5505450"/>
            <a:ext cx="6810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172744"/>
                </a:solidFill>
                <a:latin typeface="DejaVu Sans"/>
                <a:ea typeface="DejaVu Sans"/>
                <a:cs typeface="DejaVu Sans"/>
              </a:defRPr>
            </a:defPPr>
          </a:lstStyle>
          <a:p xmlns:a="http://schemas.openxmlformats.org/drawingml/2006/main">
            <a:pPr>
              <a:defRPr sz="2625" b="1">
                <a:solidFill>
                  <a:srgbClr val="172744"/>
                </a:solidFill>
                <a:latin typeface="DejaVu Sans"/>
                <a:ea typeface="DejaVu Sans"/>
                <a:cs typeface="DejaVu Sans"/>
              </a:defRPr>
            </a:pPr>
            <a:r>
              <a:rPr sz="2625" b="1">
                <a:solidFill>
                  <a:srgbClr val="172744"/>
                </a:solidFill>
                <a:latin typeface="DejaVu Sans"/>
                <a:ea typeface="DejaVu Sans"/>
                <a:cs typeface="DejaVu Sans"/>
              </a:rPr>
              <a:t>Rasitha R.</a:t>
            </a:r>
          </a:p>
        </p:txBody>
      </p:sp>
      <p:sp>
        <p:nvSpPr>
          <p:cNvPr id="6" name="">
            <a:extLst xmlns:a="http://schemas.openxmlformats.org/drawingml/2006/main">
              <a:ext uri="{FF2B5EF4-FFF2-40B4-BE49-F238E27FC236}">
                <a16:creationId xmlns:a16="http://schemas.microsoft.com/office/drawing/2014/main" id="{B2091E0F-B3E0-48A2-ABF5-F71112800326}"/>
              </a:ext>
            </a:extLst>
          </p:cNvPr>
          <p:cNvSpPr>
            <a:spLocks xmlns:a="http://schemas.openxmlformats.org/drawingml/2006/main" noGrp="1"/>
          </p:cNvSpPr>
          <p:nvPr/>
        </p:nvSpPr>
        <p:spPr>
          <a:xfrm xmlns:a="http://schemas.openxmlformats.org/drawingml/2006/main">
            <a:off x="590550" y="61055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Technical Specialist Interview / Motion Planning &amp; Execution</a:t>
            </a:r>
          </a:p>
        </p:txBody>
      </p:sp>
    </p:spTree>
    <p:extLst>
      <p:ext uri="{BB962C8B-B14F-4D97-AF65-F5344CB8AC3E}">
        <p14:creationId xmlns:p14="http://schemas.microsoft.com/office/powerpoint/2010/main" val="1995391584"/>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A9F8C65-1B60-4B01-B7F7-CE1CC52EC23A}"/>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experience and the direction I propose</a:t>
            </a:r>
          </a:p>
        </p:txBody>
      </p:sp>
      <p:sp>
        <p:nvSpPr>
          <p:cNvPr id="2" name="">
            <a:extLst xmlns:a="http://schemas.openxmlformats.org/drawingml/2006/main">
              <a:ext uri="{FF2B5EF4-FFF2-40B4-BE49-F238E27FC236}">
                <a16:creationId xmlns:a16="http://schemas.microsoft.com/office/drawing/2014/main" id="{51E2C276-5194-4678-A6AE-AF5C9DAE1C08}"/>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C8725C9D-B722-4648-BCE4-6F2568DD38B6}"/>
              </a:ext>
            </a:extLst>
          </p:cNvPr>
          <p:cNvSpPr>
            <a:spLocks xmlns:a="http://schemas.openxmlformats.org/drawingml/2006/main" noGrp="1"/>
          </p:cNvSpPr>
          <p:nvPr/>
        </p:nvSpPr>
        <p:spPr>
          <a:xfrm xmlns:a="http://schemas.openxmlformats.org/drawingml/2006/main">
            <a:off x="552450" y="17145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01</a:t>
            </a:r>
          </a:p>
        </p:txBody>
      </p:sp>
      <p:sp>
        <p:nvSpPr>
          <p:cNvPr id="4" name="">
            <a:extLst xmlns:a="http://schemas.openxmlformats.org/drawingml/2006/main">
              <a:ext uri="{FF2B5EF4-FFF2-40B4-BE49-F238E27FC236}">
                <a16:creationId xmlns:a16="http://schemas.microsoft.com/office/drawing/2014/main" id="{6CC7C422-FFE7-4AA7-95E2-E088E6FA1F56}"/>
              </a:ext>
            </a:extLst>
          </p:cNvPr>
          <p:cNvSpPr>
            <a:spLocks xmlns:a="http://schemas.openxmlformats.org/drawingml/2006/main" noGrp="1"/>
          </p:cNvSpPr>
          <p:nvPr/>
        </p:nvSpPr>
        <p:spPr>
          <a:xfrm xmlns:a="http://schemas.openxmlformats.org/drawingml/2006/main">
            <a:off x="1504950" y="17145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foundation</a:t>
            </a:r>
          </a:p>
        </p:txBody>
      </p:sp>
      <p:sp>
        <p:nvSpPr>
          <p:cNvPr id="5" name="">
            <a:extLst xmlns:a="http://schemas.openxmlformats.org/drawingml/2006/main">
              <a:ext uri="{FF2B5EF4-FFF2-40B4-BE49-F238E27FC236}">
                <a16:creationId xmlns:a16="http://schemas.microsoft.com/office/drawing/2014/main" id="{2B341CDE-B67E-4E99-8D26-B9703240F062}"/>
              </a:ext>
            </a:extLst>
          </p:cNvPr>
          <p:cNvSpPr>
            <a:spLocks xmlns:a="http://schemas.openxmlformats.org/drawingml/2006/main" noGrp="1"/>
          </p:cNvSpPr>
          <p:nvPr/>
        </p:nvSpPr>
        <p:spPr>
          <a:xfrm xmlns:a="http://schemas.openxmlformats.org/drawingml/2006/main">
            <a:off x="1504950" y="22288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DRDO ADE, autopilot and ADAS</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A continuing passion for autonomy</a:t>
            </a:r>
          </a:p>
        </p:txBody>
      </p:sp>
      <p:sp>
        <p:nvSpPr>
          <p:cNvPr id="6" name="">
            <a:extLst xmlns:a="http://schemas.openxmlformats.org/drawingml/2006/main">
              <a:ext uri="{FF2B5EF4-FFF2-40B4-BE49-F238E27FC236}">
                <a16:creationId xmlns:a16="http://schemas.microsoft.com/office/drawing/2014/main" id="{DC81FB33-17CF-47B9-9B77-19A1A1B4B5A5}"/>
              </a:ext>
            </a:extLst>
          </p:cNvPr>
          <p:cNvSpPr>
            <a:spLocks xmlns:a="http://schemas.openxmlformats.org/drawingml/2006/main" noGrp="1"/>
          </p:cNvSpPr>
          <p:nvPr/>
        </p:nvSpPr>
        <p:spPr>
          <a:xfrm xmlns:a="http://schemas.openxmlformats.org/drawingml/2006/main">
            <a:off x="6457950" y="17145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02</a:t>
            </a:r>
          </a:p>
        </p:txBody>
      </p:sp>
      <p:sp>
        <p:nvSpPr>
          <p:cNvPr id="7" name="">
            <a:extLst xmlns:a="http://schemas.openxmlformats.org/drawingml/2006/main">
              <a:ext uri="{FF2B5EF4-FFF2-40B4-BE49-F238E27FC236}">
                <a16:creationId xmlns:a16="http://schemas.microsoft.com/office/drawing/2014/main" id="{A32BDEDE-2B5B-4A0C-985C-CE11DA50CA00}"/>
              </a:ext>
            </a:extLst>
          </p:cNvPr>
          <p:cNvSpPr>
            <a:spLocks xmlns:a="http://schemas.openxmlformats.org/drawingml/2006/main" noGrp="1"/>
          </p:cNvSpPr>
          <p:nvPr/>
        </p:nvSpPr>
        <p:spPr>
          <a:xfrm xmlns:a="http://schemas.openxmlformats.org/drawingml/2006/main">
            <a:off x="7410450" y="17145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Airbus work</a:t>
            </a:r>
          </a:p>
        </p:txBody>
      </p:sp>
      <p:sp>
        <p:nvSpPr>
          <p:cNvPr id="8" name="">
            <a:extLst xmlns:a="http://schemas.openxmlformats.org/drawingml/2006/main">
              <a:ext uri="{FF2B5EF4-FFF2-40B4-BE49-F238E27FC236}">
                <a16:creationId xmlns:a16="http://schemas.microsoft.com/office/drawing/2014/main" id="{C06F7701-DB16-4C49-8BCB-7A42DB696C24}"/>
              </a:ext>
            </a:extLst>
          </p:cNvPr>
          <p:cNvSpPr>
            <a:spLocks xmlns:a="http://schemas.openxmlformats.org/drawingml/2006/main" noGrp="1"/>
          </p:cNvSpPr>
          <p:nvPr/>
        </p:nvSpPr>
        <p:spPr>
          <a:xfrm xmlns:a="http://schemas.openxmlformats.org/drawingml/2006/main">
            <a:off x="7410450" y="22288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Industrial inspection and scan planning</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Lessons from planning to execution</a:t>
            </a:r>
          </a:p>
        </p:txBody>
      </p:sp>
      <p:sp>
        <p:nvSpPr>
          <p:cNvPr id="9" name="">
            <a:extLst xmlns:a="http://schemas.openxmlformats.org/drawingml/2006/main">
              <a:ext uri="{FF2B5EF4-FFF2-40B4-BE49-F238E27FC236}">
                <a16:creationId xmlns:a16="http://schemas.microsoft.com/office/drawing/2014/main" id="{6DAEF984-2443-4D11-917E-CE3E10B54CAB}"/>
              </a:ext>
            </a:extLst>
          </p:cNvPr>
          <p:cNvSpPr>
            <a:spLocks xmlns:a="http://schemas.openxmlformats.org/drawingml/2006/main" noGrp="1"/>
          </p:cNvSpPr>
          <p:nvPr/>
        </p:nvSpPr>
        <p:spPr>
          <a:xfrm xmlns:a="http://schemas.openxmlformats.org/drawingml/2006/main">
            <a:off x="552450" y="37338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03</a:t>
            </a:r>
          </a:p>
        </p:txBody>
      </p:sp>
      <p:sp>
        <p:nvSpPr>
          <p:cNvPr id="10" name="">
            <a:extLst xmlns:a="http://schemas.openxmlformats.org/drawingml/2006/main">
              <a:ext uri="{FF2B5EF4-FFF2-40B4-BE49-F238E27FC236}">
                <a16:creationId xmlns:a16="http://schemas.microsoft.com/office/drawing/2014/main" id="{BF36BA6F-53CA-4DDC-B9EA-78134086D22A}"/>
              </a:ext>
            </a:extLst>
          </p:cNvPr>
          <p:cNvSpPr>
            <a:spLocks xmlns:a="http://schemas.openxmlformats.org/drawingml/2006/main" noGrp="1"/>
          </p:cNvSpPr>
          <p:nvPr/>
        </p:nvSpPr>
        <p:spPr>
          <a:xfrm xmlns:a="http://schemas.openxmlformats.org/drawingml/2006/main">
            <a:off x="1504950" y="37338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influence</a:t>
            </a:r>
          </a:p>
        </p:txBody>
      </p:sp>
      <p:sp>
        <p:nvSpPr>
          <p:cNvPr id="11" name="">
            <a:extLst xmlns:a="http://schemas.openxmlformats.org/drawingml/2006/main">
              <a:ext uri="{FF2B5EF4-FFF2-40B4-BE49-F238E27FC236}">
                <a16:creationId xmlns:a16="http://schemas.microsoft.com/office/drawing/2014/main" id="{4B80FC64-1A27-4331-B03C-ADDA408227B6}"/>
              </a:ext>
            </a:extLst>
          </p:cNvPr>
          <p:cNvSpPr>
            <a:spLocks xmlns:a="http://schemas.openxmlformats.org/drawingml/2006/main" noGrp="1"/>
          </p:cNvSpPr>
          <p:nvPr/>
        </p:nvSpPr>
        <p:spPr>
          <a:xfrm xmlns:a="http://schemas.openxmlformats.org/drawingml/2006/main">
            <a:off x="1504950" y="42481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Application teams, RXU and research partners</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Technical choices supported by evidence</a:t>
            </a:r>
          </a:p>
        </p:txBody>
      </p:sp>
      <p:sp>
        <p:nvSpPr>
          <p:cNvPr id="12" name="">
            <a:extLst xmlns:a="http://schemas.openxmlformats.org/drawingml/2006/main">
              <a:ext uri="{FF2B5EF4-FFF2-40B4-BE49-F238E27FC236}">
                <a16:creationId xmlns:a16="http://schemas.microsoft.com/office/drawing/2014/main" id="{3E980DF7-EB9E-49F3-92D5-AEC0D31354A4}"/>
              </a:ext>
            </a:extLst>
          </p:cNvPr>
          <p:cNvSpPr>
            <a:spLocks xmlns:a="http://schemas.openxmlformats.org/drawingml/2006/main" noGrp="1"/>
          </p:cNvSpPr>
          <p:nvPr/>
        </p:nvSpPr>
        <p:spPr>
          <a:xfrm xmlns:a="http://schemas.openxmlformats.org/drawingml/2006/main">
            <a:off x="6457950" y="37338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304DD9"/>
                </a:solidFill>
                <a:latin typeface="DejaVu Serif"/>
                <a:ea typeface="DejaVu Serif"/>
                <a:cs typeface="DejaVu Serif"/>
              </a:defRPr>
            </a:defPPr>
          </a:lstStyle>
          <a:p xmlns:a="http://schemas.openxmlformats.org/drawingml/2006/main">
            <a:pPr>
              <a:defRPr sz="3000" b="1">
                <a:solidFill>
                  <a:srgbClr val="304DD9"/>
                </a:solidFill>
                <a:latin typeface="DejaVu Serif"/>
                <a:ea typeface="DejaVu Serif"/>
                <a:cs typeface="DejaVu Serif"/>
              </a:defRPr>
            </a:pPr>
            <a:r>
              <a:rPr sz="3000" b="1">
                <a:solidFill>
                  <a:srgbClr val="304DD9"/>
                </a:solidFill>
                <a:latin typeface="DejaVu Serif"/>
                <a:ea typeface="DejaVu Serif"/>
                <a:cs typeface="DejaVu Serif"/>
              </a:rPr>
              <a:t>04</a:t>
            </a:r>
          </a:p>
        </p:txBody>
      </p:sp>
      <p:sp>
        <p:nvSpPr>
          <p:cNvPr id="13" name="">
            <a:extLst xmlns:a="http://schemas.openxmlformats.org/drawingml/2006/main">
              <a:ext uri="{FF2B5EF4-FFF2-40B4-BE49-F238E27FC236}">
                <a16:creationId xmlns:a16="http://schemas.microsoft.com/office/drawing/2014/main" id="{70965A0F-8508-46C8-A97D-33902D91B513}"/>
              </a:ext>
            </a:extLst>
          </p:cNvPr>
          <p:cNvSpPr>
            <a:spLocks xmlns:a="http://schemas.openxmlformats.org/drawingml/2006/main" noGrp="1"/>
          </p:cNvSpPr>
          <p:nvPr/>
        </p:nvSpPr>
        <p:spPr>
          <a:xfrm xmlns:a="http://schemas.openxmlformats.org/drawingml/2006/main">
            <a:off x="7410450" y="37338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My direction</a:t>
            </a:r>
          </a:p>
        </p:txBody>
      </p:sp>
      <p:sp>
        <p:nvSpPr>
          <p:cNvPr id="14" name="">
            <a:extLst xmlns:a="http://schemas.openxmlformats.org/drawingml/2006/main">
              <a:ext uri="{FF2B5EF4-FFF2-40B4-BE49-F238E27FC236}">
                <a16:creationId xmlns:a16="http://schemas.microsoft.com/office/drawing/2014/main" id="{B9D247D0-C0D7-4438-963D-8C1E1DE8686E}"/>
              </a:ext>
            </a:extLst>
          </p:cNvPr>
          <p:cNvSpPr>
            <a:spLocks xmlns:a="http://schemas.openxmlformats.org/drawingml/2006/main" noGrp="1"/>
          </p:cNvSpPr>
          <p:nvPr/>
        </p:nvSpPr>
        <p:spPr>
          <a:xfrm xmlns:a="http://schemas.openxmlformats.org/drawingml/2006/main">
            <a:off x="7410450" y="4248150"/>
            <a:ext cx="4429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Reusable motion capability for manufacturing</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A staged roadmap with validation gates</a:t>
            </a:r>
          </a:p>
        </p:txBody>
      </p:sp>
      <p:sp>
        <p:nvSpPr>
          <p:cNvPr id="15" name="">
            <a:extLst xmlns:a="http://schemas.openxmlformats.org/drawingml/2006/main">
              <a:ext uri="{FF2B5EF4-FFF2-40B4-BE49-F238E27FC236}">
                <a16:creationId xmlns:a16="http://schemas.microsoft.com/office/drawing/2014/main" id="{3302843B-D14F-4314-B88D-7E2AFFD8900F}"/>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The question throughout: how can our experience become a reusable capability?</a:t>
            </a:r>
          </a:p>
        </p:txBody>
      </p:sp>
    </p:spTree>
    <p:extLst>
      <p:ext uri="{BB962C8B-B14F-4D97-AF65-F5344CB8AC3E}">
        <p14:creationId xmlns:p14="http://schemas.microsoft.com/office/powerpoint/2010/main" val="616020184"/>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A3F8497-3359-4C77-9FB3-93CD8E8B5C15}"/>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Different platforms. A connected career journey.</a:t>
            </a:r>
          </a:p>
        </p:txBody>
      </p:sp>
      <p:sp>
        <p:nvSpPr>
          <p:cNvPr id="2" name="">
            <a:extLst xmlns:a="http://schemas.openxmlformats.org/drawingml/2006/main">
              <a:ext uri="{FF2B5EF4-FFF2-40B4-BE49-F238E27FC236}">
                <a16:creationId xmlns:a16="http://schemas.microsoft.com/office/drawing/2014/main" id="{88792EDD-CE9F-4A22-B583-85E827551935}"/>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03</a:t>
            </a:r>
          </a:p>
        </p:txBody>
      </p:sp>
      <p:pic>
        <p:nvPicPr>
          <p:cNvPr id="3" name="">
            <a:extLst xmlns:a="http://schemas.openxmlformats.org/drawingml/2006/main">
              <a:ext uri="{FF2B5EF4-FFF2-40B4-BE49-F238E27FC236}">
                <a16:creationId xmlns:a16="http://schemas.microsoft.com/office/drawing/2014/main" id="{10E5F57F-BB91-4A48-9CC1-F532E300F357}"/>
              </a:ext>
            </a:extLst>
          </p:cNvPr>
          <p:cNvPicPr>
            <a:picLocks xmlns:a="http://schemas.openxmlformats.org/drawingml/2006/main" noChangeAspect="1"/>
          </p:cNvPicPr>
          <p:nvPr/>
        </p:nvPicPr>
        <p:blipFill>
          <a:blip xmlns:r="http://schemas.openxmlformats.org/officeDocument/2006/relationships" xmlns:a="http://schemas.openxmlformats.org/drawingml/2006/main" r:embed="R00f9d0452ce74af2"/>
          <a:srcRect xmlns:a="http://schemas.openxmlformats.org/drawingml/2006/main" l="0" t="29321" r="0" b="29321"/>
          <a:stretch xmlns:a="http://schemas.openxmlformats.org/drawingml/2006/main">
            <a:fillRect l="0" t="0" r="0" b="0"/>
          </a:stretch>
        </p:blipFill>
        <p:spPr>
          <a:xfrm xmlns:a="http://schemas.openxmlformats.org/drawingml/2006/main">
            <a:off x="552450" y="1371600"/>
            <a:ext cx="11049000" cy="2571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DDC25F2-D1A0-4141-9642-345C297B6C74}"/>
              </a:ext>
            </a:extLst>
          </p:cNvPr>
          <p:cNvSpPr>
            <a:spLocks xmlns:a="http://schemas.openxmlformats.org/drawingml/2006/main" noGrp="1"/>
          </p:cNvSpPr>
          <p:nvPr/>
        </p:nvSpPr>
        <p:spPr>
          <a:xfrm xmlns:a="http://schemas.openxmlformats.org/drawingml/2006/main">
            <a:off x="552450" y="4067175"/>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DRDO ADE / Autopilot</a:t>
            </a:r>
          </a:p>
        </p:txBody>
      </p:sp>
      <p:sp>
        <p:nvSpPr>
          <p:cNvPr id="5" name="">
            <a:extLst xmlns:a="http://schemas.openxmlformats.org/drawingml/2006/main">
              <a:ext uri="{FF2B5EF4-FFF2-40B4-BE49-F238E27FC236}">
                <a16:creationId xmlns:a16="http://schemas.microsoft.com/office/drawing/2014/main" id="{7123F54B-A11F-4565-A97C-CE83EDB25103}"/>
              </a:ext>
            </a:extLst>
          </p:cNvPr>
          <p:cNvSpPr>
            <a:spLocks xmlns:a="http://schemas.openxmlformats.org/drawingml/2006/main" noGrp="1"/>
          </p:cNvSpPr>
          <p:nvPr/>
        </p:nvSpPr>
        <p:spPr>
          <a:xfrm xmlns:a="http://schemas.openxmlformats.org/drawingml/2006/main">
            <a:off x="552450" y="46196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Help an aircraft maintain</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its intended flight.</a:t>
            </a:r>
          </a:p>
        </p:txBody>
      </p:sp>
      <p:sp>
        <p:nvSpPr>
          <p:cNvPr id="6" name="">
            <a:extLst xmlns:a="http://schemas.openxmlformats.org/drawingml/2006/main">
              <a:ext uri="{FF2B5EF4-FFF2-40B4-BE49-F238E27FC236}">
                <a16:creationId xmlns:a16="http://schemas.microsoft.com/office/drawing/2014/main" id="{7692D4A5-093B-4464-A55C-88292700FB19}"/>
              </a:ext>
            </a:extLst>
          </p:cNvPr>
          <p:cNvSpPr>
            <a:spLocks xmlns:a="http://schemas.openxmlformats.org/drawingml/2006/main" noGrp="1"/>
          </p:cNvSpPr>
          <p:nvPr/>
        </p:nvSpPr>
        <p:spPr>
          <a:xfrm xmlns:a="http://schemas.openxmlformats.org/drawingml/2006/main">
            <a:off x="552450" y="54578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My foundation: flight dynamics</a:t>
            </a:r>
          </a:p>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and feedback control.</a:t>
            </a:r>
          </a:p>
        </p:txBody>
      </p:sp>
      <p:sp>
        <p:nvSpPr>
          <p:cNvPr id="7" name="">
            <a:extLst xmlns:a="http://schemas.openxmlformats.org/drawingml/2006/main">
              <a:ext uri="{FF2B5EF4-FFF2-40B4-BE49-F238E27FC236}">
                <a16:creationId xmlns:a16="http://schemas.microsoft.com/office/drawing/2014/main" id="{D2D29D91-9FF1-40D2-8542-E5701747BE5E}"/>
              </a:ext>
            </a:extLst>
          </p:cNvPr>
          <p:cNvSpPr>
            <a:spLocks xmlns:a="http://schemas.openxmlformats.org/drawingml/2006/main" noGrp="1"/>
          </p:cNvSpPr>
          <p:nvPr/>
        </p:nvSpPr>
        <p:spPr>
          <a:xfrm xmlns:a="http://schemas.openxmlformats.org/drawingml/2006/main">
            <a:off x="4362450" y="4067175"/>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ADAS: driver assistance</a:t>
            </a:r>
          </a:p>
        </p:txBody>
      </p:sp>
      <p:sp>
        <p:nvSpPr>
          <p:cNvPr id="8" name="">
            <a:extLst xmlns:a="http://schemas.openxmlformats.org/drawingml/2006/main">
              <a:ext uri="{FF2B5EF4-FFF2-40B4-BE49-F238E27FC236}">
                <a16:creationId xmlns:a16="http://schemas.microsoft.com/office/drawing/2014/main" id="{7AB70F66-F190-4ECF-A906-745FBE31F669}"/>
              </a:ext>
            </a:extLst>
          </p:cNvPr>
          <p:cNvSpPr>
            <a:spLocks xmlns:a="http://schemas.openxmlformats.org/drawingml/2006/main" noGrp="1"/>
          </p:cNvSpPr>
          <p:nvPr/>
        </p:nvSpPr>
        <p:spPr>
          <a:xfrm xmlns:a="http://schemas.openxmlformats.org/drawingml/2006/main">
            <a:off x="4362450" y="46196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Help a car respond to</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the road around it.</a:t>
            </a:r>
          </a:p>
        </p:txBody>
      </p:sp>
      <p:sp>
        <p:nvSpPr>
          <p:cNvPr id="9" name="">
            <a:extLst xmlns:a="http://schemas.openxmlformats.org/drawingml/2006/main">
              <a:ext uri="{FF2B5EF4-FFF2-40B4-BE49-F238E27FC236}">
                <a16:creationId xmlns:a16="http://schemas.microsoft.com/office/drawing/2014/main" id="{234EED79-2CE9-4937-BFE4-A3045BB63961}"/>
              </a:ext>
            </a:extLst>
          </p:cNvPr>
          <p:cNvSpPr>
            <a:spLocks xmlns:a="http://schemas.openxmlformats.org/drawingml/2006/main" noGrp="1"/>
          </p:cNvSpPr>
          <p:nvPr/>
        </p:nvSpPr>
        <p:spPr>
          <a:xfrm xmlns:a="http://schemas.openxmlformats.org/drawingml/2006/main">
            <a:off x="4362450" y="54578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My next domain: assisted</a:t>
            </a:r>
          </a:p>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and automated driving.</a:t>
            </a:r>
          </a:p>
        </p:txBody>
      </p:sp>
      <p:sp>
        <p:nvSpPr>
          <p:cNvPr id="10" name="">
            <a:extLst xmlns:a="http://schemas.openxmlformats.org/drawingml/2006/main">
              <a:ext uri="{FF2B5EF4-FFF2-40B4-BE49-F238E27FC236}">
                <a16:creationId xmlns:a16="http://schemas.microsoft.com/office/drawing/2014/main" id="{AEF80346-EE1D-46BF-9829-41F8A81B6AB9}"/>
              </a:ext>
            </a:extLst>
          </p:cNvPr>
          <p:cNvSpPr>
            <a:spLocks xmlns:a="http://schemas.openxmlformats.org/drawingml/2006/main" noGrp="1"/>
          </p:cNvSpPr>
          <p:nvPr/>
        </p:nvSpPr>
        <p:spPr>
          <a:xfrm xmlns:a="http://schemas.openxmlformats.org/drawingml/2006/main">
            <a:off x="8172450" y="4067175"/>
            <a:ext cx="357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Airbus: industrial robotics</a:t>
            </a:r>
          </a:p>
        </p:txBody>
      </p:sp>
      <p:sp>
        <p:nvSpPr>
          <p:cNvPr id="11" name="">
            <a:extLst xmlns:a="http://schemas.openxmlformats.org/drawingml/2006/main">
              <a:ext uri="{FF2B5EF4-FFF2-40B4-BE49-F238E27FC236}">
                <a16:creationId xmlns:a16="http://schemas.microsoft.com/office/drawing/2014/main" id="{93301E00-4C05-4484-8FEC-B5887D406A95}"/>
              </a:ext>
            </a:extLst>
          </p:cNvPr>
          <p:cNvSpPr>
            <a:spLocks xmlns:a="http://schemas.openxmlformats.org/drawingml/2006/main" noGrp="1"/>
          </p:cNvSpPr>
          <p:nvPr/>
        </p:nvSpPr>
        <p:spPr>
          <a:xfrm xmlns:a="http://schemas.openxmlformats.org/drawingml/2006/main">
            <a:off x="8172450" y="4619625"/>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Move a robot tool accurately</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across an aircraft part.</a:t>
            </a:r>
          </a:p>
        </p:txBody>
      </p:sp>
      <p:sp>
        <p:nvSpPr>
          <p:cNvPr id="12" name="">
            <a:extLst xmlns:a="http://schemas.openxmlformats.org/drawingml/2006/main">
              <a:ext uri="{FF2B5EF4-FFF2-40B4-BE49-F238E27FC236}">
                <a16:creationId xmlns:a16="http://schemas.microsoft.com/office/drawing/2014/main" id="{FAA7D3E4-E4C2-4F32-8338-C7A16A487C9D}"/>
              </a:ext>
            </a:extLst>
          </p:cNvPr>
          <p:cNvSpPr>
            <a:spLocks xmlns:a="http://schemas.openxmlformats.org/drawingml/2006/main" noGrp="1"/>
          </p:cNvSpPr>
          <p:nvPr/>
        </p:nvSpPr>
        <p:spPr>
          <a:xfrm xmlns:a="http://schemas.openxmlformats.org/drawingml/2006/main">
            <a:off x="8172450" y="5457825"/>
            <a:ext cx="3476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My focus: manufacturing motion,</a:t>
            </a:r>
          </a:p>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from planning to execution.</a:t>
            </a:r>
          </a:p>
        </p:txBody>
      </p:sp>
      <p:sp>
        <p:nvSpPr>
          <p:cNvPr id="13" name="">
            <a:extLst xmlns:a="http://schemas.openxmlformats.org/drawingml/2006/main">
              <a:ext uri="{FF2B5EF4-FFF2-40B4-BE49-F238E27FC236}">
                <a16:creationId xmlns:a16="http://schemas.microsoft.com/office/drawing/2014/main" id="{118A78AD-DF4E-4585-8A96-E43D8734D068}"/>
              </a:ext>
            </a:extLst>
          </p:cNvPr>
          <p:cNvSpPr>
            <a:spLocks xmlns:a="http://schemas.openxmlformats.org/drawingml/2006/main" noGrp="1"/>
          </p:cNvSpPr>
          <p:nvPr/>
        </p:nvSpPr>
        <p:spPr>
          <a:xfrm xmlns:a="http://schemas.openxmlformats.org/drawingml/2006/main">
            <a:off x="552450" y="6296025"/>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One continuing interest: helping machines move reliably in the physical world.</a:t>
            </a:r>
          </a:p>
        </p:txBody>
      </p:sp>
    </p:spTree>
    <p:extLst>
      <p:ext uri="{BB962C8B-B14F-4D97-AF65-F5344CB8AC3E}">
        <p14:creationId xmlns:p14="http://schemas.microsoft.com/office/powerpoint/2010/main" val="1277209148"/>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8C0E9AB-2CFD-4EDC-8A86-4C8D6B3E112A}"/>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Planning chooses the path. Control follows it.</a:t>
            </a:r>
          </a:p>
        </p:txBody>
      </p:sp>
      <p:sp>
        <p:nvSpPr>
          <p:cNvPr id="2" name="">
            <a:extLst xmlns:a="http://schemas.openxmlformats.org/drawingml/2006/main">
              <a:ext uri="{FF2B5EF4-FFF2-40B4-BE49-F238E27FC236}">
                <a16:creationId xmlns:a16="http://schemas.microsoft.com/office/drawing/2014/main" id="{C2C47A11-1F2D-4A21-9E3A-94AEFDA4DCB7}"/>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7881E800-C187-42C1-99AE-90DD8B477DAA}"/>
              </a:ext>
            </a:extLst>
          </p:cNvPr>
          <p:cNvSpPr>
            <a:spLocks xmlns:a="http://schemas.openxmlformats.org/drawingml/2006/main" noGrp="1"/>
          </p:cNvSpPr>
          <p:nvPr/>
        </p:nvSpPr>
        <p:spPr>
          <a:xfrm xmlns:a="http://schemas.openxmlformats.org/drawingml/2006/main">
            <a:off x="552450" y="16668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1</a:t>
            </a:r>
          </a:p>
        </p:txBody>
      </p:sp>
      <p:sp>
        <p:nvSpPr>
          <p:cNvPr id="4" name="">
            <a:extLst xmlns:a="http://schemas.openxmlformats.org/drawingml/2006/main">
              <a:ext uri="{FF2B5EF4-FFF2-40B4-BE49-F238E27FC236}">
                <a16:creationId xmlns:a16="http://schemas.microsoft.com/office/drawing/2014/main" id="{3A167E18-2044-4C1D-A755-42578D0260CD}"/>
              </a:ext>
            </a:extLst>
          </p:cNvPr>
          <p:cNvSpPr>
            <a:spLocks xmlns:a="http://schemas.openxmlformats.org/drawingml/2006/main" noGrp="1"/>
          </p:cNvSpPr>
          <p:nvPr/>
        </p:nvSpPr>
        <p:spPr>
          <a:xfrm xmlns:a="http://schemas.openxmlformats.org/drawingml/2006/main">
            <a:off x="1190625" y="166687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Understand</a:t>
            </a:r>
          </a:p>
        </p:txBody>
      </p:sp>
      <p:sp>
        <p:nvSpPr>
          <p:cNvPr id="5" name="">
            <a:extLst xmlns:a="http://schemas.openxmlformats.org/drawingml/2006/main">
              <a:ext uri="{FF2B5EF4-FFF2-40B4-BE49-F238E27FC236}">
                <a16:creationId xmlns:a16="http://schemas.microsoft.com/office/drawing/2014/main" id="{E01478DF-6B76-4E13-BF94-3E1424B554A1}"/>
              </a:ext>
            </a:extLst>
          </p:cNvPr>
          <p:cNvSpPr>
            <a:spLocks xmlns:a="http://schemas.openxmlformats.org/drawingml/2006/main" noGrp="1"/>
          </p:cNvSpPr>
          <p:nvPr/>
        </p:nvSpPr>
        <p:spPr>
          <a:xfrm xmlns:a="http://schemas.openxmlformats.org/drawingml/2006/main">
            <a:off x="1190625" y="207645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Where am I, and what is around me?</a:t>
            </a:r>
          </a:p>
        </p:txBody>
      </p:sp>
      <p:sp>
        <p:nvSpPr>
          <p:cNvPr id="6" name="">
            <a:extLst xmlns:a="http://schemas.openxmlformats.org/drawingml/2006/main">
              <a:ext uri="{FF2B5EF4-FFF2-40B4-BE49-F238E27FC236}">
                <a16:creationId xmlns:a16="http://schemas.microsoft.com/office/drawing/2014/main" id="{694B48E3-76DB-4482-83FF-2E5F5A92725B}"/>
              </a:ext>
            </a:extLst>
          </p:cNvPr>
          <p:cNvSpPr>
            <a:spLocks xmlns:a="http://schemas.openxmlformats.org/drawingml/2006/main" noGrp="1"/>
          </p:cNvSpPr>
          <p:nvPr/>
        </p:nvSpPr>
        <p:spPr>
          <a:xfrm xmlns:a="http://schemas.openxmlformats.org/drawingml/2006/main">
            <a:off x="552450" y="26765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2</a:t>
            </a:r>
          </a:p>
        </p:txBody>
      </p:sp>
      <p:sp>
        <p:nvSpPr>
          <p:cNvPr id="7" name="">
            <a:extLst xmlns:a="http://schemas.openxmlformats.org/drawingml/2006/main">
              <a:ext uri="{FF2B5EF4-FFF2-40B4-BE49-F238E27FC236}">
                <a16:creationId xmlns:a16="http://schemas.microsoft.com/office/drawing/2014/main" id="{51A3516C-7723-4800-912D-9ECFBB116F7E}"/>
              </a:ext>
            </a:extLst>
          </p:cNvPr>
          <p:cNvSpPr>
            <a:spLocks xmlns:a="http://schemas.openxmlformats.org/drawingml/2006/main" noGrp="1"/>
          </p:cNvSpPr>
          <p:nvPr/>
        </p:nvSpPr>
        <p:spPr>
          <a:xfrm xmlns:a="http://schemas.openxmlformats.org/drawingml/2006/main">
            <a:off x="1190625" y="26765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Plan</a:t>
            </a:r>
          </a:p>
        </p:txBody>
      </p:sp>
      <p:sp>
        <p:nvSpPr>
          <p:cNvPr id="8" name="">
            <a:extLst xmlns:a="http://schemas.openxmlformats.org/drawingml/2006/main">
              <a:ext uri="{FF2B5EF4-FFF2-40B4-BE49-F238E27FC236}">
                <a16:creationId xmlns:a16="http://schemas.microsoft.com/office/drawing/2014/main" id="{08F438F7-6669-4C41-AD44-B142C9A08EDF}"/>
              </a:ext>
            </a:extLst>
          </p:cNvPr>
          <p:cNvSpPr>
            <a:spLocks xmlns:a="http://schemas.openxmlformats.org/drawingml/2006/main" noGrp="1"/>
          </p:cNvSpPr>
          <p:nvPr/>
        </p:nvSpPr>
        <p:spPr>
          <a:xfrm xmlns:a="http://schemas.openxmlformats.org/drawingml/2006/main">
            <a:off x="1190625" y="308610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Where should I move, within my limits?</a:t>
            </a:r>
          </a:p>
        </p:txBody>
      </p:sp>
      <p:sp>
        <p:nvSpPr>
          <p:cNvPr id="9" name="">
            <a:extLst xmlns:a="http://schemas.openxmlformats.org/drawingml/2006/main">
              <a:ext uri="{FF2B5EF4-FFF2-40B4-BE49-F238E27FC236}">
                <a16:creationId xmlns:a16="http://schemas.microsoft.com/office/drawing/2014/main" id="{1F53E00F-7529-40C2-A339-80DB627E98A1}"/>
              </a:ext>
            </a:extLst>
          </p:cNvPr>
          <p:cNvSpPr>
            <a:spLocks xmlns:a="http://schemas.openxmlformats.org/drawingml/2006/main" noGrp="1"/>
          </p:cNvSpPr>
          <p:nvPr/>
        </p:nvSpPr>
        <p:spPr>
          <a:xfrm xmlns:a="http://schemas.openxmlformats.org/drawingml/2006/main">
            <a:off x="552450" y="36861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3</a:t>
            </a:r>
          </a:p>
        </p:txBody>
      </p:sp>
      <p:sp>
        <p:nvSpPr>
          <p:cNvPr id="10" name="">
            <a:extLst xmlns:a="http://schemas.openxmlformats.org/drawingml/2006/main">
              <a:ext uri="{FF2B5EF4-FFF2-40B4-BE49-F238E27FC236}">
                <a16:creationId xmlns:a16="http://schemas.microsoft.com/office/drawing/2014/main" id="{C57372C6-75E1-4465-B020-5BC0A8C0E700}"/>
              </a:ext>
            </a:extLst>
          </p:cNvPr>
          <p:cNvSpPr>
            <a:spLocks xmlns:a="http://schemas.openxmlformats.org/drawingml/2006/main" noGrp="1"/>
          </p:cNvSpPr>
          <p:nvPr/>
        </p:nvSpPr>
        <p:spPr>
          <a:xfrm xmlns:a="http://schemas.openxmlformats.org/drawingml/2006/main">
            <a:off x="1190625" y="368617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Control</a:t>
            </a:r>
          </a:p>
        </p:txBody>
      </p:sp>
      <p:sp>
        <p:nvSpPr>
          <p:cNvPr id="11" name="">
            <a:extLst xmlns:a="http://schemas.openxmlformats.org/drawingml/2006/main">
              <a:ext uri="{FF2B5EF4-FFF2-40B4-BE49-F238E27FC236}">
                <a16:creationId xmlns:a16="http://schemas.microsoft.com/office/drawing/2014/main" id="{EBF9125B-4158-4020-982D-4E83ECA1AE26}"/>
              </a:ext>
            </a:extLst>
          </p:cNvPr>
          <p:cNvSpPr>
            <a:spLocks xmlns:a="http://schemas.openxmlformats.org/drawingml/2006/main" noGrp="1"/>
          </p:cNvSpPr>
          <p:nvPr/>
        </p:nvSpPr>
        <p:spPr>
          <a:xfrm xmlns:a="http://schemas.openxmlformats.org/drawingml/2006/main">
            <a:off x="1190625" y="409575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Make the machine follow that motion.</a:t>
            </a:r>
          </a:p>
        </p:txBody>
      </p:sp>
      <p:sp>
        <p:nvSpPr>
          <p:cNvPr id="12" name="">
            <a:extLst xmlns:a="http://schemas.openxmlformats.org/drawingml/2006/main">
              <a:ext uri="{FF2B5EF4-FFF2-40B4-BE49-F238E27FC236}">
                <a16:creationId xmlns:a16="http://schemas.microsoft.com/office/drawing/2014/main" id="{E7D81B68-86D1-40AF-9FD5-6DBD83549CA7}"/>
              </a:ext>
            </a:extLst>
          </p:cNvPr>
          <p:cNvSpPr>
            <a:spLocks xmlns:a="http://schemas.openxmlformats.org/drawingml/2006/main" noGrp="1"/>
          </p:cNvSpPr>
          <p:nvPr/>
        </p:nvSpPr>
        <p:spPr>
          <a:xfrm xmlns:a="http://schemas.openxmlformats.org/drawingml/2006/main">
            <a:off x="552450" y="46958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4</a:t>
            </a:r>
          </a:p>
        </p:txBody>
      </p:sp>
      <p:sp>
        <p:nvSpPr>
          <p:cNvPr id="13" name="">
            <a:extLst xmlns:a="http://schemas.openxmlformats.org/drawingml/2006/main">
              <a:ext uri="{FF2B5EF4-FFF2-40B4-BE49-F238E27FC236}">
                <a16:creationId xmlns:a16="http://schemas.microsoft.com/office/drawing/2014/main" id="{B203B136-28E3-4D98-B91D-1CCF8EF67E5D}"/>
              </a:ext>
            </a:extLst>
          </p:cNvPr>
          <p:cNvSpPr>
            <a:spLocks xmlns:a="http://schemas.openxmlformats.org/drawingml/2006/main" noGrp="1"/>
          </p:cNvSpPr>
          <p:nvPr/>
        </p:nvSpPr>
        <p:spPr>
          <a:xfrm xmlns:a="http://schemas.openxmlformats.org/drawingml/2006/main">
            <a:off x="1190625" y="46958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Use feedback</a:t>
            </a:r>
          </a:p>
        </p:txBody>
      </p:sp>
      <p:sp>
        <p:nvSpPr>
          <p:cNvPr id="14" name="">
            <a:extLst xmlns:a="http://schemas.openxmlformats.org/drawingml/2006/main">
              <a:ext uri="{FF2B5EF4-FFF2-40B4-BE49-F238E27FC236}">
                <a16:creationId xmlns:a16="http://schemas.microsoft.com/office/drawing/2014/main" id="{6362F210-B5BB-40E8-B86D-50CD583EA125}"/>
              </a:ext>
            </a:extLst>
          </p:cNvPr>
          <p:cNvSpPr>
            <a:spLocks xmlns:a="http://schemas.openxmlformats.org/drawingml/2006/main" noGrp="1"/>
          </p:cNvSpPr>
          <p:nvPr/>
        </p:nvSpPr>
        <p:spPr>
          <a:xfrm xmlns:a="http://schemas.openxmlformats.org/drawingml/2006/main">
            <a:off x="1190625" y="510540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Measure the result and correct or replan.</a:t>
            </a:r>
          </a:p>
        </p:txBody>
      </p:sp>
      <p:pic>
        <p:nvPicPr>
          <p:cNvPr id="15" name="">
            <a:extLst xmlns:a="http://schemas.openxmlformats.org/drawingml/2006/main">
              <a:ext uri="{FF2B5EF4-FFF2-40B4-BE49-F238E27FC236}">
                <a16:creationId xmlns:a16="http://schemas.microsoft.com/office/drawing/2014/main" id="{41909154-066D-42EB-937E-54E443DBC243}"/>
              </a:ext>
            </a:extLst>
          </p:cNvPr>
          <p:cNvPicPr>
            <a:picLocks xmlns:a="http://schemas.openxmlformats.org/drawingml/2006/main" noChangeAspect="1"/>
          </p:cNvPicPr>
          <p:nvPr/>
        </p:nvPicPr>
        <p:blipFill>
          <a:blip xmlns:r="http://schemas.openxmlformats.org/officeDocument/2006/relationships" xmlns:a="http://schemas.openxmlformats.org/drawingml/2006/main" r:embed="Rc46f8e5dd0c54282"/>
          <a:srcRect xmlns:a="http://schemas.openxmlformats.org/drawingml/2006/main" l="36000" t="28000" r="34000" b="27000"/>
          <a:stretch xmlns:a="http://schemas.openxmlformats.org/drawingml/2006/main"/>
        </p:blipFill>
        <p:spPr>
          <a:xfrm xmlns:a="http://schemas.openxmlformats.org/drawingml/2006/main">
            <a:off x="7191375" y="1657350"/>
            <a:ext cx="1905000" cy="16573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BF0C774-2D54-4D8D-BBFA-580C31F08940}"/>
              </a:ext>
            </a:extLst>
          </p:cNvPr>
          <p:cNvSpPr>
            <a:spLocks xmlns:a="http://schemas.openxmlformats.org/drawingml/2006/main" noGrp="1"/>
          </p:cNvSpPr>
          <p:nvPr/>
        </p:nvSpPr>
        <p:spPr>
          <a:xfrm xmlns:a="http://schemas.openxmlformats.org/drawingml/2006/main">
            <a:off x="9296400" y="18097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A car</a:t>
            </a:r>
          </a:p>
        </p:txBody>
      </p:sp>
      <p:sp>
        <p:nvSpPr>
          <p:cNvPr id="17" name="">
            <a:extLst xmlns:a="http://schemas.openxmlformats.org/drawingml/2006/main">
              <a:ext uri="{FF2B5EF4-FFF2-40B4-BE49-F238E27FC236}">
                <a16:creationId xmlns:a16="http://schemas.microsoft.com/office/drawing/2014/main" id="{82D0742B-EFBC-47F4-9D45-296B89A05039}"/>
              </a:ext>
            </a:extLst>
          </p:cNvPr>
          <p:cNvSpPr>
            <a:spLocks xmlns:a="http://schemas.openxmlformats.org/drawingml/2006/main" noGrp="1"/>
          </p:cNvSpPr>
          <p:nvPr/>
        </p:nvSpPr>
        <p:spPr>
          <a:xfrm xmlns:a="http://schemas.openxmlformats.org/drawingml/2006/main">
            <a:off x="9296400" y="2257425"/>
            <a:ext cx="2333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Follow the road</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with suitable steering</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speed.</a:t>
            </a:r>
          </a:p>
        </p:txBody>
      </p:sp>
      <p:pic>
        <p:nvPicPr>
          <p:cNvPr id="18" name="">
            <a:extLst xmlns:a="http://schemas.openxmlformats.org/drawingml/2006/main">
              <a:ext uri="{FF2B5EF4-FFF2-40B4-BE49-F238E27FC236}">
                <a16:creationId xmlns:a16="http://schemas.microsoft.com/office/drawing/2014/main" id="{2A9ECD29-E97A-4B21-9E9A-6B0133FF6396}"/>
              </a:ext>
            </a:extLst>
          </p:cNvPr>
          <p:cNvPicPr>
            <a:picLocks xmlns:a="http://schemas.openxmlformats.org/drawingml/2006/main" noChangeAspect="1"/>
          </p:cNvPicPr>
          <p:nvPr/>
        </p:nvPicPr>
        <p:blipFill>
          <a:blip xmlns:r="http://schemas.openxmlformats.org/officeDocument/2006/relationships" xmlns:a="http://schemas.openxmlformats.org/drawingml/2006/main" r:embed="R8463cd2840bf4d98"/>
          <a:srcRect xmlns:a="http://schemas.openxmlformats.org/drawingml/2006/main" l="0" t="15188" r="0" b="15188"/>
          <a:stretch xmlns:a="http://schemas.openxmlformats.org/drawingml/2006/main">
            <a:fillRect l="0" t="0" r="0" b="0"/>
          </a:stretch>
        </p:blipFill>
        <p:spPr>
          <a:xfrm xmlns:a="http://schemas.openxmlformats.org/drawingml/2006/main">
            <a:off x="7191375" y="3714750"/>
            <a:ext cx="1905000" cy="16573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054E6266-47EA-41AE-B398-64A552F7BC19}"/>
              </a:ext>
            </a:extLst>
          </p:cNvPr>
          <p:cNvSpPr>
            <a:spLocks xmlns:a="http://schemas.openxmlformats.org/drawingml/2006/main" noGrp="1"/>
          </p:cNvSpPr>
          <p:nvPr/>
        </p:nvSpPr>
        <p:spPr>
          <a:xfrm xmlns:a="http://schemas.openxmlformats.org/drawingml/2006/main">
            <a:off x="9296400" y="385762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A robot</a:t>
            </a:r>
          </a:p>
        </p:txBody>
      </p:sp>
      <p:sp>
        <p:nvSpPr>
          <p:cNvPr id="20" name="">
            <a:extLst xmlns:a="http://schemas.openxmlformats.org/drawingml/2006/main">
              <a:ext uri="{FF2B5EF4-FFF2-40B4-BE49-F238E27FC236}">
                <a16:creationId xmlns:a16="http://schemas.microsoft.com/office/drawing/2014/main" id="{0B450516-2DCB-465F-AF10-B7D732B56CBF}"/>
              </a:ext>
            </a:extLst>
          </p:cNvPr>
          <p:cNvSpPr>
            <a:spLocks xmlns:a="http://schemas.openxmlformats.org/drawingml/2006/main" noGrp="1"/>
          </p:cNvSpPr>
          <p:nvPr/>
        </p:nvSpPr>
        <p:spPr>
          <a:xfrm xmlns:a="http://schemas.openxmlformats.org/drawingml/2006/main">
            <a:off x="9296400" y="4305300"/>
            <a:ext cx="2333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Follow the panel</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with precise tool</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position and motion.</a:t>
            </a:r>
          </a:p>
        </p:txBody>
      </p:sp>
      <p:sp>
        <p:nvSpPr>
          <p:cNvPr id="21" name="">
            <a:extLst xmlns:a="http://schemas.openxmlformats.org/drawingml/2006/main">
              <a:ext uri="{FF2B5EF4-FFF2-40B4-BE49-F238E27FC236}">
                <a16:creationId xmlns:a16="http://schemas.microsoft.com/office/drawing/2014/main" id="{2E7B83D5-1C5F-408D-91CB-AD97AB904FBC}"/>
              </a:ext>
            </a:extLst>
          </p:cNvPr>
          <p:cNvSpPr>
            <a:spLocks xmlns:a="http://schemas.openxmlformats.org/drawingml/2006/main" noGrp="1"/>
          </p:cNvSpPr>
          <p:nvPr/>
        </p:nvSpPr>
        <p:spPr>
          <a:xfrm xmlns:a="http://schemas.openxmlformats.org/drawingml/2006/main">
            <a:off x="552450" y="619125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What I bring forward: understanding the whole system, from a motion goal to execution.</a:t>
            </a:r>
          </a:p>
        </p:txBody>
      </p:sp>
    </p:spTree>
    <p:extLst>
      <p:ext uri="{BB962C8B-B14F-4D97-AF65-F5344CB8AC3E}">
        <p14:creationId xmlns:p14="http://schemas.microsoft.com/office/powerpoint/2010/main" val="72517081"/>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34E627-5FA8-4674-8D44-4AFDE0CEF4F6}"/>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Beyond engineering</a:t>
            </a:r>
          </a:p>
        </p:txBody>
      </p:sp>
      <p:sp>
        <p:nvSpPr>
          <p:cNvPr id="2" name="">
            <a:extLst xmlns:a="http://schemas.openxmlformats.org/drawingml/2006/main">
              <a:ext uri="{FF2B5EF4-FFF2-40B4-BE49-F238E27FC236}">
                <a16:creationId xmlns:a16="http://schemas.microsoft.com/office/drawing/2014/main" id="{8BA7037E-D738-439E-80AA-720284092F47}"/>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05</a:t>
            </a:r>
          </a:p>
        </p:txBody>
      </p:sp>
      <p:pic>
        <p:nvPicPr>
          <p:cNvPr id="3" name="">
            <a:extLst xmlns:a="http://schemas.openxmlformats.org/drawingml/2006/main">
              <a:ext uri="{FF2B5EF4-FFF2-40B4-BE49-F238E27FC236}">
                <a16:creationId xmlns:a16="http://schemas.microsoft.com/office/drawing/2014/main" id="{8873D260-F97B-417E-A8A6-9A8A5C17C25D}"/>
              </a:ext>
            </a:extLst>
          </p:cNvPr>
          <p:cNvPicPr>
            <a:picLocks xmlns:a="http://schemas.openxmlformats.org/drawingml/2006/main" noChangeAspect="1"/>
          </p:cNvPicPr>
          <p:nvPr/>
        </p:nvPicPr>
        <p:blipFill>
          <a:blip xmlns:r="http://schemas.openxmlformats.org/officeDocument/2006/relationships" xmlns:a="http://schemas.openxmlformats.org/drawingml/2006/main" r:embed="Rd0bc8a8375a24e5a"/>
          <a:srcRect xmlns:a="http://schemas.openxmlformats.org/drawingml/2006/main" l="0" t="9914" r="0" b="9914"/>
          <a:stretch xmlns:a="http://schemas.openxmlformats.org/drawingml/2006/main">
            <a:fillRect l="0" t="0" r="0" b="0"/>
          </a:stretch>
        </p:blipFill>
        <p:spPr>
          <a:xfrm xmlns:a="http://schemas.openxmlformats.org/drawingml/2006/main">
            <a:off x="552450" y="1495425"/>
            <a:ext cx="11049000" cy="2952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F616C51-03F8-4145-A199-CC52DC2CC58E}"/>
              </a:ext>
            </a:extLst>
          </p:cNvPr>
          <p:cNvSpPr>
            <a:spLocks xmlns:a="http://schemas.openxmlformats.org/drawingml/2006/main" noGrp="1"/>
          </p:cNvSpPr>
          <p:nvPr/>
        </p:nvSpPr>
        <p:spPr>
          <a:xfrm xmlns:a="http://schemas.openxmlformats.org/drawingml/2006/main">
            <a:off x="55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Dancing &amp; acting</a:t>
            </a:r>
          </a:p>
        </p:txBody>
      </p:sp>
      <p:sp>
        <p:nvSpPr>
          <p:cNvPr id="5" name="">
            <a:extLst xmlns:a="http://schemas.openxmlformats.org/drawingml/2006/main">
              <a:ext uri="{FF2B5EF4-FFF2-40B4-BE49-F238E27FC236}">
                <a16:creationId xmlns:a16="http://schemas.microsoft.com/office/drawing/2014/main" id="{0D15D349-44B2-4D14-9247-AA9833CEDF78}"/>
              </a:ext>
            </a:extLst>
          </p:cNvPr>
          <p:cNvSpPr>
            <a:spLocks xmlns:a="http://schemas.openxmlformats.org/drawingml/2006/main" noGrp="1"/>
          </p:cNvSpPr>
          <p:nvPr/>
        </p:nvSpPr>
        <p:spPr>
          <a:xfrm xmlns:a="http://schemas.openxmlformats.org/drawingml/2006/main">
            <a:off x="55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Creativity and expression</a:t>
            </a:r>
          </a:p>
        </p:txBody>
      </p:sp>
      <p:sp>
        <p:nvSpPr>
          <p:cNvPr id="6" name="">
            <a:extLst xmlns:a="http://schemas.openxmlformats.org/drawingml/2006/main">
              <a:ext uri="{FF2B5EF4-FFF2-40B4-BE49-F238E27FC236}">
                <a16:creationId xmlns:a16="http://schemas.microsoft.com/office/drawing/2014/main" id="{604E97B4-06DF-4AAF-9C45-9B7DF3A2F468}"/>
              </a:ext>
            </a:extLst>
          </p:cNvPr>
          <p:cNvSpPr>
            <a:spLocks xmlns:a="http://schemas.openxmlformats.org/drawingml/2006/main" noGrp="1"/>
          </p:cNvSpPr>
          <p:nvPr/>
        </p:nvSpPr>
        <p:spPr>
          <a:xfrm xmlns:a="http://schemas.openxmlformats.org/drawingml/2006/main">
            <a:off x="436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Fitness enthusiast</a:t>
            </a:r>
          </a:p>
        </p:txBody>
      </p:sp>
      <p:sp>
        <p:nvSpPr>
          <p:cNvPr id="7" name="">
            <a:extLst xmlns:a="http://schemas.openxmlformats.org/drawingml/2006/main">
              <a:ext uri="{FF2B5EF4-FFF2-40B4-BE49-F238E27FC236}">
                <a16:creationId xmlns:a16="http://schemas.microsoft.com/office/drawing/2014/main" id="{119E6772-083C-4E91-A6AA-083983E3E706}"/>
              </a:ext>
            </a:extLst>
          </p:cNvPr>
          <p:cNvSpPr>
            <a:spLocks xmlns:a="http://schemas.openxmlformats.org/drawingml/2006/main" noGrp="1"/>
          </p:cNvSpPr>
          <p:nvPr/>
        </p:nvSpPr>
        <p:spPr>
          <a:xfrm xmlns:a="http://schemas.openxmlformats.org/drawingml/2006/main">
            <a:off x="436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An active lifestyle</a:t>
            </a:r>
          </a:p>
        </p:txBody>
      </p:sp>
      <p:sp>
        <p:nvSpPr>
          <p:cNvPr id="8" name="">
            <a:extLst xmlns:a="http://schemas.openxmlformats.org/drawingml/2006/main">
              <a:ext uri="{FF2B5EF4-FFF2-40B4-BE49-F238E27FC236}">
                <a16:creationId xmlns:a16="http://schemas.microsoft.com/office/drawing/2014/main" id="{FD5D2C18-3BC3-4026-9B03-E507A9B53085}"/>
              </a:ext>
            </a:extLst>
          </p:cNvPr>
          <p:cNvSpPr>
            <a:spLocks xmlns:a="http://schemas.openxmlformats.org/drawingml/2006/main" noGrp="1"/>
          </p:cNvSpPr>
          <p:nvPr/>
        </p:nvSpPr>
        <p:spPr>
          <a:xfrm xmlns:a="http://schemas.openxmlformats.org/drawingml/2006/main">
            <a:off x="817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Travel, trekking &amp; hiking</a:t>
            </a:r>
          </a:p>
        </p:txBody>
      </p:sp>
      <p:sp>
        <p:nvSpPr>
          <p:cNvPr id="9" name="">
            <a:extLst xmlns:a="http://schemas.openxmlformats.org/drawingml/2006/main">
              <a:ext uri="{FF2B5EF4-FFF2-40B4-BE49-F238E27FC236}">
                <a16:creationId xmlns:a16="http://schemas.microsoft.com/office/drawing/2014/main" id="{3C597971-B653-4F7F-84A0-E32E2A0254BD}"/>
              </a:ext>
            </a:extLst>
          </p:cNvPr>
          <p:cNvSpPr>
            <a:spLocks xmlns:a="http://schemas.openxmlformats.org/drawingml/2006/main" noGrp="1"/>
          </p:cNvSpPr>
          <p:nvPr/>
        </p:nvSpPr>
        <p:spPr>
          <a:xfrm xmlns:a="http://schemas.openxmlformats.org/drawingml/2006/main">
            <a:off x="817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Exploring new places and the outdoors</a:t>
            </a:r>
          </a:p>
        </p:txBody>
      </p:sp>
    </p:spTree>
    <p:extLst>
      <p:ext uri="{BB962C8B-B14F-4D97-AF65-F5344CB8AC3E}">
        <p14:creationId xmlns:p14="http://schemas.microsoft.com/office/powerpoint/2010/main" val="884971257"/>
      </p:ext>
    </p:extLst>
  </p:cSld>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95D62484-9044-49C9-8D12-E73DB4D2B375}"/>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Airbus journey in motion</a:t>
            </a:r>
          </a:p>
        </p:txBody>
      </p:sp>
      <p:sp>
        <p:nvSpPr>
          <p:cNvPr id="2" name="">
            <a:extLst xmlns:a="http://schemas.openxmlformats.org/drawingml/2006/main">
              <a:ext uri="{FF2B5EF4-FFF2-40B4-BE49-F238E27FC236}">
                <a16:creationId xmlns:a16="http://schemas.microsoft.com/office/drawing/2014/main" id="{A9FA3389-578F-47B7-9BE6-800AB000156D}"/>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CB3B63BC-ABEE-4C72-9C74-AB709E067E0A}"/>
              </a:ext>
            </a:extLst>
          </p:cNvPr>
          <p:cNvSpPr>
            <a:spLocks xmlns:a="http://schemas.openxmlformats.org/drawingml/2006/main" noGrp="1"/>
          </p:cNvSpPr>
          <p:nvPr/>
        </p:nvSpPr>
        <p:spPr>
          <a:xfrm xmlns:a="http://schemas.openxmlformats.org/drawingml/2006/main">
            <a:off x="552450" y="11049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Capability progression across my industrial robotics work</a:t>
            </a:r>
          </a:p>
        </p:txBody>
      </p:sp>
      <p:pic>
        <p:nvPicPr>
          <p:cNvPr id="4" name="">
            <a:extLst xmlns:a="http://schemas.openxmlformats.org/drawingml/2006/main">
              <a:ext uri="{FF2B5EF4-FFF2-40B4-BE49-F238E27FC236}">
                <a16:creationId xmlns:a16="http://schemas.microsoft.com/office/drawing/2014/main" id="{C27191F3-C6D9-4D97-A0DE-9C1A343782A1}"/>
              </a:ext>
            </a:extLst>
          </p:cNvPr>
          <p:cNvPicPr>
            <a:picLocks xmlns:a="http://schemas.openxmlformats.org/drawingml/2006/main" noChangeAspect="1"/>
          </p:cNvPicPr>
          <p:nvPr/>
        </p:nvPicPr>
        <p:blipFill>
          <a:blip xmlns:r="http://schemas.openxmlformats.org/officeDocument/2006/relationships" xmlns:a="http://schemas.openxmlformats.org/drawingml/2006/main" r:embed="R2755915cdfa647b5"/>
          <a:srcRect xmlns:a="http://schemas.openxmlformats.org/drawingml/2006/main" l="38000" t="0" r="0" b="0"/>
          <a:stretch xmlns:a="http://schemas.openxmlformats.org/drawingml/2006/main"/>
        </p:blipFill>
        <p:spPr>
          <a:xfrm xmlns:a="http://schemas.openxmlformats.org/drawingml/2006/main">
            <a:off x="552450" y="1724025"/>
            <a:ext cx="2514600" cy="1762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0B83993-2382-4833-BE00-F9EB0C2A5E14}"/>
              </a:ext>
            </a:extLst>
          </p:cNvPr>
          <p:cNvSpPr>
            <a:spLocks xmlns:a="http://schemas.openxmlformats.org/drawingml/2006/main" noGrp="1"/>
          </p:cNvSpPr>
          <p:nvPr/>
        </p:nvSpPr>
        <p:spPr>
          <a:xfrm xmlns:a="http://schemas.openxmlformats.org/drawingml/2006/main">
            <a:off x="5524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REACT</a:t>
            </a:r>
          </a:p>
        </p:txBody>
      </p:sp>
      <p:sp>
        <p:nvSpPr>
          <p:cNvPr id="6" name="">
            <a:extLst xmlns:a="http://schemas.openxmlformats.org/drawingml/2006/main">
              <a:ext uri="{FF2B5EF4-FFF2-40B4-BE49-F238E27FC236}">
                <a16:creationId xmlns:a16="http://schemas.microsoft.com/office/drawing/2014/main" id="{183431C9-C77A-4F98-B12B-86A562E53479}"/>
              </a:ext>
            </a:extLst>
          </p:cNvPr>
          <p:cNvSpPr>
            <a:spLocks xmlns:a="http://schemas.openxmlformats.org/drawingml/2006/main" noGrp="1"/>
          </p:cNvSpPr>
          <p:nvPr/>
        </p:nvSpPr>
        <p:spPr>
          <a:xfrm xmlns:a="http://schemas.openxmlformats.org/drawingml/2006/main">
            <a:off x="5524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Constrained planning</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task supervision</a:t>
            </a:r>
          </a:p>
        </p:txBody>
      </p:sp>
      <p:pic>
        <p:nvPicPr>
          <p:cNvPr id="7" name="">
            <a:extLst xmlns:a="http://schemas.openxmlformats.org/drawingml/2006/main">
              <a:ext uri="{FF2B5EF4-FFF2-40B4-BE49-F238E27FC236}">
                <a16:creationId xmlns:a16="http://schemas.microsoft.com/office/drawing/2014/main" id="{46B17B80-477E-4F6D-A603-9ECE4A6FEB80}"/>
              </a:ext>
            </a:extLst>
          </p:cNvPr>
          <p:cNvPicPr>
            <a:picLocks xmlns:a="http://schemas.openxmlformats.org/drawingml/2006/main" noChangeAspect="1"/>
          </p:cNvPicPr>
          <p:nvPr/>
        </p:nvPicPr>
        <p:blipFill>
          <a:blip xmlns:r="http://schemas.openxmlformats.org/officeDocument/2006/relationships" xmlns:a="http://schemas.openxmlformats.org/drawingml/2006/main" r:embed="R647c978d68744190"/>
          <a:srcRect xmlns:a="http://schemas.openxmlformats.org/drawingml/2006/main" l="0" t="21960" r="0" b="21960"/>
          <a:stretch xmlns:a="http://schemas.openxmlformats.org/drawingml/2006/main">
            <a:fillRect l="0" t="0" r="0" b="0"/>
          </a:stretch>
        </p:blipFill>
        <p:spPr>
          <a:xfrm xmlns:a="http://schemas.openxmlformats.org/drawingml/2006/main">
            <a:off x="3409950" y="1724025"/>
            <a:ext cx="2514600" cy="1762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FB5F6B2-919F-403D-8024-D3B99AB42752}"/>
              </a:ext>
            </a:extLst>
          </p:cNvPr>
          <p:cNvSpPr>
            <a:spLocks xmlns:a="http://schemas.openxmlformats.org/drawingml/2006/main" noGrp="1"/>
          </p:cNvSpPr>
          <p:nvPr/>
        </p:nvSpPr>
        <p:spPr>
          <a:xfrm xmlns:a="http://schemas.openxmlformats.org/drawingml/2006/main">
            <a:off x="34099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Primer-skin NDT</a:t>
            </a:r>
          </a:p>
        </p:txBody>
      </p:sp>
      <p:sp>
        <p:nvSpPr>
          <p:cNvPr id="9" name="">
            <a:extLst xmlns:a="http://schemas.openxmlformats.org/drawingml/2006/main">
              <a:ext uri="{FF2B5EF4-FFF2-40B4-BE49-F238E27FC236}">
                <a16:creationId xmlns:a16="http://schemas.microsoft.com/office/drawing/2014/main" id="{B71E2078-7937-4D4A-A8A1-99DB321336CD}"/>
              </a:ext>
            </a:extLst>
          </p:cNvPr>
          <p:cNvSpPr>
            <a:spLocks xmlns:a="http://schemas.openxmlformats.org/drawingml/2006/main" noGrp="1"/>
          </p:cNvSpPr>
          <p:nvPr/>
        </p:nvSpPr>
        <p:spPr>
          <a:xfrm xmlns:a="http://schemas.openxmlformats.org/drawingml/2006/main">
            <a:off x="34099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Automatic inspection motion</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process constraints</a:t>
            </a:r>
          </a:p>
        </p:txBody>
      </p:sp>
      <p:pic>
        <p:nvPicPr>
          <p:cNvPr id="10" name="">
            <a:extLst xmlns:a="http://schemas.openxmlformats.org/drawingml/2006/main">
              <a:ext uri="{FF2B5EF4-FFF2-40B4-BE49-F238E27FC236}">
                <a16:creationId xmlns:a16="http://schemas.microsoft.com/office/drawing/2014/main" id="{7E8F81CA-84F5-4331-854D-A885BCCC655F}"/>
              </a:ext>
            </a:extLst>
          </p:cNvPr>
          <p:cNvPicPr>
            <a:picLocks xmlns:a="http://schemas.openxmlformats.org/drawingml/2006/main" noChangeAspect="1"/>
          </p:cNvPicPr>
          <p:nvPr/>
        </p:nvPicPr>
        <p:blipFill>
          <a:blip xmlns:r="http://schemas.openxmlformats.org/officeDocument/2006/relationships" xmlns:a="http://schemas.openxmlformats.org/drawingml/2006/main" r:embed="R95ca8a721226432c"/>
          <a:srcRect xmlns:a="http://schemas.openxmlformats.org/drawingml/2006/main" l="0" t="14962" r="0" b="14962"/>
          <a:stretch xmlns:a="http://schemas.openxmlformats.org/drawingml/2006/main">
            <a:fillRect l="0" t="0" r="0" b="0"/>
          </a:stretch>
        </p:blipFill>
        <p:spPr>
          <a:xfrm xmlns:a="http://schemas.openxmlformats.org/drawingml/2006/main">
            <a:off x="6267450" y="1724025"/>
            <a:ext cx="2514600" cy="17621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3845A94-2512-4F50-8CB2-5137D70B0C13}"/>
              </a:ext>
            </a:extLst>
          </p:cNvPr>
          <p:cNvSpPr>
            <a:spLocks xmlns:a="http://schemas.openxmlformats.org/drawingml/2006/main" noGrp="1"/>
          </p:cNvSpPr>
          <p:nvPr/>
        </p:nvSpPr>
        <p:spPr>
          <a:xfrm xmlns:a="http://schemas.openxmlformats.org/drawingml/2006/main">
            <a:off x="62674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Intelligent scan plan</a:t>
            </a:r>
          </a:p>
        </p:txBody>
      </p:sp>
      <p:sp>
        <p:nvSpPr>
          <p:cNvPr id="12" name="">
            <a:extLst xmlns:a="http://schemas.openxmlformats.org/drawingml/2006/main">
              <a:ext uri="{FF2B5EF4-FFF2-40B4-BE49-F238E27FC236}">
                <a16:creationId xmlns:a16="http://schemas.microsoft.com/office/drawing/2014/main" id="{1AD90C7B-12BD-45C4-A621-0EC3FE54DB57}"/>
              </a:ext>
            </a:extLst>
          </p:cNvPr>
          <p:cNvSpPr>
            <a:spLocks xmlns:a="http://schemas.openxmlformats.org/drawingml/2006/main" noGrp="1"/>
          </p:cNvSpPr>
          <p:nvPr/>
        </p:nvSpPr>
        <p:spPr>
          <a:xfrm xmlns:a="http://schemas.openxmlformats.org/drawingml/2006/main">
            <a:off x="62674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Defect sequencing</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targeted rescanning</a:t>
            </a:r>
          </a:p>
        </p:txBody>
      </p:sp>
      <p:pic>
        <p:nvPicPr>
          <p:cNvPr id="13" name="">
            <a:extLst xmlns:a="http://schemas.openxmlformats.org/drawingml/2006/main">
              <a:ext uri="{FF2B5EF4-FFF2-40B4-BE49-F238E27FC236}">
                <a16:creationId xmlns:a16="http://schemas.microsoft.com/office/drawing/2014/main" id="{21592AE9-54CD-42D6-B15C-ACFA045D5B58}"/>
              </a:ext>
            </a:extLst>
          </p:cNvPr>
          <p:cNvPicPr>
            <a:picLocks xmlns:a="http://schemas.openxmlformats.org/drawingml/2006/main" noChangeAspect="1"/>
          </p:cNvPicPr>
          <p:nvPr/>
        </p:nvPicPr>
        <p:blipFill>
          <a:blip xmlns:r="http://schemas.openxmlformats.org/officeDocument/2006/relationships" xmlns:a="http://schemas.openxmlformats.org/drawingml/2006/main" r:embed="R5fe41dd3b9c041da"/>
          <a:srcRect xmlns:a="http://schemas.openxmlformats.org/drawingml/2006/main" l="50000" t="0" r="0" b="0"/>
          <a:stretch xmlns:a="http://schemas.openxmlformats.org/drawingml/2006/main"/>
        </p:blipFill>
        <p:spPr>
          <a:xfrm xmlns:a="http://schemas.openxmlformats.org/drawingml/2006/main">
            <a:off x="9124950" y="1724025"/>
            <a:ext cx="2514600" cy="17621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737AD23-89C4-4985-ACD5-151D1E9E1994}"/>
              </a:ext>
            </a:extLst>
          </p:cNvPr>
          <p:cNvSpPr>
            <a:spLocks xmlns:a="http://schemas.openxmlformats.org/drawingml/2006/main" noGrp="1"/>
          </p:cNvSpPr>
          <p:nvPr/>
        </p:nvSpPr>
        <p:spPr>
          <a:xfrm xmlns:a="http://schemas.openxmlformats.org/drawingml/2006/main">
            <a:off x="91249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B77720"/>
                </a:solidFill>
                <a:latin typeface="DejaVu Sans"/>
                <a:ea typeface="DejaVu Sans"/>
                <a:cs typeface="DejaVu Sans"/>
              </a:defRPr>
            </a:defPPr>
          </a:lstStyle>
          <a:p xmlns:a="http://schemas.openxmlformats.org/drawingml/2006/main">
            <a:pPr>
              <a:defRPr sz="2025" b="1">
                <a:solidFill>
                  <a:srgbClr val="B77720"/>
                </a:solidFill>
                <a:latin typeface="DejaVu Sans"/>
                <a:ea typeface="DejaVu Sans"/>
                <a:cs typeface="DejaVu Sans"/>
              </a:defRPr>
            </a:pPr>
            <a:r>
              <a:rPr sz="2025" b="1">
                <a:solidFill>
                  <a:srgbClr val="B77720"/>
                </a:solidFill>
                <a:latin typeface="DejaVu Sans"/>
                <a:ea typeface="DejaVu Sans"/>
                <a:cs typeface="DejaVu Sans"/>
              </a:rPr>
              <a:t>Next horizon</a:t>
            </a:r>
          </a:p>
        </p:txBody>
      </p:sp>
      <p:sp>
        <p:nvSpPr>
          <p:cNvPr id="15" name="">
            <a:extLst xmlns:a="http://schemas.openxmlformats.org/drawingml/2006/main">
              <a:ext uri="{FF2B5EF4-FFF2-40B4-BE49-F238E27FC236}">
                <a16:creationId xmlns:a16="http://schemas.microsoft.com/office/drawing/2014/main" id="{9F098980-8206-4A10-8F3A-E45D55BDE76D}"/>
              </a:ext>
            </a:extLst>
          </p:cNvPr>
          <p:cNvSpPr>
            <a:spLocks xmlns:a="http://schemas.openxmlformats.org/drawingml/2006/main" noGrp="1"/>
          </p:cNvSpPr>
          <p:nvPr/>
        </p:nvSpPr>
        <p:spPr>
          <a:xfrm xmlns:a="http://schemas.openxmlformats.org/drawingml/2006/main">
            <a:off x="91249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Reusable, adaptive motion</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for manufacturing</a:t>
            </a:r>
          </a:p>
        </p:txBody>
      </p:sp>
      <p:sp>
        <p:nvSpPr>
          <p:cNvPr id="16" name="">
            <a:extLst xmlns:a="http://schemas.openxmlformats.org/drawingml/2006/main">
              <a:ext uri="{FF2B5EF4-FFF2-40B4-BE49-F238E27FC236}">
                <a16:creationId xmlns:a16="http://schemas.microsoft.com/office/drawing/2014/main" id="{C83B97C2-2DBF-4C9F-A5CE-A3C4FFA5BE78}"/>
              </a:ext>
            </a:extLst>
          </p:cNvPr>
          <p:cNvSpPr>
            <a:spLocks xmlns:a="http://schemas.openxmlformats.org/drawingml/2006/main" noGrp="1"/>
          </p:cNvSpPr>
          <p:nvPr/>
        </p:nvSpPr>
        <p:spPr>
          <a:xfrm xmlns:a="http://schemas.openxmlformats.org/drawingml/2006/main">
            <a:off x="1809750" y="3886200"/>
            <a:ext cx="5715000" cy="4762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CEC7B73-7951-4BAF-B390-C3A0DD3C34FE}"/>
              </a:ext>
            </a:extLst>
          </p:cNvPr>
          <p:cNvSpPr>
            <a:spLocks xmlns:a="http://schemas.openxmlformats.org/drawingml/2006/main" noGrp="1"/>
          </p:cNvSpPr>
          <p:nvPr/>
        </p:nvSpPr>
        <p:spPr>
          <a:xfrm xmlns:a="http://schemas.openxmlformats.org/drawingml/2006/main">
            <a:off x="7572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13AF413-D44D-4117-BDED-97304770B911}"/>
              </a:ext>
            </a:extLst>
          </p:cNvPr>
          <p:cNvSpPr>
            <a:spLocks xmlns:a="http://schemas.openxmlformats.org/drawingml/2006/main" noGrp="1"/>
          </p:cNvSpPr>
          <p:nvPr/>
        </p:nvSpPr>
        <p:spPr>
          <a:xfrm xmlns:a="http://schemas.openxmlformats.org/drawingml/2006/main">
            <a:off x="7800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990B6C8-6014-43B7-B365-990C13E9C034}"/>
              </a:ext>
            </a:extLst>
          </p:cNvPr>
          <p:cNvSpPr>
            <a:spLocks xmlns:a="http://schemas.openxmlformats.org/drawingml/2006/main" noGrp="1"/>
          </p:cNvSpPr>
          <p:nvPr/>
        </p:nvSpPr>
        <p:spPr>
          <a:xfrm xmlns:a="http://schemas.openxmlformats.org/drawingml/2006/main">
            <a:off x="8029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AFE9E17-B851-4AC1-ADC5-A9719F203AFA}"/>
              </a:ext>
            </a:extLst>
          </p:cNvPr>
          <p:cNvSpPr>
            <a:spLocks xmlns:a="http://schemas.openxmlformats.org/drawingml/2006/main" noGrp="1"/>
          </p:cNvSpPr>
          <p:nvPr/>
        </p:nvSpPr>
        <p:spPr>
          <a:xfrm xmlns:a="http://schemas.openxmlformats.org/drawingml/2006/main">
            <a:off x="82581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F2863B5-2631-4B20-96C4-7895AC2A1C12}"/>
              </a:ext>
            </a:extLst>
          </p:cNvPr>
          <p:cNvSpPr>
            <a:spLocks xmlns:a="http://schemas.openxmlformats.org/drawingml/2006/main" noGrp="1"/>
          </p:cNvSpPr>
          <p:nvPr/>
        </p:nvSpPr>
        <p:spPr>
          <a:xfrm xmlns:a="http://schemas.openxmlformats.org/drawingml/2006/main">
            <a:off x="84867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B8DD160-5B54-4182-8FCC-0A10C4D379A8}"/>
              </a:ext>
            </a:extLst>
          </p:cNvPr>
          <p:cNvSpPr>
            <a:spLocks xmlns:a="http://schemas.openxmlformats.org/drawingml/2006/main" noGrp="1"/>
          </p:cNvSpPr>
          <p:nvPr/>
        </p:nvSpPr>
        <p:spPr>
          <a:xfrm xmlns:a="http://schemas.openxmlformats.org/drawingml/2006/main">
            <a:off x="8715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88119D7-23DD-44DF-8F1C-DE59FDF39659}"/>
              </a:ext>
            </a:extLst>
          </p:cNvPr>
          <p:cNvSpPr>
            <a:spLocks xmlns:a="http://schemas.openxmlformats.org/drawingml/2006/main" noGrp="1"/>
          </p:cNvSpPr>
          <p:nvPr/>
        </p:nvSpPr>
        <p:spPr>
          <a:xfrm xmlns:a="http://schemas.openxmlformats.org/drawingml/2006/main">
            <a:off x="8943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6AC6B16-ECDD-4C5B-925C-E2BF03F9A947}"/>
              </a:ext>
            </a:extLst>
          </p:cNvPr>
          <p:cNvSpPr>
            <a:spLocks xmlns:a="http://schemas.openxmlformats.org/drawingml/2006/main" noGrp="1"/>
          </p:cNvSpPr>
          <p:nvPr/>
        </p:nvSpPr>
        <p:spPr>
          <a:xfrm xmlns:a="http://schemas.openxmlformats.org/drawingml/2006/main">
            <a:off x="9172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CEC6EAC-8159-42B4-A48C-0070619CA41D}"/>
              </a:ext>
            </a:extLst>
          </p:cNvPr>
          <p:cNvSpPr>
            <a:spLocks xmlns:a="http://schemas.openxmlformats.org/drawingml/2006/main" noGrp="1"/>
          </p:cNvSpPr>
          <p:nvPr/>
        </p:nvSpPr>
        <p:spPr>
          <a:xfrm xmlns:a="http://schemas.openxmlformats.org/drawingml/2006/main">
            <a:off x="94011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88BDC1D-50BE-4362-A18B-6D5F89DAE1BE}"/>
              </a:ext>
            </a:extLst>
          </p:cNvPr>
          <p:cNvSpPr>
            <a:spLocks xmlns:a="http://schemas.openxmlformats.org/drawingml/2006/main" noGrp="1"/>
          </p:cNvSpPr>
          <p:nvPr/>
        </p:nvSpPr>
        <p:spPr>
          <a:xfrm xmlns:a="http://schemas.openxmlformats.org/drawingml/2006/main">
            <a:off x="96297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D3A03AB-7B32-4DDC-A692-1A223A5F5D9C}"/>
              </a:ext>
            </a:extLst>
          </p:cNvPr>
          <p:cNvSpPr>
            <a:spLocks xmlns:a="http://schemas.openxmlformats.org/drawingml/2006/main" noGrp="1"/>
          </p:cNvSpPr>
          <p:nvPr/>
        </p:nvSpPr>
        <p:spPr>
          <a:xfrm xmlns:a="http://schemas.openxmlformats.org/drawingml/2006/main">
            <a:off x="9858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51BAA76-8501-452A-B480-461E3FA428FC}"/>
              </a:ext>
            </a:extLst>
          </p:cNvPr>
          <p:cNvSpPr>
            <a:spLocks xmlns:a="http://schemas.openxmlformats.org/drawingml/2006/main" noGrp="1"/>
          </p:cNvSpPr>
          <p:nvPr/>
        </p:nvSpPr>
        <p:spPr>
          <a:xfrm xmlns:a="http://schemas.openxmlformats.org/drawingml/2006/main">
            <a:off x="10086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E78F3CC-C106-475E-85DE-CC9CBA5B35E0}"/>
              </a:ext>
            </a:extLst>
          </p:cNvPr>
          <p:cNvSpPr>
            <a:spLocks xmlns:a="http://schemas.openxmlformats.org/drawingml/2006/main" noGrp="1"/>
          </p:cNvSpPr>
          <p:nvPr/>
        </p:nvSpPr>
        <p:spPr>
          <a:xfrm xmlns:a="http://schemas.openxmlformats.org/drawingml/2006/main">
            <a:off x="10315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132BCEA-A0C4-4017-84E8-2D527630CF3E}"/>
              </a:ext>
            </a:extLst>
          </p:cNvPr>
          <p:cNvSpPr>
            <a:spLocks xmlns:a="http://schemas.openxmlformats.org/drawingml/2006/main" noGrp="1"/>
          </p:cNvSpPr>
          <p:nvPr/>
        </p:nvSpPr>
        <p:spPr>
          <a:xfrm xmlns:a="http://schemas.openxmlformats.org/drawingml/2006/main">
            <a:off x="16573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1" name="">
            <a:extLst xmlns:a="http://schemas.openxmlformats.org/drawingml/2006/main">
              <a:ext uri="{FF2B5EF4-FFF2-40B4-BE49-F238E27FC236}">
                <a16:creationId xmlns:a16="http://schemas.microsoft.com/office/drawing/2014/main" id="{92B25B74-EF70-4432-AEC1-6AA920003AD1}"/>
              </a:ext>
            </a:extLst>
          </p:cNvPr>
          <p:cNvSpPr>
            <a:spLocks xmlns:a="http://schemas.openxmlformats.org/drawingml/2006/main" noGrp="1"/>
          </p:cNvSpPr>
          <p:nvPr/>
        </p:nvSpPr>
        <p:spPr>
          <a:xfrm xmlns:a="http://schemas.openxmlformats.org/drawingml/2006/main">
            <a:off x="45148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2" name="">
            <a:extLst xmlns:a="http://schemas.openxmlformats.org/drawingml/2006/main">
              <a:ext uri="{FF2B5EF4-FFF2-40B4-BE49-F238E27FC236}">
                <a16:creationId xmlns:a16="http://schemas.microsoft.com/office/drawing/2014/main" id="{DE555909-AF33-4F97-BF65-A923D9922474}"/>
              </a:ext>
            </a:extLst>
          </p:cNvPr>
          <p:cNvSpPr>
            <a:spLocks xmlns:a="http://schemas.openxmlformats.org/drawingml/2006/main" noGrp="1"/>
          </p:cNvSpPr>
          <p:nvPr/>
        </p:nvSpPr>
        <p:spPr>
          <a:xfrm xmlns:a="http://schemas.openxmlformats.org/drawingml/2006/main">
            <a:off x="73723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3" name="">
            <a:extLst xmlns:a="http://schemas.openxmlformats.org/drawingml/2006/main">
              <a:ext uri="{FF2B5EF4-FFF2-40B4-BE49-F238E27FC236}">
                <a16:creationId xmlns:a16="http://schemas.microsoft.com/office/drawing/2014/main" id="{B8653195-DA2F-426B-913B-8C536D6737EF}"/>
              </a:ext>
            </a:extLst>
          </p:cNvPr>
          <p:cNvSpPr>
            <a:spLocks xmlns:a="http://schemas.openxmlformats.org/drawingml/2006/main" noGrp="1"/>
          </p:cNvSpPr>
          <p:nvPr/>
        </p:nvSpPr>
        <p:spPr>
          <a:xfrm xmlns:a="http://schemas.openxmlformats.org/drawingml/2006/main">
            <a:off x="10229850" y="3752850"/>
            <a:ext cx="304800" cy="304800"/>
          </a:xfrm>
          <a:prstGeom xmlns:a="http://schemas.openxmlformats.org/drawingml/2006/main" prst="ellipse">
            <a:avLst/>
          </a:prstGeom>
          <a:solidFill xmlns:a="http://schemas.openxmlformats.org/drawingml/2006/main">
            <a:srgbClr val="FAF8F3"/>
          </a:solidFill>
          <a:ln xmlns:a="http://schemas.openxmlformats.org/drawingml/2006/main" w="28575">
            <a:solidFill>
              <a:srgbClr val="B77720"/>
            </a:solidFill>
          </a:ln>
        </p:spPr>
      </p:sp>
      <p:sp>
        <p:nvSpPr>
          <p:cNvPr id="34" name="">
            <a:extLst xmlns:a="http://schemas.openxmlformats.org/drawingml/2006/main">
              <a:ext uri="{FF2B5EF4-FFF2-40B4-BE49-F238E27FC236}">
                <a16:creationId xmlns:a16="http://schemas.microsoft.com/office/drawing/2014/main" id="{B881252F-23EE-45D6-862E-A3153E5E3ADB}"/>
              </a:ext>
            </a:extLst>
          </p:cNvPr>
          <p:cNvSpPr>
            <a:spLocks xmlns:a="http://schemas.openxmlformats.org/drawingml/2006/main" noGrp="1"/>
          </p:cNvSpPr>
          <p:nvPr/>
        </p:nvSpPr>
        <p:spPr>
          <a:xfrm xmlns:a="http://schemas.openxmlformats.org/drawingml/2006/main">
            <a:off x="552450" y="62484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304DD9"/>
                </a:solidFill>
                <a:latin typeface="DejaVu Sans"/>
                <a:ea typeface="DejaVu Sans"/>
                <a:cs typeface="DejaVu Sans"/>
              </a:defRPr>
            </a:defPPr>
          </a:lstStyle>
          <a:p xmlns:a="http://schemas.openxmlformats.org/drawingml/2006/main">
            <a:pPr>
              <a:defRPr sz="1275" b="1">
                <a:solidFill>
                  <a:srgbClr val="304DD9"/>
                </a:solidFill>
                <a:latin typeface="DejaVu Sans"/>
                <a:ea typeface="DejaVu Sans"/>
                <a:cs typeface="DejaVu Sans"/>
              </a:defRPr>
            </a:pPr>
            <a:r>
              <a:rPr sz="1275" b="1">
                <a:solidFill>
                  <a:srgbClr val="304DD9"/>
                </a:solidFill>
                <a:latin typeface="DejaVu Sans"/>
                <a:ea typeface="DejaVu Sans"/>
                <a:cs typeface="DejaVu Sans"/>
              </a:rPr>
              <a:t>EXPERIENCE</a:t>
            </a:r>
          </a:p>
        </p:txBody>
      </p:sp>
      <p:sp>
        <p:nvSpPr>
          <p:cNvPr id="35" name="">
            <a:extLst xmlns:a="http://schemas.openxmlformats.org/drawingml/2006/main">
              <a:ext uri="{FF2B5EF4-FFF2-40B4-BE49-F238E27FC236}">
                <a16:creationId xmlns:a16="http://schemas.microsoft.com/office/drawing/2014/main" id="{51D8FAC4-174D-4B89-B7F9-6E19ADAB5F24}"/>
              </a:ext>
            </a:extLst>
          </p:cNvPr>
          <p:cNvSpPr>
            <a:spLocks xmlns:a="http://schemas.openxmlformats.org/drawingml/2006/main" noGrp="1"/>
          </p:cNvSpPr>
          <p:nvPr/>
        </p:nvSpPr>
        <p:spPr>
          <a:xfrm xmlns:a="http://schemas.openxmlformats.org/drawingml/2006/main">
            <a:off x="9124950" y="62484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B77720"/>
                </a:solidFill>
                <a:latin typeface="DejaVu Sans"/>
                <a:ea typeface="DejaVu Sans"/>
                <a:cs typeface="DejaVu Sans"/>
              </a:defRPr>
            </a:defPPr>
          </a:lstStyle>
          <a:p xmlns:a="http://schemas.openxmlformats.org/drawingml/2006/main">
            <a:pPr>
              <a:defRPr sz="1275" b="1">
                <a:solidFill>
                  <a:srgbClr val="B77720"/>
                </a:solidFill>
                <a:latin typeface="DejaVu Sans"/>
                <a:ea typeface="DejaVu Sans"/>
                <a:cs typeface="DejaVu Sans"/>
              </a:defRPr>
            </a:pPr>
            <a:r>
              <a:rPr sz="1275" b="1">
                <a:solidFill>
                  <a:srgbClr val="B77720"/>
                </a:solidFill>
                <a:latin typeface="DejaVu Sans"/>
                <a:ea typeface="DejaVu Sans"/>
                <a:cs typeface="DejaVu Sans"/>
              </a:rPr>
              <a:t>PROPOSED DIRECTION</a:t>
            </a:r>
          </a:p>
        </p:txBody>
      </p:sp>
    </p:spTree>
    <p:extLst>
      <p:ext uri="{BB962C8B-B14F-4D97-AF65-F5344CB8AC3E}">
        <p14:creationId xmlns:p14="http://schemas.microsoft.com/office/powerpoint/2010/main" val="625504555"/>
      </p:ext>
    </p:extLst>
  </p:cSld>
</p:sld>
</file>

<file path=ppt/slides/slide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AB7FF56-AE64-4CCE-928E-E723A9BD2928}"/>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Technical judgement starts with the application</a:t>
            </a:r>
          </a:p>
        </p:txBody>
      </p:sp>
      <p:sp>
        <p:nvSpPr>
          <p:cNvPr id="2" name="">
            <a:extLst xmlns:a="http://schemas.openxmlformats.org/drawingml/2006/main">
              <a:ext uri="{FF2B5EF4-FFF2-40B4-BE49-F238E27FC236}">
                <a16:creationId xmlns:a16="http://schemas.microsoft.com/office/drawing/2014/main" id="{092338D6-3E5E-4349-A9C1-C43E40E3BEAA}"/>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07</a:t>
            </a:r>
          </a:p>
        </p:txBody>
      </p:sp>
      <p:pic>
        <p:nvPicPr>
          <p:cNvPr id="3" name="">
            <a:extLst xmlns:a="http://schemas.openxmlformats.org/drawingml/2006/main">
              <a:ext uri="{FF2B5EF4-FFF2-40B4-BE49-F238E27FC236}">
                <a16:creationId xmlns:a16="http://schemas.microsoft.com/office/drawing/2014/main" id="{CFDB8473-87AB-4053-A846-6CFFFF1F04D5}"/>
              </a:ext>
            </a:extLst>
          </p:cNvPr>
          <p:cNvPicPr>
            <a:picLocks xmlns:a="http://schemas.openxmlformats.org/drawingml/2006/main" noChangeAspect="1"/>
          </p:cNvPicPr>
          <p:nvPr/>
        </p:nvPicPr>
        <p:blipFill>
          <a:blip xmlns:r="http://schemas.openxmlformats.org/officeDocument/2006/relationships" xmlns:a="http://schemas.openxmlformats.org/drawingml/2006/main" r:embed="R1cc728b0fe334c74"/>
          <a:srcRect xmlns:a="http://schemas.openxmlformats.org/drawingml/2006/main" l="0" t="7471" r="0" b="7471"/>
          <a:stretch xmlns:a="http://schemas.openxmlformats.org/drawingml/2006/main">
            <a:fillRect l="0" t="0" r="0" b="0"/>
          </a:stretch>
        </p:blipFill>
        <p:spPr>
          <a:xfrm xmlns:a="http://schemas.openxmlformats.org/drawingml/2006/main">
            <a:off x="7524750" y="1600200"/>
            <a:ext cx="4143375"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68E9EEC-5AF4-4AC9-8215-54334930D347}"/>
              </a:ext>
            </a:extLst>
          </p:cNvPr>
          <p:cNvSpPr>
            <a:spLocks xmlns:a="http://schemas.openxmlformats.org/drawingml/2006/main" noGrp="1"/>
          </p:cNvSpPr>
          <p:nvPr/>
        </p:nvSpPr>
        <p:spPr>
          <a:xfrm xmlns:a="http://schemas.openxmlformats.org/drawingml/2006/main">
            <a:off x="552450" y="16192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Process requirements</a:t>
            </a:r>
          </a:p>
        </p:txBody>
      </p:sp>
      <p:sp>
        <p:nvSpPr>
          <p:cNvPr id="5" name="">
            <a:extLst xmlns:a="http://schemas.openxmlformats.org/drawingml/2006/main">
              <a:ext uri="{FF2B5EF4-FFF2-40B4-BE49-F238E27FC236}">
                <a16:creationId xmlns:a16="http://schemas.microsoft.com/office/drawing/2014/main" id="{3CE416E5-E7D4-441C-8D76-0C2F97DF583A}"/>
              </a:ext>
            </a:extLst>
          </p:cNvPr>
          <p:cNvSpPr>
            <a:spLocks xmlns:a="http://schemas.openxmlformats.org/drawingml/2006/main" noGrp="1"/>
          </p:cNvSpPr>
          <p:nvPr/>
        </p:nvSpPr>
        <p:spPr>
          <a:xfrm xmlns:a="http://schemas.openxmlformats.org/drawingml/2006/main">
            <a:off x="552450" y="204787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Coverage, stand-off, orientation and collision constraints.</a:t>
            </a:r>
          </a:p>
        </p:txBody>
      </p:sp>
      <p:sp>
        <p:nvSpPr>
          <p:cNvPr id="6" name="">
            <a:extLst xmlns:a="http://schemas.openxmlformats.org/drawingml/2006/main">
              <a:ext uri="{FF2B5EF4-FFF2-40B4-BE49-F238E27FC236}">
                <a16:creationId xmlns:a16="http://schemas.microsoft.com/office/drawing/2014/main" id="{A932ECF1-8EA9-4C97-83FF-B6077D9C1784}"/>
              </a:ext>
            </a:extLst>
          </p:cNvPr>
          <p:cNvSpPr>
            <a:spLocks xmlns:a="http://schemas.openxmlformats.org/drawingml/2006/main" noGrp="1"/>
          </p:cNvSpPr>
          <p:nvPr/>
        </p:nvSpPr>
        <p:spPr>
          <a:xfrm xmlns:a="http://schemas.openxmlformats.org/drawingml/2006/main">
            <a:off x="552450" y="29146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Execution quality</a:t>
            </a:r>
          </a:p>
        </p:txBody>
      </p:sp>
      <p:sp>
        <p:nvSpPr>
          <p:cNvPr id="7" name="">
            <a:extLst xmlns:a="http://schemas.openxmlformats.org/drawingml/2006/main">
              <a:ext uri="{FF2B5EF4-FFF2-40B4-BE49-F238E27FC236}">
                <a16:creationId xmlns:a16="http://schemas.microsoft.com/office/drawing/2014/main" id="{C2210DBD-843B-499A-BE21-626F8AD54C77}"/>
              </a:ext>
            </a:extLst>
          </p:cNvPr>
          <p:cNvSpPr>
            <a:spLocks xmlns:a="http://schemas.openxmlformats.org/drawingml/2006/main" noGrp="1"/>
          </p:cNvSpPr>
          <p:nvPr/>
        </p:nvSpPr>
        <p:spPr>
          <a:xfrm xmlns:a="http://schemas.openxmlformats.org/drawingml/2006/main">
            <a:off x="552450" y="334327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TCP continuity, timing and controller behaviour.</a:t>
            </a:r>
          </a:p>
        </p:txBody>
      </p:sp>
      <p:sp>
        <p:nvSpPr>
          <p:cNvPr id="8" name="">
            <a:extLst xmlns:a="http://schemas.openxmlformats.org/drawingml/2006/main">
              <a:ext uri="{FF2B5EF4-FFF2-40B4-BE49-F238E27FC236}">
                <a16:creationId xmlns:a16="http://schemas.microsoft.com/office/drawing/2014/main" id="{A542101A-3C8F-4EC3-BABE-28609FC537BF}"/>
              </a:ext>
            </a:extLst>
          </p:cNvPr>
          <p:cNvSpPr>
            <a:spLocks xmlns:a="http://schemas.openxmlformats.org/drawingml/2006/main" noGrp="1"/>
          </p:cNvSpPr>
          <p:nvPr/>
        </p:nvSpPr>
        <p:spPr>
          <a:xfrm xmlns:a="http://schemas.openxmlformats.org/drawingml/2006/main">
            <a:off x="552450" y="42100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Integration effort</a:t>
            </a:r>
          </a:p>
        </p:txBody>
      </p:sp>
      <p:sp>
        <p:nvSpPr>
          <p:cNvPr id="9" name="">
            <a:extLst xmlns:a="http://schemas.openxmlformats.org/drawingml/2006/main">
              <a:ext uri="{FF2B5EF4-FFF2-40B4-BE49-F238E27FC236}">
                <a16:creationId xmlns:a16="http://schemas.microsoft.com/office/drawing/2014/main" id="{59CAF099-A78C-4556-AF09-AC881BD0AB1A}"/>
              </a:ext>
            </a:extLst>
          </p:cNvPr>
          <p:cNvSpPr>
            <a:spLocks xmlns:a="http://schemas.openxmlformats.org/drawingml/2006/main" noGrp="1"/>
          </p:cNvSpPr>
          <p:nvPr/>
        </p:nvSpPr>
        <p:spPr>
          <a:xfrm xmlns:a="http://schemas.openxmlformats.org/drawingml/2006/main">
            <a:off x="552450" y="463867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Supported interfaces, failure reporting and reuse.</a:t>
            </a:r>
          </a:p>
        </p:txBody>
      </p:sp>
      <p:sp>
        <p:nvSpPr>
          <p:cNvPr id="10" name="">
            <a:extLst xmlns:a="http://schemas.openxmlformats.org/drawingml/2006/main">
              <a:ext uri="{FF2B5EF4-FFF2-40B4-BE49-F238E27FC236}">
                <a16:creationId xmlns:a16="http://schemas.microsoft.com/office/drawing/2014/main" id="{E408B51E-4F78-4E95-9618-72E0BF518C5D}"/>
              </a:ext>
            </a:extLst>
          </p:cNvPr>
          <p:cNvSpPr>
            <a:spLocks xmlns:a="http://schemas.openxmlformats.org/drawingml/2006/main" noGrp="1"/>
          </p:cNvSpPr>
          <p:nvPr/>
        </p:nvSpPr>
        <p:spPr>
          <a:xfrm xmlns:a="http://schemas.openxmlformats.org/drawingml/2006/main">
            <a:off x="7524750" y="5162550"/>
            <a:ext cx="4143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HPP / MoveIt2 / Tesseract</a:t>
            </a:r>
          </a:p>
        </p:txBody>
      </p:sp>
      <p:sp>
        <p:nvSpPr>
          <p:cNvPr id="11" name="">
            <a:extLst xmlns:a="http://schemas.openxmlformats.org/drawingml/2006/main">
              <a:ext uri="{FF2B5EF4-FFF2-40B4-BE49-F238E27FC236}">
                <a16:creationId xmlns:a16="http://schemas.microsoft.com/office/drawing/2014/main" id="{D26A6D88-88D6-46E4-8A10-983A7949B352}"/>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My proposal: select by evidence, reuse supported capabilities, close proven gaps.</a:t>
            </a:r>
          </a:p>
        </p:txBody>
      </p:sp>
    </p:spTree>
    <p:extLst>
      <p:ext uri="{BB962C8B-B14F-4D97-AF65-F5344CB8AC3E}">
        <p14:creationId xmlns:p14="http://schemas.microsoft.com/office/powerpoint/2010/main" val="938585675"/>
      </p:ext>
    </p:extLst>
  </p:cSld>
</p:sld>
</file>

<file path=ppt/slides/slide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CBCE1D-72DA-4842-B977-F68AA1493D26}"/>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Innovation and knowledge I contribute</a:t>
            </a:r>
          </a:p>
        </p:txBody>
      </p:sp>
      <p:sp>
        <p:nvSpPr>
          <p:cNvPr id="2" name="">
            <a:extLst xmlns:a="http://schemas.openxmlformats.org/drawingml/2006/main">
              <a:ext uri="{FF2B5EF4-FFF2-40B4-BE49-F238E27FC236}">
                <a16:creationId xmlns:a16="http://schemas.microsoft.com/office/drawing/2014/main" id="{2C6EA43B-CEFF-447B-86A7-34533E01329A}"/>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C3FA75D5-23B0-439D-AD09-F0A39AB91DD6}"/>
              </a:ext>
            </a:extLst>
          </p:cNvPr>
          <p:cNvSpPr>
            <a:spLocks xmlns:a="http://schemas.openxmlformats.org/drawingml/2006/main" noGrp="1"/>
          </p:cNvSpPr>
          <p:nvPr/>
        </p:nvSpPr>
        <p:spPr>
          <a:xfrm xmlns:a="http://schemas.openxmlformats.org/drawingml/2006/main">
            <a:off x="55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PATENTS</a:t>
            </a:r>
          </a:p>
        </p:txBody>
      </p:sp>
      <p:sp>
        <p:nvSpPr>
          <p:cNvPr id="4" name="">
            <a:extLst xmlns:a="http://schemas.openxmlformats.org/drawingml/2006/main">
              <a:ext uri="{FF2B5EF4-FFF2-40B4-BE49-F238E27FC236}">
                <a16:creationId xmlns:a16="http://schemas.microsoft.com/office/drawing/2014/main" id="{987171A2-32F7-47BC-8B29-4742264F1363}"/>
              </a:ext>
            </a:extLst>
          </p:cNvPr>
          <p:cNvSpPr>
            <a:spLocks xmlns:a="http://schemas.openxmlformats.org/drawingml/2006/main" noGrp="1"/>
          </p:cNvSpPr>
          <p:nvPr/>
        </p:nvSpPr>
        <p:spPr>
          <a:xfrm xmlns:a="http://schemas.openxmlformats.org/drawingml/2006/main">
            <a:off x="55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[Patent title]</a:t>
            </a:r>
          </a:p>
        </p:txBody>
      </p:sp>
      <p:sp>
        <p:nvSpPr>
          <p:cNvPr id="5" name="">
            <a:extLst xmlns:a="http://schemas.openxmlformats.org/drawingml/2006/main">
              <a:ext uri="{FF2B5EF4-FFF2-40B4-BE49-F238E27FC236}">
                <a16:creationId xmlns:a16="http://schemas.microsoft.com/office/drawing/2014/main" id="{B936E5A7-A770-4F5D-989A-A6941B09BCDC}"/>
              </a:ext>
            </a:extLst>
          </p:cNvPr>
          <p:cNvSpPr>
            <a:spLocks xmlns:a="http://schemas.openxmlformats.org/drawingml/2006/main" noGrp="1"/>
          </p:cNvSpPr>
          <p:nvPr/>
        </p:nvSpPr>
        <p:spPr>
          <a:xfrm xmlns:a="http://schemas.openxmlformats.org/drawingml/2006/main">
            <a:off x="55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[Filed / published / granted status]</a:t>
            </a:r>
          </a:p>
        </p:txBody>
      </p:sp>
      <p:sp>
        <p:nvSpPr>
          <p:cNvPr id="6" name="">
            <a:extLst xmlns:a="http://schemas.openxmlformats.org/drawingml/2006/main">
              <a:ext uri="{FF2B5EF4-FFF2-40B4-BE49-F238E27FC236}">
                <a16:creationId xmlns:a16="http://schemas.microsoft.com/office/drawing/2014/main" id="{9F84F5E5-C1F4-4F71-8189-FA907C79BFA1}"/>
              </a:ext>
            </a:extLst>
          </p:cNvPr>
          <p:cNvSpPr>
            <a:spLocks xmlns:a="http://schemas.openxmlformats.org/drawingml/2006/main" noGrp="1"/>
          </p:cNvSpPr>
          <p:nvPr/>
        </p:nvSpPr>
        <p:spPr>
          <a:xfrm xmlns:a="http://schemas.openxmlformats.org/drawingml/2006/main">
            <a:off x="436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IDDs</a:t>
            </a:r>
          </a:p>
        </p:txBody>
      </p:sp>
      <p:sp>
        <p:nvSpPr>
          <p:cNvPr id="7" name="">
            <a:extLst xmlns:a="http://schemas.openxmlformats.org/drawingml/2006/main">
              <a:ext uri="{FF2B5EF4-FFF2-40B4-BE49-F238E27FC236}">
                <a16:creationId xmlns:a16="http://schemas.microsoft.com/office/drawing/2014/main" id="{FE49BBA4-73D3-4B4D-BBAB-7F11BB3F0E60}"/>
              </a:ext>
            </a:extLst>
          </p:cNvPr>
          <p:cNvSpPr>
            <a:spLocks xmlns:a="http://schemas.openxmlformats.org/drawingml/2006/main" noGrp="1"/>
          </p:cNvSpPr>
          <p:nvPr/>
        </p:nvSpPr>
        <p:spPr>
          <a:xfrm xmlns:a="http://schemas.openxmlformats.org/drawingml/2006/main">
            <a:off x="436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[IDD title]</a:t>
            </a:r>
          </a:p>
        </p:txBody>
      </p:sp>
      <p:sp>
        <p:nvSpPr>
          <p:cNvPr id="8" name="">
            <a:extLst xmlns:a="http://schemas.openxmlformats.org/drawingml/2006/main">
              <a:ext uri="{FF2B5EF4-FFF2-40B4-BE49-F238E27FC236}">
                <a16:creationId xmlns:a16="http://schemas.microsoft.com/office/drawing/2014/main" id="{547A9360-91DE-493A-BC37-CD09E3C4AF2A}"/>
              </a:ext>
            </a:extLst>
          </p:cNvPr>
          <p:cNvSpPr>
            <a:spLocks xmlns:a="http://schemas.openxmlformats.org/drawingml/2006/main" noGrp="1"/>
          </p:cNvSpPr>
          <p:nvPr/>
        </p:nvSpPr>
        <p:spPr>
          <a:xfrm xmlns:a="http://schemas.openxmlformats.org/drawingml/2006/main">
            <a:off x="436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[Submitted / accepted status]</a:t>
            </a:r>
          </a:p>
        </p:txBody>
      </p:sp>
      <p:sp>
        <p:nvSpPr>
          <p:cNvPr id="9" name="">
            <a:extLst xmlns:a="http://schemas.openxmlformats.org/drawingml/2006/main">
              <a:ext uri="{FF2B5EF4-FFF2-40B4-BE49-F238E27FC236}">
                <a16:creationId xmlns:a16="http://schemas.microsoft.com/office/drawing/2014/main" id="{154A3BCC-06B2-4AF8-9891-2F5DBF622FC4}"/>
              </a:ext>
            </a:extLst>
          </p:cNvPr>
          <p:cNvSpPr>
            <a:spLocks xmlns:a="http://schemas.openxmlformats.org/drawingml/2006/main" noGrp="1"/>
          </p:cNvSpPr>
          <p:nvPr/>
        </p:nvSpPr>
        <p:spPr>
          <a:xfrm xmlns:a="http://schemas.openxmlformats.org/drawingml/2006/main">
            <a:off x="817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WHITE PAPER</a:t>
            </a:r>
          </a:p>
        </p:txBody>
      </p:sp>
      <p:sp>
        <p:nvSpPr>
          <p:cNvPr id="10" name="">
            <a:extLst xmlns:a="http://schemas.openxmlformats.org/drawingml/2006/main">
              <a:ext uri="{FF2B5EF4-FFF2-40B4-BE49-F238E27FC236}">
                <a16:creationId xmlns:a16="http://schemas.microsoft.com/office/drawing/2014/main" id="{03D6829C-B181-4309-9BB1-60DE64CF281B}"/>
              </a:ext>
            </a:extLst>
          </p:cNvPr>
          <p:cNvSpPr>
            <a:spLocks xmlns:a="http://schemas.openxmlformats.org/drawingml/2006/main" noGrp="1"/>
          </p:cNvSpPr>
          <p:nvPr/>
        </p:nvSpPr>
        <p:spPr>
          <a:xfrm xmlns:a="http://schemas.openxmlformats.org/drawingml/2006/main">
            <a:off x="817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Published white paper</a:t>
            </a:r>
          </a:p>
        </p:txBody>
      </p:sp>
      <p:sp>
        <p:nvSpPr>
          <p:cNvPr id="11" name="">
            <a:extLst xmlns:a="http://schemas.openxmlformats.org/drawingml/2006/main">
              <a:ext uri="{FF2B5EF4-FFF2-40B4-BE49-F238E27FC236}">
                <a16:creationId xmlns:a16="http://schemas.microsoft.com/office/drawing/2014/main" id="{042C8202-D44C-415C-94D5-A123455BF81B}"/>
              </a:ext>
            </a:extLst>
          </p:cNvPr>
          <p:cNvSpPr>
            <a:spLocks xmlns:a="http://schemas.openxmlformats.org/drawingml/2006/main" noGrp="1"/>
          </p:cNvSpPr>
          <p:nvPr/>
        </p:nvSpPr>
        <p:spPr>
          <a:xfrm xmlns:a="http://schemas.openxmlformats.org/drawingml/2006/main">
            <a:off x="817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[Paper title and publication date]</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 / co-authors]</a:t>
            </a:r>
          </a:p>
        </p:txBody>
      </p:sp>
      <p:sp>
        <p:nvSpPr>
          <p:cNvPr id="12" name="">
            <a:extLst xmlns:a="http://schemas.openxmlformats.org/drawingml/2006/main">
              <a:ext uri="{FF2B5EF4-FFF2-40B4-BE49-F238E27FC236}">
                <a16:creationId xmlns:a16="http://schemas.microsoft.com/office/drawing/2014/main" id="{74108846-D9B2-4A91-90F0-D3CE3C1EB6B4}"/>
              </a:ext>
            </a:extLst>
          </p:cNvPr>
          <p:cNvSpPr>
            <a:spLocks xmlns:a="http://schemas.openxmlformats.org/drawingml/2006/main" noGrp="1"/>
          </p:cNvSpPr>
          <p:nvPr/>
        </p:nvSpPr>
        <p:spPr>
          <a:xfrm xmlns:a="http://schemas.openxmlformats.org/drawingml/2006/main">
            <a:off x="552450" y="55340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304DD9"/>
                </a:solidFill>
                <a:latin typeface="DejaVu Sans"/>
                <a:ea typeface="DejaVu Sans"/>
                <a:cs typeface="DejaVu Sans"/>
              </a:defRPr>
            </a:defPPr>
          </a:lstStyle>
          <a:p xmlns:a="http://schemas.openxmlformats.org/drawingml/2006/main">
            <a:pPr>
              <a:defRPr sz="1725" b="0">
                <a:solidFill>
                  <a:srgbClr val="304DD9"/>
                </a:solidFill>
                <a:latin typeface="DejaVu Sans"/>
                <a:ea typeface="DejaVu Sans"/>
                <a:cs typeface="DejaVu Sans"/>
              </a:defRPr>
            </a:pPr>
            <a:r>
              <a:rPr sz="1725" b="0">
                <a:solidFill>
                  <a:srgbClr val="304DD9"/>
                </a:solidFill>
                <a:latin typeface="DejaVu Sans"/>
                <a:ea typeface="DejaVu Sans"/>
                <a:cs typeface="DejaVu Sans"/>
              </a:rPr>
              <a:t>[Add one sentence on the technical idea and its value to Airbus for each contribution.]</a:t>
            </a:r>
          </a:p>
        </p:txBody>
      </p:sp>
    </p:spTree>
    <p:extLst>
      <p:ext uri="{BB962C8B-B14F-4D97-AF65-F5344CB8AC3E}">
        <p14:creationId xmlns:p14="http://schemas.microsoft.com/office/powerpoint/2010/main" val="691361142"/>
      </p:ext>
    </p:extLst>
  </p:cSld>
</p:sld>
</file>

<file path=ppt/slides/slide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A57022-3E97-4A98-B03B-3BE4A10923DE}"/>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network connects needs, research and delivery</a:t>
            </a:r>
          </a:p>
        </p:txBody>
      </p:sp>
      <p:sp>
        <p:nvSpPr>
          <p:cNvPr id="2" name="">
            <a:extLst xmlns:a="http://schemas.openxmlformats.org/drawingml/2006/main">
              <a:ext uri="{FF2B5EF4-FFF2-40B4-BE49-F238E27FC236}">
                <a16:creationId xmlns:a16="http://schemas.microsoft.com/office/drawing/2014/main" id="{43596D2D-731A-4A33-AD61-5D3A6BC56231}"/>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09</a:t>
            </a:r>
          </a:p>
        </p:txBody>
      </p:sp>
      <p:pic>
        <p:nvPicPr>
          <p:cNvPr id="3" name="">
            <a:extLst xmlns:a="http://schemas.openxmlformats.org/drawingml/2006/main">
              <a:ext uri="{FF2B5EF4-FFF2-40B4-BE49-F238E27FC236}">
                <a16:creationId xmlns:a16="http://schemas.microsoft.com/office/drawing/2014/main" id="{7C1CF3C2-5E2C-4F92-A618-315530A7008A}"/>
              </a:ext>
            </a:extLst>
          </p:cNvPr>
          <p:cNvPicPr>
            <a:picLocks xmlns:a="http://schemas.openxmlformats.org/drawingml/2006/main" noChangeAspect="1"/>
          </p:cNvPicPr>
          <p:nvPr/>
        </p:nvPicPr>
        <p:blipFill>
          <a:blip xmlns:r="http://schemas.openxmlformats.org/officeDocument/2006/relationships" xmlns:a="http://schemas.openxmlformats.org/drawingml/2006/main" r:embed="R3552d259146942ba"/>
          <a:srcRect xmlns:a="http://schemas.openxmlformats.org/drawingml/2006/main" l="0" t="29321" r="0" b="29321"/>
          <a:stretch xmlns:a="http://schemas.openxmlformats.org/drawingml/2006/main">
            <a:fillRect l="0" t="0" r="0" b="0"/>
          </a:stretch>
        </p:blipFill>
        <p:spPr>
          <a:xfrm xmlns:a="http://schemas.openxmlformats.org/drawingml/2006/main">
            <a:off x="552450" y="1285875"/>
            <a:ext cx="11049000" cy="2571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F6F8357-45EE-4A8F-B47B-F281CA948903}"/>
              </a:ext>
            </a:extLst>
          </p:cNvPr>
          <p:cNvSpPr>
            <a:spLocks xmlns:a="http://schemas.openxmlformats.org/drawingml/2006/main" noGrp="1"/>
          </p:cNvSpPr>
          <p:nvPr/>
        </p:nvSpPr>
        <p:spPr>
          <a:xfrm xmlns:a="http://schemas.openxmlformats.org/drawingml/2006/main">
            <a:off x="55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Application teams</a:t>
            </a:r>
          </a:p>
        </p:txBody>
      </p:sp>
      <p:sp>
        <p:nvSpPr>
          <p:cNvPr id="5" name="">
            <a:extLst xmlns:a="http://schemas.openxmlformats.org/drawingml/2006/main">
              <a:ext uri="{FF2B5EF4-FFF2-40B4-BE49-F238E27FC236}">
                <a16:creationId xmlns:a16="http://schemas.microsoft.com/office/drawing/2014/main" id="{EF01DAB5-855D-4F8D-B5E3-F7992C3B81B0}"/>
              </a:ext>
            </a:extLst>
          </p:cNvPr>
          <p:cNvSpPr>
            <a:spLocks xmlns:a="http://schemas.openxmlformats.org/drawingml/2006/main" noGrp="1"/>
          </p:cNvSpPr>
          <p:nvPr/>
        </p:nvSpPr>
        <p:spPr>
          <a:xfrm xmlns:a="http://schemas.openxmlformats.org/drawingml/2006/main">
            <a:off x="55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Manufacturing and inspection needs</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Coverage, accuracy and process constraints</a:t>
            </a:r>
          </a:p>
        </p:txBody>
      </p:sp>
      <p:sp>
        <p:nvSpPr>
          <p:cNvPr id="6" name="">
            <a:extLst xmlns:a="http://schemas.openxmlformats.org/drawingml/2006/main">
              <a:ext uri="{FF2B5EF4-FFF2-40B4-BE49-F238E27FC236}">
                <a16:creationId xmlns:a16="http://schemas.microsoft.com/office/drawing/2014/main" id="{49501BD1-536B-4A7A-9837-3769E3C9A43A}"/>
              </a:ext>
            </a:extLst>
          </p:cNvPr>
          <p:cNvSpPr>
            <a:spLocks xmlns:a="http://schemas.openxmlformats.org/drawingml/2006/main" noGrp="1"/>
          </p:cNvSpPr>
          <p:nvPr/>
        </p:nvSpPr>
        <p:spPr>
          <a:xfrm xmlns:a="http://schemas.openxmlformats.org/drawingml/2006/main">
            <a:off x="436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Integration teams</a:t>
            </a:r>
          </a:p>
        </p:txBody>
      </p:sp>
      <p:sp>
        <p:nvSpPr>
          <p:cNvPr id="7" name="">
            <a:extLst xmlns:a="http://schemas.openxmlformats.org/drawingml/2006/main">
              <a:ext uri="{FF2B5EF4-FFF2-40B4-BE49-F238E27FC236}">
                <a16:creationId xmlns:a16="http://schemas.microsoft.com/office/drawing/2014/main" id="{A8AC0F5D-1D82-424B-9CA3-CB30B8C5EEE4}"/>
              </a:ext>
            </a:extLst>
          </p:cNvPr>
          <p:cNvSpPr>
            <a:spLocks xmlns:a="http://schemas.openxmlformats.org/drawingml/2006/main" noGrp="1"/>
          </p:cNvSpPr>
          <p:nvPr/>
        </p:nvSpPr>
        <p:spPr>
          <a:xfrm xmlns:a="http://schemas.openxmlformats.org/drawingml/2006/main">
            <a:off x="436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RXU, control and connectivity</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Data contracts and execution feedback</a:t>
            </a:r>
          </a:p>
        </p:txBody>
      </p:sp>
      <p:sp>
        <p:nvSpPr>
          <p:cNvPr id="8" name="">
            <a:extLst xmlns:a="http://schemas.openxmlformats.org/drawingml/2006/main">
              <a:ext uri="{FF2B5EF4-FFF2-40B4-BE49-F238E27FC236}">
                <a16:creationId xmlns:a16="http://schemas.microsoft.com/office/drawing/2014/main" id="{F6CD34D9-B971-4EAF-8BA1-80B555375553}"/>
              </a:ext>
            </a:extLst>
          </p:cNvPr>
          <p:cNvSpPr>
            <a:spLocks xmlns:a="http://schemas.openxmlformats.org/drawingml/2006/main" noGrp="1"/>
          </p:cNvSpPr>
          <p:nvPr/>
        </p:nvSpPr>
        <p:spPr>
          <a:xfrm xmlns:a="http://schemas.openxmlformats.org/drawingml/2006/main">
            <a:off x="817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Research partners</a:t>
            </a:r>
          </a:p>
        </p:txBody>
      </p:sp>
      <p:sp>
        <p:nvSpPr>
          <p:cNvPr id="9" name="">
            <a:extLst xmlns:a="http://schemas.openxmlformats.org/drawingml/2006/main">
              <a:ext uri="{FF2B5EF4-FFF2-40B4-BE49-F238E27FC236}">
                <a16:creationId xmlns:a16="http://schemas.microsoft.com/office/drawing/2014/main" id="{AD1D5ED5-2DA8-4E46-9AA5-5200A362C3C7}"/>
              </a:ext>
            </a:extLst>
          </p:cNvPr>
          <p:cNvSpPr>
            <a:spLocks xmlns:a="http://schemas.openxmlformats.org/drawingml/2006/main" noGrp="1"/>
          </p:cNvSpPr>
          <p:nvPr/>
        </p:nvSpPr>
        <p:spPr>
          <a:xfrm xmlns:a="http://schemas.openxmlformats.org/drawingml/2006/main">
            <a:off x="817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LAAS and IRT Jules Verne</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Planning methods and motion generation</a:t>
            </a:r>
          </a:p>
        </p:txBody>
      </p:sp>
      <p:sp>
        <p:nvSpPr>
          <p:cNvPr id="10" name="">
            <a:extLst xmlns:a="http://schemas.openxmlformats.org/drawingml/2006/main">
              <a:ext uri="{FF2B5EF4-FFF2-40B4-BE49-F238E27FC236}">
                <a16:creationId xmlns:a16="http://schemas.microsoft.com/office/drawing/2014/main" id="{96C9E5DA-E3F9-4C23-8DF8-13F86659FFE9}"/>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How I influence: clarify requirements, compare approaches and share decisions.</a:t>
            </a:r>
          </a:p>
        </p:txBody>
      </p:sp>
    </p:spTree>
    <p:extLst>
      <p:ext uri="{BB962C8B-B14F-4D97-AF65-F5344CB8AC3E}">
        <p14:creationId xmlns:p14="http://schemas.microsoft.com/office/powerpoint/2010/main" val="316893208"/>
      </p:ext>
    </p:extLst>
  </p:cSld>
</p:sld>
</file>

<file path=ppt/slides/slide10.xml><?xml version="1.0" encoding="utf-8"?>
<p:sld xmlns:p="http://schemas.openxmlformats.org/presentationml/2006/main">
  <p:cSld>
    <p:bg>
      <p:bgPr>
        <a:solidFill xmlns:a="http://schemas.openxmlformats.org/drawingml/2006/main">
          <a:srgbClr val="17274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FAB0205-376A-424C-A8A3-DC25395E258A}"/>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FFFFFF"/>
                </a:solidFill>
                <a:latin typeface="DejaVu Serif"/>
                <a:ea typeface="DejaVu Serif"/>
                <a:cs typeface="DejaVu Serif"/>
              </a:defRPr>
            </a:defPPr>
          </a:lstStyle>
          <a:p xmlns:a="http://schemas.openxmlformats.org/drawingml/2006/main">
            <a:pPr>
              <a:defRPr sz="3000" b="1">
                <a:solidFill>
                  <a:srgbClr val="FFFFFF"/>
                </a:solidFill>
                <a:latin typeface="DejaVu Serif"/>
                <a:ea typeface="DejaVu Serif"/>
                <a:cs typeface="DejaVu Serif"/>
              </a:defRPr>
            </a:pPr>
            <a:r>
              <a:rPr sz="3000" b="1">
                <a:solidFill>
                  <a:srgbClr val="FFFFFF"/>
                </a:solidFill>
                <a:latin typeface="DejaVu Serif"/>
                <a:ea typeface="DejaVu Serif"/>
                <a:cs typeface="DejaVu Serif"/>
              </a:rPr>
              <a:t>What manufacturing needs from robot motion</a:t>
            </a:r>
          </a:p>
        </p:txBody>
      </p:sp>
      <p:sp>
        <p:nvSpPr>
          <p:cNvPr id="2" name="">
            <a:extLst xmlns:a="http://schemas.openxmlformats.org/drawingml/2006/main">
              <a:ext uri="{FF2B5EF4-FFF2-40B4-BE49-F238E27FC236}">
                <a16:creationId xmlns:a16="http://schemas.microsoft.com/office/drawing/2014/main" id="{86701AA3-8F91-41E2-A492-A60EE8F015F1}"/>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C7D4F0"/>
                </a:solidFill>
                <a:latin typeface="DejaVu Sans"/>
                <a:ea typeface="DejaVu Sans"/>
                <a:cs typeface="DejaVu Sans"/>
              </a:defRPr>
            </a:defPPr>
          </a:lstStyle>
          <a:p xmlns:a="http://schemas.openxmlformats.org/drawingml/2006/main">
            <a:pPr>
              <a:defRPr sz="1125" b="0">
                <a:solidFill>
                  <a:srgbClr val="C7D4F0"/>
                </a:solidFill>
                <a:latin typeface="DejaVu Sans"/>
                <a:ea typeface="DejaVu Sans"/>
                <a:cs typeface="DejaVu Sans"/>
              </a:defRPr>
            </a:pPr>
            <a:r>
              <a:rPr sz="1125" b="0">
                <a:solidFill>
                  <a:srgbClr val="C7D4F0"/>
                </a:solidFill>
                <a:latin typeface="DejaVu Sans"/>
                <a:ea typeface="DejaVu Sans"/>
                <a:cs typeface="DejaVu Sans"/>
              </a:rPr>
              <a:t>10</a:t>
            </a:r>
          </a:p>
        </p:txBody>
      </p:sp>
      <p:pic>
        <p:nvPicPr>
          <p:cNvPr id="3" name="">
            <a:extLst xmlns:a="http://schemas.openxmlformats.org/drawingml/2006/main">
              <a:ext uri="{FF2B5EF4-FFF2-40B4-BE49-F238E27FC236}">
                <a16:creationId xmlns:a16="http://schemas.microsoft.com/office/drawing/2014/main" id="{AD6CCED2-ED6C-4380-96C3-F942251845C7}"/>
              </a:ext>
            </a:extLst>
          </p:cNvPr>
          <p:cNvPicPr>
            <a:picLocks xmlns:a="http://schemas.openxmlformats.org/drawingml/2006/main" noChangeAspect="1"/>
          </p:cNvPicPr>
          <p:nvPr/>
        </p:nvPicPr>
        <p:blipFill>
          <a:blip xmlns:r="http://schemas.openxmlformats.org/officeDocument/2006/relationships" xmlns:a="http://schemas.openxmlformats.org/drawingml/2006/main" r:embed="R35d5152f67d84131"/>
          <a:srcRect xmlns:a="http://schemas.openxmlformats.org/drawingml/2006/main" l="0" t="15733" r="0" b="15733"/>
          <a:stretch xmlns:a="http://schemas.openxmlformats.org/drawingml/2006/main">
            <a:fillRect l="0" t="0" r="0" b="0"/>
          </a:stretch>
        </p:blipFill>
        <p:spPr>
          <a:xfrm xmlns:a="http://schemas.openxmlformats.org/drawingml/2006/main">
            <a:off x="552450" y="1381125"/>
            <a:ext cx="11049000" cy="2524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D90124C-CBF9-4844-9F18-D655653F6609}"/>
              </a:ext>
            </a:extLst>
          </p:cNvPr>
          <p:cNvSpPr>
            <a:spLocks xmlns:a="http://schemas.openxmlformats.org/drawingml/2006/main" noGrp="1"/>
          </p:cNvSpPr>
          <p:nvPr/>
        </p:nvSpPr>
        <p:spPr>
          <a:xfrm xmlns:a="http://schemas.openxmlformats.org/drawingml/2006/main">
            <a:off x="8382000" y="39243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B5C8FF"/>
                </a:solidFill>
                <a:latin typeface="DejaVu Sans"/>
                <a:ea typeface="DejaVu Sans"/>
                <a:cs typeface="DejaVu Sans"/>
              </a:defRPr>
            </a:defPPr>
          </a:lstStyle>
          <a:p xmlns:a="http://schemas.openxmlformats.org/drawingml/2006/main">
            <a:pPr>
              <a:defRPr sz="1050" b="0">
                <a:solidFill>
                  <a:srgbClr val="B5C8FF"/>
                </a:solidFill>
                <a:latin typeface="DejaVu Sans"/>
                <a:ea typeface="DejaVu Sans"/>
                <a:cs typeface="DejaVu Sans"/>
              </a:defRPr>
            </a:pPr>
            <a:r>
              <a:rPr sz="1050" b="0">
                <a:solidFill>
                  <a:srgbClr val="B5C8FF"/>
                </a:solidFill>
                <a:latin typeface="DejaVu Sans"/>
                <a:ea typeface="DejaVu Sans"/>
                <a:cs typeface="DejaVu Sans"/>
              </a:rPr>
              <a:t>Illustrative AI-generated scenes</a:t>
            </a:r>
          </a:p>
        </p:txBody>
      </p:sp>
      <p:sp>
        <p:nvSpPr>
          <p:cNvPr id="5" name="">
            <a:extLst xmlns:a="http://schemas.openxmlformats.org/drawingml/2006/main">
              <a:ext uri="{FF2B5EF4-FFF2-40B4-BE49-F238E27FC236}">
                <a16:creationId xmlns:a16="http://schemas.microsoft.com/office/drawing/2014/main" id="{D4606BDF-7DF9-4063-86B1-C57B64C27FA4}"/>
              </a:ext>
            </a:extLst>
          </p:cNvPr>
          <p:cNvSpPr>
            <a:spLocks xmlns:a="http://schemas.openxmlformats.org/drawingml/2006/main" noGrp="1"/>
          </p:cNvSpPr>
          <p:nvPr/>
        </p:nvSpPr>
        <p:spPr>
          <a:xfrm xmlns:a="http://schemas.openxmlformats.org/drawingml/2006/main">
            <a:off x="55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Less programming</a:t>
            </a:r>
          </a:p>
        </p:txBody>
      </p:sp>
      <p:sp>
        <p:nvSpPr>
          <p:cNvPr id="6" name="">
            <a:extLst xmlns:a="http://schemas.openxmlformats.org/drawingml/2006/main">
              <a:ext uri="{FF2B5EF4-FFF2-40B4-BE49-F238E27FC236}">
                <a16:creationId xmlns:a16="http://schemas.microsoft.com/office/drawing/2014/main" id="{1E67805D-4C3F-4FA2-9BFF-7D9B639F556E}"/>
              </a:ext>
            </a:extLst>
          </p:cNvPr>
          <p:cNvSpPr>
            <a:spLocks xmlns:a="http://schemas.openxmlformats.org/drawingml/2006/main" noGrp="1"/>
          </p:cNvSpPr>
          <p:nvPr/>
        </p:nvSpPr>
        <p:spPr>
          <a:xfrm xmlns:a="http://schemas.openxmlformats.org/drawingml/2006/main">
            <a:off x="55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Configurable paths for new panels and process regions.</a:t>
            </a:r>
          </a:p>
        </p:txBody>
      </p:sp>
      <p:sp>
        <p:nvSpPr>
          <p:cNvPr id="7" name="">
            <a:extLst xmlns:a="http://schemas.openxmlformats.org/drawingml/2006/main">
              <a:ext uri="{FF2B5EF4-FFF2-40B4-BE49-F238E27FC236}">
                <a16:creationId xmlns:a16="http://schemas.microsoft.com/office/drawing/2014/main" id="{8F730108-7A8D-4F5C-9421-3538407D6B66}"/>
              </a:ext>
            </a:extLst>
          </p:cNvPr>
          <p:cNvSpPr>
            <a:spLocks xmlns:a="http://schemas.openxmlformats.org/drawingml/2006/main" noGrp="1"/>
          </p:cNvSpPr>
          <p:nvPr/>
        </p:nvSpPr>
        <p:spPr>
          <a:xfrm xmlns:a="http://schemas.openxmlformats.org/drawingml/2006/main">
            <a:off x="55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Measure: preparation time and manual effort</a:t>
            </a:r>
          </a:p>
        </p:txBody>
      </p:sp>
      <p:sp>
        <p:nvSpPr>
          <p:cNvPr id="8" name="">
            <a:extLst xmlns:a="http://schemas.openxmlformats.org/drawingml/2006/main">
              <a:ext uri="{FF2B5EF4-FFF2-40B4-BE49-F238E27FC236}">
                <a16:creationId xmlns:a16="http://schemas.microsoft.com/office/drawing/2014/main" id="{6243CCDA-0E4D-4D06-9D12-6FFDDEA47567}"/>
              </a:ext>
            </a:extLst>
          </p:cNvPr>
          <p:cNvSpPr>
            <a:spLocks xmlns:a="http://schemas.openxmlformats.org/drawingml/2006/main" noGrp="1"/>
          </p:cNvSpPr>
          <p:nvPr/>
        </p:nvSpPr>
        <p:spPr>
          <a:xfrm xmlns:a="http://schemas.openxmlformats.org/drawingml/2006/main">
            <a:off x="436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Reliable execution</a:t>
            </a:r>
          </a:p>
        </p:txBody>
      </p:sp>
      <p:sp>
        <p:nvSpPr>
          <p:cNvPr id="9" name="">
            <a:extLst xmlns:a="http://schemas.openxmlformats.org/drawingml/2006/main">
              <a:ext uri="{FF2B5EF4-FFF2-40B4-BE49-F238E27FC236}">
                <a16:creationId xmlns:a16="http://schemas.microsoft.com/office/drawing/2014/main" id="{574B4A71-FD00-4502-8CAF-46B2C8CA7F56}"/>
              </a:ext>
            </a:extLst>
          </p:cNvPr>
          <p:cNvSpPr>
            <a:spLocks xmlns:a="http://schemas.openxmlformats.org/drawingml/2006/main" noGrp="1"/>
          </p:cNvSpPr>
          <p:nvPr/>
        </p:nvSpPr>
        <p:spPr>
          <a:xfrm xmlns:a="http://schemas.openxmlformats.org/drawingml/2006/main">
            <a:off x="436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Continuous motion that respects process and robot limits.</a:t>
            </a:r>
          </a:p>
        </p:txBody>
      </p:sp>
      <p:sp>
        <p:nvSpPr>
          <p:cNvPr id="10" name="">
            <a:extLst xmlns:a="http://schemas.openxmlformats.org/drawingml/2006/main">
              <a:ext uri="{FF2B5EF4-FFF2-40B4-BE49-F238E27FC236}">
                <a16:creationId xmlns:a16="http://schemas.microsoft.com/office/drawing/2014/main" id="{1F9B6D92-4D54-45DE-B57E-D09EBE47011B}"/>
              </a:ext>
            </a:extLst>
          </p:cNvPr>
          <p:cNvSpPr>
            <a:spLocks xmlns:a="http://schemas.openxmlformats.org/drawingml/2006/main" noGrp="1"/>
          </p:cNvSpPr>
          <p:nvPr/>
        </p:nvSpPr>
        <p:spPr>
          <a:xfrm xmlns:a="http://schemas.openxmlformats.org/drawingml/2006/main">
            <a:off x="436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Measure: TCP error, coverage and interruptions</a:t>
            </a:r>
          </a:p>
        </p:txBody>
      </p:sp>
      <p:sp>
        <p:nvSpPr>
          <p:cNvPr id="11" name="">
            <a:extLst xmlns:a="http://schemas.openxmlformats.org/drawingml/2006/main">
              <a:ext uri="{FF2B5EF4-FFF2-40B4-BE49-F238E27FC236}">
                <a16:creationId xmlns:a16="http://schemas.microsoft.com/office/drawing/2014/main" id="{AC25AB6F-56FE-4460-B743-DE54B7EE539B}"/>
              </a:ext>
            </a:extLst>
          </p:cNvPr>
          <p:cNvSpPr>
            <a:spLocks xmlns:a="http://schemas.openxmlformats.org/drawingml/2006/main" noGrp="1"/>
          </p:cNvSpPr>
          <p:nvPr/>
        </p:nvSpPr>
        <p:spPr>
          <a:xfrm xmlns:a="http://schemas.openxmlformats.org/drawingml/2006/main">
            <a:off x="817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Reuse across robots</a:t>
            </a:r>
          </a:p>
        </p:txBody>
      </p:sp>
      <p:sp>
        <p:nvSpPr>
          <p:cNvPr id="12" name="">
            <a:extLst xmlns:a="http://schemas.openxmlformats.org/drawingml/2006/main">
              <a:ext uri="{FF2B5EF4-FFF2-40B4-BE49-F238E27FC236}">
                <a16:creationId xmlns:a16="http://schemas.microsoft.com/office/drawing/2014/main" id="{4A1B6966-DE25-4E8E-BB23-251BEFD335EF}"/>
              </a:ext>
            </a:extLst>
          </p:cNvPr>
          <p:cNvSpPr>
            <a:spLocks xmlns:a="http://schemas.openxmlformats.org/drawingml/2006/main" noGrp="1"/>
          </p:cNvSpPr>
          <p:nvPr/>
        </p:nvSpPr>
        <p:spPr>
          <a:xfrm xmlns:a="http://schemas.openxmlformats.org/drawingml/2006/main">
            <a:off x="817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Common interfaces with validated backend adapters.</a:t>
            </a:r>
          </a:p>
        </p:txBody>
      </p:sp>
      <p:sp>
        <p:nvSpPr>
          <p:cNvPr id="13" name="">
            <a:extLst xmlns:a="http://schemas.openxmlformats.org/drawingml/2006/main">
              <a:ext uri="{FF2B5EF4-FFF2-40B4-BE49-F238E27FC236}">
                <a16:creationId xmlns:a16="http://schemas.microsoft.com/office/drawing/2014/main" id="{B09DF0BD-9B51-4DD6-8D44-B68F59857046}"/>
              </a:ext>
            </a:extLst>
          </p:cNvPr>
          <p:cNvSpPr>
            <a:spLocks xmlns:a="http://schemas.openxmlformats.org/drawingml/2006/main" noGrp="1"/>
          </p:cNvSpPr>
          <p:nvPr/>
        </p:nvSpPr>
        <p:spPr>
          <a:xfrm xmlns:a="http://schemas.openxmlformats.org/drawingml/2006/main">
            <a:off x="817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Measure: integration effort for the next application</a:t>
            </a:r>
          </a:p>
        </p:txBody>
      </p:sp>
      <p:sp>
        <p:nvSpPr>
          <p:cNvPr id="14" name="">
            <a:extLst xmlns:a="http://schemas.openxmlformats.org/drawingml/2006/main">
              <a:ext uri="{FF2B5EF4-FFF2-40B4-BE49-F238E27FC236}">
                <a16:creationId xmlns:a16="http://schemas.microsoft.com/office/drawing/2014/main" id="{A0702559-A3FE-40FB-B2A7-9FE7DCAB529B}"/>
              </a:ext>
            </a:extLst>
          </p:cNvPr>
          <p:cNvSpPr>
            <a:spLocks xmlns:a="http://schemas.openxmlformats.org/drawingml/2006/main" noGrp="1"/>
          </p:cNvSpPr>
          <p:nvPr/>
        </p:nvSpPr>
        <p:spPr>
          <a:xfrm xmlns:a="http://schemas.openxmlformats.org/drawingml/2006/main">
            <a:off x="552450" y="6334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B5C8FF"/>
                </a:solidFill>
                <a:latin typeface="DejaVu Sans"/>
                <a:ea typeface="DejaVu Sans"/>
                <a:cs typeface="DejaVu Sans"/>
              </a:defRPr>
            </a:defPPr>
          </a:lstStyle>
          <a:p xmlns:a="http://schemas.openxmlformats.org/drawingml/2006/main">
            <a:pPr>
              <a:defRPr sz="1425" b="1">
                <a:solidFill>
                  <a:srgbClr val="B5C8FF"/>
                </a:solidFill>
                <a:latin typeface="DejaVu Sans"/>
                <a:ea typeface="DejaVu Sans"/>
                <a:cs typeface="DejaVu Sans"/>
              </a:defRPr>
            </a:pPr>
            <a:r>
              <a:rPr sz="1425" b="1">
                <a:solidFill>
                  <a:srgbClr val="B5C8FF"/>
                </a:solidFill>
                <a:latin typeface="DejaVu Sans"/>
                <a:ea typeface="DejaVu Sans"/>
                <a:cs typeface="DejaVu Sans"/>
              </a:rPr>
              <a:t>Manufacturing value, measured against agreed application targets.</a:t>
            </a:r>
          </a:p>
        </p:txBody>
      </p:sp>
    </p:spTree>
    <p:extLst>
      <p:ext uri="{BB962C8B-B14F-4D97-AF65-F5344CB8AC3E}">
        <p14:creationId xmlns:p14="http://schemas.microsoft.com/office/powerpoint/2010/main" val="1626075829"/>
      </p:ext>
    </p:extLst>
  </p:cSld>
</p:sld>
</file>

<file path=ppt/slides/slide1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20E7F05-06B9-4E75-8057-2ADBBC032E25}"/>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How planning automation can evolve</a:t>
            </a:r>
          </a:p>
        </p:txBody>
      </p:sp>
      <p:sp>
        <p:nvSpPr>
          <p:cNvPr id="2" name="">
            <a:extLst xmlns:a="http://schemas.openxmlformats.org/drawingml/2006/main">
              <a:ext uri="{FF2B5EF4-FFF2-40B4-BE49-F238E27FC236}">
                <a16:creationId xmlns:a16="http://schemas.microsoft.com/office/drawing/2014/main" id="{5CF5252C-2F67-4D8C-BD3A-CC32D29D83B8}"/>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11</a:t>
            </a:r>
          </a:p>
        </p:txBody>
      </p:sp>
      <p:sp>
        <p:nvSpPr>
          <p:cNvPr id="3" name="">
            <a:extLst xmlns:a="http://schemas.openxmlformats.org/drawingml/2006/main">
              <a:ext uri="{FF2B5EF4-FFF2-40B4-BE49-F238E27FC236}">
                <a16:creationId xmlns:a16="http://schemas.microsoft.com/office/drawing/2014/main" id="{16E5C1ED-6299-4FF7-BAEF-4696EA229F25}"/>
              </a:ext>
            </a:extLst>
          </p:cNvPr>
          <p:cNvSpPr>
            <a:spLocks xmlns:a="http://schemas.openxmlformats.org/drawingml/2006/main" noGrp="1"/>
          </p:cNvSpPr>
          <p:nvPr/>
        </p:nvSpPr>
        <p:spPr>
          <a:xfrm xmlns:a="http://schemas.openxmlformats.org/drawingml/2006/main">
            <a:off x="552450" y="11334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Build on offline-programming expertise as manufacturing needs evolve</a:t>
            </a:r>
          </a:p>
        </p:txBody>
      </p:sp>
      <p:sp>
        <p:nvSpPr>
          <p:cNvPr id="4" name="">
            <a:extLst xmlns:a="http://schemas.openxmlformats.org/drawingml/2006/main">
              <a:ext uri="{FF2B5EF4-FFF2-40B4-BE49-F238E27FC236}">
                <a16:creationId xmlns:a16="http://schemas.microsoft.com/office/drawing/2014/main" id="{308449E2-835F-473A-9131-B46B31577D0A}"/>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3143250" y="0"/>
                </a:moveTo>
                <a:lnTo>
                  <a:pt x="3143250" y="0"/>
                </a:lnTo>
                <a:lnTo>
                  <a:pt x="3879056" y="981075"/>
                </a:lnTo>
                <a:lnTo>
                  <a:pt x="2407444" y="981075"/>
                </a:lnTo>
                <a:close/>
              </a:path>
            </a:pathLst>
          </a:custGeom>
          <a:solidFill xmlns:a="http://schemas.openxmlformats.org/drawingml/2006/main">
            <a:srgbClr val="8B62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47826A1-7E8A-45DC-8EBF-9A67A469DD04}"/>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2357438" y="1047750"/>
                </a:moveTo>
                <a:lnTo>
                  <a:pt x="3929063" y="1047750"/>
                </a:lnTo>
                <a:lnTo>
                  <a:pt x="4664869" y="2028825"/>
                </a:lnTo>
                <a:lnTo>
                  <a:pt x="1621631" y="2028825"/>
                </a:lnTo>
                <a:close/>
              </a:path>
            </a:pathLst>
          </a:custGeom>
          <a:solidFill xmlns:a="http://schemas.openxmlformats.org/drawingml/2006/main">
            <a:srgbClr val="304D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3DDC870-9E98-4D3F-A050-2C0B764C805F}"/>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1571625" y="2095500"/>
                </a:moveTo>
                <a:lnTo>
                  <a:pt x="4714875" y="2095500"/>
                </a:lnTo>
                <a:lnTo>
                  <a:pt x="5450681" y="3076575"/>
                </a:lnTo>
                <a:lnTo>
                  <a:pt x="835819" y="3076575"/>
                </a:lnTo>
                <a:close/>
              </a:path>
            </a:pathLst>
          </a:custGeom>
          <a:solidFill xmlns:a="http://schemas.openxmlformats.org/drawingml/2006/main">
            <a:srgbClr val="355A9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B21990D-4DE9-40AA-B52D-0D0A8059CDCE}"/>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785813" y="3143250"/>
                </a:moveTo>
                <a:lnTo>
                  <a:pt x="5500688" y="3143250"/>
                </a:lnTo>
                <a:lnTo>
                  <a:pt x="6236494" y="4124325"/>
                </a:lnTo>
                <a:lnTo>
                  <a:pt x="50006" y="4124325"/>
                </a:lnTo>
                <a:close/>
              </a:path>
            </a:pathLst>
          </a:custGeom>
          <a:solidFill xmlns:a="http://schemas.openxmlformats.org/drawingml/2006/main">
            <a:srgbClr val="17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780A11D-1854-413D-9031-D1C3FC9FA0A3}"/>
              </a:ext>
            </a:extLst>
          </p:cNvPr>
          <p:cNvSpPr>
            <a:spLocks xmlns:a="http://schemas.openxmlformats.org/drawingml/2006/main" noGrp="1"/>
          </p:cNvSpPr>
          <p:nvPr/>
        </p:nvSpPr>
        <p:spPr>
          <a:xfrm xmlns:a="http://schemas.openxmlformats.org/drawingml/2006/main">
            <a:off x="3467100" y="221932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FFFFFF"/>
                </a:solidFill>
                <a:latin typeface="DejaVu Sans"/>
                <a:ea typeface="DejaVu Sans"/>
                <a:cs typeface="DejaVu Sans"/>
              </a:defRPr>
            </a:defPPr>
          </a:lstStyle>
          <a:p xmlns:a="http://schemas.openxmlformats.org/drawingml/2006/main">
            <a:pPr>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4</a:t>
            </a:r>
          </a:p>
        </p:txBody>
      </p:sp>
      <p:sp>
        <p:nvSpPr>
          <p:cNvPr id="9" name="">
            <a:extLst xmlns:a="http://schemas.openxmlformats.org/drawingml/2006/main">
              <a:ext uri="{FF2B5EF4-FFF2-40B4-BE49-F238E27FC236}">
                <a16:creationId xmlns:a16="http://schemas.microsoft.com/office/drawing/2014/main" id="{470F760B-23C5-42E4-A6A7-58DFDC385B83}"/>
              </a:ext>
            </a:extLst>
          </p:cNvPr>
          <p:cNvSpPr>
            <a:spLocks xmlns:a="http://schemas.openxmlformats.org/drawingml/2006/main" noGrp="1"/>
          </p:cNvSpPr>
          <p:nvPr/>
        </p:nvSpPr>
        <p:spPr>
          <a:xfrm xmlns:a="http://schemas.openxmlformats.org/drawingml/2006/main">
            <a:off x="2524125" y="32099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DejaVu Sans"/>
                <a:ea typeface="DejaVu Sans"/>
                <a:cs typeface="DejaVu Sans"/>
              </a:defRPr>
            </a:defPPr>
          </a:lstStyle>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3  Adaptive</a:t>
            </a:r>
          </a:p>
        </p:txBody>
      </p:sp>
      <p:sp>
        <p:nvSpPr>
          <p:cNvPr id="10" name="">
            <a:extLst xmlns:a="http://schemas.openxmlformats.org/drawingml/2006/main">
              <a:ext uri="{FF2B5EF4-FFF2-40B4-BE49-F238E27FC236}">
                <a16:creationId xmlns:a16="http://schemas.microsoft.com/office/drawing/2014/main" id="{A0E2328B-9832-4BF0-859D-197A6E71DAD7}"/>
              </a:ext>
            </a:extLst>
          </p:cNvPr>
          <p:cNvSpPr>
            <a:spLocks xmlns:a="http://schemas.openxmlformats.org/drawingml/2006/main" noGrp="1"/>
          </p:cNvSpPr>
          <p:nvPr/>
        </p:nvSpPr>
        <p:spPr>
          <a:xfrm xmlns:a="http://schemas.openxmlformats.org/drawingml/2006/main">
            <a:off x="1847850" y="42481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DejaVu Sans"/>
                <a:ea typeface="DejaVu Sans"/>
                <a:cs typeface="DejaVu Sans"/>
              </a:defRPr>
            </a:defPPr>
          </a:lstStyle>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2  Automatic planning</a:t>
            </a:r>
          </a:p>
        </p:txBody>
      </p:sp>
      <p:sp>
        <p:nvSpPr>
          <p:cNvPr id="11" name="">
            <a:extLst xmlns:a="http://schemas.openxmlformats.org/drawingml/2006/main">
              <a:ext uri="{FF2B5EF4-FFF2-40B4-BE49-F238E27FC236}">
                <a16:creationId xmlns:a16="http://schemas.microsoft.com/office/drawing/2014/main" id="{0522B16F-4F71-471D-991F-7AE4D3D6E50C}"/>
              </a:ext>
            </a:extLst>
          </p:cNvPr>
          <p:cNvSpPr>
            <a:spLocks xmlns:a="http://schemas.openxmlformats.org/drawingml/2006/main" noGrp="1"/>
          </p:cNvSpPr>
          <p:nvPr/>
        </p:nvSpPr>
        <p:spPr>
          <a:xfrm xmlns:a="http://schemas.openxmlformats.org/drawingml/2006/main">
            <a:off x="1514475" y="531495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ans"/>
                <a:ea typeface="DejaVu Sans"/>
                <a:cs typeface="DejaVu Sans"/>
              </a:defRPr>
            </a:defPPr>
          </a:lstStyle>
          <a:p xmlns:a="http://schemas.openxmlformats.org/drawingml/2006/main">
            <a:pPr>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1  Offline programming</a:t>
            </a:r>
          </a:p>
        </p:txBody>
      </p:sp>
      <p:pic>
        <p:nvPicPr>
          <p:cNvPr id="12" name="">
            <a:extLst xmlns:a="http://schemas.openxmlformats.org/drawingml/2006/main">
              <a:ext uri="{FF2B5EF4-FFF2-40B4-BE49-F238E27FC236}">
                <a16:creationId xmlns:a16="http://schemas.microsoft.com/office/drawing/2014/main" id="{7B31199A-9015-46C7-81E5-9CD4988C9B08}"/>
              </a:ext>
            </a:extLst>
          </p:cNvPr>
          <p:cNvPicPr>
            <a:picLocks xmlns:a="http://schemas.openxmlformats.org/drawingml/2006/main" noChangeAspect="1"/>
          </p:cNvPicPr>
          <p:nvPr/>
        </p:nvPicPr>
        <p:blipFill>
          <a:blip xmlns:r="http://schemas.openxmlformats.org/officeDocument/2006/relationships" xmlns:a="http://schemas.openxmlformats.org/drawingml/2006/main" r:embed="R3677b8f371444621"/>
          <a:srcRect xmlns:a="http://schemas.openxmlformats.org/drawingml/2006/main" l="50000" t="0" r="0" b="0"/>
          <a:stretch xmlns:a="http://schemas.openxmlformats.org/drawingml/2006/main"/>
        </p:blipFill>
        <p:spPr>
          <a:xfrm xmlns:a="http://schemas.openxmlformats.org/drawingml/2006/main">
            <a:off x="7239000" y="1647825"/>
            <a:ext cx="1428750" cy="86677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23981B28-96E3-45DE-BBA3-A0B412593670}"/>
              </a:ext>
            </a:extLst>
          </p:cNvPr>
          <p:cNvSpPr>
            <a:spLocks xmlns:a="http://schemas.openxmlformats.org/drawingml/2006/main" noGrp="1"/>
          </p:cNvSpPr>
          <p:nvPr/>
        </p:nvSpPr>
        <p:spPr>
          <a:xfrm xmlns:a="http://schemas.openxmlformats.org/drawingml/2006/main">
            <a:off x="8858250" y="167640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Task-level autonomy</a:t>
            </a:r>
          </a:p>
        </p:txBody>
      </p:sp>
      <p:sp>
        <p:nvSpPr>
          <p:cNvPr id="14" name="">
            <a:extLst xmlns:a="http://schemas.openxmlformats.org/drawingml/2006/main">
              <a:ext uri="{FF2B5EF4-FFF2-40B4-BE49-F238E27FC236}">
                <a16:creationId xmlns:a16="http://schemas.microsoft.com/office/drawing/2014/main" id="{FB063748-A0E1-4274-9A25-D2C3FD1D4EBA}"/>
              </a:ext>
            </a:extLst>
          </p:cNvPr>
          <p:cNvSpPr>
            <a:spLocks xmlns:a="http://schemas.openxmlformats.org/drawingml/2006/main" noGrp="1"/>
          </p:cNvSpPr>
          <p:nvPr/>
        </p:nvSpPr>
        <p:spPr>
          <a:xfrm xmlns:a="http://schemas.openxmlformats.org/drawingml/2006/main">
            <a:off x="8858250" y="210502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Selected tasks, bounded goals</a:t>
            </a:r>
          </a:p>
        </p:txBody>
      </p:sp>
      <p:pic>
        <p:nvPicPr>
          <p:cNvPr id="15" name="">
            <a:extLst xmlns:a="http://schemas.openxmlformats.org/drawingml/2006/main">
              <a:ext uri="{FF2B5EF4-FFF2-40B4-BE49-F238E27FC236}">
                <a16:creationId xmlns:a16="http://schemas.microsoft.com/office/drawing/2014/main" id="{CC022FC0-37FE-4C67-B771-55949B77829F}"/>
              </a:ext>
            </a:extLst>
          </p:cNvPr>
          <p:cNvPicPr>
            <a:picLocks xmlns:a="http://schemas.openxmlformats.org/drawingml/2006/main" noChangeAspect="1"/>
          </p:cNvPicPr>
          <p:nvPr/>
        </p:nvPicPr>
        <p:blipFill>
          <a:blip xmlns:r="http://schemas.openxmlformats.org/officeDocument/2006/relationships" xmlns:a="http://schemas.openxmlformats.org/drawingml/2006/main" r:embed="R1a60dac58e55499a"/>
          <a:srcRect xmlns:a="http://schemas.openxmlformats.org/drawingml/2006/main" l="0" t="0" r="50000" b="0"/>
          <a:stretch xmlns:a="http://schemas.openxmlformats.org/drawingml/2006/main"/>
        </p:blipFill>
        <p:spPr>
          <a:xfrm xmlns:a="http://schemas.openxmlformats.org/drawingml/2006/main">
            <a:off x="7239000" y="2695575"/>
            <a:ext cx="1428750" cy="8667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A79376E-D358-4E01-8AE2-A10FBB58FE32}"/>
              </a:ext>
            </a:extLst>
          </p:cNvPr>
          <p:cNvSpPr>
            <a:spLocks xmlns:a="http://schemas.openxmlformats.org/drawingml/2006/main" noGrp="1"/>
          </p:cNvSpPr>
          <p:nvPr/>
        </p:nvSpPr>
        <p:spPr>
          <a:xfrm xmlns:a="http://schemas.openxmlformats.org/drawingml/2006/main">
            <a:off x="8858250" y="2724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Adaptive execution</a:t>
            </a:r>
          </a:p>
        </p:txBody>
      </p:sp>
      <p:sp>
        <p:nvSpPr>
          <p:cNvPr id="17" name="">
            <a:extLst xmlns:a="http://schemas.openxmlformats.org/drawingml/2006/main">
              <a:ext uri="{FF2B5EF4-FFF2-40B4-BE49-F238E27FC236}">
                <a16:creationId xmlns:a16="http://schemas.microsoft.com/office/drawing/2014/main" id="{D87A24F7-C7F9-4A81-96B5-17FFFD9EDE33}"/>
              </a:ext>
            </a:extLst>
          </p:cNvPr>
          <p:cNvSpPr>
            <a:spLocks xmlns:a="http://schemas.openxmlformats.org/drawingml/2006/main" noGrp="1"/>
          </p:cNvSpPr>
          <p:nvPr/>
        </p:nvSpPr>
        <p:spPr>
          <a:xfrm xmlns:a="http://schemas.openxmlformats.org/drawingml/2006/main">
            <a:off x="8858250" y="315277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Feedback, correction and recovery</a:t>
            </a:r>
          </a:p>
        </p:txBody>
      </p:sp>
      <p:pic>
        <p:nvPicPr>
          <p:cNvPr id="18" name="">
            <a:extLst xmlns:a="http://schemas.openxmlformats.org/drawingml/2006/main">
              <a:ext uri="{FF2B5EF4-FFF2-40B4-BE49-F238E27FC236}">
                <a16:creationId xmlns:a16="http://schemas.microsoft.com/office/drawing/2014/main" id="{6B411494-A001-4422-A103-DF61855607C1}"/>
              </a:ext>
            </a:extLst>
          </p:cNvPr>
          <p:cNvPicPr>
            <a:picLocks xmlns:a="http://schemas.openxmlformats.org/drawingml/2006/main" noChangeAspect="1"/>
          </p:cNvPicPr>
          <p:nvPr/>
        </p:nvPicPr>
        <p:blipFill>
          <a:blip xmlns:r="http://schemas.openxmlformats.org/officeDocument/2006/relationships" xmlns:a="http://schemas.openxmlformats.org/drawingml/2006/main" r:embed="R62eae80194664777"/>
          <a:srcRect xmlns:a="http://schemas.openxmlformats.org/drawingml/2006/main" l="0" t="19667" r="0" b="19667"/>
          <a:stretch xmlns:a="http://schemas.openxmlformats.org/drawingml/2006/main">
            <a:fillRect l="0" t="0" r="0" b="0"/>
          </a:stretch>
        </p:blipFill>
        <p:spPr>
          <a:xfrm xmlns:a="http://schemas.openxmlformats.org/drawingml/2006/main">
            <a:off x="7239000" y="3743325"/>
            <a:ext cx="1428750" cy="86677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AF8835B4-D45B-457B-805B-F4E4592F8C67}"/>
              </a:ext>
            </a:extLst>
          </p:cNvPr>
          <p:cNvSpPr>
            <a:spLocks xmlns:a="http://schemas.openxmlformats.org/drawingml/2006/main" noGrp="1"/>
          </p:cNvSpPr>
          <p:nvPr/>
        </p:nvSpPr>
        <p:spPr>
          <a:xfrm xmlns:a="http://schemas.openxmlformats.org/drawingml/2006/main">
            <a:off x="8858250" y="377190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Automatic planning</a:t>
            </a:r>
          </a:p>
        </p:txBody>
      </p:sp>
      <p:sp>
        <p:nvSpPr>
          <p:cNvPr id="20" name="">
            <a:extLst xmlns:a="http://schemas.openxmlformats.org/drawingml/2006/main">
              <a:ext uri="{FF2B5EF4-FFF2-40B4-BE49-F238E27FC236}">
                <a16:creationId xmlns:a16="http://schemas.microsoft.com/office/drawing/2014/main" id="{8164D29B-0D07-4B3F-A6B7-6F992D5B5FBF}"/>
              </a:ext>
            </a:extLst>
          </p:cNvPr>
          <p:cNvSpPr>
            <a:spLocks xmlns:a="http://schemas.openxmlformats.org/drawingml/2006/main" noGrp="1"/>
          </p:cNvSpPr>
          <p:nvPr/>
        </p:nvSpPr>
        <p:spPr>
          <a:xfrm xmlns:a="http://schemas.openxmlformats.org/drawingml/2006/main">
            <a:off x="8858250" y="420052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Process inputs become robot motion</a:t>
            </a:r>
          </a:p>
        </p:txBody>
      </p:sp>
      <p:pic>
        <p:nvPicPr>
          <p:cNvPr id="21" name="">
            <a:extLst xmlns:a="http://schemas.openxmlformats.org/drawingml/2006/main">
              <a:ext uri="{FF2B5EF4-FFF2-40B4-BE49-F238E27FC236}">
                <a16:creationId xmlns:a16="http://schemas.microsoft.com/office/drawing/2014/main" id="{B6DB8548-40F0-41A5-A4FC-DE52B083BB35}"/>
              </a:ext>
            </a:extLst>
          </p:cNvPr>
          <p:cNvPicPr>
            <a:picLocks xmlns:a="http://schemas.openxmlformats.org/drawingml/2006/main" noChangeAspect="1"/>
          </p:cNvPicPr>
          <p:nvPr/>
        </p:nvPicPr>
        <p:blipFill>
          <a:blip xmlns:r="http://schemas.openxmlformats.org/officeDocument/2006/relationships" xmlns:a="http://schemas.openxmlformats.org/drawingml/2006/main" r:embed="R94592d1793f24e11"/>
          <a:srcRect xmlns:a="http://schemas.openxmlformats.org/drawingml/2006/main" l="22527" t="0" r="22527" b="0"/>
          <a:stretch xmlns:a="http://schemas.openxmlformats.org/drawingml/2006/main">
            <a:fillRect l="0" t="0" r="0" b="0"/>
          </a:stretch>
        </p:blipFill>
        <p:spPr>
          <a:xfrm xmlns:a="http://schemas.openxmlformats.org/drawingml/2006/main">
            <a:off x="7239000" y="4791075"/>
            <a:ext cx="1428750" cy="86677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D4F10CE6-2B0F-4764-AEC8-2E03B7DC8560}"/>
              </a:ext>
            </a:extLst>
          </p:cNvPr>
          <p:cNvSpPr>
            <a:spLocks xmlns:a="http://schemas.openxmlformats.org/drawingml/2006/main" noGrp="1"/>
          </p:cNvSpPr>
          <p:nvPr/>
        </p:nvSpPr>
        <p:spPr>
          <a:xfrm xmlns:a="http://schemas.openxmlformats.org/drawingml/2006/main">
            <a:off x="8858250" y="4819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Offline foundation</a:t>
            </a:r>
          </a:p>
        </p:txBody>
      </p:sp>
      <p:sp>
        <p:nvSpPr>
          <p:cNvPr id="23" name="">
            <a:extLst xmlns:a="http://schemas.openxmlformats.org/drawingml/2006/main">
              <a:ext uri="{FF2B5EF4-FFF2-40B4-BE49-F238E27FC236}">
                <a16:creationId xmlns:a16="http://schemas.microsoft.com/office/drawing/2014/main" id="{CF66AA97-CB1E-42FF-906F-CDCEB37212D0}"/>
              </a:ext>
            </a:extLst>
          </p:cNvPr>
          <p:cNvSpPr>
            <a:spLocks xmlns:a="http://schemas.openxmlformats.org/drawingml/2006/main" noGrp="1"/>
          </p:cNvSpPr>
          <p:nvPr/>
        </p:nvSpPr>
        <p:spPr>
          <a:xfrm xmlns:a="http://schemas.openxmlformats.org/drawingml/2006/main">
            <a:off x="8858250" y="524827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Prepared paths for known processes</a:t>
            </a:r>
          </a:p>
        </p:txBody>
      </p:sp>
      <p:sp>
        <p:nvSpPr>
          <p:cNvPr id="24" name="">
            <a:extLst xmlns:a="http://schemas.openxmlformats.org/drawingml/2006/main">
              <a:ext uri="{FF2B5EF4-FFF2-40B4-BE49-F238E27FC236}">
                <a16:creationId xmlns:a16="http://schemas.microsoft.com/office/drawing/2014/main" id="{F851DA1B-365F-47F4-A63F-FE14C3412AF0}"/>
              </a:ext>
            </a:extLst>
          </p:cNvPr>
          <p:cNvSpPr>
            <a:spLocks xmlns:a="http://schemas.openxmlformats.org/drawingml/2006/main" noGrp="1"/>
          </p:cNvSpPr>
          <p:nvPr/>
        </p:nvSpPr>
        <p:spPr>
          <a:xfrm xmlns:a="http://schemas.openxmlformats.org/drawingml/2006/main">
            <a:off x="552450" y="6238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Choose the level that delivers value for the application. Validate every step.</a:t>
            </a:r>
          </a:p>
        </p:txBody>
      </p:sp>
    </p:spTree>
    <p:extLst>
      <p:ext uri="{BB962C8B-B14F-4D97-AF65-F5344CB8AC3E}">
        <p14:creationId xmlns:p14="http://schemas.microsoft.com/office/powerpoint/2010/main" val="1967365901"/>
      </p:ext>
    </p:extLst>
  </p:cSld>
</p:sld>
</file>

<file path=ppt/slides/slide1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3B89404-85C1-4A74-8B4F-2551DCCC6368}"/>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More consistent preparation, built on expertise</a:t>
            </a:r>
          </a:p>
        </p:txBody>
      </p:sp>
      <p:sp>
        <p:nvSpPr>
          <p:cNvPr id="2" name="">
            <a:extLst xmlns:a="http://schemas.openxmlformats.org/drawingml/2006/main">
              <a:ext uri="{FF2B5EF4-FFF2-40B4-BE49-F238E27FC236}">
                <a16:creationId xmlns:a16="http://schemas.microsoft.com/office/drawing/2014/main" id="{1C852EEC-9DB0-446A-9136-E13EF9C01517}"/>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12</a:t>
            </a:r>
          </a:p>
        </p:txBody>
      </p:sp>
      <p:sp>
        <p:nvSpPr>
          <p:cNvPr id="3" name="">
            <a:extLst xmlns:a="http://schemas.openxmlformats.org/drawingml/2006/main">
              <a:ext uri="{FF2B5EF4-FFF2-40B4-BE49-F238E27FC236}">
                <a16:creationId xmlns:a16="http://schemas.microsoft.com/office/drawing/2014/main" id="{17D5E541-D1A9-498A-87FD-7E04852386C9}"/>
              </a:ext>
            </a:extLst>
          </p:cNvPr>
          <p:cNvSpPr>
            <a:spLocks xmlns:a="http://schemas.openxmlformats.org/drawingml/2006/main" noGrp="1"/>
          </p:cNvSpPr>
          <p:nvPr/>
        </p:nvSpPr>
        <p:spPr>
          <a:xfrm xmlns:a="http://schemas.openxmlformats.org/drawingml/2006/main">
            <a:off x="552450" y="1485900"/>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304DD9"/>
                </a:solidFill>
                <a:latin typeface="DejaVu Sans"/>
                <a:ea typeface="DejaVu Sans"/>
                <a:cs typeface="DejaVu Sans"/>
              </a:defRPr>
            </a:defPPr>
          </a:lstStyle>
          <a:p xmlns:a="http://schemas.openxmlformats.org/drawingml/2006/main">
            <a:pPr>
              <a:defRPr sz="1950" b="1">
                <a:solidFill>
                  <a:srgbClr val="304DD9"/>
                </a:solidFill>
                <a:latin typeface="DejaVu Sans"/>
                <a:ea typeface="DejaVu Sans"/>
                <a:cs typeface="DejaVu Sans"/>
              </a:defRPr>
            </a:pPr>
            <a:r>
              <a:rPr sz="1950" b="1">
                <a:solidFill>
                  <a:srgbClr val="304DD9"/>
                </a:solidFill>
                <a:latin typeface="DejaVu Sans"/>
                <a:ea typeface="DejaVu Sans"/>
                <a:cs typeface="DejaVu Sans"/>
              </a:rPr>
              <a:t>Manual / OLP / NC programming</a:t>
            </a:r>
          </a:p>
        </p:txBody>
      </p:sp>
      <p:sp>
        <p:nvSpPr>
          <p:cNvPr id="4" name="">
            <a:extLst xmlns:a="http://schemas.openxmlformats.org/drawingml/2006/main">
              <a:ext uri="{FF2B5EF4-FFF2-40B4-BE49-F238E27FC236}">
                <a16:creationId xmlns:a16="http://schemas.microsoft.com/office/drawing/2014/main" id="{14EAEFA2-0655-4C28-9E6B-90C95B383056}"/>
              </a:ext>
            </a:extLst>
          </p:cNvPr>
          <p:cNvSpPr>
            <a:spLocks xmlns:a="http://schemas.openxmlformats.org/drawingml/2006/main" noGrp="1"/>
          </p:cNvSpPr>
          <p:nvPr/>
        </p:nvSpPr>
        <p:spPr>
          <a:xfrm xmlns:a="http://schemas.openxmlformats.org/drawingml/2006/main">
            <a:off x="552450" y="2000250"/>
            <a:ext cx="638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Same panel. Preparation time can vary.</a:t>
            </a:r>
          </a:p>
        </p:txBody>
      </p:sp>
      <p:sp>
        <p:nvSpPr>
          <p:cNvPr id="5" name="">
            <a:extLst xmlns:a="http://schemas.openxmlformats.org/drawingml/2006/main">
              <a:ext uri="{FF2B5EF4-FFF2-40B4-BE49-F238E27FC236}">
                <a16:creationId xmlns:a16="http://schemas.microsoft.com/office/drawing/2014/main" id="{62183491-E6CB-4C54-B656-1FC734EA911B}"/>
              </a:ext>
            </a:extLst>
          </p:cNvPr>
          <p:cNvSpPr>
            <a:spLocks xmlns:a="http://schemas.openxmlformats.org/drawingml/2006/main" noGrp="1"/>
          </p:cNvSpPr>
          <p:nvPr/>
        </p:nvSpPr>
        <p:spPr>
          <a:xfrm xmlns:a="http://schemas.openxmlformats.org/drawingml/2006/main">
            <a:off x="733425" y="2524125"/>
            <a:ext cx="5286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Programming time</a:t>
            </a:r>
          </a:p>
        </p:txBody>
      </p:sp>
      <p:sp>
        <p:nvSpPr>
          <p:cNvPr id="6" name="">
            <a:extLst xmlns:a="http://schemas.openxmlformats.org/drawingml/2006/main">
              <a:ext uri="{FF2B5EF4-FFF2-40B4-BE49-F238E27FC236}">
                <a16:creationId xmlns:a16="http://schemas.microsoft.com/office/drawing/2014/main" id="{0BFEA74F-2E5D-417B-AFB4-95EDAF0206D9}"/>
              </a:ext>
            </a:extLst>
          </p:cNvPr>
          <p:cNvSpPr>
            <a:spLocks xmlns:a="http://schemas.openxmlformats.org/drawingml/2006/main" noGrp="1"/>
          </p:cNvSpPr>
          <p:nvPr/>
        </p:nvSpPr>
        <p:spPr>
          <a:xfrm xmlns:a="http://schemas.openxmlformats.org/drawingml/2006/main">
            <a:off x="847725" y="4886325"/>
            <a:ext cx="5429250" cy="28575"/>
          </a:xfrm>
          <a:prstGeom xmlns:a="http://schemas.openxmlformats.org/drawingml/2006/main" prst="rect">
            <a:avLst/>
          </a:prstGeom>
          <a:solidFill xmlns:a="http://schemas.openxmlformats.org/drawingml/2006/main">
            <a:srgbClr val="5C677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E9E2F69-7C8D-4A52-9F26-FDB26D2AE1A6}"/>
              </a:ext>
            </a:extLst>
          </p:cNvPr>
          <p:cNvSpPr>
            <a:spLocks xmlns:a="http://schemas.openxmlformats.org/drawingml/2006/main" noGrp="1"/>
          </p:cNvSpPr>
          <p:nvPr/>
        </p:nvSpPr>
        <p:spPr>
          <a:xfrm xmlns:a="http://schemas.openxmlformats.org/drawingml/2006/main">
            <a:off x="1200150" y="3648075"/>
            <a:ext cx="933450" cy="1238250"/>
          </a:xfrm>
          <a:prstGeom xmlns:a="http://schemas.openxmlformats.org/drawingml/2006/main" prst="rect">
            <a:avLst/>
          </a:prstGeom>
          <a:solidFill xmlns:a="http://schemas.openxmlformats.org/drawingml/2006/main">
            <a:srgbClr val="355A9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AE9602E-F541-4681-9AEF-ACF63590B865}"/>
              </a:ext>
            </a:extLst>
          </p:cNvPr>
          <p:cNvSpPr>
            <a:spLocks xmlns:a="http://schemas.openxmlformats.org/drawingml/2006/main" noGrp="1"/>
          </p:cNvSpPr>
          <p:nvPr/>
        </p:nvSpPr>
        <p:spPr>
          <a:xfrm xmlns:a="http://schemas.openxmlformats.org/drawingml/2006/main">
            <a:off x="962025" y="5019675"/>
            <a:ext cx="1590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2744"/>
                </a:solidFill>
                <a:latin typeface="DejaVu Sans"/>
                <a:ea typeface="DejaVu Sans"/>
                <a:cs typeface="DejaVu Sans"/>
              </a:defRPr>
            </a:defPPr>
          </a:lstStyle>
          <a:p xmlns:a="http://schemas.openxmlformats.org/drawingml/2006/main">
            <a:pPr>
              <a:defRPr sz="1575" b="1">
                <a:solidFill>
                  <a:srgbClr val="172744"/>
                </a:solidFill>
                <a:latin typeface="DejaVu Sans"/>
                <a:ea typeface="DejaVu Sans"/>
                <a:cs typeface="DejaVu Sans"/>
              </a:defRPr>
            </a:pPr>
            <a:r>
              <a:rPr sz="1575" b="1">
                <a:solidFill>
                  <a:srgbClr val="172744"/>
                </a:solidFill>
                <a:latin typeface="DejaVu Sans"/>
                <a:ea typeface="DejaVu Sans"/>
                <a:cs typeface="DejaVu Sans"/>
              </a:rPr>
              <a:t>Engineer A</a:t>
            </a:r>
          </a:p>
        </p:txBody>
      </p:sp>
      <p:sp>
        <p:nvSpPr>
          <p:cNvPr id="9" name="">
            <a:extLst xmlns:a="http://schemas.openxmlformats.org/drawingml/2006/main">
              <a:ext uri="{FF2B5EF4-FFF2-40B4-BE49-F238E27FC236}">
                <a16:creationId xmlns:a16="http://schemas.microsoft.com/office/drawing/2014/main" id="{E514BBDA-EE6F-4FAD-AFFF-D26CD98E8D08}"/>
              </a:ext>
            </a:extLst>
          </p:cNvPr>
          <p:cNvSpPr>
            <a:spLocks xmlns:a="http://schemas.openxmlformats.org/drawingml/2006/main" noGrp="1"/>
          </p:cNvSpPr>
          <p:nvPr/>
        </p:nvSpPr>
        <p:spPr>
          <a:xfrm xmlns:a="http://schemas.openxmlformats.org/drawingml/2006/main">
            <a:off x="2867025" y="2933700"/>
            <a:ext cx="933450" cy="195262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9CCA712-ACDC-46F9-9F62-FC484C398875}"/>
              </a:ext>
            </a:extLst>
          </p:cNvPr>
          <p:cNvSpPr>
            <a:spLocks xmlns:a="http://schemas.openxmlformats.org/drawingml/2006/main" noGrp="1"/>
          </p:cNvSpPr>
          <p:nvPr/>
        </p:nvSpPr>
        <p:spPr>
          <a:xfrm xmlns:a="http://schemas.openxmlformats.org/drawingml/2006/main">
            <a:off x="2628900" y="5019675"/>
            <a:ext cx="1590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2744"/>
                </a:solidFill>
                <a:latin typeface="DejaVu Sans"/>
                <a:ea typeface="DejaVu Sans"/>
                <a:cs typeface="DejaVu Sans"/>
              </a:defRPr>
            </a:defPPr>
          </a:lstStyle>
          <a:p xmlns:a="http://schemas.openxmlformats.org/drawingml/2006/main">
            <a:pPr>
              <a:defRPr sz="1575" b="1">
                <a:solidFill>
                  <a:srgbClr val="172744"/>
                </a:solidFill>
                <a:latin typeface="DejaVu Sans"/>
                <a:ea typeface="DejaVu Sans"/>
                <a:cs typeface="DejaVu Sans"/>
              </a:defRPr>
            </a:pPr>
            <a:r>
              <a:rPr sz="1575" b="1">
                <a:solidFill>
                  <a:srgbClr val="172744"/>
                </a:solidFill>
                <a:latin typeface="DejaVu Sans"/>
                <a:ea typeface="DejaVu Sans"/>
                <a:cs typeface="DejaVu Sans"/>
              </a:rPr>
              <a:t>Engineer B</a:t>
            </a:r>
          </a:p>
        </p:txBody>
      </p:sp>
      <p:sp>
        <p:nvSpPr>
          <p:cNvPr id="11" name="">
            <a:extLst xmlns:a="http://schemas.openxmlformats.org/drawingml/2006/main">
              <a:ext uri="{FF2B5EF4-FFF2-40B4-BE49-F238E27FC236}">
                <a16:creationId xmlns:a16="http://schemas.microsoft.com/office/drawing/2014/main" id="{A075F040-6D34-494B-8D28-C82FAD15704D}"/>
              </a:ext>
            </a:extLst>
          </p:cNvPr>
          <p:cNvSpPr>
            <a:spLocks xmlns:a="http://schemas.openxmlformats.org/drawingml/2006/main" noGrp="1"/>
          </p:cNvSpPr>
          <p:nvPr/>
        </p:nvSpPr>
        <p:spPr>
          <a:xfrm xmlns:a="http://schemas.openxmlformats.org/drawingml/2006/main">
            <a:off x="4533900" y="3314700"/>
            <a:ext cx="933450" cy="1571625"/>
          </a:xfrm>
          <a:prstGeom xmlns:a="http://schemas.openxmlformats.org/drawingml/2006/main" prst="rect">
            <a:avLst/>
          </a:prstGeom>
          <a:solidFill xmlns:a="http://schemas.openxmlformats.org/drawingml/2006/main">
            <a:srgbClr val="6686B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F666706-9450-41F1-B8BB-994FBF1FF48F}"/>
              </a:ext>
            </a:extLst>
          </p:cNvPr>
          <p:cNvSpPr>
            <a:spLocks xmlns:a="http://schemas.openxmlformats.org/drawingml/2006/main" noGrp="1"/>
          </p:cNvSpPr>
          <p:nvPr/>
        </p:nvSpPr>
        <p:spPr>
          <a:xfrm xmlns:a="http://schemas.openxmlformats.org/drawingml/2006/main">
            <a:off x="4295775" y="5019675"/>
            <a:ext cx="1590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2744"/>
                </a:solidFill>
                <a:latin typeface="DejaVu Sans"/>
                <a:ea typeface="DejaVu Sans"/>
                <a:cs typeface="DejaVu Sans"/>
              </a:defRPr>
            </a:defPPr>
          </a:lstStyle>
          <a:p xmlns:a="http://schemas.openxmlformats.org/drawingml/2006/main">
            <a:pPr>
              <a:defRPr sz="1575" b="1">
                <a:solidFill>
                  <a:srgbClr val="172744"/>
                </a:solidFill>
                <a:latin typeface="DejaVu Sans"/>
                <a:ea typeface="DejaVu Sans"/>
                <a:cs typeface="DejaVu Sans"/>
              </a:defRPr>
            </a:pPr>
            <a:r>
              <a:rPr sz="1575" b="1">
                <a:solidFill>
                  <a:srgbClr val="172744"/>
                </a:solidFill>
                <a:latin typeface="DejaVu Sans"/>
                <a:ea typeface="DejaVu Sans"/>
                <a:cs typeface="DejaVu Sans"/>
              </a:rPr>
              <a:t>Engineer C</a:t>
            </a:r>
          </a:p>
        </p:txBody>
      </p:sp>
      <p:sp>
        <p:nvSpPr>
          <p:cNvPr id="13" name="">
            <a:extLst xmlns:a="http://schemas.openxmlformats.org/drawingml/2006/main">
              <a:ext uri="{FF2B5EF4-FFF2-40B4-BE49-F238E27FC236}">
                <a16:creationId xmlns:a16="http://schemas.microsoft.com/office/drawing/2014/main" id="{9CD62835-4F21-40EE-9E75-E6E9BCB2D796}"/>
              </a:ext>
            </a:extLst>
          </p:cNvPr>
          <p:cNvSpPr>
            <a:spLocks xmlns:a="http://schemas.openxmlformats.org/drawingml/2006/main" noGrp="1"/>
          </p:cNvSpPr>
          <p:nvPr/>
        </p:nvSpPr>
        <p:spPr>
          <a:xfrm xmlns:a="http://schemas.openxmlformats.org/drawingml/2006/main">
            <a:off x="733425" y="5543550"/>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Illustrative only; not measured hours.</a:t>
            </a:r>
          </a:p>
        </p:txBody>
      </p:sp>
      <p:pic>
        <p:nvPicPr>
          <p:cNvPr id="14" name="">
            <a:extLst xmlns:a="http://schemas.openxmlformats.org/drawingml/2006/main">
              <a:ext uri="{FF2B5EF4-FFF2-40B4-BE49-F238E27FC236}">
                <a16:creationId xmlns:a16="http://schemas.microsoft.com/office/drawing/2014/main" id="{ED460FCE-CCAC-4719-BE4C-D99BF16468D8}"/>
              </a:ext>
            </a:extLst>
          </p:cNvPr>
          <p:cNvPicPr>
            <a:picLocks xmlns:a="http://schemas.openxmlformats.org/drawingml/2006/main" noChangeAspect="1"/>
          </p:cNvPicPr>
          <p:nvPr/>
        </p:nvPicPr>
        <p:blipFill>
          <a:blip xmlns:r="http://schemas.openxmlformats.org/officeDocument/2006/relationships" xmlns:a="http://schemas.openxmlformats.org/drawingml/2006/main" r:embed="Reb9688bb27ad4f5c"/>
          <a:srcRect xmlns:a="http://schemas.openxmlformats.org/drawingml/2006/main" l="0" t="0" r="66700" b="0"/>
          <a:stretch xmlns:a="http://schemas.openxmlformats.org/drawingml/2006/main"/>
        </p:blipFill>
        <p:spPr>
          <a:xfrm xmlns:a="http://schemas.openxmlformats.org/drawingml/2006/main">
            <a:off x="8067675" y="1581150"/>
            <a:ext cx="2238375" cy="22383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11588466-83DB-4141-B963-645B6F2F8FEA}"/>
              </a:ext>
            </a:extLst>
          </p:cNvPr>
          <p:cNvSpPr>
            <a:spLocks xmlns:a="http://schemas.openxmlformats.org/drawingml/2006/main" noGrp="1"/>
          </p:cNvSpPr>
          <p:nvPr/>
        </p:nvSpPr>
        <p:spPr>
          <a:xfrm xmlns:a="http://schemas.openxmlformats.org/drawingml/2006/main">
            <a:off x="7229475" y="3952875"/>
            <a:ext cx="4429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Capture expertise</a:t>
            </a:r>
          </a:p>
        </p:txBody>
      </p:sp>
      <p:sp>
        <p:nvSpPr>
          <p:cNvPr id="16" name="">
            <a:extLst xmlns:a="http://schemas.openxmlformats.org/drawingml/2006/main">
              <a:ext uri="{FF2B5EF4-FFF2-40B4-BE49-F238E27FC236}">
                <a16:creationId xmlns:a16="http://schemas.microsoft.com/office/drawing/2014/main" id="{8B8DF071-CEC3-468D-B93F-6D8997FA0F92}"/>
              </a:ext>
            </a:extLst>
          </p:cNvPr>
          <p:cNvSpPr>
            <a:spLocks xmlns:a="http://schemas.openxmlformats.org/drawingml/2006/main" noGrp="1"/>
          </p:cNvSpPr>
          <p:nvPr/>
        </p:nvSpPr>
        <p:spPr>
          <a:xfrm xmlns:a="http://schemas.openxmlformats.org/drawingml/2006/main">
            <a:off x="7229475" y="4562475"/>
            <a:ext cx="4429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Reuse proven methods</a:t>
            </a:r>
          </a:p>
        </p:txBody>
      </p:sp>
      <p:sp>
        <p:nvSpPr>
          <p:cNvPr id="17" name="">
            <a:extLst xmlns:a="http://schemas.openxmlformats.org/drawingml/2006/main">
              <a:ext uri="{FF2B5EF4-FFF2-40B4-BE49-F238E27FC236}">
                <a16:creationId xmlns:a16="http://schemas.microsoft.com/office/drawing/2014/main" id="{595A3F7C-3AD9-40D4-AD56-F73B7620B5B4}"/>
              </a:ext>
            </a:extLst>
          </p:cNvPr>
          <p:cNvSpPr>
            <a:spLocks xmlns:a="http://schemas.openxmlformats.org/drawingml/2006/main" noGrp="1"/>
          </p:cNvSpPr>
          <p:nvPr/>
        </p:nvSpPr>
        <p:spPr>
          <a:xfrm xmlns:a="http://schemas.openxmlformats.org/drawingml/2006/main">
            <a:off x="7229475" y="5172075"/>
            <a:ext cx="4429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Make effort predictable</a:t>
            </a:r>
          </a:p>
        </p:txBody>
      </p:sp>
      <p:sp>
        <p:nvSpPr>
          <p:cNvPr id="18" name="">
            <a:extLst xmlns:a="http://schemas.openxmlformats.org/drawingml/2006/main">
              <a:ext uri="{FF2B5EF4-FFF2-40B4-BE49-F238E27FC236}">
                <a16:creationId xmlns:a16="http://schemas.microsoft.com/office/drawing/2014/main" id="{0769BC32-FDA3-4C57-89CA-8E7FB0334143}"/>
              </a:ext>
            </a:extLst>
          </p:cNvPr>
          <p:cNvSpPr>
            <a:spLocks xmlns:a="http://schemas.openxmlformats.org/drawingml/2006/main" noGrp="1"/>
          </p:cNvSpPr>
          <p:nvPr/>
        </p:nvSpPr>
        <p:spPr>
          <a:xfrm xmlns:a="http://schemas.openxmlformats.org/drawingml/2006/main">
            <a:off x="552450" y="62103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More engineering capacity for new applications and process improvements.</a:t>
            </a:r>
          </a:p>
        </p:txBody>
      </p:sp>
    </p:spTree>
    <p:extLst>
      <p:ext uri="{BB962C8B-B14F-4D97-AF65-F5344CB8AC3E}">
        <p14:creationId xmlns:p14="http://schemas.microsoft.com/office/powerpoint/2010/main" val="695232121"/>
      </p:ext>
    </p:extLst>
  </p:cSld>
</p:sld>
</file>

<file path=ppt/slides/slide1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4F5A817-902E-4E0E-9178-00EB7F8030F3}"/>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One platform. Different tasks. Shared capabilities.</a:t>
            </a:r>
          </a:p>
        </p:txBody>
      </p:sp>
      <p:sp>
        <p:nvSpPr>
          <p:cNvPr id="2" name="">
            <a:extLst xmlns:a="http://schemas.openxmlformats.org/drawingml/2006/main">
              <a:ext uri="{FF2B5EF4-FFF2-40B4-BE49-F238E27FC236}">
                <a16:creationId xmlns:a16="http://schemas.microsoft.com/office/drawing/2014/main" id="{7FA47E66-CE3A-4F70-84BB-4F5A67A4237A}"/>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13</a:t>
            </a:r>
          </a:p>
        </p:txBody>
      </p:sp>
      <p:sp>
        <p:nvSpPr>
          <p:cNvPr id="3" name="">
            <a:extLst xmlns:a="http://schemas.openxmlformats.org/drawingml/2006/main">
              <a:ext uri="{FF2B5EF4-FFF2-40B4-BE49-F238E27FC236}">
                <a16:creationId xmlns:a16="http://schemas.microsoft.com/office/drawing/2014/main" id="{9435E09A-0517-4DE1-85DC-D644A0E0D5D4}"/>
              </a:ext>
            </a:extLst>
          </p:cNvPr>
          <p:cNvSpPr>
            <a:spLocks xmlns:a="http://schemas.openxmlformats.org/drawingml/2006/main" noGrp="1"/>
          </p:cNvSpPr>
          <p:nvPr/>
        </p:nvSpPr>
        <p:spPr>
          <a:xfrm xmlns:a="http://schemas.openxmlformats.org/drawingml/2006/main">
            <a:off x="552450" y="1647825"/>
            <a:ext cx="2990850" cy="4181475"/>
          </a:xfrm>
          <a:prstGeom xmlns:a="http://schemas.openxmlformats.org/drawingml/2006/main" prst="roundRect">
            <a:avLst>
              <a:gd name="adj" fmla="val 7643"/>
            </a:avLst>
          </a:prstGeom>
          <a:solidFill xmlns:a="http://schemas.openxmlformats.org/drawingml/2006/main">
            <a:srgbClr val="17274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AC6D5C-10E7-49D2-8069-AB376C0F30D2}"/>
              </a:ext>
            </a:extLst>
          </p:cNvPr>
          <p:cNvSpPr>
            <a:spLocks xmlns:a="http://schemas.openxmlformats.org/drawingml/2006/main" noGrp="1"/>
          </p:cNvSpPr>
          <p:nvPr/>
        </p:nvSpPr>
        <p:spPr>
          <a:xfrm xmlns:a="http://schemas.openxmlformats.org/drawingml/2006/main">
            <a:off x="685800" y="1828800"/>
            <a:ext cx="2724150" cy="3733800"/>
          </a:xfrm>
          <a:prstGeom xmlns:a="http://schemas.openxmlformats.org/drawingml/2006/main" prst="roundRect">
            <a:avLst>
              <a:gd name="adj" fmla="val 4545"/>
            </a:avLst>
          </a:prstGeom>
          <a:solidFill xmlns:a="http://schemas.openxmlformats.org/drawingml/2006/main">
            <a:srgbClr val="FAF8F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89CABF-2C98-4998-9727-8BACE2F86BA9}"/>
              </a:ext>
            </a:extLst>
          </p:cNvPr>
          <p:cNvSpPr>
            <a:spLocks xmlns:a="http://schemas.openxmlformats.org/drawingml/2006/main" noGrp="1"/>
          </p:cNvSpPr>
          <p:nvPr/>
        </p:nvSpPr>
        <p:spPr>
          <a:xfrm xmlns:a="http://schemas.openxmlformats.org/drawingml/2006/main">
            <a:off x="866775" y="1981200"/>
            <a:ext cx="2362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72744"/>
                </a:solidFill>
                <a:latin typeface="DejaVu Sans"/>
                <a:ea typeface="DejaVu Sans"/>
                <a:cs typeface="DejaVu Sans"/>
              </a:defRPr>
            </a:defPPr>
          </a:lstStyle>
          <a:p xmlns:a="http://schemas.openxmlformats.org/drawingml/2006/main">
            <a:pPr>
              <a:defRPr sz="1950" b="1">
                <a:solidFill>
                  <a:srgbClr val="172744"/>
                </a:solidFill>
                <a:latin typeface="DejaVu Sans"/>
                <a:ea typeface="DejaVu Sans"/>
                <a:cs typeface="DejaVu Sans"/>
              </a:defRPr>
            </a:pPr>
            <a:r>
              <a:rPr sz="1950" b="1">
                <a:solidFill>
                  <a:srgbClr val="172744"/>
                </a:solidFill>
                <a:latin typeface="DejaVu Sans"/>
                <a:ea typeface="DejaVu Sans"/>
                <a:cs typeface="DejaVu Sans"/>
              </a:rPr>
              <a:t>ONE PHONE</a:t>
            </a:r>
          </a:p>
        </p:txBody>
      </p:sp>
      <p:pic>
        <p:nvPicPr>
          <p:cNvPr id="6" name="">
            <a:extLst xmlns:a="http://schemas.openxmlformats.org/drawingml/2006/main">
              <a:ext uri="{FF2B5EF4-FFF2-40B4-BE49-F238E27FC236}">
                <a16:creationId xmlns:a16="http://schemas.microsoft.com/office/drawing/2014/main" id="{8F41DA3B-A502-4758-8726-2E49F29DF285}"/>
              </a:ext>
            </a:extLst>
          </p:cNvPr>
          <p:cNvPicPr>
            <a:picLocks xmlns:a="http://schemas.openxmlformats.org/drawingml/2006/main" noChangeAspect="1"/>
          </p:cNvPicPr>
          <p:nvPr/>
        </p:nvPicPr>
        <p:blipFill>
          <a:blip xmlns:r="http://schemas.openxmlformats.org/officeDocument/2006/relationships" xmlns:a="http://schemas.openxmlformats.org/drawingml/2006/main" r:embed="R29b8c8949e02465a"/>
          <a:srcRect xmlns:a="http://schemas.openxmlformats.org/drawingml/2006/main" l="0" t="0" r="66667" b="0"/>
          <a:stretch xmlns:a="http://schemas.openxmlformats.org/drawingml/2006/main"/>
        </p:blipFill>
        <p:spPr>
          <a:xfrm xmlns:a="http://schemas.openxmlformats.org/drawingml/2006/main">
            <a:off x="838200" y="2524125"/>
            <a:ext cx="809625" cy="7334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6853207-4414-4289-9C8A-65EB40739A61}"/>
              </a:ext>
            </a:extLst>
          </p:cNvPr>
          <p:cNvSpPr>
            <a:spLocks xmlns:a="http://schemas.openxmlformats.org/drawingml/2006/main" noGrp="1"/>
          </p:cNvSpPr>
          <p:nvPr/>
        </p:nvSpPr>
        <p:spPr>
          <a:xfrm xmlns:a="http://schemas.openxmlformats.org/drawingml/2006/main">
            <a:off x="1714500" y="2695575"/>
            <a:ext cx="1581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Banking</a:t>
            </a:r>
          </a:p>
        </p:txBody>
      </p:sp>
      <p:pic>
        <p:nvPicPr>
          <p:cNvPr id="8" name="">
            <a:extLst xmlns:a="http://schemas.openxmlformats.org/drawingml/2006/main">
              <a:ext uri="{FF2B5EF4-FFF2-40B4-BE49-F238E27FC236}">
                <a16:creationId xmlns:a16="http://schemas.microsoft.com/office/drawing/2014/main" id="{41A5E2EF-9529-4C81-BEE1-6543FC0C253D}"/>
              </a:ext>
            </a:extLst>
          </p:cNvPr>
          <p:cNvPicPr>
            <a:picLocks xmlns:a="http://schemas.openxmlformats.org/drawingml/2006/main" noChangeAspect="1"/>
          </p:cNvPicPr>
          <p:nvPr/>
        </p:nvPicPr>
        <p:blipFill>
          <a:blip xmlns:r="http://schemas.openxmlformats.org/officeDocument/2006/relationships" xmlns:a="http://schemas.openxmlformats.org/drawingml/2006/main" r:embed="R0228719203854ca3"/>
          <a:srcRect xmlns:a="http://schemas.openxmlformats.org/drawingml/2006/main" l="33333" t="0" r="33333" b="0"/>
          <a:stretch xmlns:a="http://schemas.openxmlformats.org/drawingml/2006/main"/>
        </p:blipFill>
        <p:spPr>
          <a:xfrm xmlns:a="http://schemas.openxmlformats.org/drawingml/2006/main">
            <a:off x="838200" y="3400425"/>
            <a:ext cx="809625" cy="7334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E57B7E1-2A6E-4EF0-813E-8666BBD065E8}"/>
              </a:ext>
            </a:extLst>
          </p:cNvPr>
          <p:cNvSpPr>
            <a:spLocks xmlns:a="http://schemas.openxmlformats.org/drawingml/2006/main" noGrp="1"/>
          </p:cNvSpPr>
          <p:nvPr/>
        </p:nvSpPr>
        <p:spPr>
          <a:xfrm xmlns:a="http://schemas.openxmlformats.org/drawingml/2006/main">
            <a:off x="1714500" y="3571875"/>
            <a:ext cx="1581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Shopping</a:t>
            </a:r>
          </a:p>
        </p:txBody>
      </p:sp>
      <p:pic>
        <p:nvPicPr>
          <p:cNvPr id="10" name="">
            <a:extLst xmlns:a="http://schemas.openxmlformats.org/drawingml/2006/main">
              <a:ext uri="{FF2B5EF4-FFF2-40B4-BE49-F238E27FC236}">
                <a16:creationId xmlns:a16="http://schemas.microsoft.com/office/drawing/2014/main" id="{F3D8FB8A-E6C0-4786-8718-A1051BF8BC84}"/>
              </a:ext>
            </a:extLst>
          </p:cNvPr>
          <p:cNvPicPr>
            <a:picLocks xmlns:a="http://schemas.openxmlformats.org/drawingml/2006/main" noChangeAspect="1"/>
          </p:cNvPicPr>
          <p:nvPr/>
        </p:nvPicPr>
        <p:blipFill>
          <a:blip xmlns:r="http://schemas.openxmlformats.org/officeDocument/2006/relationships" xmlns:a="http://schemas.openxmlformats.org/drawingml/2006/main" r:embed="Rebcd46b60aa142f7"/>
          <a:srcRect xmlns:a="http://schemas.openxmlformats.org/drawingml/2006/main" l="66667" t="0" r="0" b="0"/>
          <a:stretch xmlns:a="http://schemas.openxmlformats.org/drawingml/2006/main"/>
        </p:blipFill>
        <p:spPr>
          <a:xfrm xmlns:a="http://schemas.openxmlformats.org/drawingml/2006/main">
            <a:off x="838200" y="4276725"/>
            <a:ext cx="809625" cy="7334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8F236CE-CB74-4C41-AAAB-DC313EA69DED}"/>
              </a:ext>
            </a:extLst>
          </p:cNvPr>
          <p:cNvSpPr>
            <a:spLocks xmlns:a="http://schemas.openxmlformats.org/drawingml/2006/main" noGrp="1"/>
          </p:cNvSpPr>
          <p:nvPr/>
        </p:nvSpPr>
        <p:spPr>
          <a:xfrm xmlns:a="http://schemas.openxmlformats.org/drawingml/2006/main">
            <a:off x="1714500" y="4448175"/>
            <a:ext cx="1581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Navigation</a:t>
            </a:r>
          </a:p>
        </p:txBody>
      </p:sp>
      <p:sp>
        <p:nvSpPr>
          <p:cNvPr id="12" name="">
            <a:extLst xmlns:a="http://schemas.openxmlformats.org/drawingml/2006/main">
              <a:ext uri="{FF2B5EF4-FFF2-40B4-BE49-F238E27FC236}">
                <a16:creationId xmlns:a16="http://schemas.microsoft.com/office/drawing/2014/main" id="{120D0458-2E2B-4EEB-BCC3-0D0B3C962996}"/>
              </a:ext>
            </a:extLst>
          </p:cNvPr>
          <p:cNvSpPr>
            <a:spLocks xmlns:a="http://schemas.openxmlformats.org/drawingml/2006/main" noGrp="1"/>
          </p:cNvSpPr>
          <p:nvPr/>
        </p:nvSpPr>
        <p:spPr>
          <a:xfrm xmlns:a="http://schemas.openxmlformats.org/drawingml/2006/main">
            <a:off x="866775" y="5295900"/>
            <a:ext cx="2447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72744"/>
                </a:solidFill>
                <a:latin typeface="DejaVu Sans"/>
                <a:ea typeface="DejaVu Sans"/>
                <a:cs typeface="DejaVu Sans"/>
              </a:defRPr>
            </a:defPPr>
          </a:lstStyle>
          <a:p xmlns:a="http://schemas.openxmlformats.org/drawingml/2006/main">
            <a:pPr>
              <a:defRPr sz="1425" b="1">
                <a:solidFill>
                  <a:srgbClr val="172744"/>
                </a:solidFill>
                <a:latin typeface="DejaVu Sans"/>
                <a:ea typeface="DejaVu Sans"/>
                <a:cs typeface="DejaVu Sans"/>
              </a:defRPr>
            </a:pPr>
            <a:r>
              <a:rPr sz="1425" b="1">
                <a:solidFill>
                  <a:srgbClr val="172744"/>
                </a:solidFill>
                <a:latin typeface="DejaVu Sans"/>
                <a:ea typeface="DejaVu Sans"/>
                <a:cs typeface="DejaVu Sans"/>
              </a:rPr>
              <a:t>Common services</a:t>
            </a:r>
          </a:p>
        </p:txBody>
      </p:sp>
      <p:sp>
        <p:nvSpPr>
          <p:cNvPr id="13" name="">
            <a:extLst xmlns:a="http://schemas.openxmlformats.org/drawingml/2006/main">
              <a:ext uri="{FF2B5EF4-FFF2-40B4-BE49-F238E27FC236}">
                <a16:creationId xmlns:a16="http://schemas.microsoft.com/office/drawing/2014/main" id="{102A2EAA-1019-4C2B-9140-FC4F7FE5F982}"/>
              </a:ext>
            </a:extLst>
          </p:cNvPr>
          <p:cNvSpPr>
            <a:spLocks xmlns:a="http://schemas.openxmlformats.org/drawingml/2006/main" noGrp="1"/>
          </p:cNvSpPr>
          <p:nvPr/>
        </p:nvSpPr>
        <p:spPr>
          <a:xfrm xmlns:a="http://schemas.openxmlformats.org/drawingml/2006/main">
            <a:off x="3705225" y="3448050"/>
            <a:ext cx="447675" cy="323850"/>
          </a:xfrm>
          <a:prstGeom xmlns:a="http://schemas.openxmlformats.org/drawingml/2006/main" prst="rightArrow">
            <a:avLst/>
          </a:prstGeom>
          <a:solidFill xmlns:a="http://schemas.openxmlformats.org/drawingml/2006/main">
            <a:srgbClr val="304DD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69C1508-6679-43FE-BE21-656CC1A5D192}"/>
              </a:ext>
            </a:extLst>
          </p:cNvPr>
          <p:cNvSpPr>
            <a:spLocks xmlns:a="http://schemas.openxmlformats.org/drawingml/2006/main" noGrp="1"/>
          </p:cNvSpPr>
          <p:nvPr/>
        </p:nvSpPr>
        <p:spPr>
          <a:xfrm xmlns:a="http://schemas.openxmlformats.org/drawingml/2006/main">
            <a:off x="4305300" y="1647825"/>
            <a:ext cx="7353300" cy="4181475"/>
          </a:xfrm>
          <a:prstGeom xmlns:a="http://schemas.openxmlformats.org/drawingml/2006/main" prst="roundRect">
            <a:avLst>
              <a:gd name="adj" fmla="val 5467"/>
            </a:avLst>
          </a:prstGeom>
          <a:solidFill xmlns:a="http://schemas.openxmlformats.org/drawingml/2006/main">
            <a:srgbClr val="17274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236E186-AD12-4E19-B8D0-9713C0E8294B}"/>
              </a:ext>
            </a:extLst>
          </p:cNvPr>
          <p:cNvSpPr>
            <a:spLocks xmlns:a="http://schemas.openxmlformats.org/drawingml/2006/main" noGrp="1"/>
          </p:cNvSpPr>
          <p:nvPr/>
        </p:nvSpPr>
        <p:spPr>
          <a:xfrm xmlns:a="http://schemas.openxmlformats.org/drawingml/2006/main">
            <a:off x="4438650" y="1781175"/>
            <a:ext cx="7086600" cy="3914775"/>
          </a:xfrm>
          <a:prstGeom xmlns:a="http://schemas.openxmlformats.org/drawingml/2006/main" prst="roundRect">
            <a:avLst>
              <a:gd name="adj" fmla="val 3163"/>
            </a:avLst>
          </a:prstGeom>
          <a:solidFill xmlns:a="http://schemas.openxmlformats.org/drawingml/2006/main">
            <a:srgbClr val="FAF8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1CC63CE-DC47-4265-B954-42D5BC661D42}"/>
              </a:ext>
            </a:extLst>
          </p:cNvPr>
          <p:cNvSpPr>
            <a:spLocks xmlns:a="http://schemas.openxmlformats.org/drawingml/2006/main" noGrp="1"/>
          </p:cNvSpPr>
          <p:nvPr/>
        </p:nvSpPr>
        <p:spPr>
          <a:xfrm xmlns:a="http://schemas.openxmlformats.org/drawingml/2006/main">
            <a:off x="4600575" y="1885950"/>
            <a:ext cx="676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2744"/>
                </a:solidFill>
                <a:latin typeface="DejaVu Sans"/>
                <a:ea typeface="DejaVu Sans"/>
                <a:cs typeface="DejaVu Sans"/>
              </a:defRPr>
            </a:defPPr>
          </a:lstStyle>
          <a:p xmlns:a="http://schemas.openxmlformats.org/drawingml/2006/main">
            <a:pPr>
              <a:defRPr sz="2025" b="1">
                <a:solidFill>
                  <a:srgbClr val="172744"/>
                </a:solidFill>
                <a:latin typeface="DejaVu Sans"/>
                <a:ea typeface="DejaVu Sans"/>
                <a:cs typeface="DejaVu Sans"/>
              </a:defRPr>
            </a:pPr>
            <a:r>
              <a:rPr sz="2025" b="1">
                <a:solidFill>
                  <a:srgbClr val="172744"/>
                </a:solidFill>
                <a:latin typeface="DejaVu Sans"/>
                <a:ea typeface="DejaVu Sans"/>
                <a:cs typeface="DejaVu Sans"/>
              </a:rPr>
              <a:t>ONE ROBOTICS PLATFORM</a:t>
            </a:r>
          </a:p>
        </p:txBody>
      </p:sp>
      <p:pic>
        <p:nvPicPr>
          <p:cNvPr id="17" name="">
            <a:extLst xmlns:a="http://schemas.openxmlformats.org/drawingml/2006/main">
              <a:ext uri="{FF2B5EF4-FFF2-40B4-BE49-F238E27FC236}">
                <a16:creationId xmlns:a16="http://schemas.microsoft.com/office/drawing/2014/main" id="{996F6C24-5426-4474-9415-1001DE2B7F56}"/>
              </a:ext>
            </a:extLst>
          </p:cNvPr>
          <p:cNvPicPr>
            <a:picLocks xmlns:a="http://schemas.openxmlformats.org/drawingml/2006/main" noChangeAspect="1"/>
          </p:cNvPicPr>
          <p:nvPr/>
        </p:nvPicPr>
        <p:blipFill>
          <a:blip xmlns:r="http://schemas.openxmlformats.org/officeDocument/2006/relationships" xmlns:a="http://schemas.openxmlformats.org/drawingml/2006/main" r:embed="R84c6afbbb21a41d0"/>
          <a:srcRect xmlns:a="http://schemas.openxmlformats.org/drawingml/2006/main" l="0" t="0" r="66667" b="50000"/>
          <a:stretch xmlns:a="http://schemas.openxmlformats.org/drawingml/2006/main"/>
        </p:blipFill>
        <p:spPr>
          <a:xfrm xmlns:a="http://schemas.openxmlformats.org/drawingml/2006/main">
            <a:off x="5057775" y="2352675"/>
            <a:ext cx="1095375" cy="109537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707E6E7D-804E-49C6-A984-FF0B9D6EA1F7}"/>
              </a:ext>
            </a:extLst>
          </p:cNvPr>
          <p:cNvSpPr>
            <a:spLocks xmlns:a="http://schemas.openxmlformats.org/drawingml/2006/main" noGrp="1"/>
          </p:cNvSpPr>
          <p:nvPr/>
        </p:nvSpPr>
        <p:spPr>
          <a:xfrm xmlns:a="http://schemas.openxmlformats.org/drawingml/2006/main">
            <a:off x="4600575" y="34480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Inspection</a:t>
            </a:r>
          </a:p>
        </p:txBody>
      </p:sp>
      <p:pic>
        <p:nvPicPr>
          <p:cNvPr id="19" name="">
            <a:extLst xmlns:a="http://schemas.openxmlformats.org/drawingml/2006/main">
              <a:ext uri="{FF2B5EF4-FFF2-40B4-BE49-F238E27FC236}">
                <a16:creationId xmlns:a16="http://schemas.microsoft.com/office/drawing/2014/main" id="{B796D6EE-C691-4E77-B3C0-8971B0343B45}"/>
              </a:ext>
            </a:extLst>
          </p:cNvPr>
          <p:cNvPicPr>
            <a:picLocks xmlns:a="http://schemas.openxmlformats.org/drawingml/2006/main" noChangeAspect="1"/>
          </p:cNvPicPr>
          <p:nvPr/>
        </p:nvPicPr>
        <p:blipFill>
          <a:blip xmlns:r="http://schemas.openxmlformats.org/officeDocument/2006/relationships" xmlns:a="http://schemas.openxmlformats.org/drawingml/2006/main" r:embed="R565da06fac614ca9"/>
          <a:srcRect xmlns:a="http://schemas.openxmlformats.org/drawingml/2006/main" l="33333" t="0" r="33333" b="50000"/>
          <a:stretch xmlns:a="http://schemas.openxmlformats.org/drawingml/2006/main"/>
        </p:blipFill>
        <p:spPr>
          <a:xfrm xmlns:a="http://schemas.openxmlformats.org/drawingml/2006/main">
            <a:off x="7334250" y="2352675"/>
            <a:ext cx="1095375" cy="109537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9E8C7E71-F2D4-423A-B0A3-64ADEF88F3D9}"/>
              </a:ext>
            </a:extLst>
          </p:cNvPr>
          <p:cNvSpPr>
            <a:spLocks xmlns:a="http://schemas.openxmlformats.org/drawingml/2006/main" noGrp="1"/>
          </p:cNvSpPr>
          <p:nvPr/>
        </p:nvSpPr>
        <p:spPr>
          <a:xfrm xmlns:a="http://schemas.openxmlformats.org/drawingml/2006/main">
            <a:off x="6877050" y="34480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Sanding</a:t>
            </a:r>
          </a:p>
        </p:txBody>
      </p:sp>
      <p:pic>
        <p:nvPicPr>
          <p:cNvPr id="21" name="">
            <a:extLst xmlns:a="http://schemas.openxmlformats.org/drawingml/2006/main">
              <a:ext uri="{FF2B5EF4-FFF2-40B4-BE49-F238E27FC236}">
                <a16:creationId xmlns:a16="http://schemas.microsoft.com/office/drawing/2014/main" id="{65733E66-5F82-4257-953C-9C4C55F98B4A}"/>
              </a:ext>
            </a:extLst>
          </p:cNvPr>
          <p:cNvPicPr>
            <a:picLocks xmlns:a="http://schemas.openxmlformats.org/drawingml/2006/main" noChangeAspect="1"/>
          </p:cNvPicPr>
          <p:nvPr/>
        </p:nvPicPr>
        <p:blipFill>
          <a:blip xmlns:r="http://schemas.openxmlformats.org/officeDocument/2006/relationships" xmlns:a="http://schemas.openxmlformats.org/drawingml/2006/main" r:embed="Rc98f4517fa084ccc"/>
          <a:srcRect xmlns:a="http://schemas.openxmlformats.org/drawingml/2006/main" l="66667" t="0" r="0" b="50000"/>
          <a:stretch xmlns:a="http://schemas.openxmlformats.org/drawingml/2006/main"/>
        </p:blipFill>
        <p:spPr>
          <a:xfrm xmlns:a="http://schemas.openxmlformats.org/drawingml/2006/main">
            <a:off x="9610725" y="2352675"/>
            <a:ext cx="1095375" cy="109537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6A27AB6E-8111-4271-80FC-B5903C622F92}"/>
              </a:ext>
            </a:extLst>
          </p:cNvPr>
          <p:cNvSpPr>
            <a:spLocks xmlns:a="http://schemas.openxmlformats.org/drawingml/2006/main" noGrp="1"/>
          </p:cNvSpPr>
          <p:nvPr/>
        </p:nvSpPr>
        <p:spPr>
          <a:xfrm xmlns:a="http://schemas.openxmlformats.org/drawingml/2006/main">
            <a:off x="9153525" y="34480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Drilling</a:t>
            </a:r>
          </a:p>
        </p:txBody>
      </p:sp>
      <p:pic>
        <p:nvPicPr>
          <p:cNvPr id="23" name="">
            <a:extLst xmlns:a="http://schemas.openxmlformats.org/drawingml/2006/main">
              <a:ext uri="{FF2B5EF4-FFF2-40B4-BE49-F238E27FC236}">
                <a16:creationId xmlns:a16="http://schemas.microsoft.com/office/drawing/2014/main" id="{CB37E8DF-CF40-4CD3-A3E8-3B7EBBFD847C}"/>
              </a:ext>
            </a:extLst>
          </p:cNvPr>
          <p:cNvPicPr>
            <a:picLocks xmlns:a="http://schemas.openxmlformats.org/drawingml/2006/main" noChangeAspect="1"/>
          </p:cNvPicPr>
          <p:nvPr/>
        </p:nvPicPr>
        <p:blipFill>
          <a:blip xmlns:r="http://schemas.openxmlformats.org/officeDocument/2006/relationships" xmlns:a="http://schemas.openxmlformats.org/drawingml/2006/main" r:embed="R5f4cf470209948d4"/>
          <a:srcRect xmlns:a="http://schemas.openxmlformats.org/drawingml/2006/main" l="0" t="50000" r="66667" b="0"/>
          <a:stretch xmlns:a="http://schemas.openxmlformats.org/drawingml/2006/main"/>
        </p:blipFill>
        <p:spPr>
          <a:xfrm xmlns:a="http://schemas.openxmlformats.org/drawingml/2006/main">
            <a:off x="5057775" y="3733800"/>
            <a:ext cx="1095375" cy="1095375"/>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008725EE-F3B3-45E9-B78F-FCF1E5F80FBA}"/>
              </a:ext>
            </a:extLst>
          </p:cNvPr>
          <p:cNvSpPr>
            <a:spLocks xmlns:a="http://schemas.openxmlformats.org/drawingml/2006/main" noGrp="1"/>
          </p:cNvSpPr>
          <p:nvPr/>
        </p:nvSpPr>
        <p:spPr>
          <a:xfrm xmlns:a="http://schemas.openxmlformats.org/drawingml/2006/main">
            <a:off x="4600575" y="4829175"/>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Auto-rigging</a:t>
            </a:r>
          </a:p>
        </p:txBody>
      </p:sp>
      <p:pic>
        <p:nvPicPr>
          <p:cNvPr id="25" name="">
            <a:extLst xmlns:a="http://schemas.openxmlformats.org/drawingml/2006/main">
              <a:ext uri="{FF2B5EF4-FFF2-40B4-BE49-F238E27FC236}">
                <a16:creationId xmlns:a16="http://schemas.microsoft.com/office/drawing/2014/main" id="{5165A0D6-287B-4E24-8273-F659EF767B77}"/>
              </a:ext>
            </a:extLst>
          </p:cNvPr>
          <p:cNvPicPr>
            <a:picLocks xmlns:a="http://schemas.openxmlformats.org/drawingml/2006/main" noChangeAspect="1"/>
          </p:cNvPicPr>
          <p:nvPr/>
        </p:nvPicPr>
        <p:blipFill>
          <a:blip xmlns:r="http://schemas.openxmlformats.org/officeDocument/2006/relationships" xmlns:a="http://schemas.openxmlformats.org/drawingml/2006/main" r:embed="Rae912efaa80e46e8"/>
          <a:srcRect xmlns:a="http://schemas.openxmlformats.org/drawingml/2006/main" l="33333" t="50000" r="33333" b="0"/>
          <a:stretch xmlns:a="http://schemas.openxmlformats.org/drawingml/2006/main"/>
        </p:blipFill>
        <p:spPr>
          <a:xfrm xmlns:a="http://schemas.openxmlformats.org/drawingml/2006/main">
            <a:off x="7334250" y="3733800"/>
            <a:ext cx="1095375" cy="1095375"/>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879F5C44-28AA-4470-A6CD-7C4AFF8CB3FC}"/>
              </a:ext>
            </a:extLst>
          </p:cNvPr>
          <p:cNvSpPr>
            <a:spLocks xmlns:a="http://schemas.openxmlformats.org/drawingml/2006/main" noGrp="1"/>
          </p:cNvSpPr>
          <p:nvPr/>
        </p:nvSpPr>
        <p:spPr>
          <a:xfrm xmlns:a="http://schemas.openxmlformats.org/drawingml/2006/main">
            <a:off x="6877050" y="4829175"/>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Pick-and-place</a:t>
            </a:r>
          </a:p>
        </p:txBody>
      </p:sp>
      <p:pic>
        <p:nvPicPr>
          <p:cNvPr id="27" name="">
            <a:extLst xmlns:a="http://schemas.openxmlformats.org/drawingml/2006/main">
              <a:ext uri="{FF2B5EF4-FFF2-40B4-BE49-F238E27FC236}">
                <a16:creationId xmlns:a16="http://schemas.microsoft.com/office/drawing/2014/main" id="{CBF7773B-638F-4648-8CA7-9CF1273BF192}"/>
              </a:ext>
            </a:extLst>
          </p:cNvPr>
          <p:cNvPicPr>
            <a:picLocks xmlns:a="http://schemas.openxmlformats.org/drawingml/2006/main" noChangeAspect="1"/>
          </p:cNvPicPr>
          <p:nvPr/>
        </p:nvPicPr>
        <p:blipFill>
          <a:blip xmlns:r="http://schemas.openxmlformats.org/officeDocument/2006/relationships" xmlns:a="http://schemas.openxmlformats.org/drawingml/2006/main" r:embed="R19d84e6fa7234569"/>
          <a:srcRect xmlns:a="http://schemas.openxmlformats.org/drawingml/2006/main" l="66667" t="50000" r="0" b="0"/>
          <a:stretch xmlns:a="http://schemas.openxmlformats.org/drawingml/2006/main"/>
        </p:blipFill>
        <p:spPr>
          <a:xfrm xmlns:a="http://schemas.openxmlformats.org/drawingml/2006/main">
            <a:off x="9610725" y="3733800"/>
            <a:ext cx="1095375" cy="1095375"/>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B6891D2A-3364-4030-BA8F-0C6515A8BCF6}"/>
              </a:ext>
            </a:extLst>
          </p:cNvPr>
          <p:cNvSpPr>
            <a:spLocks xmlns:a="http://schemas.openxmlformats.org/drawingml/2006/main" noGrp="1"/>
          </p:cNvSpPr>
          <p:nvPr/>
        </p:nvSpPr>
        <p:spPr>
          <a:xfrm xmlns:a="http://schemas.openxmlformats.org/drawingml/2006/main">
            <a:off x="9153525" y="4829175"/>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Cleaning</a:t>
            </a:r>
          </a:p>
        </p:txBody>
      </p:sp>
      <p:sp>
        <p:nvSpPr>
          <p:cNvPr id="29" name="">
            <a:extLst xmlns:a="http://schemas.openxmlformats.org/drawingml/2006/main">
              <a:ext uri="{FF2B5EF4-FFF2-40B4-BE49-F238E27FC236}">
                <a16:creationId xmlns:a16="http://schemas.microsoft.com/office/drawing/2014/main" id="{CF4399C3-E0DB-4216-AF3B-219574F7A773}"/>
              </a:ext>
            </a:extLst>
          </p:cNvPr>
          <p:cNvSpPr>
            <a:spLocks xmlns:a="http://schemas.openxmlformats.org/drawingml/2006/main" noGrp="1"/>
          </p:cNvSpPr>
          <p:nvPr/>
        </p:nvSpPr>
        <p:spPr>
          <a:xfrm xmlns:a="http://schemas.openxmlformats.org/drawingml/2006/main">
            <a:off x="4600575" y="5257800"/>
            <a:ext cx="6638925" cy="352425"/>
          </a:xfrm>
          <a:prstGeom xmlns:a="http://schemas.openxmlformats.org/drawingml/2006/main" prst="roundRect">
            <a:avLst>
              <a:gd name="adj" fmla="val 13514"/>
            </a:avLst>
          </a:prstGeom>
          <a:solidFill xmlns:a="http://schemas.openxmlformats.org/drawingml/2006/main">
            <a:srgbClr val="17274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AD5B4AC-3348-448E-A3A6-77EF05E9DEB4}"/>
              </a:ext>
            </a:extLst>
          </p:cNvPr>
          <p:cNvSpPr>
            <a:spLocks xmlns:a="http://schemas.openxmlformats.org/drawingml/2006/main" noGrp="1"/>
          </p:cNvSpPr>
          <p:nvPr/>
        </p:nvSpPr>
        <p:spPr>
          <a:xfrm xmlns:a="http://schemas.openxmlformats.org/drawingml/2006/main">
            <a:off x="4695825" y="5276850"/>
            <a:ext cx="6448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FFFFFF"/>
                </a:solidFill>
                <a:latin typeface="DejaVu Sans"/>
                <a:ea typeface="DejaVu Sans"/>
                <a:cs typeface="DejaVu Sans"/>
              </a:defRPr>
            </a:defPPr>
          </a:lstStyle>
          <a:p xmlns:a="http://schemas.openxmlformats.org/drawingml/2006/main">
            <a:pPr>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HPP / MoveIt2 / Tesseract / New options</a:t>
            </a:r>
          </a:p>
        </p:txBody>
      </p:sp>
      <p:sp>
        <p:nvSpPr>
          <p:cNvPr id="31" name="">
            <a:extLst xmlns:a="http://schemas.openxmlformats.org/drawingml/2006/main">
              <a:ext uri="{FF2B5EF4-FFF2-40B4-BE49-F238E27FC236}">
                <a16:creationId xmlns:a16="http://schemas.microsoft.com/office/drawing/2014/main" id="{3F45EB84-7116-4AF1-BEC7-A516442BE16D}"/>
              </a:ext>
            </a:extLst>
          </p:cNvPr>
          <p:cNvSpPr>
            <a:spLocks xmlns:a="http://schemas.openxmlformats.org/drawingml/2006/main" noGrp="1"/>
          </p:cNvSpPr>
          <p:nvPr/>
        </p:nvSpPr>
        <p:spPr>
          <a:xfrm xmlns:a="http://schemas.openxmlformats.org/drawingml/2006/main">
            <a:off x="4438650" y="5953125"/>
            <a:ext cx="7105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Shared data, validation and execution</a:t>
            </a:r>
          </a:p>
        </p:txBody>
      </p:sp>
      <p:sp>
        <p:nvSpPr>
          <p:cNvPr id="32" name="">
            <a:extLst xmlns:a="http://schemas.openxmlformats.org/drawingml/2006/main">
              <a:ext uri="{FF2B5EF4-FFF2-40B4-BE49-F238E27FC236}">
                <a16:creationId xmlns:a16="http://schemas.microsoft.com/office/drawing/2014/main" id="{624B4C4A-B4B0-4F9E-B1DD-C3D25AC62D72}"/>
              </a:ext>
            </a:extLst>
          </p:cNvPr>
          <p:cNvSpPr>
            <a:spLocks xmlns:a="http://schemas.openxmlformats.org/drawingml/2006/main" noGrp="1"/>
          </p:cNvSpPr>
          <p:nvPr/>
        </p:nvSpPr>
        <p:spPr>
          <a:xfrm xmlns:a="http://schemas.openxmlformats.org/drawingml/2006/main">
            <a:off x="723900" y="601980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One foundation</a:t>
            </a:r>
          </a:p>
        </p:txBody>
      </p:sp>
    </p:spTree>
    <p:extLst>
      <p:ext uri="{BB962C8B-B14F-4D97-AF65-F5344CB8AC3E}">
        <p14:creationId xmlns:p14="http://schemas.microsoft.com/office/powerpoint/2010/main" val="1101111098"/>
      </p:ext>
    </p:extLst>
  </p:cSld>
</p:sld>
</file>

<file path=ppt/slides/slide1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6E704F9-AB9B-4E55-858A-67D86768A526}"/>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vision: a robotics product line</a:t>
            </a:r>
          </a:p>
        </p:txBody>
      </p:sp>
      <p:sp>
        <p:nvSpPr>
          <p:cNvPr id="2" name="">
            <a:extLst xmlns:a="http://schemas.openxmlformats.org/drawingml/2006/main">
              <a:ext uri="{FF2B5EF4-FFF2-40B4-BE49-F238E27FC236}">
                <a16:creationId xmlns:a16="http://schemas.microsoft.com/office/drawing/2014/main" id="{7A281378-0949-4EBF-9A36-C869F189E5DE}"/>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14</a:t>
            </a:r>
          </a:p>
        </p:txBody>
      </p:sp>
      <p:sp>
        <p:nvSpPr>
          <p:cNvPr id="3" name="">
            <a:extLst xmlns:a="http://schemas.openxmlformats.org/drawingml/2006/main">
              <a:ext uri="{FF2B5EF4-FFF2-40B4-BE49-F238E27FC236}">
                <a16:creationId xmlns:a16="http://schemas.microsoft.com/office/drawing/2014/main" id="{42F2B377-7669-4A67-80BD-E819C1D41036}"/>
              </a:ext>
            </a:extLst>
          </p:cNvPr>
          <p:cNvSpPr>
            <a:spLocks xmlns:a="http://schemas.openxmlformats.org/drawingml/2006/main" noGrp="1"/>
          </p:cNvSpPr>
          <p:nvPr/>
        </p:nvSpPr>
        <p:spPr>
          <a:xfrm xmlns:a="http://schemas.openxmlformats.org/drawingml/2006/main">
            <a:off x="552450" y="1133475"/>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Shared software core, configured for inspection, dispensing and future applications</a:t>
            </a:r>
          </a:p>
        </p:txBody>
      </p:sp>
      <p:sp>
        <p:nvSpPr>
          <p:cNvPr id="4" name="">
            <a:extLst xmlns:a="http://schemas.openxmlformats.org/drawingml/2006/main">
              <a:ext uri="{FF2B5EF4-FFF2-40B4-BE49-F238E27FC236}">
                <a16:creationId xmlns:a16="http://schemas.microsoft.com/office/drawing/2014/main" id="{7DC606E4-F456-4AEF-B2CF-BE0D343BC9D5}"/>
              </a:ext>
            </a:extLst>
          </p:cNvPr>
          <p:cNvSpPr>
            <a:spLocks xmlns:a="http://schemas.openxmlformats.org/drawingml/2006/main" noGrp="1"/>
          </p:cNvSpPr>
          <p:nvPr/>
        </p:nvSpPr>
        <p:spPr>
          <a:xfrm xmlns:a="http://schemas.openxmlformats.org/drawingml/2006/main">
            <a:off x="552450" y="1828800"/>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5" name="">
            <a:extLst xmlns:a="http://schemas.openxmlformats.org/drawingml/2006/main">
              <a:ext uri="{FF2B5EF4-FFF2-40B4-BE49-F238E27FC236}">
                <a16:creationId xmlns:a16="http://schemas.microsoft.com/office/drawing/2014/main" id="{3D54FE3C-86A5-4D7A-8E03-AD9807E0C482}"/>
              </a:ext>
            </a:extLst>
          </p:cNvPr>
          <p:cNvSpPr>
            <a:spLocks xmlns:a="http://schemas.openxmlformats.org/drawingml/2006/main" noGrp="1"/>
          </p:cNvSpPr>
          <p:nvPr/>
        </p:nvSpPr>
        <p:spPr>
          <a:xfrm xmlns:a="http://schemas.openxmlformats.org/drawingml/2006/main">
            <a:off x="647700" y="1905000"/>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Perception</a:t>
            </a:r>
          </a:p>
        </p:txBody>
      </p:sp>
      <p:sp>
        <p:nvSpPr>
          <p:cNvPr id="6" name="">
            <a:extLst xmlns:a="http://schemas.openxmlformats.org/drawingml/2006/main">
              <a:ext uri="{FF2B5EF4-FFF2-40B4-BE49-F238E27FC236}">
                <a16:creationId xmlns:a16="http://schemas.microsoft.com/office/drawing/2014/main" id="{07AF33FD-AD00-49B4-A389-E109F22A4557}"/>
              </a:ext>
            </a:extLst>
          </p:cNvPr>
          <p:cNvSpPr>
            <a:spLocks xmlns:a="http://schemas.openxmlformats.org/drawingml/2006/main" noGrp="1"/>
          </p:cNvSpPr>
          <p:nvPr/>
        </p:nvSpPr>
        <p:spPr>
          <a:xfrm xmlns:a="http://schemas.openxmlformats.org/drawingml/2006/main">
            <a:off x="647700" y="22764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Sensors, localization and scene data</a:t>
            </a:r>
          </a:p>
        </p:txBody>
      </p:sp>
      <p:sp>
        <p:nvSpPr>
          <p:cNvPr id="7" name="">
            <a:extLst xmlns:a="http://schemas.openxmlformats.org/drawingml/2006/main">
              <a:ext uri="{FF2B5EF4-FFF2-40B4-BE49-F238E27FC236}">
                <a16:creationId xmlns:a16="http://schemas.microsoft.com/office/drawing/2014/main" id="{55B9DE40-6E2F-4620-B6D5-2C05257DE51D}"/>
              </a:ext>
            </a:extLst>
          </p:cNvPr>
          <p:cNvSpPr>
            <a:spLocks xmlns:a="http://schemas.openxmlformats.org/drawingml/2006/main" noGrp="1"/>
          </p:cNvSpPr>
          <p:nvPr/>
        </p:nvSpPr>
        <p:spPr>
          <a:xfrm xmlns:a="http://schemas.openxmlformats.org/drawingml/2006/main">
            <a:off x="4362450" y="1828800"/>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8" name="">
            <a:extLst xmlns:a="http://schemas.openxmlformats.org/drawingml/2006/main">
              <a:ext uri="{FF2B5EF4-FFF2-40B4-BE49-F238E27FC236}">
                <a16:creationId xmlns:a16="http://schemas.microsoft.com/office/drawing/2014/main" id="{BEF9FA3A-F306-4AA7-AA51-29853F0BA586}"/>
              </a:ext>
            </a:extLst>
          </p:cNvPr>
          <p:cNvSpPr>
            <a:spLocks xmlns:a="http://schemas.openxmlformats.org/drawingml/2006/main" noGrp="1"/>
          </p:cNvSpPr>
          <p:nvPr/>
        </p:nvSpPr>
        <p:spPr>
          <a:xfrm xmlns:a="http://schemas.openxmlformats.org/drawingml/2006/main">
            <a:off x="4457700" y="1905000"/>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Motion planning</a:t>
            </a:r>
          </a:p>
        </p:txBody>
      </p:sp>
      <p:sp>
        <p:nvSpPr>
          <p:cNvPr id="9" name="">
            <a:extLst xmlns:a="http://schemas.openxmlformats.org/drawingml/2006/main">
              <a:ext uri="{FF2B5EF4-FFF2-40B4-BE49-F238E27FC236}">
                <a16:creationId xmlns:a16="http://schemas.microsoft.com/office/drawing/2014/main" id="{0DA06089-67B0-4805-BB56-6A9DA075A5E6}"/>
              </a:ext>
            </a:extLst>
          </p:cNvPr>
          <p:cNvSpPr>
            <a:spLocks xmlns:a="http://schemas.openxmlformats.org/drawingml/2006/main" noGrp="1"/>
          </p:cNvSpPr>
          <p:nvPr/>
        </p:nvSpPr>
        <p:spPr>
          <a:xfrm xmlns:a="http://schemas.openxmlformats.org/drawingml/2006/main">
            <a:off x="4457700" y="22764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Toolpaths, feasible motion and optimization</a:t>
            </a:r>
          </a:p>
        </p:txBody>
      </p:sp>
      <p:sp>
        <p:nvSpPr>
          <p:cNvPr id="10" name="">
            <a:extLst xmlns:a="http://schemas.openxmlformats.org/drawingml/2006/main">
              <a:ext uri="{FF2B5EF4-FFF2-40B4-BE49-F238E27FC236}">
                <a16:creationId xmlns:a16="http://schemas.microsoft.com/office/drawing/2014/main" id="{DA63F1C8-9C14-4210-8EA4-D3EB4C09303F}"/>
              </a:ext>
            </a:extLst>
          </p:cNvPr>
          <p:cNvSpPr>
            <a:spLocks xmlns:a="http://schemas.openxmlformats.org/drawingml/2006/main" noGrp="1"/>
          </p:cNvSpPr>
          <p:nvPr/>
        </p:nvSpPr>
        <p:spPr>
          <a:xfrm xmlns:a="http://schemas.openxmlformats.org/drawingml/2006/main">
            <a:off x="8172450" y="1828800"/>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11" name="">
            <a:extLst xmlns:a="http://schemas.openxmlformats.org/drawingml/2006/main">
              <a:ext uri="{FF2B5EF4-FFF2-40B4-BE49-F238E27FC236}">
                <a16:creationId xmlns:a16="http://schemas.microsoft.com/office/drawing/2014/main" id="{045AD674-56EB-4E08-A59B-0A69825CFFF6}"/>
              </a:ext>
            </a:extLst>
          </p:cNvPr>
          <p:cNvSpPr>
            <a:spLocks xmlns:a="http://schemas.openxmlformats.org/drawingml/2006/main" noGrp="1"/>
          </p:cNvSpPr>
          <p:nvPr/>
        </p:nvSpPr>
        <p:spPr>
          <a:xfrm xmlns:a="http://schemas.openxmlformats.org/drawingml/2006/main">
            <a:off x="8267700" y="1905000"/>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Control &amp; execution</a:t>
            </a:r>
          </a:p>
        </p:txBody>
      </p:sp>
      <p:sp>
        <p:nvSpPr>
          <p:cNvPr id="12" name="">
            <a:extLst xmlns:a="http://schemas.openxmlformats.org/drawingml/2006/main">
              <a:ext uri="{FF2B5EF4-FFF2-40B4-BE49-F238E27FC236}">
                <a16:creationId xmlns:a16="http://schemas.microsoft.com/office/drawing/2014/main" id="{FA3EDFDF-752E-46BD-B708-71ACAD7C47F6}"/>
              </a:ext>
            </a:extLst>
          </p:cNvPr>
          <p:cNvSpPr>
            <a:spLocks xmlns:a="http://schemas.openxmlformats.org/drawingml/2006/main" noGrp="1"/>
          </p:cNvSpPr>
          <p:nvPr/>
        </p:nvSpPr>
        <p:spPr>
          <a:xfrm xmlns:a="http://schemas.openxmlformats.org/drawingml/2006/main">
            <a:off x="8267700" y="22764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Tracking, feedback and correction</a:t>
            </a:r>
          </a:p>
        </p:txBody>
      </p:sp>
      <p:sp>
        <p:nvSpPr>
          <p:cNvPr id="13" name="">
            <a:extLst xmlns:a="http://schemas.openxmlformats.org/drawingml/2006/main">
              <a:ext uri="{FF2B5EF4-FFF2-40B4-BE49-F238E27FC236}">
                <a16:creationId xmlns:a16="http://schemas.microsoft.com/office/drawing/2014/main" id="{CA187B7B-0D1A-4AC7-BBE7-83E26EAD9C55}"/>
              </a:ext>
            </a:extLst>
          </p:cNvPr>
          <p:cNvSpPr>
            <a:spLocks xmlns:a="http://schemas.openxmlformats.org/drawingml/2006/main" noGrp="1"/>
          </p:cNvSpPr>
          <p:nvPr/>
        </p:nvSpPr>
        <p:spPr>
          <a:xfrm xmlns:a="http://schemas.openxmlformats.org/drawingml/2006/main">
            <a:off x="552450" y="2886075"/>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14" name="">
            <a:extLst xmlns:a="http://schemas.openxmlformats.org/drawingml/2006/main">
              <a:ext uri="{FF2B5EF4-FFF2-40B4-BE49-F238E27FC236}">
                <a16:creationId xmlns:a16="http://schemas.microsoft.com/office/drawing/2014/main" id="{1E4946BC-4C26-423A-9AFC-977C21FF94C3}"/>
              </a:ext>
            </a:extLst>
          </p:cNvPr>
          <p:cNvSpPr>
            <a:spLocks xmlns:a="http://schemas.openxmlformats.org/drawingml/2006/main" noGrp="1"/>
          </p:cNvSpPr>
          <p:nvPr/>
        </p:nvSpPr>
        <p:spPr>
          <a:xfrm xmlns:a="http://schemas.openxmlformats.org/drawingml/2006/main">
            <a:off x="647700" y="29622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Connectivity</a:t>
            </a:r>
          </a:p>
        </p:txBody>
      </p:sp>
      <p:sp>
        <p:nvSpPr>
          <p:cNvPr id="15" name="">
            <a:extLst xmlns:a="http://schemas.openxmlformats.org/drawingml/2006/main">
              <a:ext uri="{FF2B5EF4-FFF2-40B4-BE49-F238E27FC236}">
                <a16:creationId xmlns:a16="http://schemas.microsoft.com/office/drawing/2014/main" id="{F1AF9427-7B6C-47C7-9BE0-E5540092415E}"/>
              </a:ext>
            </a:extLst>
          </p:cNvPr>
          <p:cNvSpPr>
            <a:spLocks xmlns:a="http://schemas.openxmlformats.org/drawingml/2006/main" noGrp="1"/>
          </p:cNvSpPr>
          <p:nvPr/>
        </p:nvSpPr>
        <p:spPr>
          <a:xfrm xmlns:a="http://schemas.openxmlformats.org/drawingml/2006/main">
            <a:off x="647700" y="3333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Robot, sensor and equipment interfaces</a:t>
            </a:r>
          </a:p>
        </p:txBody>
      </p:sp>
      <p:sp>
        <p:nvSpPr>
          <p:cNvPr id="16" name="">
            <a:extLst xmlns:a="http://schemas.openxmlformats.org/drawingml/2006/main">
              <a:ext uri="{FF2B5EF4-FFF2-40B4-BE49-F238E27FC236}">
                <a16:creationId xmlns:a16="http://schemas.microsoft.com/office/drawing/2014/main" id="{4A9AAD58-BC31-4154-A5A9-F805037323D8}"/>
              </a:ext>
            </a:extLst>
          </p:cNvPr>
          <p:cNvSpPr>
            <a:spLocks xmlns:a="http://schemas.openxmlformats.org/drawingml/2006/main" noGrp="1"/>
          </p:cNvSpPr>
          <p:nvPr/>
        </p:nvSpPr>
        <p:spPr>
          <a:xfrm xmlns:a="http://schemas.openxmlformats.org/drawingml/2006/main">
            <a:off x="4362450" y="2886075"/>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17" name="">
            <a:extLst xmlns:a="http://schemas.openxmlformats.org/drawingml/2006/main">
              <a:ext uri="{FF2B5EF4-FFF2-40B4-BE49-F238E27FC236}">
                <a16:creationId xmlns:a16="http://schemas.microsoft.com/office/drawing/2014/main" id="{37A53D0B-4E98-42E3-9F3C-4FADBB2B24FE}"/>
              </a:ext>
            </a:extLst>
          </p:cNvPr>
          <p:cNvSpPr>
            <a:spLocks xmlns:a="http://schemas.openxmlformats.org/drawingml/2006/main" noGrp="1"/>
          </p:cNvSpPr>
          <p:nvPr/>
        </p:nvSpPr>
        <p:spPr>
          <a:xfrm xmlns:a="http://schemas.openxmlformats.org/drawingml/2006/main">
            <a:off x="4457700" y="29622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Task supervision</a:t>
            </a:r>
          </a:p>
        </p:txBody>
      </p:sp>
      <p:sp>
        <p:nvSpPr>
          <p:cNvPr id="18" name="">
            <a:extLst xmlns:a="http://schemas.openxmlformats.org/drawingml/2006/main">
              <a:ext uri="{FF2B5EF4-FFF2-40B4-BE49-F238E27FC236}">
                <a16:creationId xmlns:a16="http://schemas.microsoft.com/office/drawing/2014/main" id="{8DE7E06B-03E4-43D5-B36C-21582105932A}"/>
              </a:ext>
            </a:extLst>
          </p:cNvPr>
          <p:cNvSpPr>
            <a:spLocks xmlns:a="http://schemas.openxmlformats.org/drawingml/2006/main" noGrp="1"/>
          </p:cNvSpPr>
          <p:nvPr/>
        </p:nvSpPr>
        <p:spPr>
          <a:xfrm xmlns:a="http://schemas.openxmlformats.org/drawingml/2006/main">
            <a:off x="4457700" y="3333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Workflow, recovery and coordination</a:t>
            </a:r>
          </a:p>
        </p:txBody>
      </p:sp>
      <p:sp>
        <p:nvSpPr>
          <p:cNvPr id="19" name="">
            <a:extLst xmlns:a="http://schemas.openxmlformats.org/drawingml/2006/main">
              <a:ext uri="{FF2B5EF4-FFF2-40B4-BE49-F238E27FC236}">
                <a16:creationId xmlns:a16="http://schemas.microsoft.com/office/drawing/2014/main" id="{24CD92A1-61A9-4C70-832A-D2FFB9104DA4}"/>
              </a:ext>
            </a:extLst>
          </p:cNvPr>
          <p:cNvSpPr>
            <a:spLocks xmlns:a="http://schemas.openxmlformats.org/drawingml/2006/main" noGrp="1"/>
          </p:cNvSpPr>
          <p:nvPr/>
        </p:nvSpPr>
        <p:spPr>
          <a:xfrm xmlns:a="http://schemas.openxmlformats.org/drawingml/2006/main">
            <a:off x="8172450" y="2886075"/>
            <a:ext cx="3524250" cy="952500"/>
          </a:xfrm>
          <a:prstGeom xmlns:a="http://schemas.openxmlformats.org/drawingml/2006/main" prst="rect">
            <a:avLst/>
          </a:prstGeom>
          <a:solidFill xmlns:a="http://schemas.openxmlformats.org/drawingml/2006/main">
            <a:srgbClr val="EEF1F7"/>
          </a:solidFill>
          <a:ln xmlns:a="http://schemas.openxmlformats.org/drawingml/2006/main" w="9525">
            <a:solidFill>
              <a:srgbClr val="CBD3E0"/>
            </a:solidFill>
          </a:ln>
        </p:spPr>
      </p:sp>
      <p:sp>
        <p:nvSpPr>
          <p:cNvPr id="20" name="">
            <a:extLst xmlns:a="http://schemas.openxmlformats.org/drawingml/2006/main">
              <a:ext uri="{FF2B5EF4-FFF2-40B4-BE49-F238E27FC236}">
                <a16:creationId xmlns:a16="http://schemas.microsoft.com/office/drawing/2014/main" id="{A62CB38B-32C1-4AD8-93BD-0A50681C3B80}"/>
              </a:ext>
            </a:extLst>
          </p:cNvPr>
          <p:cNvSpPr>
            <a:spLocks xmlns:a="http://schemas.openxmlformats.org/drawingml/2006/main" noGrp="1"/>
          </p:cNvSpPr>
          <p:nvPr/>
        </p:nvSpPr>
        <p:spPr>
          <a:xfrm xmlns:a="http://schemas.openxmlformats.org/drawingml/2006/main">
            <a:off x="8267700" y="296227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Application &amp; HMI</a:t>
            </a:r>
          </a:p>
        </p:txBody>
      </p:sp>
      <p:sp>
        <p:nvSpPr>
          <p:cNvPr id="21" name="">
            <a:extLst xmlns:a="http://schemas.openxmlformats.org/drawingml/2006/main">
              <a:ext uri="{FF2B5EF4-FFF2-40B4-BE49-F238E27FC236}">
                <a16:creationId xmlns:a16="http://schemas.microsoft.com/office/drawing/2014/main" id="{3DAE34C3-243E-47C6-928E-214625D3E16F}"/>
              </a:ext>
            </a:extLst>
          </p:cNvPr>
          <p:cNvSpPr>
            <a:spLocks xmlns:a="http://schemas.openxmlformats.org/drawingml/2006/main" noGrp="1"/>
          </p:cNvSpPr>
          <p:nvPr/>
        </p:nvSpPr>
        <p:spPr>
          <a:xfrm xmlns:a="http://schemas.openxmlformats.org/drawingml/2006/main">
            <a:off x="8267700" y="3333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Process configuration and operator interaction</a:t>
            </a:r>
          </a:p>
        </p:txBody>
      </p:sp>
      <p:sp>
        <p:nvSpPr>
          <p:cNvPr id="22" name="">
            <a:extLst xmlns:a="http://schemas.openxmlformats.org/drawingml/2006/main">
              <a:ext uri="{FF2B5EF4-FFF2-40B4-BE49-F238E27FC236}">
                <a16:creationId xmlns:a16="http://schemas.microsoft.com/office/drawing/2014/main" id="{A1D2853D-C1F8-47EF-A669-EB4FF91B67AB}"/>
              </a:ext>
            </a:extLst>
          </p:cNvPr>
          <p:cNvSpPr>
            <a:spLocks xmlns:a="http://schemas.openxmlformats.org/drawingml/2006/main" noGrp="1"/>
          </p:cNvSpPr>
          <p:nvPr/>
        </p:nvSpPr>
        <p:spPr>
          <a:xfrm xmlns:a="http://schemas.openxmlformats.org/drawingml/2006/main">
            <a:off x="552450" y="4029075"/>
            <a:ext cx="11144250" cy="619125"/>
          </a:xfrm>
          <a:prstGeom xmlns:a="http://schemas.openxmlformats.org/drawingml/2006/main" prst="rect">
            <a:avLst/>
          </a:prstGeom>
          <a:solidFill xmlns:a="http://schemas.openxmlformats.org/drawingml/2006/main">
            <a:srgbClr val="17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5EB813A-4E8C-4C5F-9DB1-2F46A8C76F32}"/>
              </a:ext>
            </a:extLst>
          </p:cNvPr>
          <p:cNvSpPr>
            <a:spLocks xmlns:a="http://schemas.openxmlformats.org/drawingml/2006/main" noGrp="1"/>
          </p:cNvSpPr>
          <p:nvPr/>
        </p:nvSpPr>
        <p:spPr>
          <a:xfrm xmlns:a="http://schemas.openxmlformats.org/drawingml/2006/main">
            <a:off x="685800" y="41338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DejaVu Sans"/>
                <a:ea typeface="DejaVu Sans"/>
                <a:cs typeface="DejaVu Sans"/>
              </a:defRPr>
            </a:defPPr>
          </a:lstStyle>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COMMON PLATFORM / RXU INTEGRATION</a:t>
            </a:r>
          </a:p>
        </p:txBody>
      </p:sp>
      <p:sp>
        <p:nvSpPr>
          <p:cNvPr id="24" name="">
            <a:extLst xmlns:a="http://schemas.openxmlformats.org/drawingml/2006/main">
              <a:ext uri="{FF2B5EF4-FFF2-40B4-BE49-F238E27FC236}">
                <a16:creationId xmlns:a16="http://schemas.microsoft.com/office/drawing/2014/main" id="{C0D0A236-4094-4F5C-97B4-026ACE8627A2}"/>
              </a:ext>
            </a:extLst>
          </p:cNvPr>
          <p:cNvSpPr>
            <a:spLocks xmlns:a="http://schemas.openxmlformats.org/drawingml/2006/main" noGrp="1"/>
          </p:cNvSpPr>
          <p:nvPr/>
        </p:nvSpPr>
        <p:spPr>
          <a:xfrm xmlns:a="http://schemas.openxmlformats.org/drawingml/2006/main">
            <a:off x="552450" y="48577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04DD9"/>
                </a:solidFill>
                <a:latin typeface="DejaVu Sans"/>
                <a:ea typeface="DejaVu Sans"/>
                <a:cs typeface="DejaVu Sans"/>
              </a:defRPr>
            </a:defPPr>
          </a:lstStyle>
          <a:p xmlns:a="http://schemas.openxmlformats.org/drawingml/2006/main">
            <a:pPr>
              <a:defRPr sz="1500" b="1">
                <a:solidFill>
                  <a:srgbClr val="304DD9"/>
                </a:solidFill>
                <a:latin typeface="DejaVu Sans"/>
                <a:ea typeface="DejaVu Sans"/>
                <a:cs typeface="DejaVu Sans"/>
              </a:defRPr>
            </a:pPr>
            <a:r>
              <a:rPr sz="1500" b="1">
                <a:solidFill>
                  <a:srgbClr val="304DD9"/>
                </a:solidFill>
                <a:latin typeface="DejaVu Sans"/>
                <a:ea typeface="DejaVu Sans"/>
                <a:cs typeface="DejaVu Sans"/>
              </a:rPr>
              <a:t>PRODUCT LIFECYCLE</a:t>
            </a:r>
          </a:p>
        </p:txBody>
      </p:sp>
      <p:sp>
        <p:nvSpPr>
          <p:cNvPr id="25" name="">
            <a:extLst xmlns:a="http://schemas.openxmlformats.org/drawingml/2006/main">
              <a:ext uri="{FF2B5EF4-FFF2-40B4-BE49-F238E27FC236}">
                <a16:creationId xmlns:a16="http://schemas.microsoft.com/office/drawing/2014/main" id="{A359585D-A174-43BF-A0A1-8F4653985806}"/>
              </a:ext>
            </a:extLst>
          </p:cNvPr>
          <p:cNvSpPr>
            <a:spLocks xmlns:a="http://schemas.openxmlformats.org/drawingml/2006/main" noGrp="1"/>
          </p:cNvSpPr>
          <p:nvPr/>
        </p:nvSpPr>
        <p:spPr>
          <a:xfrm xmlns:a="http://schemas.openxmlformats.org/drawingml/2006/main">
            <a:off x="552450"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Requirements</a:t>
            </a:r>
          </a:p>
        </p:txBody>
      </p:sp>
      <p:sp>
        <p:nvSpPr>
          <p:cNvPr id="26" name="">
            <a:extLst xmlns:a="http://schemas.openxmlformats.org/drawingml/2006/main">
              <a:ext uri="{FF2B5EF4-FFF2-40B4-BE49-F238E27FC236}">
                <a16:creationId xmlns:a16="http://schemas.microsoft.com/office/drawing/2014/main" id="{9A6165B8-6947-4C8F-B9B8-266C8744DD9F}"/>
              </a:ext>
            </a:extLst>
          </p:cNvPr>
          <p:cNvSpPr>
            <a:spLocks xmlns:a="http://schemas.openxmlformats.org/drawingml/2006/main" noGrp="1"/>
          </p:cNvSpPr>
          <p:nvPr/>
        </p:nvSpPr>
        <p:spPr>
          <a:xfrm xmlns:a="http://schemas.openxmlformats.org/drawingml/2006/main">
            <a:off x="552450"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Manufacturing needs</a:t>
            </a:r>
          </a:p>
        </p:txBody>
      </p:sp>
      <p:sp>
        <p:nvSpPr>
          <p:cNvPr id="27" name="">
            <a:extLst xmlns:a="http://schemas.openxmlformats.org/drawingml/2006/main">
              <a:ext uri="{FF2B5EF4-FFF2-40B4-BE49-F238E27FC236}">
                <a16:creationId xmlns:a16="http://schemas.microsoft.com/office/drawing/2014/main" id="{A0ECFEB5-743D-49A9-BDCE-AE30E0F2B6B6}"/>
              </a:ext>
            </a:extLst>
          </p:cNvPr>
          <p:cNvSpPr>
            <a:spLocks xmlns:a="http://schemas.openxmlformats.org/drawingml/2006/main" noGrp="1"/>
          </p:cNvSpPr>
          <p:nvPr/>
        </p:nvSpPr>
        <p:spPr>
          <a:xfrm xmlns:a="http://schemas.openxmlformats.org/drawingml/2006/main">
            <a:off x="2790825"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Architecture</a:t>
            </a:r>
          </a:p>
        </p:txBody>
      </p:sp>
      <p:sp>
        <p:nvSpPr>
          <p:cNvPr id="28" name="">
            <a:extLst xmlns:a="http://schemas.openxmlformats.org/drawingml/2006/main">
              <a:ext uri="{FF2B5EF4-FFF2-40B4-BE49-F238E27FC236}">
                <a16:creationId xmlns:a16="http://schemas.microsoft.com/office/drawing/2014/main" id="{11797F9A-91EA-4C20-AA24-B63ECA948FEC}"/>
              </a:ext>
            </a:extLst>
          </p:cNvPr>
          <p:cNvSpPr>
            <a:spLocks xmlns:a="http://schemas.openxmlformats.org/drawingml/2006/main" noGrp="1"/>
          </p:cNvSpPr>
          <p:nvPr/>
        </p:nvSpPr>
        <p:spPr>
          <a:xfrm xmlns:a="http://schemas.openxmlformats.org/drawingml/2006/main">
            <a:off x="2790825"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Interfaces &amp; data</a:t>
            </a:r>
          </a:p>
        </p:txBody>
      </p:sp>
      <p:sp>
        <p:nvSpPr>
          <p:cNvPr id="29" name="">
            <a:extLst xmlns:a="http://schemas.openxmlformats.org/drawingml/2006/main">
              <a:ext uri="{FF2B5EF4-FFF2-40B4-BE49-F238E27FC236}">
                <a16:creationId xmlns:a16="http://schemas.microsoft.com/office/drawing/2014/main" id="{0E10DFCD-BC7D-4FC1-925B-3AF29F0FF3CE}"/>
              </a:ext>
            </a:extLst>
          </p:cNvPr>
          <p:cNvSpPr>
            <a:spLocks xmlns:a="http://schemas.openxmlformats.org/drawingml/2006/main" noGrp="1"/>
          </p:cNvSpPr>
          <p:nvPr/>
        </p:nvSpPr>
        <p:spPr>
          <a:xfrm xmlns:a="http://schemas.openxmlformats.org/drawingml/2006/main">
            <a:off x="5029200"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Verification</a:t>
            </a:r>
          </a:p>
        </p:txBody>
      </p:sp>
      <p:sp>
        <p:nvSpPr>
          <p:cNvPr id="30" name="">
            <a:extLst xmlns:a="http://schemas.openxmlformats.org/drawingml/2006/main">
              <a:ext uri="{FF2B5EF4-FFF2-40B4-BE49-F238E27FC236}">
                <a16:creationId xmlns:a16="http://schemas.microsoft.com/office/drawing/2014/main" id="{FCC9802F-0C29-4F13-A382-560CA17097EC}"/>
              </a:ext>
            </a:extLst>
          </p:cNvPr>
          <p:cNvSpPr>
            <a:spLocks xmlns:a="http://schemas.openxmlformats.org/drawingml/2006/main" noGrp="1"/>
          </p:cNvSpPr>
          <p:nvPr/>
        </p:nvSpPr>
        <p:spPr>
          <a:xfrm xmlns:a="http://schemas.openxmlformats.org/drawingml/2006/main">
            <a:off x="5029200"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Simulation &amp; trials</a:t>
            </a:r>
          </a:p>
        </p:txBody>
      </p:sp>
      <p:sp>
        <p:nvSpPr>
          <p:cNvPr id="31" name="">
            <a:extLst xmlns:a="http://schemas.openxmlformats.org/drawingml/2006/main">
              <a:ext uri="{FF2B5EF4-FFF2-40B4-BE49-F238E27FC236}">
                <a16:creationId xmlns:a16="http://schemas.microsoft.com/office/drawing/2014/main" id="{11E5A3A1-0C68-4138-9EFA-9B9A8E270A3A}"/>
              </a:ext>
            </a:extLst>
          </p:cNvPr>
          <p:cNvSpPr>
            <a:spLocks xmlns:a="http://schemas.openxmlformats.org/drawingml/2006/main" noGrp="1"/>
          </p:cNvSpPr>
          <p:nvPr/>
        </p:nvSpPr>
        <p:spPr>
          <a:xfrm xmlns:a="http://schemas.openxmlformats.org/drawingml/2006/main">
            <a:off x="7267575"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Deployment</a:t>
            </a:r>
          </a:p>
        </p:txBody>
      </p:sp>
      <p:sp>
        <p:nvSpPr>
          <p:cNvPr id="32" name="">
            <a:extLst xmlns:a="http://schemas.openxmlformats.org/drawingml/2006/main">
              <a:ext uri="{FF2B5EF4-FFF2-40B4-BE49-F238E27FC236}">
                <a16:creationId xmlns:a16="http://schemas.microsoft.com/office/drawing/2014/main" id="{7323A92E-B066-4FAD-A516-8AFDDCA7C4FD}"/>
              </a:ext>
            </a:extLst>
          </p:cNvPr>
          <p:cNvSpPr>
            <a:spLocks xmlns:a="http://schemas.openxmlformats.org/drawingml/2006/main" noGrp="1"/>
          </p:cNvSpPr>
          <p:nvPr/>
        </p:nvSpPr>
        <p:spPr>
          <a:xfrm xmlns:a="http://schemas.openxmlformats.org/drawingml/2006/main">
            <a:off x="7267575"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Release &amp; commissioning</a:t>
            </a:r>
          </a:p>
        </p:txBody>
      </p:sp>
      <p:sp>
        <p:nvSpPr>
          <p:cNvPr id="33" name="">
            <a:extLst xmlns:a="http://schemas.openxmlformats.org/drawingml/2006/main">
              <a:ext uri="{FF2B5EF4-FFF2-40B4-BE49-F238E27FC236}">
                <a16:creationId xmlns:a16="http://schemas.microsoft.com/office/drawing/2014/main" id="{961BC564-90BF-49DD-B959-2EE5CB4DBE95}"/>
              </a:ext>
            </a:extLst>
          </p:cNvPr>
          <p:cNvSpPr>
            <a:spLocks xmlns:a="http://schemas.openxmlformats.org/drawingml/2006/main" noGrp="1"/>
          </p:cNvSpPr>
          <p:nvPr/>
        </p:nvSpPr>
        <p:spPr>
          <a:xfrm xmlns:a="http://schemas.openxmlformats.org/drawingml/2006/main">
            <a:off x="9505950" y="5267325"/>
            <a:ext cx="219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Operation</a:t>
            </a:r>
          </a:p>
        </p:txBody>
      </p:sp>
      <p:sp>
        <p:nvSpPr>
          <p:cNvPr id="34" name="">
            <a:extLst xmlns:a="http://schemas.openxmlformats.org/drawingml/2006/main">
              <a:ext uri="{FF2B5EF4-FFF2-40B4-BE49-F238E27FC236}">
                <a16:creationId xmlns:a16="http://schemas.microsoft.com/office/drawing/2014/main" id="{F4959FBE-C8A6-4B18-8C7A-3DE9E10181B4}"/>
              </a:ext>
            </a:extLst>
          </p:cNvPr>
          <p:cNvSpPr>
            <a:spLocks xmlns:a="http://schemas.openxmlformats.org/drawingml/2006/main" noGrp="1"/>
          </p:cNvSpPr>
          <p:nvPr/>
        </p:nvSpPr>
        <p:spPr>
          <a:xfrm xmlns:a="http://schemas.openxmlformats.org/drawingml/2006/main">
            <a:off x="9505950" y="5676900"/>
            <a:ext cx="2190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Monitor, maintain, retire</a:t>
            </a:r>
          </a:p>
        </p:txBody>
      </p:sp>
      <p:sp>
        <p:nvSpPr>
          <p:cNvPr id="35" name="">
            <a:extLst xmlns:a="http://schemas.openxmlformats.org/drawingml/2006/main">
              <a:ext uri="{FF2B5EF4-FFF2-40B4-BE49-F238E27FC236}">
                <a16:creationId xmlns:a16="http://schemas.microsoft.com/office/drawing/2014/main" id="{3205C757-57A1-49AF-B057-1BE5BD047D15}"/>
              </a:ext>
            </a:extLst>
          </p:cNvPr>
          <p:cNvSpPr>
            <a:spLocks xmlns:a="http://schemas.openxmlformats.org/drawingml/2006/main" noGrp="1"/>
          </p:cNvSpPr>
          <p:nvPr/>
        </p:nvSpPr>
        <p:spPr>
          <a:xfrm xmlns:a="http://schemas.openxmlformats.org/drawingml/2006/main">
            <a:off x="552450" y="62865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304DD9"/>
                </a:solidFill>
                <a:latin typeface="DejaVu Sans"/>
                <a:ea typeface="DejaVu Sans"/>
                <a:cs typeface="DejaVu Sans"/>
              </a:defRPr>
            </a:defPPr>
          </a:lstStyle>
          <a:p xmlns:a="http://schemas.openxmlformats.org/drawingml/2006/main">
            <a:pPr>
              <a:defRPr sz="1575" b="1">
                <a:solidFill>
                  <a:srgbClr val="304DD9"/>
                </a:solidFill>
                <a:latin typeface="DejaVu Sans"/>
                <a:ea typeface="DejaVu Sans"/>
                <a:cs typeface="DejaVu Sans"/>
              </a:defRPr>
            </a:pPr>
            <a:r>
              <a:rPr sz="1575" b="1">
                <a:solidFill>
                  <a:srgbClr val="304DD9"/>
                </a:solidFill>
                <a:latin typeface="DejaVu Sans"/>
                <a:ea typeface="DejaVu Sans"/>
                <a:cs typeface="DejaVu Sans"/>
              </a:rPr>
              <a:t>Product-line approach: reuse core components, configure variants, validate each application.</a:t>
            </a:r>
          </a:p>
        </p:txBody>
      </p:sp>
    </p:spTree>
    <p:extLst>
      <p:ext uri="{BB962C8B-B14F-4D97-AF65-F5344CB8AC3E}">
        <p14:creationId xmlns:p14="http://schemas.microsoft.com/office/powerpoint/2010/main" val="1860589835"/>
      </p:ext>
    </p:extLst>
  </p:cSld>
</p:sld>
</file>

<file path=ppt/slides/slide1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B2A561E-8C20-4561-96D1-61127D699884}"/>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Motion capability within the robotics product</a:t>
            </a:r>
          </a:p>
        </p:txBody>
      </p:sp>
      <p:sp>
        <p:nvSpPr>
          <p:cNvPr id="2" name="">
            <a:extLst xmlns:a="http://schemas.openxmlformats.org/drawingml/2006/main">
              <a:ext uri="{FF2B5EF4-FFF2-40B4-BE49-F238E27FC236}">
                <a16:creationId xmlns:a16="http://schemas.microsoft.com/office/drawing/2014/main" id="{7364DAA4-028E-4CB9-B635-24070A553DF9}"/>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15</a:t>
            </a:r>
          </a:p>
        </p:txBody>
      </p:sp>
      <p:pic>
        <p:nvPicPr>
          <p:cNvPr id="3" name="">
            <a:extLst xmlns:a="http://schemas.openxmlformats.org/drawingml/2006/main">
              <a:ext uri="{FF2B5EF4-FFF2-40B4-BE49-F238E27FC236}">
                <a16:creationId xmlns:a16="http://schemas.microsoft.com/office/drawing/2014/main" id="{D2FDBCAE-E459-41AC-8BBB-71F5603F0D46}"/>
              </a:ext>
            </a:extLst>
          </p:cNvPr>
          <p:cNvPicPr>
            <a:picLocks xmlns:a="http://schemas.openxmlformats.org/drawingml/2006/main" noChangeAspect="1"/>
          </p:cNvPicPr>
          <p:nvPr/>
        </p:nvPicPr>
        <p:blipFill>
          <a:blip xmlns:r="http://schemas.openxmlformats.org/officeDocument/2006/relationships" xmlns:a="http://schemas.openxmlformats.org/drawingml/2006/main" r:embed="Rb211e207470547c3"/>
          <a:srcRect xmlns:a="http://schemas.openxmlformats.org/drawingml/2006/main" l="18057" t="0" r="18057" b="0"/>
          <a:stretch xmlns:a="http://schemas.openxmlformats.org/drawingml/2006/main">
            <a:fillRect l="0" t="0" r="0" b="0"/>
          </a:stretch>
        </p:blipFill>
        <p:spPr>
          <a:xfrm xmlns:a="http://schemas.openxmlformats.org/drawingml/2006/main">
            <a:off x="7667625" y="1571625"/>
            <a:ext cx="4000500"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F1FDFEA-BB7E-413D-B0E4-4527142200FE}"/>
              </a:ext>
            </a:extLst>
          </p:cNvPr>
          <p:cNvSpPr>
            <a:spLocks xmlns:a="http://schemas.openxmlformats.org/drawingml/2006/main" noGrp="1"/>
          </p:cNvSpPr>
          <p:nvPr/>
        </p:nvSpPr>
        <p:spPr>
          <a:xfrm xmlns:a="http://schemas.openxmlformats.org/drawingml/2006/main">
            <a:off x="552450" y="16192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04DD9"/>
                </a:solidFill>
                <a:latin typeface="DejaVu Serif"/>
                <a:ea typeface="DejaVu Serif"/>
                <a:cs typeface="DejaVu Serif"/>
              </a:defRPr>
            </a:defPPr>
          </a:lstStyle>
          <a:p xmlns:a="http://schemas.openxmlformats.org/drawingml/2006/main">
            <a:pPr>
              <a:defRPr sz="2550" b="1">
                <a:solidFill>
                  <a:srgbClr val="304DD9"/>
                </a:solidFill>
                <a:latin typeface="DejaVu Serif"/>
                <a:ea typeface="DejaVu Serif"/>
                <a:cs typeface="DejaVu Serif"/>
              </a:defRPr>
            </a:pPr>
            <a:r>
              <a:rPr sz="2550" b="1">
                <a:solidFill>
                  <a:srgbClr val="304DD9"/>
                </a:solidFill>
                <a:latin typeface="DejaVu Serif"/>
                <a:ea typeface="DejaVu Serif"/>
                <a:cs typeface="DejaVu Serif"/>
              </a:rPr>
              <a:t>01</a:t>
            </a:r>
          </a:p>
        </p:txBody>
      </p:sp>
      <p:sp>
        <p:nvSpPr>
          <p:cNvPr id="5" name="">
            <a:extLst xmlns:a="http://schemas.openxmlformats.org/drawingml/2006/main">
              <a:ext uri="{FF2B5EF4-FFF2-40B4-BE49-F238E27FC236}">
                <a16:creationId xmlns:a16="http://schemas.microsoft.com/office/drawing/2014/main" id="{B570856B-16C9-4514-A178-6B742073E846}"/>
              </a:ext>
            </a:extLst>
          </p:cNvPr>
          <p:cNvSpPr>
            <a:spLocks xmlns:a="http://schemas.openxmlformats.org/drawingml/2006/main" noGrp="1"/>
          </p:cNvSpPr>
          <p:nvPr/>
        </p:nvSpPr>
        <p:spPr>
          <a:xfrm xmlns:a="http://schemas.openxmlformats.org/drawingml/2006/main">
            <a:off x="1381125" y="16192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Describe the task</a:t>
            </a:r>
          </a:p>
        </p:txBody>
      </p:sp>
      <p:sp>
        <p:nvSpPr>
          <p:cNvPr id="6" name="">
            <a:extLst xmlns:a="http://schemas.openxmlformats.org/drawingml/2006/main">
              <a:ext uri="{FF2B5EF4-FFF2-40B4-BE49-F238E27FC236}">
                <a16:creationId xmlns:a16="http://schemas.microsoft.com/office/drawing/2014/main" id="{257C531F-5850-460B-B595-A5F4134D82E2}"/>
              </a:ext>
            </a:extLst>
          </p:cNvPr>
          <p:cNvSpPr>
            <a:spLocks xmlns:a="http://schemas.openxmlformats.org/drawingml/2006/main" noGrp="1"/>
          </p:cNvSpPr>
          <p:nvPr/>
        </p:nvSpPr>
        <p:spPr>
          <a:xfrm xmlns:a="http://schemas.openxmlformats.org/drawingml/2006/main">
            <a:off x="1381125" y="2019300"/>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Robot, part, tool, region and process constraints</a:t>
            </a:r>
          </a:p>
        </p:txBody>
      </p:sp>
      <p:sp>
        <p:nvSpPr>
          <p:cNvPr id="7" name="">
            <a:extLst xmlns:a="http://schemas.openxmlformats.org/drawingml/2006/main">
              <a:ext uri="{FF2B5EF4-FFF2-40B4-BE49-F238E27FC236}">
                <a16:creationId xmlns:a16="http://schemas.microsoft.com/office/drawing/2014/main" id="{268C7EDE-87A7-4EDB-8C61-7C8377E75406}"/>
              </a:ext>
            </a:extLst>
          </p:cNvPr>
          <p:cNvSpPr>
            <a:spLocks xmlns:a="http://schemas.openxmlformats.org/drawingml/2006/main" noGrp="1"/>
          </p:cNvSpPr>
          <p:nvPr/>
        </p:nvSpPr>
        <p:spPr>
          <a:xfrm xmlns:a="http://schemas.openxmlformats.org/drawingml/2006/main">
            <a:off x="552450" y="26003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04DD9"/>
                </a:solidFill>
                <a:latin typeface="DejaVu Serif"/>
                <a:ea typeface="DejaVu Serif"/>
                <a:cs typeface="DejaVu Serif"/>
              </a:defRPr>
            </a:defPPr>
          </a:lstStyle>
          <a:p xmlns:a="http://schemas.openxmlformats.org/drawingml/2006/main">
            <a:pPr>
              <a:defRPr sz="2550" b="1">
                <a:solidFill>
                  <a:srgbClr val="304DD9"/>
                </a:solidFill>
                <a:latin typeface="DejaVu Serif"/>
                <a:ea typeface="DejaVu Serif"/>
                <a:cs typeface="DejaVu Serif"/>
              </a:defRPr>
            </a:pPr>
            <a:r>
              <a:rPr sz="2550" b="1">
                <a:solidFill>
                  <a:srgbClr val="304DD9"/>
                </a:solidFill>
                <a:latin typeface="DejaVu Serif"/>
                <a:ea typeface="DejaVu Serif"/>
                <a:cs typeface="DejaVu Serif"/>
              </a:rPr>
              <a:t>02</a:t>
            </a:r>
          </a:p>
        </p:txBody>
      </p:sp>
      <p:sp>
        <p:nvSpPr>
          <p:cNvPr id="8" name="">
            <a:extLst xmlns:a="http://schemas.openxmlformats.org/drawingml/2006/main">
              <a:ext uri="{FF2B5EF4-FFF2-40B4-BE49-F238E27FC236}">
                <a16:creationId xmlns:a16="http://schemas.microsoft.com/office/drawing/2014/main" id="{29520074-7E73-45FE-BA5F-42173A5FC79E}"/>
              </a:ext>
            </a:extLst>
          </p:cNvPr>
          <p:cNvSpPr>
            <a:spLocks xmlns:a="http://schemas.openxmlformats.org/drawingml/2006/main" noGrp="1"/>
          </p:cNvSpPr>
          <p:nvPr/>
        </p:nvSpPr>
        <p:spPr>
          <a:xfrm xmlns:a="http://schemas.openxmlformats.org/drawingml/2006/main">
            <a:off x="1381125" y="26003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Generate motion</a:t>
            </a:r>
          </a:p>
        </p:txBody>
      </p:sp>
      <p:sp>
        <p:nvSpPr>
          <p:cNvPr id="9" name="">
            <a:extLst xmlns:a="http://schemas.openxmlformats.org/drawingml/2006/main">
              <a:ext uri="{FF2B5EF4-FFF2-40B4-BE49-F238E27FC236}">
                <a16:creationId xmlns:a16="http://schemas.microsoft.com/office/drawing/2014/main" id="{97FCD966-4A6D-4F32-828E-D8F38326B2AD}"/>
              </a:ext>
            </a:extLst>
          </p:cNvPr>
          <p:cNvSpPr>
            <a:spLocks xmlns:a="http://schemas.openxmlformats.org/drawingml/2006/main" noGrp="1"/>
          </p:cNvSpPr>
          <p:nvPr/>
        </p:nvSpPr>
        <p:spPr>
          <a:xfrm xmlns:a="http://schemas.openxmlformats.org/drawingml/2006/main">
            <a:off x="1381125" y="3000375"/>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Configurable toolpaths and suitable planner backends</a:t>
            </a:r>
          </a:p>
        </p:txBody>
      </p:sp>
      <p:sp>
        <p:nvSpPr>
          <p:cNvPr id="10" name="">
            <a:extLst xmlns:a="http://schemas.openxmlformats.org/drawingml/2006/main">
              <a:ext uri="{FF2B5EF4-FFF2-40B4-BE49-F238E27FC236}">
                <a16:creationId xmlns:a16="http://schemas.microsoft.com/office/drawing/2014/main" id="{06DEC571-FD0E-49BA-B4FF-CA0B89B17119}"/>
              </a:ext>
            </a:extLst>
          </p:cNvPr>
          <p:cNvSpPr>
            <a:spLocks xmlns:a="http://schemas.openxmlformats.org/drawingml/2006/main" noGrp="1"/>
          </p:cNvSpPr>
          <p:nvPr/>
        </p:nvSpPr>
        <p:spPr>
          <a:xfrm xmlns:a="http://schemas.openxmlformats.org/drawingml/2006/main">
            <a:off x="552450" y="35814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04DD9"/>
                </a:solidFill>
                <a:latin typeface="DejaVu Serif"/>
                <a:ea typeface="DejaVu Serif"/>
                <a:cs typeface="DejaVu Serif"/>
              </a:defRPr>
            </a:defPPr>
          </a:lstStyle>
          <a:p xmlns:a="http://schemas.openxmlformats.org/drawingml/2006/main">
            <a:pPr>
              <a:defRPr sz="2550" b="1">
                <a:solidFill>
                  <a:srgbClr val="304DD9"/>
                </a:solidFill>
                <a:latin typeface="DejaVu Serif"/>
                <a:ea typeface="DejaVu Serif"/>
                <a:cs typeface="DejaVu Serif"/>
              </a:defRPr>
            </a:pPr>
            <a:r>
              <a:rPr sz="2550" b="1">
                <a:solidFill>
                  <a:srgbClr val="304DD9"/>
                </a:solidFill>
                <a:latin typeface="DejaVu Serif"/>
                <a:ea typeface="DejaVu Serif"/>
                <a:cs typeface="DejaVu Serif"/>
              </a:rPr>
              <a:t>03</a:t>
            </a:r>
          </a:p>
        </p:txBody>
      </p:sp>
      <p:sp>
        <p:nvSpPr>
          <p:cNvPr id="11" name="">
            <a:extLst xmlns:a="http://schemas.openxmlformats.org/drawingml/2006/main">
              <a:ext uri="{FF2B5EF4-FFF2-40B4-BE49-F238E27FC236}">
                <a16:creationId xmlns:a16="http://schemas.microsoft.com/office/drawing/2014/main" id="{0C0E5392-9206-4554-BB1E-3C46F59F5A65}"/>
              </a:ext>
            </a:extLst>
          </p:cNvPr>
          <p:cNvSpPr>
            <a:spLocks xmlns:a="http://schemas.openxmlformats.org/drawingml/2006/main" noGrp="1"/>
          </p:cNvSpPr>
          <p:nvPr/>
        </p:nvSpPr>
        <p:spPr>
          <a:xfrm xmlns:a="http://schemas.openxmlformats.org/drawingml/2006/main">
            <a:off x="1381125" y="358140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Validate and execute</a:t>
            </a:r>
          </a:p>
        </p:txBody>
      </p:sp>
      <p:sp>
        <p:nvSpPr>
          <p:cNvPr id="12" name="">
            <a:extLst xmlns:a="http://schemas.openxmlformats.org/drawingml/2006/main">
              <a:ext uri="{FF2B5EF4-FFF2-40B4-BE49-F238E27FC236}">
                <a16:creationId xmlns:a16="http://schemas.microsoft.com/office/drawing/2014/main" id="{3F736C40-C5C8-4B4B-9B16-855F576275A8}"/>
              </a:ext>
            </a:extLst>
          </p:cNvPr>
          <p:cNvSpPr>
            <a:spLocks xmlns:a="http://schemas.openxmlformats.org/drawingml/2006/main" noGrp="1"/>
          </p:cNvSpPr>
          <p:nvPr/>
        </p:nvSpPr>
        <p:spPr>
          <a:xfrm xmlns:a="http://schemas.openxmlformats.org/drawingml/2006/main">
            <a:off x="1381125" y="3981450"/>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Path checks, simulation and robot/controller handoff</a:t>
            </a:r>
          </a:p>
        </p:txBody>
      </p:sp>
      <p:sp>
        <p:nvSpPr>
          <p:cNvPr id="13" name="">
            <a:extLst xmlns:a="http://schemas.openxmlformats.org/drawingml/2006/main">
              <a:ext uri="{FF2B5EF4-FFF2-40B4-BE49-F238E27FC236}">
                <a16:creationId xmlns:a16="http://schemas.microsoft.com/office/drawing/2014/main" id="{B0561F54-B67A-4FFD-B5BB-FDA67FD9CEE0}"/>
              </a:ext>
            </a:extLst>
          </p:cNvPr>
          <p:cNvSpPr>
            <a:spLocks xmlns:a="http://schemas.openxmlformats.org/drawingml/2006/main" noGrp="1"/>
          </p:cNvSpPr>
          <p:nvPr/>
        </p:nvSpPr>
        <p:spPr>
          <a:xfrm xmlns:a="http://schemas.openxmlformats.org/drawingml/2006/main">
            <a:off x="552450" y="45624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04DD9"/>
                </a:solidFill>
                <a:latin typeface="DejaVu Serif"/>
                <a:ea typeface="DejaVu Serif"/>
                <a:cs typeface="DejaVu Serif"/>
              </a:defRPr>
            </a:defPPr>
          </a:lstStyle>
          <a:p xmlns:a="http://schemas.openxmlformats.org/drawingml/2006/main">
            <a:pPr>
              <a:defRPr sz="2550" b="1">
                <a:solidFill>
                  <a:srgbClr val="304DD9"/>
                </a:solidFill>
                <a:latin typeface="DejaVu Serif"/>
                <a:ea typeface="DejaVu Serif"/>
                <a:cs typeface="DejaVu Serif"/>
              </a:defRPr>
            </a:pPr>
            <a:r>
              <a:rPr sz="2550" b="1">
                <a:solidFill>
                  <a:srgbClr val="304DD9"/>
                </a:solidFill>
                <a:latin typeface="DejaVu Serif"/>
                <a:ea typeface="DejaVu Serif"/>
                <a:cs typeface="DejaVu Serif"/>
              </a:rPr>
              <a:t>04</a:t>
            </a:r>
          </a:p>
        </p:txBody>
      </p:sp>
      <p:sp>
        <p:nvSpPr>
          <p:cNvPr id="14" name="">
            <a:extLst xmlns:a="http://schemas.openxmlformats.org/drawingml/2006/main">
              <a:ext uri="{FF2B5EF4-FFF2-40B4-BE49-F238E27FC236}">
                <a16:creationId xmlns:a16="http://schemas.microsoft.com/office/drawing/2014/main" id="{7866AB5F-50A5-4372-805B-943FEFD69CD4}"/>
              </a:ext>
            </a:extLst>
          </p:cNvPr>
          <p:cNvSpPr>
            <a:spLocks xmlns:a="http://schemas.openxmlformats.org/drawingml/2006/main" noGrp="1"/>
          </p:cNvSpPr>
          <p:nvPr/>
        </p:nvSpPr>
        <p:spPr>
          <a:xfrm xmlns:a="http://schemas.openxmlformats.org/drawingml/2006/main">
            <a:off x="1381125" y="456247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Adapt when needed</a:t>
            </a:r>
          </a:p>
        </p:txBody>
      </p:sp>
      <p:sp>
        <p:nvSpPr>
          <p:cNvPr id="15" name="">
            <a:extLst xmlns:a="http://schemas.openxmlformats.org/drawingml/2006/main">
              <a:ext uri="{FF2B5EF4-FFF2-40B4-BE49-F238E27FC236}">
                <a16:creationId xmlns:a16="http://schemas.microsoft.com/office/drawing/2014/main" id="{23C9F7F3-8A32-4572-AD59-0001E009BFAA}"/>
              </a:ext>
            </a:extLst>
          </p:cNvPr>
          <p:cNvSpPr>
            <a:spLocks xmlns:a="http://schemas.openxmlformats.org/drawingml/2006/main" noGrp="1"/>
          </p:cNvSpPr>
          <p:nvPr/>
        </p:nvSpPr>
        <p:spPr>
          <a:xfrm xmlns:a="http://schemas.openxmlformats.org/drawingml/2006/main">
            <a:off x="1381125" y="4962525"/>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Measured state, bounded corrections and replanning</a:t>
            </a:r>
          </a:p>
        </p:txBody>
      </p:sp>
      <p:sp>
        <p:nvSpPr>
          <p:cNvPr id="16" name="">
            <a:extLst xmlns:a="http://schemas.openxmlformats.org/drawingml/2006/main">
              <a:ext uri="{FF2B5EF4-FFF2-40B4-BE49-F238E27FC236}">
                <a16:creationId xmlns:a16="http://schemas.microsoft.com/office/drawing/2014/main" id="{D55030BC-CB60-489E-89F4-FDC350504D88}"/>
              </a:ext>
            </a:extLst>
          </p:cNvPr>
          <p:cNvSpPr>
            <a:spLocks xmlns:a="http://schemas.openxmlformats.org/drawingml/2006/main" noGrp="1"/>
          </p:cNvSpPr>
          <p:nvPr/>
        </p:nvSpPr>
        <p:spPr>
          <a:xfrm xmlns:a="http://schemas.openxmlformats.org/drawingml/2006/main">
            <a:off x="7981950" y="5191125"/>
            <a:ext cx="357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304DD9"/>
                </a:solidFill>
                <a:latin typeface="DejaVu Sans"/>
                <a:ea typeface="DejaVu Sans"/>
                <a:cs typeface="DejaVu Sans"/>
              </a:defRPr>
            </a:defPPr>
          </a:lstStyle>
          <a:p xmlns:a="http://schemas.openxmlformats.org/drawingml/2006/main">
            <a:pPr>
              <a:defRPr sz="1575" b="1">
                <a:solidFill>
                  <a:srgbClr val="304DD9"/>
                </a:solidFill>
                <a:latin typeface="DejaVu Sans"/>
                <a:ea typeface="DejaVu Sans"/>
                <a:cs typeface="DejaVu Sans"/>
              </a:defRPr>
            </a:pPr>
            <a:r>
              <a:rPr sz="1575" b="1">
                <a:solidFill>
                  <a:srgbClr val="304DD9"/>
                </a:solidFill>
                <a:latin typeface="DejaVu Sans"/>
                <a:ea typeface="DejaVu Sans"/>
                <a:cs typeface="DejaVu Sans"/>
              </a:rPr>
              <a:t>RXU integration</a:t>
            </a:r>
          </a:p>
          <a:p xmlns:a="http://schemas.openxmlformats.org/drawingml/2006/main">
            <a:pPr>
              <a:defRPr sz="1575" b="1">
                <a:solidFill>
                  <a:srgbClr val="304DD9"/>
                </a:solidFill>
                <a:latin typeface="DejaVu Sans"/>
                <a:ea typeface="DejaVu Sans"/>
                <a:cs typeface="DejaVu Sans"/>
              </a:defRPr>
            </a:pPr>
            <a:r>
              <a:rPr sz="1575" b="1">
                <a:solidFill>
                  <a:srgbClr val="304DD9"/>
                </a:solidFill>
                <a:latin typeface="DejaVu Sans"/>
                <a:ea typeface="DejaVu Sans"/>
                <a:cs typeface="DejaVu Sans"/>
              </a:rPr>
              <a:t>Control / connectivity</a:t>
            </a:r>
          </a:p>
          <a:p xmlns:a="http://schemas.openxmlformats.org/drawingml/2006/main">
            <a:pPr>
              <a:defRPr sz="1575" b="1">
                <a:solidFill>
                  <a:srgbClr val="304DD9"/>
                </a:solidFill>
                <a:latin typeface="DejaVu Sans"/>
                <a:ea typeface="DejaVu Sans"/>
                <a:cs typeface="DejaVu Sans"/>
              </a:defRPr>
            </a:pPr>
            <a:r>
              <a:rPr sz="1575" b="1">
                <a:solidFill>
                  <a:srgbClr val="304DD9"/>
                </a:solidFill>
                <a:latin typeface="DejaVu Sans"/>
                <a:ea typeface="DejaVu Sans"/>
                <a:cs typeface="DejaVu Sans"/>
              </a:rPr>
              <a:t>Task supervision</a:t>
            </a:r>
          </a:p>
        </p:txBody>
      </p:sp>
      <p:sp>
        <p:nvSpPr>
          <p:cNvPr id="17" name="">
            <a:extLst xmlns:a="http://schemas.openxmlformats.org/drawingml/2006/main">
              <a:ext uri="{FF2B5EF4-FFF2-40B4-BE49-F238E27FC236}">
                <a16:creationId xmlns:a16="http://schemas.microsoft.com/office/drawing/2014/main" id="{6C3E1F23-E92B-412D-BA77-5256A65381BF}"/>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A common application contract, with the planning method chosen for the task.</a:t>
            </a:r>
          </a:p>
        </p:txBody>
      </p:sp>
    </p:spTree>
    <p:extLst>
      <p:ext uri="{BB962C8B-B14F-4D97-AF65-F5344CB8AC3E}">
        <p14:creationId xmlns:p14="http://schemas.microsoft.com/office/powerpoint/2010/main" val="800154881"/>
      </p:ext>
    </p:extLst>
  </p:cSld>
</p:sld>
</file>

<file path=ppt/slides/slide1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A93FD9D-3688-4CED-B36C-911AE363B80B}"/>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2027: integrate existing capabilities step by step</a:t>
            </a:r>
          </a:p>
        </p:txBody>
      </p:sp>
      <p:sp>
        <p:nvSpPr>
          <p:cNvPr id="2" name="">
            <a:extLst xmlns:a="http://schemas.openxmlformats.org/drawingml/2006/main">
              <a:ext uri="{FF2B5EF4-FFF2-40B4-BE49-F238E27FC236}">
                <a16:creationId xmlns:a16="http://schemas.microsoft.com/office/drawing/2014/main" id="{93744D2C-241B-4732-A24C-EFE9ADF30EB5}"/>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16</a:t>
            </a:r>
          </a:p>
        </p:txBody>
      </p:sp>
      <p:pic>
        <p:nvPicPr>
          <p:cNvPr id="3" name="">
            <a:extLst xmlns:a="http://schemas.openxmlformats.org/drawingml/2006/main">
              <a:ext uri="{FF2B5EF4-FFF2-40B4-BE49-F238E27FC236}">
                <a16:creationId xmlns:a16="http://schemas.microsoft.com/office/drawing/2014/main" id="{FABCB07E-D07F-4C53-B1C2-76F078596725}"/>
              </a:ext>
            </a:extLst>
          </p:cNvPr>
          <p:cNvPicPr>
            <a:picLocks xmlns:a="http://schemas.openxmlformats.org/drawingml/2006/main" noChangeAspect="1"/>
          </p:cNvPicPr>
          <p:nvPr/>
        </p:nvPicPr>
        <p:blipFill>
          <a:blip xmlns:r="http://schemas.openxmlformats.org/officeDocument/2006/relationships" xmlns:a="http://schemas.openxmlformats.org/drawingml/2006/main" r:embed="Rf9eb782324e64850"/>
          <a:srcRect xmlns:a="http://schemas.openxmlformats.org/drawingml/2006/main" l="0" t="33190" r="0" b="33190"/>
          <a:stretch xmlns:a="http://schemas.openxmlformats.org/drawingml/2006/main">
            <a:fillRect l="0" t="0" r="0" b="0"/>
          </a:stretch>
        </p:blipFill>
        <p:spPr>
          <a:xfrm xmlns:a="http://schemas.openxmlformats.org/drawingml/2006/main">
            <a:off x="552450" y="1990725"/>
            <a:ext cx="11049000" cy="1238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838FC2F-B5E4-41CC-9AB2-C6F1C5EDEC5E}"/>
              </a:ext>
            </a:extLst>
          </p:cNvPr>
          <p:cNvSpPr>
            <a:spLocks xmlns:a="http://schemas.openxmlformats.org/drawingml/2006/main" noGrp="1"/>
          </p:cNvSpPr>
          <p:nvPr/>
        </p:nvSpPr>
        <p:spPr>
          <a:xfrm xmlns:a="http://schemas.openxmlformats.org/drawingml/2006/main">
            <a:off x="552450" y="1381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Q1</a:t>
            </a:r>
          </a:p>
        </p:txBody>
      </p:sp>
      <p:sp>
        <p:nvSpPr>
          <p:cNvPr id="5" name="">
            <a:extLst xmlns:a="http://schemas.openxmlformats.org/drawingml/2006/main">
              <a:ext uri="{FF2B5EF4-FFF2-40B4-BE49-F238E27FC236}">
                <a16:creationId xmlns:a16="http://schemas.microsoft.com/office/drawing/2014/main" id="{66B4CC31-C29B-473B-BB89-D0E828761851}"/>
              </a:ext>
            </a:extLst>
          </p:cNvPr>
          <p:cNvSpPr>
            <a:spLocks xmlns:a="http://schemas.openxmlformats.org/drawingml/2006/main" noGrp="1"/>
          </p:cNvSpPr>
          <p:nvPr/>
        </p:nvSpPr>
        <p:spPr>
          <a:xfrm xmlns:a="http://schemas.openxmlformats.org/drawingml/2006/main">
            <a:off x="552450" y="33432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Data and toolpaths</a:t>
            </a:r>
          </a:p>
        </p:txBody>
      </p:sp>
      <p:sp>
        <p:nvSpPr>
          <p:cNvPr id="6" name="">
            <a:extLst xmlns:a="http://schemas.openxmlformats.org/drawingml/2006/main">
              <a:ext uri="{FF2B5EF4-FFF2-40B4-BE49-F238E27FC236}">
                <a16:creationId xmlns:a16="http://schemas.microsoft.com/office/drawing/2014/main" id="{77B46129-0308-4CE2-AACB-0F355F0173E9}"/>
              </a:ext>
            </a:extLst>
          </p:cNvPr>
          <p:cNvSpPr>
            <a:spLocks xmlns:a="http://schemas.openxmlformats.org/drawingml/2006/main" noGrp="1"/>
          </p:cNvSpPr>
          <p:nvPr/>
        </p:nvSpPr>
        <p:spPr>
          <a:xfrm xmlns:a="http://schemas.openxmlformats.org/drawingml/2006/main">
            <a:off x="552450" y="4086225"/>
            <a:ext cx="255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1  Robot, part and scene adapters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2  Configurable toolpath interface</a:t>
            </a:r>
          </a:p>
        </p:txBody>
      </p:sp>
      <p:sp>
        <p:nvSpPr>
          <p:cNvPr id="7" name="">
            <a:extLst xmlns:a="http://schemas.openxmlformats.org/drawingml/2006/main">
              <a:ext uri="{FF2B5EF4-FFF2-40B4-BE49-F238E27FC236}">
                <a16:creationId xmlns:a16="http://schemas.microsoft.com/office/drawing/2014/main" id="{3B3F6CBC-CAA0-4161-B10D-353FD4FB1776}"/>
              </a:ext>
            </a:extLst>
          </p:cNvPr>
          <p:cNvSpPr>
            <a:spLocks xmlns:a="http://schemas.openxmlformats.org/drawingml/2006/main" noGrp="1"/>
          </p:cNvSpPr>
          <p:nvPr/>
        </p:nvSpPr>
        <p:spPr>
          <a:xfrm xmlns:a="http://schemas.openxmlformats.org/drawingml/2006/main">
            <a:off x="552450" y="5295900"/>
            <a:ext cx="2552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304DD9"/>
                </a:solidFill>
                <a:latin typeface="DejaVu Sans"/>
                <a:ea typeface="DejaVu Sans"/>
                <a:cs typeface="DejaVu Sans"/>
              </a:defRPr>
            </a:defPPr>
          </a:lstStyle>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Gate: toolpath through</a:t>
            </a:r>
          </a:p>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a common API</a:t>
            </a:r>
          </a:p>
        </p:txBody>
      </p:sp>
      <p:sp>
        <p:nvSpPr>
          <p:cNvPr id="8" name="">
            <a:extLst xmlns:a="http://schemas.openxmlformats.org/drawingml/2006/main">
              <a:ext uri="{FF2B5EF4-FFF2-40B4-BE49-F238E27FC236}">
                <a16:creationId xmlns:a16="http://schemas.microsoft.com/office/drawing/2014/main" id="{4BD26BAF-7388-4EA2-9CDA-D90CA3603072}"/>
              </a:ext>
            </a:extLst>
          </p:cNvPr>
          <p:cNvSpPr>
            <a:spLocks xmlns:a="http://schemas.openxmlformats.org/drawingml/2006/main" noGrp="1"/>
          </p:cNvSpPr>
          <p:nvPr/>
        </p:nvSpPr>
        <p:spPr>
          <a:xfrm xmlns:a="http://schemas.openxmlformats.org/drawingml/2006/main">
            <a:off x="3409950" y="1381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Q2</a:t>
            </a:r>
          </a:p>
        </p:txBody>
      </p:sp>
      <p:sp>
        <p:nvSpPr>
          <p:cNvPr id="9" name="">
            <a:extLst xmlns:a="http://schemas.openxmlformats.org/drawingml/2006/main">
              <a:ext uri="{FF2B5EF4-FFF2-40B4-BE49-F238E27FC236}">
                <a16:creationId xmlns:a16="http://schemas.microsoft.com/office/drawing/2014/main" id="{F1BDC0CA-6E8D-4CE5-A007-6A08C6E2B9E6}"/>
              </a:ext>
            </a:extLst>
          </p:cNvPr>
          <p:cNvSpPr>
            <a:spLocks xmlns:a="http://schemas.openxmlformats.org/drawingml/2006/main" noGrp="1"/>
          </p:cNvSpPr>
          <p:nvPr/>
        </p:nvSpPr>
        <p:spPr>
          <a:xfrm xmlns:a="http://schemas.openxmlformats.org/drawingml/2006/main">
            <a:off x="3409950" y="33432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Planning and checks</a:t>
            </a:r>
          </a:p>
        </p:txBody>
      </p:sp>
      <p:sp>
        <p:nvSpPr>
          <p:cNvPr id="10" name="">
            <a:extLst xmlns:a="http://schemas.openxmlformats.org/drawingml/2006/main">
              <a:ext uri="{FF2B5EF4-FFF2-40B4-BE49-F238E27FC236}">
                <a16:creationId xmlns:a16="http://schemas.microsoft.com/office/drawing/2014/main" id="{51856853-214E-4136-A588-F503B0C4049E}"/>
              </a:ext>
            </a:extLst>
          </p:cNvPr>
          <p:cNvSpPr>
            <a:spLocks xmlns:a="http://schemas.openxmlformats.org/drawingml/2006/main" noGrp="1"/>
          </p:cNvSpPr>
          <p:nvPr/>
        </p:nvSpPr>
        <p:spPr>
          <a:xfrm xmlns:a="http://schemas.openxmlformats.org/drawingml/2006/main">
            <a:off x="3409950" y="4086225"/>
            <a:ext cx="255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3  HPP / MoveIt2 / Tesseract adapters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4  Common path and process checks</a:t>
            </a:r>
          </a:p>
        </p:txBody>
      </p:sp>
      <p:sp>
        <p:nvSpPr>
          <p:cNvPr id="11" name="">
            <a:extLst xmlns:a="http://schemas.openxmlformats.org/drawingml/2006/main">
              <a:ext uri="{FF2B5EF4-FFF2-40B4-BE49-F238E27FC236}">
                <a16:creationId xmlns:a16="http://schemas.microsoft.com/office/drawing/2014/main" id="{23950825-5D8E-4108-B5B1-2D197D0CECA3}"/>
              </a:ext>
            </a:extLst>
          </p:cNvPr>
          <p:cNvSpPr>
            <a:spLocks xmlns:a="http://schemas.openxmlformats.org/drawingml/2006/main" noGrp="1"/>
          </p:cNvSpPr>
          <p:nvPr/>
        </p:nvSpPr>
        <p:spPr>
          <a:xfrm xmlns:a="http://schemas.openxmlformats.org/drawingml/2006/main">
            <a:off x="3409950" y="5295900"/>
            <a:ext cx="2552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304DD9"/>
                </a:solidFill>
                <a:latin typeface="DejaVu Sans"/>
                <a:ea typeface="DejaVu Sans"/>
                <a:cs typeface="DejaVu Sans"/>
              </a:defRPr>
            </a:defPPr>
          </a:lstStyle>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Gate: validated</a:t>
            </a:r>
          </a:p>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planner output</a:t>
            </a:r>
          </a:p>
        </p:txBody>
      </p:sp>
      <p:sp>
        <p:nvSpPr>
          <p:cNvPr id="12" name="">
            <a:extLst xmlns:a="http://schemas.openxmlformats.org/drawingml/2006/main">
              <a:ext uri="{FF2B5EF4-FFF2-40B4-BE49-F238E27FC236}">
                <a16:creationId xmlns:a16="http://schemas.microsoft.com/office/drawing/2014/main" id="{50F96B4E-5615-41B0-B76C-EC5374DDBEF3}"/>
              </a:ext>
            </a:extLst>
          </p:cNvPr>
          <p:cNvSpPr>
            <a:spLocks xmlns:a="http://schemas.openxmlformats.org/drawingml/2006/main" noGrp="1"/>
          </p:cNvSpPr>
          <p:nvPr/>
        </p:nvSpPr>
        <p:spPr>
          <a:xfrm xmlns:a="http://schemas.openxmlformats.org/drawingml/2006/main">
            <a:off x="6267450" y="1381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Q3</a:t>
            </a:r>
          </a:p>
        </p:txBody>
      </p:sp>
      <p:sp>
        <p:nvSpPr>
          <p:cNvPr id="13" name="">
            <a:extLst xmlns:a="http://schemas.openxmlformats.org/drawingml/2006/main">
              <a:ext uri="{FF2B5EF4-FFF2-40B4-BE49-F238E27FC236}">
                <a16:creationId xmlns:a16="http://schemas.microsoft.com/office/drawing/2014/main" id="{A44D89FE-437C-446E-BA24-6B1D921F642E}"/>
              </a:ext>
            </a:extLst>
          </p:cNvPr>
          <p:cNvSpPr>
            <a:spLocks xmlns:a="http://schemas.openxmlformats.org/drawingml/2006/main" noGrp="1"/>
          </p:cNvSpPr>
          <p:nvPr/>
        </p:nvSpPr>
        <p:spPr>
          <a:xfrm xmlns:a="http://schemas.openxmlformats.org/drawingml/2006/main">
            <a:off x="6267450" y="33432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Optimization</a:t>
            </a:r>
          </a:p>
        </p:txBody>
      </p:sp>
      <p:sp>
        <p:nvSpPr>
          <p:cNvPr id="14" name="">
            <a:extLst xmlns:a="http://schemas.openxmlformats.org/drawingml/2006/main">
              <a:ext uri="{FF2B5EF4-FFF2-40B4-BE49-F238E27FC236}">
                <a16:creationId xmlns:a16="http://schemas.microsoft.com/office/drawing/2014/main" id="{739739FA-8952-4711-858E-EB1FC2DAD713}"/>
              </a:ext>
            </a:extLst>
          </p:cNvPr>
          <p:cNvSpPr>
            <a:spLocks xmlns:a="http://schemas.openxmlformats.org/drawingml/2006/main" noGrp="1"/>
          </p:cNvSpPr>
          <p:nvPr/>
        </p:nvSpPr>
        <p:spPr>
          <a:xfrm xmlns:a="http://schemas.openxmlformats.org/drawingml/2006/main">
            <a:off x="6267450" y="4086225"/>
            <a:ext cx="255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5  Task / defect sequencing</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6  Smoothing, blending and timing</a:t>
            </a:r>
          </a:p>
        </p:txBody>
      </p:sp>
      <p:sp>
        <p:nvSpPr>
          <p:cNvPr id="15" name="">
            <a:extLst xmlns:a="http://schemas.openxmlformats.org/drawingml/2006/main">
              <a:ext uri="{FF2B5EF4-FFF2-40B4-BE49-F238E27FC236}">
                <a16:creationId xmlns:a16="http://schemas.microsoft.com/office/drawing/2014/main" id="{521E71E7-89BF-4919-AB23-E4020F093851}"/>
              </a:ext>
            </a:extLst>
          </p:cNvPr>
          <p:cNvSpPr>
            <a:spLocks xmlns:a="http://schemas.openxmlformats.org/drawingml/2006/main" noGrp="1"/>
          </p:cNvSpPr>
          <p:nvPr/>
        </p:nvSpPr>
        <p:spPr>
          <a:xfrm xmlns:a="http://schemas.openxmlformats.org/drawingml/2006/main">
            <a:off x="6267450" y="5295900"/>
            <a:ext cx="2552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304DD9"/>
                </a:solidFill>
                <a:latin typeface="DejaVu Sans"/>
                <a:ea typeface="DejaVu Sans"/>
                <a:cs typeface="DejaVu Sans"/>
              </a:defRPr>
            </a:defPPr>
          </a:lstStyle>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Gate: optimized motion</a:t>
            </a:r>
          </a:p>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revalidated</a:t>
            </a:r>
          </a:p>
        </p:txBody>
      </p:sp>
      <p:sp>
        <p:nvSpPr>
          <p:cNvPr id="16" name="">
            <a:extLst xmlns:a="http://schemas.openxmlformats.org/drawingml/2006/main">
              <a:ext uri="{FF2B5EF4-FFF2-40B4-BE49-F238E27FC236}">
                <a16:creationId xmlns:a16="http://schemas.microsoft.com/office/drawing/2014/main" id="{9796BEA4-7B72-47D2-A1D3-2E66F779E518}"/>
              </a:ext>
            </a:extLst>
          </p:cNvPr>
          <p:cNvSpPr>
            <a:spLocks xmlns:a="http://schemas.openxmlformats.org/drawingml/2006/main" noGrp="1"/>
          </p:cNvSpPr>
          <p:nvPr/>
        </p:nvSpPr>
        <p:spPr>
          <a:xfrm xmlns:a="http://schemas.openxmlformats.org/drawingml/2006/main">
            <a:off x="9124950" y="1381125"/>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Q4</a:t>
            </a:r>
          </a:p>
        </p:txBody>
      </p:sp>
      <p:sp>
        <p:nvSpPr>
          <p:cNvPr id="17" name="">
            <a:extLst xmlns:a="http://schemas.openxmlformats.org/drawingml/2006/main">
              <a:ext uri="{FF2B5EF4-FFF2-40B4-BE49-F238E27FC236}">
                <a16:creationId xmlns:a16="http://schemas.microsoft.com/office/drawing/2014/main" id="{3099F68D-80C3-4DA2-93E9-5CE5E60A7ADF}"/>
              </a:ext>
            </a:extLst>
          </p:cNvPr>
          <p:cNvSpPr>
            <a:spLocks xmlns:a="http://schemas.openxmlformats.org/drawingml/2006/main" noGrp="1"/>
          </p:cNvSpPr>
          <p:nvPr/>
        </p:nvSpPr>
        <p:spPr>
          <a:xfrm xmlns:a="http://schemas.openxmlformats.org/drawingml/2006/main">
            <a:off x="9124950" y="3343275"/>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Simulation to robot</a:t>
            </a:r>
          </a:p>
        </p:txBody>
      </p:sp>
      <p:sp>
        <p:nvSpPr>
          <p:cNvPr id="18" name="">
            <a:extLst xmlns:a="http://schemas.openxmlformats.org/drawingml/2006/main">
              <a:ext uri="{FF2B5EF4-FFF2-40B4-BE49-F238E27FC236}">
                <a16:creationId xmlns:a16="http://schemas.microsoft.com/office/drawing/2014/main" id="{67322248-0414-4A19-8879-AC753953FBC1}"/>
              </a:ext>
            </a:extLst>
          </p:cNvPr>
          <p:cNvSpPr>
            <a:spLocks xmlns:a="http://schemas.openxmlformats.org/drawingml/2006/main" noGrp="1"/>
          </p:cNvSpPr>
          <p:nvPr/>
        </p:nvSpPr>
        <p:spPr>
          <a:xfrm xmlns:a="http://schemas.openxmlformats.org/drawingml/2006/main">
            <a:off x="9124950" y="4086225"/>
            <a:ext cx="255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7  Simulator / controller adapters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8  Execution and state feedback</a:t>
            </a:r>
          </a:p>
        </p:txBody>
      </p:sp>
      <p:sp>
        <p:nvSpPr>
          <p:cNvPr id="19" name="">
            <a:extLst xmlns:a="http://schemas.openxmlformats.org/drawingml/2006/main">
              <a:ext uri="{FF2B5EF4-FFF2-40B4-BE49-F238E27FC236}">
                <a16:creationId xmlns:a16="http://schemas.microsoft.com/office/drawing/2014/main" id="{235616EF-19D8-4652-9493-C60A7ED67605}"/>
              </a:ext>
            </a:extLst>
          </p:cNvPr>
          <p:cNvSpPr>
            <a:spLocks xmlns:a="http://schemas.openxmlformats.org/drawingml/2006/main" noGrp="1"/>
          </p:cNvSpPr>
          <p:nvPr/>
        </p:nvSpPr>
        <p:spPr>
          <a:xfrm xmlns:a="http://schemas.openxmlformats.org/drawingml/2006/main">
            <a:off x="9124950" y="5295900"/>
            <a:ext cx="25527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304DD9"/>
                </a:solidFill>
                <a:latin typeface="DejaVu Sans"/>
                <a:ea typeface="DejaVu Sans"/>
                <a:cs typeface="DejaVu Sans"/>
              </a:defRPr>
            </a:defPPr>
          </a:lstStyle>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Gate: robot trials</a:t>
            </a:r>
          </a:p>
          <a:p xmlns:a="http://schemas.openxmlformats.org/drawingml/2006/main">
            <a:pPr>
              <a:defRPr sz="1425" b="1">
                <a:solidFill>
                  <a:srgbClr val="304DD9"/>
                </a:solidFill>
                <a:latin typeface="DejaVu Sans"/>
                <a:ea typeface="DejaVu Sans"/>
                <a:cs typeface="DejaVu Sans"/>
              </a:defRPr>
            </a:pPr>
            <a:r>
              <a:rPr sz="1425" b="1">
                <a:solidFill>
                  <a:srgbClr val="304DD9"/>
                </a:solidFill>
                <a:latin typeface="DejaVu Sans"/>
                <a:ea typeface="DejaVu Sans"/>
                <a:cs typeface="DejaVu Sans"/>
              </a:rPr>
              <a:t>and process evidence</a:t>
            </a:r>
          </a:p>
        </p:txBody>
      </p:sp>
      <p:sp>
        <p:nvSpPr>
          <p:cNvPr id="20" name="">
            <a:extLst xmlns:a="http://schemas.openxmlformats.org/drawingml/2006/main">
              <a:ext uri="{FF2B5EF4-FFF2-40B4-BE49-F238E27FC236}">
                <a16:creationId xmlns:a16="http://schemas.microsoft.com/office/drawing/2014/main" id="{C9411247-0178-458B-9865-76AC4DFA206E}"/>
              </a:ext>
            </a:extLst>
          </p:cNvPr>
          <p:cNvSpPr>
            <a:spLocks xmlns:a="http://schemas.openxmlformats.org/drawingml/2006/main" noGrp="1"/>
          </p:cNvSpPr>
          <p:nvPr/>
        </p:nvSpPr>
        <p:spPr>
          <a:xfrm xmlns:a="http://schemas.openxmlformats.org/drawingml/2006/main">
            <a:off x="552450" y="61055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Throughout: platform integration, regression tests, release gates and lifecycle ownership.</a:t>
            </a:r>
          </a:p>
        </p:txBody>
      </p:sp>
      <p:sp>
        <p:nvSpPr>
          <p:cNvPr id="21" name="">
            <a:extLst xmlns:a="http://schemas.openxmlformats.org/drawingml/2006/main">
              <a:ext uri="{FF2B5EF4-FFF2-40B4-BE49-F238E27FC236}">
                <a16:creationId xmlns:a16="http://schemas.microsoft.com/office/drawing/2014/main" id="{6FB12182-07D1-480F-AF24-ED82A20C10AC}"/>
              </a:ext>
            </a:extLst>
          </p:cNvPr>
          <p:cNvSpPr>
            <a:spLocks xmlns:a="http://schemas.openxmlformats.org/drawingml/2006/main" noGrp="1"/>
          </p:cNvSpPr>
          <p:nvPr/>
        </p:nvSpPr>
        <p:spPr>
          <a:xfrm xmlns:a="http://schemas.openxmlformats.org/drawingml/2006/main">
            <a:off x="552450" y="6448425"/>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C6777"/>
                </a:solidFill>
                <a:latin typeface="DejaVu Sans"/>
                <a:ea typeface="DejaVu Sans"/>
                <a:cs typeface="DejaVu Sans"/>
              </a:defRPr>
            </a:defPPr>
          </a:lstStyle>
          <a:p xmlns:a="http://schemas.openxmlformats.org/drawingml/2006/main">
            <a:pPr>
              <a:defRPr sz="1200" b="0">
                <a:solidFill>
                  <a:srgbClr val="5C6777"/>
                </a:solidFill>
                <a:latin typeface="DejaVu Sans"/>
                <a:ea typeface="DejaVu Sans"/>
                <a:cs typeface="DejaVu Sans"/>
              </a:defRPr>
            </a:pPr>
            <a:r>
              <a:rPr sz="1200" b="0">
                <a:solidFill>
                  <a:srgbClr val="5C6777"/>
                </a:solidFill>
                <a:latin typeface="DejaVu Sans"/>
                <a:ea typeface="DejaVu Sans"/>
                <a:cs typeface="DejaVu Sans"/>
              </a:rPr>
              <a:t>Proposed timing, subject to resources and robot access.</a:t>
            </a:r>
          </a:p>
        </p:txBody>
      </p:sp>
    </p:spTree>
    <p:extLst>
      <p:ext uri="{BB962C8B-B14F-4D97-AF65-F5344CB8AC3E}">
        <p14:creationId xmlns:p14="http://schemas.microsoft.com/office/powerpoint/2010/main" val="1426155704"/>
      </p:ext>
    </p:extLst>
  </p:cSld>
</p:sld>
</file>

<file path=ppt/slides/slide1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F70527E-977D-4471-9B4B-62C86B10B189}"/>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Beyond the baseline: adaptation and learning</a:t>
            </a:r>
          </a:p>
        </p:txBody>
      </p:sp>
      <p:sp>
        <p:nvSpPr>
          <p:cNvPr id="2" name="">
            <a:extLst xmlns:a="http://schemas.openxmlformats.org/drawingml/2006/main">
              <a:ext uri="{FF2B5EF4-FFF2-40B4-BE49-F238E27FC236}">
                <a16:creationId xmlns:a16="http://schemas.microsoft.com/office/drawing/2014/main" id="{93954CAB-27D2-48C1-86CB-730D4BA03EC2}"/>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17</a:t>
            </a:r>
          </a:p>
        </p:txBody>
      </p:sp>
      <p:pic>
        <p:nvPicPr>
          <p:cNvPr id="3" name="">
            <a:extLst xmlns:a="http://schemas.openxmlformats.org/drawingml/2006/main">
              <a:ext uri="{FF2B5EF4-FFF2-40B4-BE49-F238E27FC236}">
                <a16:creationId xmlns:a16="http://schemas.microsoft.com/office/drawing/2014/main" id="{8C8B3C76-311C-4DEA-A8BF-A906360CAB24}"/>
              </a:ext>
            </a:extLst>
          </p:cNvPr>
          <p:cNvPicPr>
            <a:picLocks xmlns:a="http://schemas.openxmlformats.org/drawingml/2006/main" noChangeAspect="1"/>
          </p:cNvPicPr>
          <p:nvPr/>
        </p:nvPicPr>
        <p:blipFill>
          <a:blip xmlns:r="http://schemas.openxmlformats.org/officeDocument/2006/relationships" xmlns:a="http://schemas.openxmlformats.org/drawingml/2006/main" r:embed="R89b049cc898a471c"/>
          <a:srcRect xmlns:a="http://schemas.openxmlformats.org/drawingml/2006/main" l="0" t="22198" r="0" b="22198"/>
          <a:stretch xmlns:a="http://schemas.openxmlformats.org/drawingml/2006/main">
            <a:fillRect l="0" t="0" r="0" b="0"/>
          </a:stretch>
        </p:blipFill>
        <p:spPr>
          <a:xfrm xmlns:a="http://schemas.openxmlformats.org/drawingml/2006/main">
            <a:off x="552450" y="1323975"/>
            <a:ext cx="11049000" cy="2047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2CAC96A-7FAF-4284-A90B-02E369D7A256}"/>
              </a:ext>
            </a:extLst>
          </p:cNvPr>
          <p:cNvSpPr>
            <a:spLocks xmlns:a="http://schemas.openxmlformats.org/drawingml/2006/main" noGrp="1"/>
          </p:cNvSpPr>
          <p:nvPr/>
        </p:nvSpPr>
        <p:spPr>
          <a:xfrm xmlns:a="http://schemas.openxmlformats.org/drawingml/2006/main">
            <a:off x="8420100" y="33337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C6777"/>
                </a:solidFill>
                <a:latin typeface="DejaVu Sans"/>
                <a:ea typeface="DejaVu Sans"/>
                <a:cs typeface="DejaVu Sans"/>
              </a:defRPr>
            </a:defPPr>
          </a:lstStyle>
          <a:p xmlns:a="http://schemas.openxmlformats.org/drawingml/2006/main">
            <a:pPr>
              <a:defRPr sz="1050" b="0">
                <a:solidFill>
                  <a:srgbClr val="5C6777"/>
                </a:solidFill>
                <a:latin typeface="DejaVu Sans"/>
                <a:ea typeface="DejaVu Sans"/>
                <a:cs typeface="DejaVu Sans"/>
              </a:defRPr>
            </a:pPr>
            <a:r>
              <a:rPr sz="1050" b="0">
                <a:solidFill>
                  <a:srgbClr val="5C6777"/>
                </a:solidFill>
                <a:latin typeface="DejaVu Sans"/>
                <a:ea typeface="DejaVu Sans"/>
                <a:cs typeface="DejaVu Sans"/>
              </a:rPr>
              <a:t>Illustrative AI-generated scenes</a:t>
            </a:r>
          </a:p>
        </p:txBody>
      </p:sp>
      <p:sp>
        <p:nvSpPr>
          <p:cNvPr id="5" name="">
            <a:extLst xmlns:a="http://schemas.openxmlformats.org/drawingml/2006/main">
              <a:ext uri="{FF2B5EF4-FFF2-40B4-BE49-F238E27FC236}">
                <a16:creationId xmlns:a16="http://schemas.microsoft.com/office/drawing/2014/main" id="{2A6979AC-5DB6-41BC-B796-5C885EAC6008}"/>
              </a:ext>
            </a:extLst>
          </p:cNvPr>
          <p:cNvSpPr>
            <a:spLocks xmlns:a="http://schemas.openxmlformats.org/drawingml/2006/main" noGrp="1"/>
          </p:cNvSpPr>
          <p:nvPr/>
        </p:nvSpPr>
        <p:spPr>
          <a:xfrm xmlns:a="http://schemas.openxmlformats.org/drawingml/2006/main">
            <a:off x="552450" y="35242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2028 / Adaptive motion</a:t>
            </a:r>
          </a:p>
        </p:txBody>
      </p:sp>
      <p:sp>
        <p:nvSpPr>
          <p:cNvPr id="6" name="">
            <a:extLst xmlns:a="http://schemas.openxmlformats.org/drawingml/2006/main">
              <a:ext uri="{FF2B5EF4-FFF2-40B4-BE49-F238E27FC236}">
                <a16:creationId xmlns:a16="http://schemas.microsoft.com/office/drawing/2014/main" id="{958A64E1-0A09-4BA1-A04B-50F84BDA6CE1}"/>
              </a:ext>
            </a:extLst>
          </p:cNvPr>
          <p:cNvSpPr>
            <a:spLocks xmlns:a="http://schemas.openxmlformats.org/drawingml/2006/main" noGrp="1"/>
          </p:cNvSpPr>
          <p:nvPr/>
        </p:nvSpPr>
        <p:spPr>
          <a:xfrm xmlns:a="http://schemas.openxmlformats.org/drawingml/2006/main">
            <a:off x="552450" y="39243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Scene-driven replanning</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Local path correction</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Process-aware recovery</a:t>
            </a:r>
          </a:p>
        </p:txBody>
      </p:sp>
      <p:sp>
        <p:nvSpPr>
          <p:cNvPr id="7" name="">
            <a:extLst xmlns:a="http://schemas.openxmlformats.org/drawingml/2006/main">
              <a:ext uri="{FF2B5EF4-FFF2-40B4-BE49-F238E27FC236}">
                <a16:creationId xmlns:a16="http://schemas.microsoft.com/office/drawing/2014/main" id="{2FC4B41E-E68F-4AD1-B100-3E9163B6B34E}"/>
              </a:ext>
            </a:extLst>
          </p:cNvPr>
          <p:cNvSpPr>
            <a:spLocks xmlns:a="http://schemas.openxmlformats.org/drawingml/2006/main" noGrp="1"/>
          </p:cNvSpPr>
          <p:nvPr/>
        </p:nvSpPr>
        <p:spPr>
          <a:xfrm xmlns:a="http://schemas.openxmlformats.org/drawingml/2006/main">
            <a:off x="6457950" y="35242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2029+ / Uncertain manipulation</a:t>
            </a:r>
          </a:p>
        </p:txBody>
      </p:sp>
      <p:sp>
        <p:nvSpPr>
          <p:cNvPr id="8" name="">
            <a:extLst xmlns:a="http://schemas.openxmlformats.org/drawingml/2006/main">
              <a:ext uri="{FF2B5EF4-FFF2-40B4-BE49-F238E27FC236}">
                <a16:creationId xmlns:a16="http://schemas.microsoft.com/office/drawing/2014/main" id="{65657990-5AEE-4A41-9E4D-F1EB7030FB00}"/>
              </a:ext>
            </a:extLst>
          </p:cNvPr>
          <p:cNvSpPr>
            <a:spLocks xmlns:a="http://schemas.openxmlformats.org/drawingml/2006/main" noGrp="1"/>
          </p:cNvSpPr>
          <p:nvPr/>
        </p:nvSpPr>
        <p:spPr>
          <a:xfrm xmlns:a="http://schemas.openxmlformats.org/drawingml/2006/main">
            <a:off x="6457950" y="39243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Deformable materials and varied objects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Evaluate imitation learning, VLA and RL</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Compare with conventional baselines</a:t>
            </a:r>
          </a:p>
        </p:txBody>
      </p:sp>
      <p:sp>
        <p:nvSpPr>
          <p:cNvPr id="9" name="">
            <a:extLst xmlns:a="http://schemas.openxmlformats.org/drawingml/2006/main">
              <a:ext uri="{FF2B5EF4-FFF2-40B4-BE49-F238E27FC236}">
                <a16:creationId xmlns:a16="http://schemas.microsoft.com/office/drawing/2014/main" id="{92822C8F-BEC8-44A4-A32C-5AF5134C8946}"/>
              </a:ext>
            </a:extLst>
          </p:cNvPr>
          <p:cNvSpPr>
            <a:spLocks xmlns:a="http://schemas.openxmlformats.org/drawingml/2006/main" noGrp="1"/>
          </p:cNvSpPr>
          <p:nvPr/>
        </p:nvSpPr>
        <p:spPr>
          <a:xfrm xmlns:a="http://schemas.openxmlformats.org/drawingml/2006/main">
            <a:off x="552450" y="4895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Evidence before expansion</a:t>
            </a:r>
          </a:p>
        </p:txBody>
      </p:sp>
      <p:sp>
        <p:nvSpPr>
          <p:cNvPr id="10" name="">
            <a:extLst xmlns:a="http://schemas.openxmlformats.org/drawingml/2006/main">
              <a:ext uri="{FF2B5EF4-FFF2-40B4-BE49-F238E27FC236}">
                <a16:creationId xmlns:a16="http://schemas.microsoft.com/office/drawing/2014/main" id="{F4CA810E-14F1-41CD-8D57-5A28BCA10E9F}"/>
              </a:ext>
            </a:extLst>
          </p:cNvPr>
          <p:cNvSpPr>
            <a:spLocks xmlns:a="http://schemas.openxmlformats.org/drawingml/2006/main" noGrp="1"/>
          </p:cNvSpPr>
          <p:nvPr/>
        </p:nvSpPr>
        <p:spPr>
          <a:xfrm xmlns:a="http://schemas.openxmlformats.org/drawingml/2006/main">
            <a:off x="552450" y="52959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TCP error and task completion</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Recovery behaviour and intervention rate</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Latency under representative conditions</a:t>
            </a:r>
          </a:p>
        </p:txBody>
      </p:sp>
      <p:sp>
        <p:nvSpPr>
          <p:cNvPr id="11" name="">
            <a:extLst xmlns:a="http://schemas.openxmlformats.org/drawingml/2006/main">
              <a:ext uri="{FF2B5EF4-FFF2-40B4-BE49-F238E27FC236}">
                <a16:creationId xmlns:a16="http://schemas.microsoft.com/office/drawing/2014/main" id="{C88D332F-8409-4D95-BF5B-2E2449AF013C}"/>
              </a:ext>
            </a:extLst>
          </p:cNvPr>
          <p:cNvSpPr>
            <a:spLocks xmlns:a="http://schemas.openxmlformats.org/drawingml/2006/main" noGrp="1"/>
          </p:cNvSpPr>
          <p:nvPr/>
        </p:nvSpPr>
        <p:spPr>
          <a:xfrm xmlns:a="http://schemas.openxmlformats.org/drawingml/2006/main">
            <a:off x="6457950" y="4895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Preparation starts in 2027</a:t>
            </a:r>
          </a:p>
        </p:txBody>
      </p:sp>
      <p:sp>
        <p:nvSpPr>
          <p:cNvPr id="12" name="">
            <a:extLst xmlns:a="http://schemas.openxmlformats.org/drawingml/2006/main">
              <a:ext uri="{FF2B5EF4-FFF2-40B4-BE49-F238E27FC236}">
                <a16:creationId xmlns:a16="http://schemas.microsoft.com/office/drawing/2014/main" id="{434C3446-7B4B-4CE9-A130-DAB5CB601CEA}"/>
              </a:ext>
            </a:extLst>
          </p:cNvPr>
          <p:cNvSpPr>
            <a:spLocks xmlns:a="http://schemas.openxmlformats.org/drawingml/2006/main" noGrp="1"/>
          </p:cNvSpPr>
          <p:nvPr/>
        </p:nvSpPr>
        <p:spPr>
          <a:xfrm xmlns:a="http://schemas.openxmlformats.org/drawingml/2006/main">
            <a:off x="6457950" y="5295900"/>
            <a:ext cx="5143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744"/>
                </a:solidFill>
                <a:latin typeface="DejaVu Sans"/>
                <a:ea typeface="DejaVu Sans"/>
                <a:cs typeface="DejaVu Sans"/>
              </a:defRPr>
            </a:defPPr>
          </a:lstStyle>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Select bounded manufacturing tasks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Collect demonstrations and failure cases</a:t>
            </a:r>
          </a:p>
          <a:p xmlns:a="http://schemas.openxmlformats.org/drawingml/2006/main">
            <a:pPr>
              <a:defRPr sz="1500" b="0">
                <a:solidFill>
                  <a:srgbClr val="172744"/>
                </a:solidFill>
                <a:latin typeface="DejaVu Sans"/>
                <a:ea typeface="DejaVu Sans"/>
                <a:cs typeface="DejaVu Sans"/>
              </a:defRPr>
            </a:pPr>
            <a:r>
              <a:rPr sz="1500" b="0">
                <a:solidFill>
                  <a:srgbClr val="172744"/>
                </a:solidFill>
                <a:latin typeface="DejaVu Sans"/>
                <a:ea typeface="DejaVu Sans"/>
                <a:cs typeface="DejaVu Sans"/>
              </a:rPr>
              <a:t>Define baseline tests and acceptance criteria</a:t>
            </a:r>
          </a:p>
        </p:txBody>
      </p:sp>
      <p:sp>
        <p:nvSpPr>
          <p:cNvPr id="13" name="">
            <a:extLst xmlns:a="http://schemas.openxmlformats.org/drawingml/2006/main">
              <a:ext uri="{FF2B5EF4-FFF2-40B4-BE49-F238E27FC236}">
                <a16:creationId xmlns:a16="http://schemas.microsoft.com/office/drawing/2014/main" id="{0F06E44E-AAA7-4C24-851E-DB752F63DAC1}"/>
              </a:ext>
            </a:extLst>
          </p:cNvPr>
          <p:cNvSpPr>
            <a:spLocks xmlns:a="http://schemas.openxmlformats.org/drawingml/2006/main" noGrp="1"/>
          </p:cNvSpPr>
          <p:nvPr/>
        </p:nvSpPr>
        <p:spPr>
          <a:xfrm xmlns:a="http://schemas.openxmlformats.org/drawingml/2006/main">
            <a:off x="552450" y="6372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04DD9"/>
                </a:solidFill>
                <a:latin typeface="DejaVu Sans"/>
                <a:ea typeface="DejaVu Sans"/>
                <a:cs typeface="DejaVu Sans"/>
              </a:defRPr>
            </a:defPPr>
          </a:lstStyle>
          <a:p xmlns:a="http://schemas.openxmlformats.org/drawingml/2006/main">
            <a:pPr>
              <a:defRPr sz="1500" b="1">
                <a:solidFill>
                  <a:srgbClr val="304DD9"/>
                </a:solidFill>
                <a:latin typeface="DejaVu Sans"/>
                <a:ea typeface="DejaVu Sans"/>
                <a:cs typeface="DejaVu Sans"/>
              </a:defRPr>
            </a:pPr>
            <a:r>
              <a:rPr sz="1500" b="1">
                <a:solidFill>
                  <a:srgbClr val="304DD9"/>
                </a:solidFill>
                <a:latin typeface="DejaVu Sans"/>
                <a:ea typeface="DejaVu Sans"/>
                <a:cs typeface="DejaVu Sans"/>
              </a:rPr>
              <a:t>Expand capability only when the application evidence supports it.</a:t>
            </a:r>
          </a:p>
        </p:txBody>
      </p:sp>
    </p:spTree>
    <p:extLst>
      <p:ext uri="{BB962C8B-B14F-4D97-AF65-F5344CB8AC3E}">
        <p14:creationId xmlns:p14="http://schemas.microsoft.com/office/powerpoint/2010/main" val="393757015"/>
      </p:ext>
    </p:extLst>
  </p:cSld>
</p:sld>
</file>

<file path=ppt/slides/slide18.xml><?xml version="1.0" encoding="utf-8"?>
<p:sld xmlns:p="http://schemas.openxmlformats.org/presentationml/2006/main">
  <p:cSld>
    <p:bg>
      <p:bgPr>
        <a:solidFill xmlns:a="http://schemas.openxmlformats.org/drawingml/2006/main">
          <a:srgbClr val="17274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7BAADB-E177-4D24-A67C-905248F33796}"/>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FFFFFF"/>
                </a:solidFill>
                <a:latin typeface="DejaVu Serif"/>
                <a:ea typeface="DejaVu Serif"/>
                <a:cs typeface="DejaVu Serif"/>
              </a:defRPr>
            </a:defPPr>
          </a:lstStyle>
          <a:p xmlns:a="http://schemas.openxmlformats.org/drawingml/2006/main">
            <a:pPr>
              <a:defRPr sz="3000" b="1">
                <a:solidFill>
                  <a:srgbClr val="FFFFFF"/>
                </a:solidFill>
                <a:latin typeface="DejaVu Serif"/>
                <a:ea typeface="DejaVu Serif"/>
                <a:cs typeface="DejaVu Serif"/>
              </a:defRPr>
            </a:pPr>
            <a:r>
              <a:rPr sz="3000" b="1">
                <a:solidFill>
                  <a:srgbClr val="FFFFFF"/>
                </a:solidFill>
                <a:latin typeface="DejaVu Serif"/>
                <a:ea typeface="DejaVu Serif"/>
                <a:cs typeface="DejaVu Serif"/>
              </a:rPr>
              <a:t>The specialist responsibility I want to take</a:t>
            </a:r>
          </a:p>
        </p:txBody>
      </p:sp>
      <p:sp>
        <p:nvSpPr>
          <p:cNvPr id="2" name="">
            <a:extLst xmlns:a="http://schemas.openxmlformats.org/drawingml/2006/main">
              <a:ext uri="{FF2B5EF4-FFF2-40B4-BE49-F238E27FC236}">
                <a16:creationId xmlns:a16="http://schemas.microsoft.com/office/drawing/2014/main" id="{0D6E2E27-6296-48C7-9820-C9294170C371}"/>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C7D4F0"/>
                </a:solidFill>
                <a:latin typeface="DejaVu Sans"/>
                <a:ea typeface="DejaVu Sans"/>
                <a:cs typeface="DejaVu Sans"/>
              </a:defRPr>
            </a:defPPr>
          </a:lstStyle>
          <a:p xmlns:a="http://schemas.openxmlformats.org/drawingml/2006/main">
            <a:pPr>
              <a:defRPr sz="1125" b="0">
                <a:solidFill>
                  <a:srgbClr val="C7D4F0"/>
                </a:solidFill>
                <a:latin typeface="DejaVu Sans"/>
                <a:ea typeface="DejaVu Sans"/>
                <a:cs typeface="DejaVu Sans"/>
              </a:defRPr>
            </a:pPr>
            <a:r>
              <a:rPr sz="1125" b="0">
                <a:solidFill>
                  <a:srgbClr val="C7D4F0"/>
                </a:solidFill>
                <a:latin typeface="DejaVu Sans"/>
                <a:ea typeface="DejaVu Sans"/>
                <a:cs typeface="DejaVu Sans"/>
              </a:rPr>
              <a:t>18</a:t>
            </a:r>
          </a:p>
        </p:txBody>
      </p:sp>
      <p:sp>
        <p:nvSpPr>
          <p:cNvPr id="3" name="">
            <a:extLst xmlns:a="http://schemas.openxmlformats.org/drawingml/2006/main">
              <a:ext uri="{FF2B5EF4-FFF2-40B4-BE49-F238E27FC236}">
                <a16:creationId xmlns:a16="http://schemas.microsoft.com/office/drawing/2014/main" id="{07711AD6-591F-48DA-B23F-4BAFF2D76EB3}"/>
              </a:ext>
            </a:extLst>
          </p:cNvPr>
          <p:cNvSpPr>
            <a:spLocks xmlns:a="http://schemas.openxmlformats.org/drawingml/2006/main" noGrp="1"/>
          </p:cNvSpPr>
          <p:nvPr/>
        </p:nvSpPr>
        <p:spPr>
          <a:xfrm xmlns:a="http://schemas.openxmlformats.org/drawingml/2006/main">
            <a:off x="552450" y="1619250"/>
            <a:ext cx="3857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DejaVu Serif"/>
                <a:ea typeface="DejaVu Serif"/>
                <a:cs typeface="DejaVu Serif"/>
              </a:defRPr>
            </a:defPPr>
          </a:lstStyle>
          <a:p xmlns:a="http://schemas.openxmlformats.org/drawingml/2006/main">
            <a:pPr>
              <a:defRPr sz="2325" b="1">
                <a:solidFill>
                  <a:srgbClr val="FFFFFF"/>
                </a:solidFill>
                <a:latin typeface="DejaVu Serif"/>
                <a:ea typeface="DejaVu Serif"/>
                <a:cs typeface="DejaVu Serif"/>
              </a:defRPr>
            </a:pPr>
            <a:r>
              <a:rPr sz="2325" b="1">
                <a:solidFill>
                  <a:srgbClr val="FFFFFF"/>
                </a:solidFill>
                <a:latin typeface="DejaVu Serif"/>
                <a:ea typeface="DejaVu Serif"/>
                <a:cs typeface="DejaVu Serif"/>
              </a:rPr>
              <a:t>Product direction</a:t>
            </a:r>
          </a:p>
        </p:txBody>
      </p:sp>
      <p:sp>
        <p:nvSpPr>
          <p:cNvPr id="4" name="">
            <a:extLst xmlns:a="http://schemas.openxmlformats.org/drawingml/2006/main">
              <a:ext uri="{FF2B5EF4-FFF2-40B4-BE49-F238E27FC236}">
                <a16:creationId xmlns:a16="http://schemas.microsoft.com/office/drawing/2014/main" id="{3225551D-E92E-4352-A815-44BA0EB553A8}"/>
              </a:ext>
            </a:extLst>
          </p:cNvPr>
          <p:cNvSpPr>
            <a:spLocks xmlns:a="http://schemas.openxmlformats.org/drawingml/2006/main" noGrp="1"/>
          </p:cNvSpPr>
          <p:nvPr/>
        </p:nvSpPr>
        <p:spPr>
          <a:xfrm xmlns:a="http://schemas.openxmlformats.org/drawingml/2006/main">
            <a:off x="4667250" y="1619250"/>
            <a:ext cx="685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Connect planning with the complete robotics system</a:t>
            </a:r>
          </a:p>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on a common software platform.</a:t>
            </a:r>
          </a:p>
        </p:txBody>
      </p:sp>
      <p:sp>
        <p:nvSpPr>
          <p:cNvPr id="5" name="">
            <a:extLst xmlns:a="http://schemas.openxmlformats.org/drawingml/2006/main">
              <a:ext uri="{FF2B5EF4-FFF2-40B4-BE49-F238E27FC236}">
                <a16:creationId xmlns:a16="http://schemas.microsoft.com/office/drawing/2014/main" id="{02255478-A542-4964-8DB5-1357EB57251E}"/>
              </a:ext>
            </a:extLst>
          </p:cNvPr>
          <p:cNvSpPr>
            <a:spLocks xmlns:a="http://schemas.openxmlformats.org/drawingml/2006/main" noGrp="1"/>
          </p:cNvSpPr>
          <p:nvPr/>
        </p:nvSpPr>
        <p:spPr>
          <a:xfrm xmlns:a="http://schemas.openxmlformats.org/drawingml/2006/main">
            <a:off x="552450" y="2905125"/>
            <a:ext cx="3857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DejaVu Serif"/>
                <a:ea typeface="DejaVu Serif"/>
                <a:cs typeface="DejaVu Serif"/>
              </a:defRPr>
            </a:defPPr>
          </a:lstStyle>
          <a:p xmlns:a="http://schemas.openxmlformats.org/drawingml/2006/main">
            <a:pPr>
              <a:defRPr sz="2325" b="1">
                <a:solidFill>
                  <a:srgbClr val="FFFFFF"/>
                </a:solidFill>
                <a:latin typeface="DejaVu Serif"/>
                <a:ea typeface="DejaVu Serif"/>
                <a:cs typeface="DejaVu Serif"/>
              </a:defRPr>
            </a:pPr>
            <a:r>
              <a:rPr sz="2325" b="1">
                <a:solidFill>
                  <a:srgbClr val="FFFFFF"/>
                </a:solidFill>
                <a:latin typeface="DejaVu Serif"/>
                <a:ea typeface="DejaVu Serif"/>
                <a:cs typeface="DejaVu Serif"/>
              </a:rPr>
              <a:t>Lifecycle quality</a:t>
            </a:r>
          </a:p>
        </p:txBody>
      </p:sp>
      <p:sp>
        <p:nvSpPr>
          <p:cNvPr id="6" name="">
            <a:extLst xmlns:a="http://schemas.openxmlformats.org/drawingml/2006/main">
              <a:ext uri="{FF2B5EF4-FFF2-40B4-BE49-F238E27FC236}">
                <a16:creationId xmlns:a16="http://schemas.microsoft.com/office/drawing/2014/main" id="{9C437000-B2F4-49EE-A2BA-3F13F5BB5998}"/>
              </a:ext>
            </a:extLst>
          </p:cNvPr>
          <p:cNvSpPr>
            <a:spLocks xmlns:a="http://schemas.openxmlformats.org/drawingml/2006/main" noGrp="1"/>
          </p:cNvSpPr>
          <p:nvPr/>
        </p:nvSpPr>
        <p:spPr>
          <a:xfrm xmlns:a="http://schemas.openxmlformats.org/drawingml/2006/main">
            <a:off x="4667250" y="2905125"/>
            <a:ext cx="685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Define evidence from requirements through validation,</a:t>
            </a:r>
          </a:p>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deployment, maintenance and controlled updates.</a:t>
            </a:r>
          </a:p>
        </p:txBody>
      </p:sp>
      <p:sp>
        <p:nvSpPr>
          <p:cNvPr id="7" name="">
            <a:extLst xmlns:a="http://schemas.openxmlformats.org/drawingml/2006/main">
              <a:ext uri="{FF2B5EF4-FFF2-40B4-BE49-F238E27FC236}">
                <a16:creationId xmlns:a16="http://schemas.microsoft.com/office/drawing/2014/main" id="{7788E48B-77EE-4EE9-97CD-56E8D8953809}"/>
              </a:ext>
            </a:extLst>
          </p:cNvPr>
          <p:cNvSpPr>
            <a:spLocks xmlns:a="http://schemas.openxmlformats.org/drawingml/2006/main" noGrp="1"/>
          </p:cNvSpPr>
          <p:nvPr/>
        </p:nvSpPr>
        <p:spPr>
          <a:xfrm xmlns:a="http://schemas.openxmlformats.org/drawingml/2006/main">
            <a:off x="552450" y="4191000"/>
            <a:ext cx="3857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FFFFFF"/>
                </a:solidFill>
                <a:latin typeface="DejaVu Serif"/>
                <a:ea typeface="DejaVu Serif"/>
                <a:cs typeface="DejaVu Serif"/>
              </a:defRPr>
            </a:defPPr>
          </a:lstStyle>
          <a:p xmlns:a="http://schemas.openxmlformats.org/drawingml/2006/main">
            <a:pPr>
              <a:defRPr sz="2325" b="1">
                <a:solidFill>
                  <a:srgbClr val="FFFFFF"/>
                </a:solidFill>
                <a:latin typeface="DejaVu Serif"/>
                <a:ea typeface="DejaVu Serif"/>
                <a:cs typeface="DejaVu Serif"/>
              </a:defRPr>
            </a:pPr>
            <a:r>
              <a:rPr sz="2325" b="1">
                <a:solidFill>
                  <a:srgbClr val="FFFFFF"/>
                </a:solidFill>
                <a:latin typeface="DejaVu Serif"/>
                <a:ea typeface="DejaVu Serif"/>
                <a:cs typeface="DejaVu Serif"/>
              </a:rPr>
              <a:t>Breadth and depth</a:t>
            </a:r>
          </a:p>
        </p:txBody>
      </p:sp>
      <p:sp>
        <p:nvSpPr>
          <p:cNvPr id="8" name="">
            <a:extLst xmlns:a="http://schemas.openxmlformats.org/drawingml/2006/main">
              <a:ext uri="{FF2B5EF4-FFF2-40B4-BE49-F238E27FC236}">
                <a16:creationId xmlns:a16="http://schemas.microsoft.com/office/drawing/2014/main" id="{3FE1FBDE-C4C2-4ECD-901D-618694356223}"/>
              </a:ext>
            </a:extLst>
          </p:cNvPr>
          <p:cNvSpPr>
            <a:spLocks xmlns:a="http://schemas.openxmlformats.org/drawingml/2006/main" noGrp="1"/>
          </p:cNvSpPr>
          <p:nvPr/>
        </p:nvSpPr>
        <p:spPr>
          <a:xfrm xmlns:a="http://schemas.openxmlformats.org/drawingml/2006/main">
            <a:off x="4667250" y="4191000"/>
            <a:ext cx="685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FFFFFF"/>
                </a:solidFill>
                <a:latin typeface="DejaVu Sans"/>
                <a:ea typeface="DejaVu Sans"/>
                <a:cs typeface="DejaVu Sans"/>
              </a:defRPr>
            </a:defPPr>
          </a:lstStyle>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Bring motion-planning expertise and wider component</a:t>
            </a:r>
          </a:p>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experience to cross-team integration decisions.</a:t>
            </a:r>
          </a:p>
        </p:txBody>
      </p:sp>
      <p:sp>
        <p:nvSpPr>
          <p:cNvPr id="9" name="">
            <a:extLst xmlns:a="http://schemas.openxmlformats.org/drawingml/2006/main">
              <a:ext uri="{FF2B5EF4-FFF2-40B4-BE49-F238E27FC236}">
                <a16:creationId xmlns:a16="http://schemas.microsoft.com/office/drawing/2014/main" id="{1AC3ED86-8E7D-4860-960F-9F50611D52F9}"/>
              </a:ext>
            </a:extLst>
          </p:cNvPr>
          <p:cNvSpPr>
            <a:spLocks xmlns:a="http://schemas.openxmlformats.org/drawingml/2006/main" noGrp="1"/>
          </p:cNvSpPr>
          <p:nvPr/>
        </p:nvSpPr>
        <p:spPr>
          <a:xfrm xmlns:a="http://schemas.openxmlformats.org/drawingml/2006/main">
            <a:off x="552450" y="56388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B5C8FF"/>
                </a:solidFill>
                <a:latin typeface="DejaVu Sans"/>
                <a:ea typeface="DejaVu Sans"/>
                <a:cs typeface="DejaVu Sans"/>
              </a:defRPr>
            </a:defPPr>
          </a:lstStyle>
          <a:p xmlns:a="http://schemas.openxmlformats.org/drawingml/2006/main">
            <a:pPr>
              <a:defRPr sz="1650" b="1">
                <a:solidFill>
                  <a:srgbClr val="B5C8FF"/>
                </a:solidFill>
                <a:latin typeface="DejaVu Sans"/>
                <a:ea typeface="DejaVu Sans"/>
                <a:cs typeface="DejaVu Sans"/>
              </a:defRPr>
            </a:pPr>
            <a:r>
              <a:rPr sz="1650" b="1">
                <a:solidFill>
                  <a:srgbClr val="B5C8FF"/>
                </a:solidFill>
                <a:latin typeface="DejaVu Sans"/>
                <a:ea typeface="DejaVu Sans"/>
                <a:cs typeface="DejaVu Sans"/>
              </a:rPr>
              <a:t>FIRST STEPS</a:t>
            </a:r>
          </a:p>
        </p:txBody>
      </p:sp>
      <p:sp>
        <p:nvSpPr>
          <p:cNvPr id="10" name="">
            <a:extLst xmlns:a="http://schemas.openxmlformats.org/drawingml/2006/main">
              <a:ext uri="{FF2B5EF4-FFF2-40B4-BE49-F238E27FC236}">
                <a16:creationId xmlns:a16="http://schemas.microsoft.com/office/drawing/2014/main" id="{B5AE9750-FD67-4F29-BB7C-5AB27B13C54B}"/>
              </a:ext>
            </a:extLst>
          </p:cNvPr>
          <p:cNvSpPr>
            <a:spLocks xmlns:a="http://schemas.openxmlformats.org/drawingml/2006/main" noGrp="1"/>
          </p:cNvSpPr>
          <p:nvPr/>
        </p:nvSpPr>
        <p:spPr>
          <a:xfrm xmlns:a="http://schemas.openxmlformats.org/drawingml/2006/main">
            <a:off x="552450" y="61055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B5C8FF"/>
                </a:solidFill>
                <a:latin typeface="DejaVu Sans"/>
                <a:ea typeface="DejaVu Sans"/>
                <a:cs typeface="DejaVu Sans"/>
              </a:defRPr>
            </a:defPPr>
          </a:lstStyle>
          <a:p xmlns:a="http://schemas.openxmlformats.org/drawingml/2006/main">
            <a:pPr>
              <a:defRPr sz="1725" b="0">
                <a:solidFill>
                  <a:srgbClr val="B5C8FF"/>
                </a:solidFill>
                <a:latin typeface="DejaVu Sans"/>
                <a:ea typeface="DejaVu Sans"/>
                <a:cs typeface="DejaVu Sans"/>
              </a:defRPr>
            </a:pPr>
            <a:r>
              <a:rPr sz="1725" b="0">
                <a:solidFill>
                  <a:srgbClr val="B5C8FF"/>
                </a:solidFill>
                <a:latin typeface="DejaVu Sans"/>
                <a:ea typeface="DejaVu Sans"/>
                <a:cs typeface="DejaVu Sans"/>
              </a:rPr>
              <a:t>Product requirements / Component interfaces / Lifecycle measures and gates</a:t>
            </a:r>
          </a:p>
        </p:txBody>
      </p:sp>
    </p:spTree>
    <p:extLst>
      <p:ext uri="{BB962C8B-B14F-4D97-AF65-F5344CB8AC3E}">
        <p14:creationId xmlns:p14="http://schemas.microsoft.com/office/powerpoint/2010/main" val="6181800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2026-10-11T07:17:09.8470000Z</dcterms:created>
  <dcterms:modified xsi:type="dcterms:W3CDTF">2026-10-11T07:17:09.8470000Z</dcterms:modified>
</coreProperties>
</file>