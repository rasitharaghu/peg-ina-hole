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7"/>
  </p:notesMasterIdLst>
  <p:sldIdLst>
    <p:sldId id="273" r:id="rId40"/>
  </p:sldIdLst>
  <p:sldSz cx="18288000" cy="10287000"/>
  <p:notesSz cx="6858000" cy="9144000"/>
  <p:embeddedFontLst>
    <p:embeddedFont>
      <p:font typeface="Roboto Bold" charset="1" panose="02000000000000000000"/>
      <p:regular r:id="rId22"/>
    </p:embeddedFont>
    <p:embeddedFont>
      <p:font typeface="Open Sauce Bold" charset="1" panose="00000800000000000000"/>
      <p:regular r:id="rId23"/>
    </p:embeddedFont>
    <p:embeddedFont>
      <p:font typeface="Open Sauce" charset="1" panose="00000500000000000000"/>
      <p:regular r:id="rId24"/>
    </p:embeddedFont>
    <p:embeddedFont>
      <p:font typeface="Inter" charset="1" panose="02000503000000020004"/>
      <p:regular r:id="rId25"/>
    </p:embeddedFont>
    <p:embeddedFont>
      <p:font typeface="Inter Bold" charset="1" panose="02000503000000020004"/>
      <p:regular r:id="rId26"/>
    </p:embeddedFont>
    <p:embeddedFont>
      <p:font typeface="Arial" charset="1" panose="020B0604020202020204"/>
      <p:regular r:id="rId30"/>
    </p:embeddedFont>
    <p:embeddedFont>
      <p:font typeface="Arial Bold" charset="1" panose="020B0704020202020204"/>
      <p:regular r:id="rId31"/>
    </p:embeddedFont>
    <p:embeddedFont>
      <p:font typeface="Arial Nova" charset="1" panose="020B0504020202020204"/>
      <p:regular r:id="rId32"/>
    </p:embeddedFont>
    <p:embeddedFont>
      <p:font typeface="Arial Nova Bold" charset="1" panose="020B0804020202020204"/>
      <p:regular r:id="rId33"/>
    </p:embeddedFont>
    <p:embeddedFont>
      <p:font typeface="Inter Semi-Bold" charset="1" panose="02000503000000020004"/>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font" Target="fonts/font25.fntdata"/><Relationship Id="rId26" Type="http://schemas.openxmlformats.org/officeDocument/2006/relationships/font" Target="fonts/font26.fntdata"/><Relationship Id="rId27" Type="http://schemas.openxmlformats.org/officeDocument/2006/relationships/notesMaster" Target="notesMasters/notesMaster1.xml"/><Relationship Id="rId28" Type="http://schemas.openxmlformats.org/officeDocument/2006/relationships/theme" Target="theme/theme2.xml"/><Relationship Id="rId30" Type="http://schemas.openxmlformats.org/officeDocument/2006/relationships/font" Target="fonts/font30.fntdata"/><Relationship Id="rId31" Type="http://schemas.openxmlformats.org/officeDocument/2006/relationships/font" Target="fonts/font31.fntdata"/><Relationship Id="rId32" Type="http://schemas.openxmlformats.org/officeDocument/2006/relationships/font" Target="fonts/font32.fntdata"/><Relationship Id="rId33" Type="http://schemas.openxmlformats.org/officeDocument/2006/relationships/font" Target="fonts/font33.fntdata"/><Relationship Id="rId38" Type="http://schemas.openxmlformats.org/officeDocument/2006/relationships/font" Target="fonts/font38.fntdata"/><Relationship Id="rId40"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AUTONOMOUS MOTION ADDS VALUE (about 60 seconds)</a:t>
            </a:r>
          </a:p>
          <a:p/>
          <a:p>
            <a:r>
              <a:t>[Point to the scale] This line shows how much the part varies: from the same part every time on the left, to many variants and changing positions on the right.</a:t>
            </a:r>
          </a:p>
          <a:p/>
          <a:p>
            <a:r>
              <a:t>[Navy bar] On the left, offline programming is the best choice. It is precise, proven and optimised for cycle time.</a:t>
            </a:r>
          </a:p>
          <a:p/>
          <a:p>
            <a:r>
              <a:t>[Loop in the middle] When the part changes, in its variation, position or geometry, the offline programming workflow follows four steps: we adjust the path, download the program to the robot, and run a trial on the cell. And this cycle is repeated for every change.</a:t>
            </a:r>
          </a:p>
          <a:p/>
          <a:p>
            <a:r>
              <a:t>[Teal bar] So as variation grows, this cycle repeats more and more often. This is where autonomous motion adds value, because it plans and adapts the path for each variant. In the middle the two overlap, and we use them together.</a:t>
            </a:r>
          </a:p>
          <a:p/>
          <a:p>
            <a:r>
              <a:t>[Value panel] Autonomous motion adds three things:</a:t>
            </a:r>
          </a:p>
          <a:p>
            <a:r>
              <a:t>1. Faster start-up for new variants: the path is generated from the part model and the scan, instead of being taught point by point.</a:t>
            </a:r>
          </a:p>
          <a:p>
            <a:r>
              <a:t>2. Fewer trial runs on the cell: reach, collisions and singularities are checked before the robot moves.</a:t>
            </a:r>
          </a:p>
          <a:p>
            <a:r>
              <a:t>3. Robustness to real-world change: the path is corrected to the measured part position during the task.</a:t>
            </a:r>
          </a:p>
          <a:p/>
          <a:p>
            <a:r>
              <a:t>[Impact] The result: the same team can handle more variants, and our experts can focus on process quality instead of repeated path preparation.</a:t>
            </a:r>
          </a:p>
          <a:p/>
          <a:p>
            <a:r>
              <a:t>So the message is: choose the right level of autonomy for each task.</a:t>
            </a:r>
          </a:p>
          <a:p/>
          <a:p>
            <a:r>
              <a:t>IF ASKED "Why not just use offline programming?": For stable, high-volume parts, I would. Autonomy makes sense where variation, uncertainty in part position, or the number of variants make repeated programming costly.</a:t>
            </a:r>
          </a:p>
          <a:p/>
          <a:p>
            <a:r>
              <a:t>IF ASKED FOR NUMBERS: give a real example from your projects (e.g. preparation time for a new variant before vs after), or say measurement is part of the next validation step.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jpeg"/><Relationship Id="rId4" Type="http://schemas.openxmlformats.org/officeDocument/2006/relationships/image" Target="../media/image25.jpe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s>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1163" t="-1049" r="-1163" b="-1049"/>
            </a:stretch>
          </a:blipFill>
        </p:spPr>
        <p:txBody>
          <a:bodyPr/>
          <a:p/>
        </p:txBody>
      </p:sp>
      <p:sp>
        <p:nvSpPr>
          <p:cNvPr id="3" name="TextBox 2"/>
          <p:cNvSpPr txBox="1"/>
          <p:nvPr/>
        </p:nvSpPr>
        <p:spPr>
          <a:xfrm>
            <a:off x="640080" y="566928"/>
            <a:ext cx="17007840" cy="914400"/>
          </a:xfrm>
          <a:prstGeom prst="rect">
            <a:avLst/>
          </a:prstGeom>
          <a:noFill/>
        </p:spPr>
        <p:txBody>
          <a:bodyPr wrap="square" lIns="0" rIns="0" tIns="0" bIns="0" anchor="t">
            <a:spAutoFit/>
          </a:bodyPr>
          <a:lstStyle/>
          <a:p>
            <a:pPr algn="l"/>
            <a:r>
              <a:rPr sz="4500" b="0" i="0">
                <a:solidFill>
                  <a:srgbClr val="15215A"/>
                </a:solidFill>
                <a:latin typeface="Arial"/>
              </a:rPr>
              <a:t>Where autonomous motion adds value</a:t>
            </a:r>
          </a:p>
        </p:txBody>
      </p:sp>
      <p:sp>
        <p:nvSpPr>
          <p:cNvPr id="4" name="TextBox 3"/>
          <p:cNvSpPr txBox="1"/>
          <p:nvPr/>
        </p:nvSpPr>
        <p:spPr>
          <a:xfrm>
            <a:off x="640080" y="1554480"/>
            <a:ext cx="17007840" cy="548640"/>
          </a:xfrm>
          <a:prstGeom prst="rect">
            <a:avLst/>
          </a:prstGeom>
          <a:noFill/>
        </p:spPr>
        <p:txBody>
          <a:bodyPr wrap="square" lIns="0" rIns="0" tIns="0" bIns="0" anchor="t">
            <a:spAutoFit/>
          </a:bodyPr>
          <a:lstStyle/>
          <a:p>
            <a:pPr algn="l"/>
            <a:r>
              <a:rPr sz="2200" b="0" i="0">
                <a:solidFill>
                  <a:srgbClr val="526078"/>
                </a:solidFill>
                <a:latin typeface="Arial"/>
              </a:rPr>
              <a:t>The more the part varies, the more autonomy helps</a:t>
            </a:r>
          </a:p>
        </p:txBody>
      </p:sp>
      <p:pic>
        <p:nvPicPr>
          <p:cNvPr id="5" name="Picture 4" descr="image.png"/>
          <p:cNvPicPr>
            <a:picLocks noChangeAspect="1"/>
          </p:cNvPicPr>
          <p:nvPr/>
        </p:nvPicPr>
        <p:blipFill>
          <a:blip r:embed="rId6"/>
          <a:srcRect t="19375" b="19375"/>
          <a:stretch>
            <a:fillRect/>
          </a:stretch>
        </p:blipFill>
        <p:spPr>
          <a:xfrm>
            <a:off x="640080" y="2240280"/>
            <a:ext cx="5486400" cy="2240280"/>
          </a:xfrm>
          <a:prstGeom prst="rect">
            <a:avLst/>
          </a:prstGeom>
        </p:spPr>
      </p:pic>
      <p:sp>
        <p:nvSpPr>
          <p:cNvPr id="6" name="TextBox 5"/>
          <p:cNvSpPr txBox="1"/>
          <p:nvPr/>
        </p:nvSpPr>
        <p:spPr>
          <a:xfrm>
            <a:off x="640080" y="4572000"/>
            <a:ext cx="5486400" cy="411480"/>
          </a:xfrm>
          <a:prstGeom prst="rect">
            <a:avLst/>
          </a:prstGeom>
          <a:noFill/>
        </p:spPr>
        <p:txBody>
          <a:bodyPr wrap="square" lIns="0" rIns="0" tIns="0" bIns="0" anchor="t">
            <a:spAutoFit/>
          </a:bodyPr>
          <a:lstStyle/>
          <a:p>
            <a:pPr algn="l"/>
            <a:r>
              <a:rPr sz="1700" b="1" i="0">
                <a:solidFill>
                  <a:srgbClr val="526078"/>
                </a:solidFill>
                <a:latin typeface="Arial"/>
              </a:rPr>
              <a:t>Same part, every time</a:t>
            </a:r>
          </a:p>
        </p:txBody>
      </p:sp>
      <p:pic>
        <p:nvPicPr>
          <p:cNvPr id="7" name="Picture 6" descr="image.png"/>
          <p:cNvPicPr>
            <a:picLocks noChangeAspect="1"/>
          </p:cNvPicPr>
          <p:nvPr/>
        </p:nvPicPr>
        <p:blipFill>
          <a:blip r:embed="rId7"/>
          <a:srcRect t="19375" b="19375"/>
          <a:stretch>
            <a:fillRect/>
          </a:stretch>
        </p:blipFill>
        <p:spPr>
          <a:xfrm>
            <a:off x="12161520" y="2240280"/>
            <a:ext cx="5486400" cy="2240280"/>
          </a:xfrm>
          <a:prstGeom prst="rect">
            <a:avLst/>
          </a:prstGeom>
        </p:spPr>
      </p:pic>
      <p:sp>
        <p:nvSpPr>
          <p:cNvPr id="8" name="TextBox 7"/>
          <p:cNvSpPr txBox="1"/>
          <p:nvPr/>
        </p:nvSpPr>
        <p:spPr>
          <a:xfrm>
            <a:off x="12161520" y="4572000"/>
            <a:ext cx="5486400" cy="411480"/>
          </a:xfrm>
          <a:prstGeom prst="rect">
            <a:avLst/>
          </a:prstGeom>
          <a:noFill/>
        </p:spPr>
        <p:txBody>
          <a:bodyPr wrap="square" lIns="0" rIns="0" tIns="0" bIns="0" anchor="t">
            <a:spAutoFit/>
          </a:bodyPr>
          <a:lstStyle/>
          <a:p>
            <a:pPr algn="r"/>
            <a:r>
              <a:rPr sz="1700" b="1" i="0">
                <a:solidFill>
                  <a:srgbClr val="526078"/>
                </a:solidFill>
                <a:latin typeface="Arial"/>
              </a:rPr>
              <a:t>Many variants: plans and adapts automatically</a:t>
            </a:r>
          </a:p>
        </p:txBody>
      </p:sp>
      <p:sp>
        <p:nvSpPr>
          <p:cNvPr id="9" name="Rounded Rectangle 8"/>
          <p:cNvSpPr/>
          <p:nvPr/>
        </p:nvSpPr>
        <p:spPr>
          <a:xfrm>
            <a:off x="6446520" y="2240280"/>
            <a:ext cx="2286000" cy="868680"/>
          </a:xfrm>
          <a:prstGeom prst="roundRect">
            <a:avLst>
              <a:gd name="adj" fmla="val 15000"/>
            </a:avLst>
          </a:prstGeom>
          <a:solidFill>
            <a:srgbClr val="F8E6E0"/>
          </a:solidFill>
          <a:ln w="12700">
            <a:solidFill>
              <a:srgbClr val="CE846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700" b="1">
                <a:solidFill>
                  <a:srgbClr val="CE846F"/>
                </a:solidFill>
                <a:latin typeface="Arial"/>
              </a:rPr>
              <a:t>1  Part changes</a:t>
            </a:r>
          </a:p>
          <a:p>
            <a:pPr algn="ctr"/>
            <a:r>
              <a:rPr sz="1200">
                <a:solidFill>
                  <a:srgbClr val="526078"/>
                </a:solidFill>
                <a:latin typeface="Arial"/>
              </a:rPr>
              <a:t>variation, position, geometry</a:t>
            </a:r>
          </a:p>
        </p:txBody>
      </p:sp>
      <p:sp>
        <p:nvSpPr>
          <p:cNvPr id="10" name="Rounded Rectangle 9"/>
          <p:cNvSpPr/>
          <p:nvPr/>
        </p:nvSpPr>
        <p:spPr>
          <a:xfrm>
            <a:off x="9555480" y="2240280"/>
            <a:ext cx="2286000" cy="868680"/>
          </a:xfrm>
          <a:prstGeom prst="roundRect">
            <a:avLst>
              <a:gd name="adj" fmla="val 15000"/>
            </a:avLst>
          </a:prstGeom>
          <a:solidFill>
            <a:srgbClr val="FFFFFF"/>
          </a:solidFill>
          <a:ln w="12700">
            <a:solidFill>
              <a:srgbClr val="15215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700" b="1">
                <a:solidFill>
                  <a:srgbClr val="15215A"/>
                </a:solidFill>
                <a:latin typeface="Arial"/>
              </a:rPr>
              <a:t>2  Adjust path</a:t>
            </a:r>
          </a:p>
          <a:p>
            <a:pPr algn="ctr"/>
            <a:r>
              <a:rPr sz="1200">
                <a:solidFill>
                  <a:srgbClr val="526078"/>
                </a:solidFill>
                <a:latin typeface="Arial"/>
              </a:rPr>
              <a:t>in offline programming</a:t>
            </a:r>
          </a:p>
        </p:txBody>
      </p:sp>
      <p:sp>
        <p:nvSpPr>
          <p:cNvPr id="11" name="Rounded Rectangle 10"/>
          <p:cNvSpPr/>
          <p:nvPr/>
        </p:nvSpPr>
        <p:spPr>
          <a:xfrm>
            <a:off x="9555480" y="3611880"/>
            <a:ext cx="2286000" cy="868680"/>
          </a:xfrm>
          <a:prstGeom prst="roundRect">
            <a:avLst>
              <a:gd name="adj" fmla="val 15000"/>
            </a:avLst>
          </a:prstGeom>
          <a:solidFill>
            <a:srgbClr val="FFFFFF"/>
          </a:solidFill>
          <a:ln w="12700">
            <a:solidFill>
              <a:srgbClr val="15215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700" b="1">
                <a:solidFill>
                  <a:srgbClr val="15215A"/>
                </a:solidFill>
                <a:latin typeface="Arial"/>
              </a:rPr>
              <a:t>3  Download</a:t>
            </a:r>
          </a:p>
          <a:p>
            <a:pPr algn="ctr"/>
            <a:r>
              <a:rPr sz="1200">
                <a:solidFill>
                  <a:srgbClr val="526078"/>
                </a:solidFill>
                <a:latin typeface="Arial"/>
              </a:rPr>
              <a:t>program to the robot</a:t>
            </a:r>
          </a:p>
        </p:txBody>
      </p:sp>
      <p:sp>
        <p:nvSpPr>
          <p:cNvPr id="12" name="Rounded Rectangle 11"/>
          <p:cNvSpPr/>
          <p:nvPr/>
        </p:nvSpPr>
        <p:spPr>
          <a:xfrm>
            <a:off x="6446520" y="3611880"/>
            <a:ext cx="2286000" cy="868680"/>
          </a:xfrm>
          <a:prstGeom prst="roundRect">
            <a:avLst>
              <a:gd name="adj" fmla="val 15000"/>
            </a:avLst>
          </a:prstGeom>
          <a:solidFill>
            <a:srgbClr val="FFFFFF"/>
          </a:solidFill>
          <a:ln w="12700">
            <a:solidFill>
              <a:srgbClr val="15215A"/>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700" b="1">
                <a:solidFill>
                  <a:srgbClr val="15215A"/>
                </a:solidFill>
                <a:latin typeface="Arial"/>
              </a:rPr>
              <a:t>4  Trial run</a:t>
            </a:r>
          </a:p>
          <a:p>
            <a:pPr algn="ctr"/>
            <a:r>
              <a:rPr sz="1200">
                <a:solidFill>
                  <a:srgbClr val="526078"/>
                </a:solidFill>
                <a:latin typeface="Arial"/>
              </a:rPr>
              <a:t>check on the cell</a:t>
            </a:r>
          </a:p>
        </p:txBody>
      </p:sp>
      <p:cxnSp>
        <p:nvCxnSpPr>
          <p:cNvPr id="13" name="Connector 12"/>
          <p:cNvCxnSpPr/>
          <p:nvPr/>
        </p:nvCxnSpPr>
        <p:spPr>
          <a:xfrm>
            <a:off x="8778240" y="2670048"/>
            <a:ext cx="731520" cy="0"/>
          </a:xfrm>
          <a:prstGeom prst="line">
            <a:avLst/>
          </a:prstGeom>
          <a:ln w="31750">
            <a:solidFill>
              <a:srgbClr val="CE846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698480" y="3154680"/>
            <a:ext cx="0" cy="411480"/>
          </a:xfrm>
          <a:prstGeom prst="line">
            <a:avLst/>
          </a:prstGeom>
          <a:ln w="31750">
            <a:solidFill>
              <a:srgbClr val="CE846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8778240" y="4041648"/>
            <a:ext cx="731520" cy="0"/>
          </a:xfrm>
          <a:prstGeom prst="line">
            <a:avLst/>
          </a:prstGeom>
          <a:ln w="31750">
            <a:solidFill>
              <a:srgbClr val="CE846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7589520" y="3154680"/>
            <a:ext cx="0" cy="411480"/>
          </a:xfrm>
          <a:prstGeom prst="line">
            <a:avLst/>
          </a:prstGeom>
          <a:ln w="31750">
            <a:solidFill>
              <a:srgbClr val="CE84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796528" y="3017520"/>
            <a:ext cx="694944" cy="694944"/>
          </a:xfrm>
          <a:prstGeom prst="ellipse">
            <a:avLst/>
          </a:prstGeom>
          <a:solidFill>
            <a:srgbClr val="CE84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FFFFFF"/>
                </a:solidFill>
                <a:latin typeface="Arial"/>
              </a:rPr>
              <a:t>↻</a:t>
            </a:r>
          </a:p>
        </p:txBody>
      </p:sp>
      <p:sp>
        <p:nvSpPr>
          <p:cNvPr id="18" name="TextBox 17"/>
          <p:cNvSpPr txBox="1"/>
          <p:nvPr/>
        </p:nvSpPr>
        <p:spPr>
          <a:xfrm>
            <a:off x="6400800" y="4572000"/>
            <a:ext cx="5486400" cy="411480"/>
          </a:xfrm>
          <a:prstGeom prst="rect">
            <a:avLst/>
          </a:prstGeom>
          <a:noFill/>
        </p:spPr>
        <p:txBody>
          <a:bodyPr wrap="square" lIns="0" rIns="0" tIns="0" bIns="0" anchor="t">
            <a:spAutoFit/>
          </a:bodyPr>
          <a:lstStyle/>
          <a:p>
            <a:pPr algn="ctr"/>
            <a:r>
              <a:rPr sz="1700" b="1" i="0">
                <a:solidFill>
                  <a:srgbClr val="CE846F"/>
                </a:solidFill>
                <a:latin typeface="Arial"/>
              </a:rPr>
              <a:t>Repeated for every change</a:t>
            </a:r>
          </a:p>
        </p:txBody>
      </p:sp>
      <p:cxnSp>
        <p:nvCxnSpPr>
          <p:cNvPr id="19" name="Connector 18"/>
          <p:cNvCxnSpPr/>
          <p:nvPr/>
        </p:nvCxnSpPr>
        <p:spPr>
          <a:xfrm>
            <a:off x="640080" y="5257800"/>
            <a:ext cx="17007840" cy="0"/>
          </a:xfrm>
          <a:prstGeom prst="line">
            <a:avLst/>
          </a:prstGeom>
          <a:ln w="38100">
            <a:solidFill>
              <a:srgbClr val="1521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0080" y="5349240"/>
            <a:ext cx="17007840" cy="320040"/>
          </a:xfrm>
          <a:prstGeom prst="rect">
            <a:avLst/>
          </a:prstGeom>
          <a:noFill/>
        </p:spPr>
        <p:txBody>
          <a:bodyPr wrap="square" lIns="0" rIns="0" tIns="0" bIns="0" anchor="t">
            <a:spAutoFit/>
          </a:bodyPr>
          <a:lstStyle/>
          <a:p>
            <a:pPr algn="ctr"/>
            <a:r>
              <a:rPr sz="1300" b="1" i="0">
                <a:solidFill>
                  <a:srgbClr val="526078"/>
                </a:solidFill>
                <a:latin typeface="Arial"/>
              </a:rPr>
              <a:t>PART VARIATION</a:t>
            </a:r>
          </a:p>
        </p:txBody>
      </p:sp>
      <p:cxnSp>
        <p:nvCxnSpPr>
          <p:cNvPr id="21" name="Connector 20"/>
          <p:cNvCxnSpPr/>
          <p:nvPr/>
        </p:nvCxnSpPr>
        <p:spPr>
          <a:xfrm>
            <a:off x="6400800" y="5715000"/>
            <a:ext cx="0" cy="1371600"/>
          </a:xfrm>
          <a:prstGeom prst="line">
            <a:avLst/>
          </a:prstGeom>
          <a:ln w="25400">
            <a:solidFill>
              <a:srgbClr val="CE846F"/>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1887200" y="5715000"/>
            <a:ext cx="0" cy="1371600"/>
          </a:xfrm>
          <a:prstGeom prst="line">
            <a:avLst/>
          </a:prstGeom>
          <a:ln w="25400">
            <a:solidFill>
              <a:srgbClr val="CE846F"/>
            </a:solidFill>
            <a:prstDash val="dash"/>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40080" y="5806440"/>
            <a:ext cx="11247120" cy="566928"/>
          </a:xfrm>
          <a:prstGeom prst="roundRect">
            <a:avLst>
              <a:gd name="adj" fmla="val 50000"/>
            </a:avLst>
          </a:prstGeom>
          <a:solidFill>
            <a:srgbClr val="15215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rIns="457200"/>
          <a:lstStyle/>
          <a:p>
            <a:pPr algn="l"/>
            <a:r>
              <a:rPr sz="1900" b="1">
                <a:solidFill>
                  <a:srgbClr val="FFFFFF"/>
                </a:solidFill>
                <a:latin typeface="Arial"/>
              </a:rPr>
              <a:t>Offline programming: precise, proven, optimised</a:t>
            </a:r>
          </a:p>
        </p:txBody>
      </p:sp>
      <p:sp>
        <p:nvSpPr>
          <p:cNvPr id="24" name="Rounded Rectangle 23"/>
          <p:cNvSpPr/>
          <p:nvPr/>
        </p:nvSpPr>
        <p:spPr>
          <a:xfrm>
            <a:off x="6400800" y="6464808"/>
            <a:ext cx="11247120" cy="566928"/>
          </a:xfrm>
          <a:prstGeom prst="roundRect">
            <a:avLst>
              <a:gd name="adj" fmla="val 50000"/>
            </a:avLst>
          </a:prstGeom>
          <a:solidFill>
            <a:srgbClr val="409A91"/>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rIns="457200"/>
          <a:lstStyle/>
          <a:p>
            <a:pPr algn="r"/>
            <a:r>
              <a:rPr sz="1900" b="1">
                <a:solidFill>
                  <a:srgbClr val="FFFFFF"/>
                </a:solidFill>
                <a:latin typeface="Arial"/>
              </a:rPr>
              <a:t>Autonomous motion: plans and adapts per variant</a:t>
            </a:r>
          </a:p>
        </p:txBody>
      </p:sp>
      <p:sp>
        <p:nvSpPr>
          <p:cNvPr id="25" name="TextBox 24"/>
          <p:cNvSpPr txBox="1"/>
          <p:nvPr/>
        </p:nvSpPr>
        <p:spPr>
          <a:xfrm>
            <a:off x="6400800" y="7132320"/>
            <a:ext cx="5486400" cy="365760"/>
          </a:xfrm>
          <a:prstGeom prst="rect">
            <a:avLst/>
          </a:prstGeom>
          <a:noFill/>
        </p:spPr>
        <p:txBody>
          <a:bodyPr wrap="square" lIns="0" rIns="0" tIns="0" bIns="0" anchor="t">
            <a:spAutoFit/>
          </a:bodyPr>
          <a:lstStyle/>
          <a:p>
            <a:pPr algn="ctr"/>
            <a:r>
              <a:rPr sz="1500" b="1" i="0">
                <a:solidFill>
                  <a:srgbClr val="CE846F"/>
                </a:solidFill>
                <a:latin typeface="Arial"/>
              </a:rPr>
              <a:t>Overlap: use both together</a:t>
            </a:r>
          </a:p>
        </p:txBody>
      </p:sp>
      <p:sp>
        <p:nvSpPr>
          <p:cNvPr id="26" name="Rounded Rectangle 25"/>
          <p:cNvSpPr/>
          <p:nvPr/>
        </p:nvSpPr>
        <p:spPr>
          <a:xfrm>
            <a:off x="640080" y="7589520"/>
            <a:ext cx="17007840" cy="1691640"/>
          </a:xfrm>
          <a:prstGeom prst="roundRect">
            <a:avLst>
              <a:gd name="adj" fmla="val 6000"/>
            </a:avLst>
          </a:prstGeom>
          <a:solidFill>
            <a:srgbClr val="E8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7726679"/>
            <a:ext cx="2011680" cy="1417320"/>
          </a:xfrm>
          <a:prstGeom prst="rect">
            <a:avLst/>
          </a:prstGeom>
          <a:noFill/>
        </p:spPr>
        <p:txBody>
          <a:bodyPr wrap="square" lIns="0" rIns="0" tIns="0" bIns="0" anchor="ctr">
            <a:spAutoFit/>
          </a:bodyPr>
          <a:lstStyle/>
          <a:p>
            <a:pPr algn="l"/>
            <a:r>
              <a:rPr sz="2000" b="1" i="0">
                <a:solidFill>
                  <a:srgbClr val="409A91"/>
                </a:solidFill>
                <a:latin typeface="Arial"/>
              </a:rPr>
              <a:t>WHAT IT ADDS</a:t>
            </a:r>
          </a:p>
        </p:txBody>
      </p:sp>
      <p:sp>
        <p:nvSpPr>
          <p:cNvPr id="28" name="Oval 27"/>
          <p:cNvSpPr/>
          <p:nvPr/>
        </p:nvSpPr>
        <p:spPr>
          <a:xfrm>
            <a:off x="3200400" y="7818120"/>
            <a:ext cx="502920" cy="502920"/>
          </a:xfrm>
          <a:prstGeom prst="ellipse">
            <a:avLst/>
          </a:prstGeom>
          <a:solidFill>
            <a:srgbClr val="409A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1</a:t>
            </a:r>
          </a:p>
        </p:txBody>
      </p:sp>
      <p:sp>
        <p:nvSpPr>
          <p:cNvPr id="29" name="TextBox 28"/>
          <p:cNvSpPr txBox="1"/>
          <p:nvPr/>
        </p:nvSpPr>
        <p:spPr>
          <a:xfrm>
            <a:off x="3886200" y="7818120"/>
            <a:ext cx="3749039" cy="502920"/>
          </a:xfrm>
          <a:prstGeom prst="rect">
            <a:avLst/>
          </a:prstGeom>
          <a:noFill/>
        </p:spPr>
        <p:txBody>
          <a:bodyPr wrap="square" lIns="0" rIns="0" tIns="0" bIns="0" anchor="ctr">
            <a:spAutoFit/>
          </a:bodyPr>
          <a:lstStyle/>
          <a:p>
            <a:pPr algn="l"/>
            <a:r>
              <a:rPr sz="1900" b="1" i="0">
                <a:solidFill>
                  <a:srgbClr val="15215A"/>
                </a:solidFill>
                <a:latin typeface="Arial"/>
              </a:rPr>
              <a:t>Faster start-up for new variants</a:t>
            </a:r>
          </a:p>
        </p:txBody>
      </p:sp>
      <p:sp>
        <p:nvSpPr>
          <p:cNvPr id="30" name="TextBox 29"/>
          <p:cNvSpPr txBox="1"/>
          <p:nvPr/>
        </p:nvSpPr>
        <p:spPr>
          <a:xfrm>
            <a:off x="3886200" y="8412480"/>
            <a:ext cx="3749039" cy="777240"/>
          </a:xfrm>
          <a:prstGeom prst="rect">
            <a:avLst/>
          </a:prstGeom>
          <a:noFill/>
        </p:spPr>
        <p:txBody>
          <a:bodyPr wrap="square" lIns="0" rIns="0" tIns="0" bIns="0" anchor="t">
            <a:spAutoFit/>
          </a:bodyPr>
          <a:lstStyle/>
          <a:p>
            <a:pPr algn="l"/>
            <a:r>
              <a:rPr sz="1500" b="0" i="0">
                <a:solidFill>
                  <a:srgbClr val="526078"/>
                </a:solidFill>
                <a:latin typeface="Arial"/>
              </a:rPr>
              <a:t>Path generated from the part model and scan, not taught point by point</a:t>
            </a:r>
          </a:p>
        </p:txBody>
      </p:sp>
      <p:cxnSp>
        <p:nvCxnSpPr>
          <p:cNvPr id="31" name="Connector 30"/>
          <p:cNvCxnSpPr/>
          <p:nvPr/>
        </p:nvCxnSpPr>
        <p:spPr>
          <a:xfrm>
            <a:off x="7726679" y="7818120"/>
            <a:ext cx="0" cy="1234440"/>
          </a:xfrm>
          <a:prstGeom prst="line">
            <a:avLst/>
          </a:prstGeom>
          <a:ln w="19050">
            <a:solidFill>
              <a:srgbClr val="B9DCD7"/>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8001000" y="7818120"/>
            <a:ext cx="502920" cy="502920"/>
          </a:xfrm>
          <a:prstGeom prst="ellipse">
            <a:avLst/>
          </a:prstGeom>
          <a:solidFill>
            <a:srgbClr val="409A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2</a:t>
            </a:r>
          </a:p>
        </p:txBody>
      </p:sp>
      <p:sp>
        <p:nvSpPr>
          <p:cNvPr id="33" name="TextBox 32"/>
          <p:cNvSpPr txBox="1"/>
          <p:nvPr/>
        </p:nvSpPr>
        <p:spPr>
          <a:xfrm>
            <a:off x="8686800" y="7818120"/>
            <a:ext cx="3749039" cy="502920"/>
          </a:xfrm>
          <a:prstGeom prst="rect">
            <a:avLst/>
          </a:prstGeom>
          <a:noFill/>
        </p:spPr>
        <p:txBody>
          <a:bodyPr wrap="square" lIns="0" rIns="0" tIns="0" bIns="0" anchor="ctr">
            <a:spAutoFit/>
          </a:bodyPr>
          <a:lstStyle/>
          <a:p>
            <a:pPr algn="l"/>
            <a:r>
              <a:rPr sz="1900" b="1" i="0">
                <a:solidFill>
                  <a:srgbClr val="15215A"/>
                </a:solidFill>
                <a:latin typeface="Arial"/>
              </a:rPr>
              <a:t>Fewer trial runs on the cell</a:t>
            </a:r>
          </a:p>
        </p:txBody>
      </p:sp>
      <p:sp>
        <p:nvSpPr>
          <p:cNvPr id="34" name="TextBox 33"/>
          <p:cNvSpPr txBox="1"/>
          <p:nvPr/>
        </p:nvSpPr>
        <p:spPr>
          <a:xfrm>
            <a:off x="8686800" y="8412480"/>
            <a:ext cx="3749039" cy="777240"/>
          </a:xfrm>
          <a:prstGeom prst="rect">
            <a:avLst/>
          </a:prstGeom>
          <a:noFill/>
        </p:spPr>
        <p:txBody>
          <a:bodyPr wrap="square" lIns="0" rIns="0" tIns="0" bIns="0" anchor="t">
            <a:spAutoFit/>
          </a:bodyPr>
          <a:lstStyle/>
          <a:p>
            <a:pPr algn="l"/>
            <a:r>
              <a:rPr sz="1500" b="0" i="0">
                <a:solidFill>
                  <a:srgbClr val="526078"/>
                </a:solidFill>
                <a:latin typeface="Arial"/>
              </a:rPr>
              <a:t>Reach, collisions and singularities checked before the robot moves</a:t>
            </a:r>
          </a:p>
        </p:txBody>
      </p:sp>
      <p:cxnSp>
        <p:nvCxnSpPr>
          <p:cNvPr id="35" name="Connector 34"/>
          <p:cNvCxnSpPr/>
          <p:nvPr/>
        </p:nvCxnSpPr>
        <p:spPr>
          <a:xfrm>
            <a:off x="12527280" y="7818120"/>
            <a:ext cx="0" cy="1234440"/>
          </a:xfrm>
          <a:prstGeom prst="line">
            <a:avLst/>
          </a:prstGeom>
          <a:ln w="19050">
            <a:solidFill>
              <a:srgbClr val="B9DCD7"/>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12801600" y="7818120"/>
            <a:ext cx="502920" cy="502920"/>
          </a:xfrm>
          <a:prstGeom prst="ellipse">
            <a:avLst/>
          </a:prstGeom>
          <a:solidFill>
            <a:srgbClr val="409A9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3</a:t>
            </a:r>
          </a:p>
        </p:txBody>
      </p:sp>
      <p:sp>
        <p:nvSpPr>
          <p:cNvPr id="37" name="TextBox 36"/>
          <p:cNvSpPr txBox="1"/>
          <p:nvPr/>
        </p:nvSpPr>
        <p:spPr>
          <a:xfrm>
            <a:off x="13487400" y="7818120"/>
            <a:ext cx="3749039" cy="502920"/>
          </a:xfrm>
          <a:prstGeom prst="rect">
            <a:avLst/>
          </a:prstGeom>
          <a:noFill/>
        </p:spPr>
        <p:txBody>
          <a:bodyPr wrap="square" lIns="0" rIns="0" tIns="0" bIns="0" anchor="ctr">
            <a:spAutoFit/>
          </a:bodyPr>
          <a:lstStyle/>
          <a:p>
            <a:pPr algn="l"/>
            <a:r>
              <a:rPr sz="1900" b="1" i="0">
                <a:solidFill>
                  <a:srgbClr val="15215A"/>
                </a:solidFill>
                <a:latin typeface="Arial"/>
              </a:rPr>
              <a:t>Robust to real-world change</a:t>
            </a:r>
          </a:p>
        </p:txBody>
      </p:sp>
      <p:sp>
        <p:nvSpPr>
          <p:cNvPr id="38" name="TextBox 37"/>
          <p:cNvSpPr txBox="1"/>
          <p:nvPr/>
        </p:nvSpPr>
        <p:spPr>
          <a:xfrm>
            <a:off x="13487400" y="8412480"/>
            <a:ext cx="3749039" cy="777240"/>
          </a:xfrm>
          <a:prstGeom prst="rect">
            <a:avLst/>
          </a:prstGeom>
          <a:noFill/>
        </p:spPr>
        <p:txBody>
          <a:bodyPr wrap="square" lIns="0" rIns="0" tIns="0" bIns="0" anchor="t">
            <a:spAutoFit/>
          </a:bodyPr>
          <a:lstStyle/>
          <a:p>
            <a:pPr algn="l"/>
            <a:r>
              <a:rPr sz="1500" b="0" i="0">
                <a:solidFill>
                  <a:srgbClr val="526078"/>
                </a:solidFill>
                <a:latin typeface="Arial"/>
              </a:rPr>
              <a:t>Path corrected to the measured part position during the task</a:t>
            </a:r>
          </a:p>
        </p:txBody>
      </p:sp>
      <p:sp>
        <p:nvSpPr>
          <p:cNvPr id="39" name="TextBox 38"/>
          <p:cNvSpPr txBox="1"/>
          <p:nvPr/>
        </p:nvSpPr>
        <p:spPr>
          <a:xfrm>
            <a:off x="640080" y="9509760"/>
            <a:ext cx="17007840" cy="457200"/>
          </a:xfrm>
          <a:prstGeom prst="rect">
            <a:avLst/>
          </a:prstGeom>
          <a:noFill/>
        </p:spPr>
        <p:txBody>
          <a:bodyPr wrap="square" lIns="0" rIns="0" tIns="0" bIns="0" anchor="t">
            <a:spAutoFit/>
          </a:bodyPr>
          <a:lstStyle/>
          <a:p>
            <a:pPr algn="l"/>
            <a:r>
              <a:rPr sz="2000" b="1" i="0">
                <a:solidFill>
                  <a:srgbClr val="CE846F"/>
                </a:solidFill>
                <a:latin typeface="Arial"/>
              </a:rPr>
              <a:t>Impact:  </a:t>
            </a:r>
            <a:r>
              <a:rPr sz="2000" b="1">
                <a:solidFill>
                  <a:srgbClr val="15215A"/>
                </a:solidFill>
                <a:latin typeface="Arial"/>
              </a:rPr>
              <a:t>more variants handled by the same team, and experts focus on process quality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DAHYhfYF8jc</dc:identifier>
  <dcterms:modified xsi:type="dcterms:W3CDTF">2011-08-01T06:04:30Z</dcterms:modified>
  <cp:revision>1</cp:revision>
  <dc:title>Autonomy in Motion — Complete presentation</dc:title>
</cp:coreProperties>
</file>