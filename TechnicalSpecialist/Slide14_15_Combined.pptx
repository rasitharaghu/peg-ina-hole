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73" r:id="rId40"/>
  </p:sldIdLst>
  <p:sldSz cx="18288000" cy="10287000"/>
  <p:notesSz cx="6858000" cy="9144000"/>
  <p:embeddedFontLst>
    <p:embeddedFont>
      <p:font typeface="Roboto Bold" charset="1" panose="02000000000000000000"/>
      <p:regular r:id="rId22"/>
    </p:embeddedFont>
    <p:embeddedFont>
      <p:font typeface="Open Sauce Bold" charset="1" panose="00000800000000000000"/>
      <p:regular r:id="rId23"/>
    </p:embeddedFont>
    <p:embeddedFont>
      <p:font typeface="Open Sauce" charset="1" panose="00000500000000000000"/>
      <p:regular r:id="rId24"/>
    </p:embeddedFont>
    <p:embeddedFont>
      <p:font typeface="Inter" charset="1" panose="02000503000000020004"/>
      <p:regular r:id="rId25"/>
    </p:embeddedFont>
    <p:embeddedFont>
      <p:font typeface="Inter Bold" charset="1" panose="02000503000000020004"/>
      <p:regular r:id="rId26"/>
    </p:embeddedFont>
    <p:embeddedFont>
      <p:font typeface="Arial" charset="1" panose="020B0604020202020204"/>
      <p:regular r:id="rId30"/>
    </p:embeddedFont>
    <p:embeddedFont>
      <p:font typeface="Arial Bold" charset="1" panose="020B0704020202020204"/>
      <p:regular r:id="rId31"/>
    </p:embeddedFont>
    <p:embeddedFont>
      <p:font typeface="Arial Nova" charset="1" panose="020B0504020202020204"/>
      <p:regular r:id="rId32"/>
    </p:embeddedFont>
    <p:embeddedFont>
      <p:font typeface="Arial Nova Bold" charset="1" panose="020B0804020202020204"/>
      <p:regular r:id="rId33"/>
    </p:embeddedFont>
    <p:embeddedFont>
      <p:font typeface="Inter Semi-Bold" charset="1" panose="0200050300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notesMaster" Target="notesMasters/notesMaster1.xml"/><Relationship Id="rId28" Type="http://schemas.openxmlformats.org/officeDocument/2006/relationships/theme" Target="theme/theme2.xml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8" Type="http://schemas.openxmlformats.org/officeDocument/2006/relationships/font" Target="fonts/font38.fntdata"/><Relationship Id="rId4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VISION: FROM ONE FRAMEWORK TO ONE PLATFORM (about 75 seconds)</a:t>
            </a:r>
          </a:p>
          <a:p>
            <a:r>
              <a:t>(Combines the old slides 14 and 15. Tell it as a journey: left box, arrow, right box.)</a:t>
            </a:r>
          </a:p>
          <a:p/>
          <a:p>
            <a:r>
              <a:t>[Step 1, left] Step one is where I focus today: a common motion planning framework. Instead of every application building its own robot motion, one shared planner serves all of them: inspection, sealant, auto rigging, pick and place, sanding and polishing. Only the settings change per task.</a:t>
            </a:r>
          </a:p>
          <a:p/>
          <a:p>
            <a:r>
              <a:t>[Arrow] But motion planning alone cannot complete a task. So the next step is to grow this idea.</a:t>
            </a:r>
          </a:p>
          <a:p/>
          <a:p>
            <a:r>
              <a:t>[Step 2, right] Step two: we share not only motion planning, but the whole software stack. Vision, motion planning, control, a task orchestrator, feedback and simulation, all on one standardised platform with common interfaces, shared data and reusable parts. The same platform supports the full lifecycle: simulate, test, deploy, and support and improve. And it still serves the same applications.</a:t>
            </a:r>
          </a:p>
          <a:p/>
          <a:p>
            <a:r>
              <a:t>[Value] The value: we reuse proven work, we integrate new applications faster, and an improvement in one cell helps every cell.</a:t>
            </a:r>
          </a:p>
          <a:p/>
          <a:p>
            <a:r>
              <a:t>[Message] Build once, configure per task. That is a foundation for Physical AI.</a:t>
            </a:r>
          </a:p>
          <a:p/>
          <a:p>
            <a:r>
              <a:t>SIMPLE VERSION FOR NON-TECHNICAL LISTENERS: "First we share the robot's 'route planner' across all our robot applications. Then we share the robot's whole 'brain and nervous system', so every new application starts from a proven base instead of from zero."</a:t>
            </a:r>
          </a:p>
          <a:p/>
          <a:p>
            <a:r>
              <a:t>IF ASKED "Isn't every application too different?": The process is different, but the core problems are the same: seeing the part, planning collision-free motion, executing and correcting. That is what we share. The task-specific part is configuration.</a:t>
            </a:r>
          </a:p>
          <a:p/>
          <a:p>
            <a:r>
              <a:t>IF ASKED "Why standardise the stack?": Without it, every application builds its own integration. With it, interfaces, data and components are reused, so new applications integrate faster and improvements are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25.jpe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3" t="-1049" r="-1163" b="-1049"/>
            </a:stretch>
          </a:blipFill>
        </p:spPr>
        <p:txBody>
          <a:bodyPr/>
          <a:p/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700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15215A"/>
                </a:solidFill>
                <a:latin typeface="Arial"/>
              </a:rPr>
              <a:t>My vision: from one framework to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36192"/>
            <a:ext cx="1700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26078"/>
                </a:solidFill>
                <a:latin typeface="Arial"/>
              </a:rPr>
              <a:t>Start by sharing motion planning, then grow it into a standardised software stack for every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7223760" cy="576072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E846F"/>
                </a:solidFill>
                <a:latin typeface="Arial"/>
              </a:rPr>
              <a:t>STEP 1  </a:t>
            </a:r>
            <a:r>
              <a:rPr sz="1700" b="1">
                <a:solidFill>
                  <a:srgbClr val="15215A"/>
                </a:solidFill>
                <a:latin typeface="Arial"/>
              </a:rPr>
              <a:t>Share motion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063240"/>
            <a:ext cx="24688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Inspection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776472"/>
            <a:ext cx="24688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Sealant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489704"/>
            <a:ext cx="24688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Auto rigging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5202936"/>
            <a:ext cx="24688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Pick &amp; 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916168"/>
            <a:ext cx="24688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Sanding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6629400"/>
            <a:ext cx="24688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Polishing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657600" y="3337560"/>
            <a:ext cx="1463040" cy="1691640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657600" y="4050791"/>
            <a:ext cx="1463040" cy="978409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657600" y="4764024"/>
            <a:ext cx="1463040" cy="265176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0" y="5029200"/>
            <a:ext cx="1463040" cy="448055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5029200"/>
            <a:ext cx="1463040" cy="1161288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57600" y="5029200"/>
            <a:ext cx="1463040" cy="1874520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4069080"/>
            <a:ext cx="2743200" cy="1920240"/>
          </a:xfrm>
          <a:prstGeom prst="roundRect">
            <a:avLst>
              <a:gd name="adj" fmla="val 12000"/>
            </a:avLst>
          </a:prstGeom>
          <a:solidFill>
            <a:srgbClr val="409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★ MY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5720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Motion planning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394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One planner, set up per 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36092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26078"/>
                </a:solidFill>
                <a:latin typeface="Arial"/>
              </a:rPr>
              <a:t>One shared planner serves every application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01000" y="4617720"/>
            <a:ext cx="914400" cy="822960"/>
          </a:xfrm>
          <a:prstGeom prst="rightArrow">
            <a:avLst/>
          </a:prstGeom>
          <a:solidFill>
            <a:srgbClr val="CE8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E846F"/>
                </a:solidFill>
                <a:latin typeface="Arial"/>
              </a:rPr>
              <a:t>grows</a:t>
            </a:r>
          </a:p>
          <a:p>
            <a:pPr algn="ctr">
              <a:spcBef>
                <a:spcPts val="700"/>
              </a:spcBef>
            </a:pPr>
            <a:r>
              <a:rPr sz="1400" b="1" i="0">
                <a:solidFill>
                  <a:srgbClr val="CE846F"/>
                </a:solidFill>
                <a:latin typeface="Arial"/>
              </a:rPr>
              <a:t>into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2240280"/>
            <a:ext cx="8595360" cy="576072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37744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E846F"/>
                </a:solidFill>
                <a:latin typeface="Arial"/>
              </a:rPr>
              <a:t>STEP 2  </a:t>
            </a:r>
            <a:r>
              <a:rPr sz="1700" b="1">
                <a:solidFill>
                  <a:srgbClr val="15215A"/>
                </a:solidFill>
                <a:latin typeface="Arial"/>
              </a:rPr>
              <a:t>Share the whole software stack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41880" y="3063240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Inspection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41880" y="3776472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Sealant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041880" y="4489704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Auto rigging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041880" y="5202936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Pick &amp; place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41880" y="5916168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Sanding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041880" y="6629400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15215A"/>
                </a:solidFill>
                <a:latin typeface="Arial"/>
              </a:rPr>
              <a:t>Polishing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4584680" y="3337560"/>
            <a:ext cx="457200" cy="1691640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584680" y="4050791"/>
            <a:ext cx="457200" cy="978409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584680" y="4764024"/>
            <a:ext cx="457200" cy="265176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584680" y="5029200"/>
            <a:ext cx="457200" cy="448055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584680" y="5029200"/>
            <a:ext cx="457200" cy="1161288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584680" y="5029200"/>
            <a:ext cx="457200" cy="1874520"/>
          </a:xfrm>
          <a:prstGeom prst="line">
            <a:avLst/>
          </a:prstGeom>
          <a:ln w="25400">
            <a:solidFill>
              <a:srgbClr val="9C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326880" y="3273552"/>
            <a:ext cx="5257800" cy="3520440"/>
          </a:xfrm>
          <a:prstGeom prst="roundRect">
            <a:avLst>
              <a:gd name="adj" fmla="val 6000"/>
            </a:avLst>
          </a:prstGeom>
          <a:solidFill>
            <a:srgbClr val="152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3383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STANDARDISED SOFTWARE STACK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3867912"/>
            <a:ext cx="1581912" cy="82296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5215A"/>
                </a:solidFill>
                <a:latin typeface="Arial"/>
              </a:rPr>
              <a:t>Vision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183112" y="3867912"/>
            <a:ext cx="1581912" cy="822960"/>
          </a:xfrm>
          <a:prstGeom prst="roundRect">
            <a:avLst>
              <a:gd name="adj" fmla="val 10000"/>
            </a:avLst>
          </a:prstGeom>
          <a:solidFill>
            <a:srgbClr val="409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★ Motion planning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856464" y="3867912"/>
            <a:ext cx="1581912" cy="82296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5215A"/>
                </a:solidFill>
                <a:latin typeface="Arial"/>
              </a:rPr>
              <a:t>Control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60" y="4782312"/>
            <a:ext cx="1581912" cy="82296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5215A"/>
                </a:solidFill>
                <a:latin typeface="Arial"/>
              </a:rPr>
              <a:t>Task orchestrator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183112" y="4782312"/>
            <a:ext cx="1581912" cy="82296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5215A"/>
                </a:solidFill>
                <a:latin typeface="Arial"/>
              </a:rPr>
              <a:t>Feedback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856464" y="4782312"/>
            <a:ext cx="1581912" cy="82296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5215A"/>
                </a:solidFill>
                <a:latin typeface="Arial"/>
              </a:rPr>
              <a:t>Simulation</a:t>
            </a:r>
          </a:p>
        </p:txBody>
      </p:sp>
      <p:sp>
        <p:nvSpPr>
          <p:cNvPr id="48" name="Pentagon 47"/>
          <p:cNvSpPr/>
          <p:nvPr/>
        </p:nvSpPr>
        <p:spPr>
          <a:xfrm>
            <a:off x="9509760" y="5742432"/>
            <a:ext cx="1143000" cy="457200"/>
          </a:xfrm>
          <a:prstGeom prst="homePlate">
            <a:avLst>
              <a:gd name="adj" fmla="val 28000"/>
            </a:avLst>
          </a:prstGeom>
          <a:solidFill>
            <a:srgbClr val="409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Simulate</a:t>
            </a:r>
          </a:p>
        </p:txBody>
      </p:sp>
      <p:sp>
        <p:nvSpPr>
          <p:cNvPr id="49" name="Chevron 48"/>
          <p:cNvSpPr/>
          <p:nvPr/>
        </p:nvSpPr>
        <p:spPr>
          <a:xfrm>
            <a:off x="10680192" y="5742432"/>
            <a:ext cx="868680" cy="457200"/>
          </a:xfrm>
          <a:prstGeom prst="chevron">
            <a:avLst>
              <a:gd name="adj" fmla="val 28000"/>
            </a:avLst>
          </a:prstGeom>
          <a:solidFill>
            <a:srgbClr val="4A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50" name="Chevron 49"/>
          <p:cNvSpPr/>
          <p:nvPr/>
        </p:nvSpPr>
        <p:spPr>
          <a:xfrm>
            <a:off x="11576304" y="5742432"/>
            <a:ext cx="1097280" cy="457200"/>
          </a:xfrm>
          <a:prstGeom prst="chevron">
            <a:avLst>
              <a:gd name="adj" fmla="val 28000"/>
            </a:avLst>
          </a:prstGeom>
          <a:solidFill>
            <a:srgbClr val="CE8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sp>
        <p:nvSpPr>
          <p:cNvPr id="51" name="Chevron 50"/>
          <p:cNvSpPr/>
          <p:nvPr/>
        </p:nvSpPr>
        <p:spPr>
          <a:xfrm>
            <a:off x="12701016" y="5742432"/>
            <a:ext cx="1691640" cy="457200"/>
          </a:xfrm>
          <a:prstGeom prst="chevron">
            <a:avLst>
              <a:gd name="adj" fmla="val 28000"/>
            </a:avLst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Support &amp; improve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63367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DE3F0"/>
                </a:solidFill>
                <a:latin typeface="Arial"/>
              </a:rPr>
              <a:t>Common interfaces • shared data • reusable parts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736092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26078"/>
                </a:solidFill>
                <a:latin typeface="Arial"/>
              </a:rPr>
              <a:t>One standard platform serves every application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82753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8A94A6"/>
                </a:solidFill>
                <a:latin typeface="Arial"/>
              </a:rPr>
              <a:t>THE VALUE</a:t>
            </a:r>
          </a:p>
        </p:txBody>
      </p:sp>
      <p:sp>
        <p:nvSpPr>
          <p:cNvPr id="55" name="Oval 54"/>
          <p:cNvSpPr/>
          <p:nvPr/>
        </p:nvSpPr>
        <p:spPr>
          <a:xfrm>
            <a:off x="2743200" y="8321040"/>
            <a:ext cx="457200" cy="457200"/>
          </a:xfrm>
          <a:prstGeom prst="ellipse">
            <a:avLst/>
          </a:prstGeom>
          <a:solidFill>
            <a:srgbClr val="CE8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82753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5215A"/>
                </a:solidFill>
                <a:latin typeface="Arial"/>
              </a:rPr>
              <a:t>Reuse proven work</a:t>
            </a:r>
          </a:p>
        </p:txBody>
      </p:sp>
      <p:sp>
        <p:nvSpPr>
          <p:cNvPr id="57" name="Oval 56"/>
          <p:cNvSpPr/>
          <p:nvPr/>
        </p:nvSpPr>
        <p:spPr>
          <a:xfrm>
            <a:off x="7726679" y="8321040"/>
            <a:ext cx="457200" cy="457200"/>
          </a:xfrm>
          <a:prstGeom prst="ellipse">
            <a:avLst/>
          </a:prstGeom>
          <a:solidFill>
            <a:srgbClr val="CE8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59" y="82753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5215A"/>
                </a:solidFill>
                <a:latin typeface="Arial"/>
              </a:rPr>
              <a:t>Integrate faster</a:t>
            </a:r>
          </a:p>
        </p:txBody>
      </p:sp>
      <p:sp>
        <p:nvSpPr>
          <p:cNvPr id="59" name="Oval 58"/>
          <p:cNvSpPr/>
          <p:nvPr/>
        </p:nvSpPr>
        <p:spPr>
          <a:xfrm>
            <a:off x="12710160" y="8321040"/>
            <a:ext cx="457200" cy="457200"/>
          </a:xfrm>
          <a:prstGeom prst="ellipse">
            <a:avLst/>
          </a:prstGeom>
          <a:solidFill>
            <a:srgbClr val="CE8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50240" y="82753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5215A"/>
                </a:solidFill>
                <a:latin typeface="Arial"/>
              </a:rPr>
              <a:t>Share improvements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9098280"/>
            <a:ext cx="1700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5215A"/>
                </a:solidFill>
                <a:latin typeface="Arial"/>
              </a:rPr>
              <a:t>Build once, configure per task: </a:t>
            </a:r>
            <a:r>
              <a:rPr sz="2200" b="1">
                <a:solidFill>
                  <a:srgbClr val="409A91"/>
                </a:solidFill>
                <a:latin typeface="Arial"/>
              </a:rPr>
              <a:t>a foundation for Physical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DAHYhfYF8jc</dc:identifier>
  <dcterms:modified xsi:type="dcterms:W3CDTF">2011-08-01T06:04:30Z</dcterms:modified>
  <cp:revision>1</cp:revision>
  <dc:title>Autonomy in Motion — Complete presentation</dc:title>
</cp:coreProperties>
</file>