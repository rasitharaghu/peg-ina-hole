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73" r:id="rId40"/>
  </p:sldIdLst>
  <p:sldSz cx="18288000" cy="10287000"/>
  <p:notesSz cx="6858000" cy="9144000"/>
  <p:embeddedFontLst>
    <p:embeddedFont>
      <p:font typeface="Roboto Bold" charset="1" panose="02000000000000000000"/>
      <p:regular r:id="rId22"/>
    </p:embeddedFont>
    <p:embeddedFont>
      <p:font typeface="Open Sauce Bold" charset="1" panose="00000800000000000000"/>
      <p:regular r:id="rId23"/>
    </p:embeddedFont>
    <p:embeddedFont>
      <p:font typeface="Open Sauce" charset="1" panose="00000500000000000000"/>
      <p:regular r:id="rId24"/>
    </p:embeddedFon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6"/>
    </p:embeddedFont>
    <p:embeddedFont>
      <p:font typeface="Arial" charset="1" panose="020B0604020202020204"/>
      <p:regular r:id="rId30"/>
    </p:embeddedFont>
    <p:embeddedFont>
      <p:font typeface="Arial Bold" charset="1" panose="020B0704020202020204"/>
      <p:regular r:id="rId31"/>
    </p:embeddedFont>
    <p:embeddedFont>
      <p:font typeface="Arial Nova" charset="1" panose="020B0504020202020204"/>
      <p:regular r:id="rId32"/>
    </p:embeddedFont>
    <p:embeddedFont>
      <p:font typeface="Arial Nova Bold" charset="1" panose="020B0804020202020204"/>
      <p:regular r:id="rId33"/>
    </p:embeddedFont>
    <p:embeddedFont>
      <p:font typeface="Inter Semi-Bold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notesMaster" Target="notesMasters/notesMaster1.xml"/><Relationship Id="rId28" Type="http://schemas.openxmlformats.org/officeDocument/2006/relationships/theme" Target="theme/theme2.xml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8" Type="http://schemas.openxmlformats.org/officeDocument/2006/relationships/font" Target="fonts/font38.fntdata"/><Relationship Id="rId4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VISION: A COMPLETE ROBOTICS PRODUCT (about 60 seconds)</a:t>
            </a:r>
          </a:p>
          <a:p/>
          <a:p>
            <a:r>
              <a:t>[Subtitle] A navigation app alone cannot drive a car. In the same way, motion planning alone cannot complete a manufacturing task. (Keep the car comparison short: one sentence, then move to the robot cell.)</a:t>
            </a:r>
          </a:p>
          <a:p/>
          <a:p>
            <a:r>
              <a:t>[Rows] A complete robot cell needs six capabilities working together:</a:t>
            </a:r>
          </a:p>
          <a:p>
            <a:r>
              <a:t>- Vision sees the panel.</a:t>
            </a:r>
          </a:p>
          <a:p>
            <a:r>
              <a:t>- Motion planning plans the movement. This is my focus.</a:t>
            </a:r>
          </a:p>
          <a:p>
            <a:r>
              <a:t>- Control executes the task.</a:t>
            </a:r>
          </a:p>
          <a:p>
            <a:r>
              <a:t>- A task orchestrator coordinates the whole task.</a:t>
            </a:r>
          </a:p>
          <a:p>
            <a:r>
              <a:t>- Feedback checks and corrects during the task.</a:t>
            </a:r>
          </a:p>
          <a:p>
            <a:r>
              <a:t>- Simulation lets us test virtually before the robot moves, so we validate faster and more safely.</a:t>
            </a:r>
          </a:p>
          <a:p/>
          <a:p>
            <a:r>
              <a:t>[Navy bar] Underneath everything is a standardised software stack: one shared platform with common interfaces, shared data and reusable components. This is what lets us build a capability once and reuse it across applications. [Point to the arrows] And the same stack supports the whole lifecycle: we simulate, test, deploy, and then support and improve.</a:t>
            </a:r>
          </a:p>
          <a:p/>
          <a:p>
            <a:r>
              <a:t>[Message] So motion planning is one part. The value comes from the complete system, and together these capabilities build a foundation for Physical AI.</a:t>
            </a:r>
          </a:p>
          <a:p/>
          <a:p>
            <a:r>
              <a:t>IF ASKED "What is the task orchestrator?": The software layer that sequences the steps, connects vision, planning and control, monitors progress, and decides what to do when something changes.</a:t>
            </a:r>
          </a:p>
          <a:p/>
          <a:p>
            <a:r>
              <a:t>IF ASKED "Why standardise the stack?": Without it, every application builds its own integration. With it, interfaces, data and components are reused, so new applications integrate faster and improvements are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image" Target="../media/image25.jpe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3.jpg"/><Relationship Id="rId9" Type="http://schemas.openxmlformats.org/officeDocument/2006/relationships/image" Target="../media/image4.jpg"/><Relationship Id="rId10" Type="http://schemas.openxmlformats.org/officeDocument/2006/relationships/notesSlide" Target="../notesSlides/notesSlide6.xml"/></Relationships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3" t="-1049" r="-1163" b="-1049"/>
            </a:stretch>
          </a:blipFill>
        </p:spPr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700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0" b="0" i="0">
                <a:solidFill>
                  <a:srgbClr val="15215A"/>
                </a:solidFill>
                <a:latin typeface="Arial"/>
              </a:rPr>
              <a:t>My vision: a complete robotics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700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26078"/>
                </a:solidFill>
                <a:latin typeface="Arial"/>
              </a:rPr>
              <a:t>A navigation app alone cannot drive a car; motion planning alone cannot complete a task</a:t>
            </a:r>
          </a:p>
        </p:txBody>
      </p:sp>
      <p:pic>
        <p:nvPicPr>
          <p:cNvPr id="5" name="Picture 4" descr="car.png"/>
          <p:cNvPicPr>
            <a:picLocks noChangeAspect="1"/>
          </p:cNvPicPr>
          <p:nvPr/>
        </p:nvPicPr>
        <p:blipFill>
          <a:blip r:embed="rId2"/>
          <a:srcRect t="23456" b="23456"/>
          <a:stretch>
            <a:fillRect/>
          </a:stretch>
        </p:blipFill>
        <p:spPr>
          <a:xfrm>
            <a:off x="640080" y="2286000"/>
            <a:ext cx="393192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0233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A94A6"/>
                </a:solidFill>
                <a:latin typeface="Arial"/>
              </a:rPr>
              <a:t>LIKE IN A CAR</a:t>
            </a:r>
          </a:p>
        </p:txBody>
      </p:sp>
      <p:pic>
        <p:nvPicPr>
          <p:cNvPr id="7" name="Picture 6" descr="samu.jpg"/>
          <p:cNvPicPr>
            <a:picLocks noChangeAspect="1"/>
          </p:cNvPicPr>
          <p:nvPr/>
        </p:nvPicPr>
        <p:blipFill>
          <a:blip r:embed="rId8"/>
          <a:srcRect t="25994" b="25994"/>
          <a:stretch>
            <a:fillRect/>
          </a:stretch>
        </p:blipFill>
        <p:spPr>
          <a:xfrm>
            <a:off x="4937760" y="2286000"/>
            <a:ext cx="6263640" cy="1691640"/>
          </a:xfrm>
          <a:prstGeom prst="rect">
            <a:avLst/>
          </a:prstGeom>
        </p:spPr>
      </p:pic>
      <p:pic>
        <p:nvPicPr>
          <p:cNvPr id="8" name="Picture 7" descr="scanplan.jpg"/>
          <p:cNvPicPr>
            <a:picLocks noChangeAspect="1"/>
          </p:cNvPicPr>
          <p:nvPr/>
        </p:nvPicPr>
        <p:blipFill>
          <a:blip r:embed="rId9"/>
          <a:srcRect t="15292" b="15292"/>
          <a:stretch>
            <a:fillRect/>
          </a:stretch>
        </p:blipFill>
        <p:spPr>
          <a:xfrm>
            <a:off x="11384280" y="2286000"/>
            <a:ext cx="626364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09A91"/>
                </a:solidFill>
                <a:latin typeface="Arial"/>
              </a:rPr>
              <a:t>IN OUR ROBOT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4041648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A94A6"/>
                </a:solidFill>
                <a:latin typeface="Arial"/>
              </a:rPr>
              <a:t>Photos: SAMU sealant cell • Intelligent Scan &amp;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3931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8A94A6"/>
                </a:solidFill>
                <a:latin typeface="Arial"/>
              </a:rPr>
              <a:t>Sees the road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526280"/>
            <a:ext cx="12710160" cy="493776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526280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5215A"/>
                </a:solidFill>
                <a:latin typeface="Arial"/>
              </a:rPr>
              <a:t>See the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0" y="4526280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0" i="0">
                <a:solidFill>
                  <a:srgbClr val="409A91"/>
                </a:solidFill>
                <a:latin typeface="Arial"/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93208"/>
            <a:ext cx="3931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8A94A6"/>
                </a:solidFill>
                <a:latin typeface="Arial"/>
              </a:rPr>
              <a:t>Navigation finds the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093208"/>
            <a:ext cx="12710160" cy="493776"/>
          </a:xfrm>
          <a:prstGeom prst="roundRect">
            <a:avLst>
              <a:gd name="adj" fmla="val 20000"/>
            </a:avLst>
          </a:prstGeom>
          <a:solidFill>
            <a:srgbClr val="40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5093208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Plan the movement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0" y="5093208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 i="0">
                <a:solidFill>
                  <a:srgbClr val="FFFFFF"/>
                </a:solidFill>
                <a:latin typeface="Arial"/>
              </a:rPr>
              <a:t>★ My focus:  Motion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0136"/>
            <a:ext cx="3931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8A94A6"/>
                </a:solidFill>
                <a:latin typeface="Arial"/>
              </a:rPr>
              <a:t>Steers &amp; brakes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5660136"/>
            <a:ext cx="12710160" cy="493776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5660136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5215A"/>
                </a:solidFill>
                <a:latin typeface="Arial"/>
              </a:rPr>
              <a:t>Execute the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0" y="5660136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0" i="0">
                <a:solidFill>
                  <a:srgbClr val="409A91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27064"/>
            <a:ext cx="3931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8A94A6"/>
                </a:solidFill>
                <a:latin typeface="Arial"/>
              </a:rPr>
              <a:t>Driver coordinates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6227064"/>
            <a:ext cx="12710160" cy="493776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6227064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5215A"/>
                </a:solidFill>
                <a:latin typeface="Arial"/>
              </a:rPr>
              <a:t>Coordinate the whole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0" y="6227064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0" i="0">
                <a:solidFill>
                  <a:srgbClr val="409A91"/>
                </a:solidFill>
                <a:latin typeface="Arial"/>
              </a:rPr>
              <a:t>Task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793992"/>
            <a:ext cx="3931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8A94A6"/>
                </a:solidFill>
                <a:latin typeface="Arial"/>
              </a:rPr>
              <a:t>Observes &amp; adjusts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6793992"/>
            <a:ext cx="12710160" cy="493776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6793992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5215A"/>
                </a:solidFill>
                <a:latin typeface="Arial"/>
              </a:rPr>
              <a:t>Check &amp; correct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0" y="6793992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0" i="0">
                <a:solidFill>
                  <a:srgbClr val="409A91"/>
                </a:solidFill>
                <a:latin typeface="Arial"/>
              </a:rP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7360920"/>
            <a:ext cx="3931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8A94A6"/>
                </a:solidFill>
                <a:latin typeface="Arial"/>
              </a:rPr>
              <a:t>Driving simulator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7360920"/>
            <a:ext cx="12710160" cy="493776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7360920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5215A"/>
                </a:solidFill>
                <a:latin typeface="Arial"/>
              </a:rPr>
              <a:t>Test virtually before the robot moves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0" y="7360920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0" i="0">
                <a:solidFill>
                  <a:srgbClr val="409A91"/>
                </a:solidFill>
                <a:latin typeface="Arial"/>
              </a:rPr>
              <a:t>Simulation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8001000"/>
            <a:ext cx="17007840" cy="1097280"/>
          </a:xfrm>
          <a:prstGeom prst="roundRect">
            <a:avLst>
              <a:gd name="adj" fmla="val 15000"/>
            </a:avLst>
          </a:prstGeom>
          <a:solidFill>
            <a:srgbClr val="152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8156448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STANDARDISED SOFTWARE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862279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DE3F0"/>
                </a:solidFill>
                <a:latin typeface="Arial"/>
              </a:rPr>
              <a:t>Common interfaces • shared data • reusable components</a:t>
            </a:r>
          </a:p>
        </p:txBody>
      </p:sp>
      <p:sp>
        <p:nvSpPr>
          <p:cNvPr id="38" name="Pentagon 37"/>
          <p:cNvSpPr/>
          <p:nvPr/>
        </p:nvSpPr>
        <p:spPr>
          <a:xfrm>
            <a:off x="7818120" y="8275320"/>
            <a:ext cx="2148840" cy="548640"/>
          </a:xfrm>
          <a:prstGeom prst="homePlate">
            <a:avLst/>
          </a:prstGeom>
          <a:solidFill>
            <a:srgbClr val="40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Simulate</a:t>
            </a:r>
          </a:p>
        </p:txBody>
      </p:sp>
      <p:sp>
        <p:nvSpPr>
          <p:cNvPr id="39" name="Chevron 38"/>
          <p:cNvSpPr/>
          <p:nvPr/>
        </p:nvSpPr>
        <p:spPr>
          <a:xfrm>
            <a:off x="10040112" y="8275320"/>
            <a:ext cx="1828800" cy="548640"/>
          </a:xfrm>
          <a:prstGeom prst="chevron">
            <a:avLst/>
          </a:prstGeom>
          <a:solidFill>
            <a:srgbClr val="4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40" name="Chevron 39"/>
          <p:cNvSpPr/>
          <p:nvPr/>
        </p:nvSpPr>
        <p:spPr>
          <a:xfrm>
            <a:off x="11942064" y="8275320"/>
            <a:ext cx="2148840" cy="548640"/>
          </a:xfrm>
          <a:prstGeom prst="chevron">
            <a:avLst/>
          </a:prstGeom>
          <a:solidFill>
            <a:srgbClr val="CE8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41" name="Chevron 40"/>
          <p:cNvSpPr/>
          <p:nvPr/>
        </p:nvSpPr>
        <p:spPr>
          <a:xfrm>
            <a:off x="14164056" y="8275320"/>
            <a:ext cx="3429000" cy="548640"/>
          </a:xfrm>
          <a:prstGeom prst="chevron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Support &amp; improve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9299448"/>
            <a:ext cx="1700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215A"/>
                </a:solidFill>
                <a:latin typeface="Arial"/>
              </a:rPr>
              <a:t>Motion planning is one part. </a:t>
            </a:r>
            <a:r>
              <a:rPr sz="2100" b="1">
                <a:solidFill>
                  <a:srgbClr val="409A91"/>
                </a:solidFill>
                <a:latin typeface="Arial"/>
              </a:rPr>
              <a:t>The value comes from the complete system: a foundation for Physical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DAHYhfYF8jc</dc:identifier>
  <dcterms:modified xsi:type="dcterms:W3CDTF">2011-08-01T06:04:30Z</dcterms:modified>
  <cp:revision>1</cp:revision>
  <dc:title>Autonomy in Motion — Complete presentation</dc:title>
</cp:coreProperties>
</file>