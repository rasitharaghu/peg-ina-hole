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6787e784c94d12" /><Relationship Type="http://schemas.openxmlformats.org/officeDocument/2006/relationships/extended-properties" Target="/docProps/app.xml" Id="R0ea3bcd95cbc4bfd" /><Relationship Type="http://schemas.openxmlformats.org/officeDocument/2006/relationships/officeDocument" Target="/ppt/presentation.xml" Id="R1f5ae776097b4c33" /></Relationships>
</file>

<file path=ppt/presentation.xml><?xml version="1.0" encoding="utf-8"?>
<p:presentation xmlns:p="http://schemas.openxmlformats.org/presentationml/2006/main">
  <p:sldMasterIdLst>
    <p:sldMasterId xmlns:r="http://schemas.openxmlformats.org/officeDocument/2006/relationships" id="2147483648" r:id="R28932133bf134a86"/>
  </p:sldMasterIdLst>
  <p:notesMasterIdLst>
    <p:notesMasterId xmlns:r="http://schemas.openxmlformats.org/officeDocument/2006/relationships" r:id="Rcd192ea875924d87"/>
  </p:notesMasterIdLst>
  <p:sldIdLst>
    <p:sldId xmlns:r="http://schemas.openxmlformats.org/officeDocument/2006/relationships" id="256" r:id="R638e9b2c11ab421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c3ba53b379421d" /><Relationship Type="http://schemas.openxmlformats.org/officeDocument/2006/relationships/slideMaster" Target="/ppt/slideMasters/slideMaster1.xml" Id="R28932133bf134a86" /><Relationship Type="http://schemas.openxmlformats.org/officeDocument/2006/relationships/notesMaster" Target="/ppt/notesMasters/notesMaster1.xml" Id="Rcd192ea875924d87" /><Relationship Type="http://schemas.openxmlformats.org/officeDocument/2006/relationships/presProps" Target="/ppt/presProps.xml" Id="Rb453c3447e2e49de" /><Relationship Type="http://schemas.openxmlformats.org/officeDocument/2006/relationships/tableStyles" Target="/ppt/tableStyles.xml" Id="R5c4ad1b47d5746f0" /><Relationship Type="http://schemas.openxmlformats.org/officeDocument/2006/relationships/slide" Target="/ppt/slides/slide1.xml" Id="R638e9b2c11ab42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0f246c933049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c6645e566f44d7" /><Relationship Type="http://schemas.openxmlformats.org/officeDocument/2006/relationships/notesMaster" Target="/ppt/notesMasters/notesMaster1.xml" Id="R1fd60854f19945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Developed in collaboration with IRT Jules Verne using Tesseract for robot motion planning and Open CASCADE for CAD geometry processing. Sensor point-cloud processing is a separate geometry input, enabling surface inspection without complete CAD. NVIDIA Isaac Sim is the digital twin integration platform identified by the user. The framework is in development; these labels do not assert completed integration. Shared geometry and planned trajectories pass to the digital twin for pre-execution validation; results feed back for refinement. GTSP sequences 100+ defect locations and targeted reinspection regions; it does not itself generate robot trajectories. HPP–IRT JV benchmarking completed, per user. HPP is an alternative and RL/VLA future options. Intended value: less manual programming, less travel and repeated scanning, reusable components across robots and surface processes with suitable adapters and validation. No quantified savings or arbitrary-geometry guarantee claimed. First visual is a generated representative FANUC scanning illustration; points are not real acquired data. Second visual is a representative FANUC machining example from https://robodk.com/doc/fr/Example-5-Axis-Cutting.html, not Tesseract or the project interface. Third image is a representative NVIDIA Isaac Sim UR10e setup example, not the project FANUC digital twin. Source: https://docs.isaacsim.omniverse.nvidia.com/latest/robot_setup_tutorials/tutorial_import_assemble_manipulator.html ; asset https://docs.isaacsim.omniverse.nvidia.com/latest/_images/isim_6.0_full_tut_gui_connect_gripper_assembler_2.png . Fourth visual is official FANUC R-2000iC/210L product photo: https://www.fanucamerica.com/products/robot/r-2000ic-210l . Talk track: We collaborate with IRT Jules Verne to turn measured surfaces into toolpaths and feasible robot motion. Open CASCADE supports CAD geometry, alongside point-cloud processing for parts without complete CAD. Tesseract handles robot motion planning. The common platform supports selectable planners and connects to NVIDIA Isaac Sim to verify motion and return feedback before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27afb1d8974c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495d6826424759" /><Relationship Type="http://schemas.openxmlformats.org/officeDocument/2006/relationships/slideLayout" Target="/ppt/slideLayouts/slideLayout1.xml" Id="R6378c1b1869b41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78c1b1869b41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201c0338654caf" /><Relationship Type="http://schemas.openxmlformats.org/officeDocument/2006/relationships/image" Target="/ppt/media/image.jpeg" Id="R962239dc14b74ce1" /><Relationship Type="http://schemas.openxmlformats.org/officeDocument/2006/relationships/image" Target="/ppt/media/image2.jpeg" Id="R84a5669c961343ec" /><Relationship Type="http://schemas.openxmlformats.org/officeDocument/2006/relationships/image" Target="/ppt/media/image3.jpeg" Id="R3ba9f1ea06084757" /><Relationship Type="http://schemas.openxmlformats.org/officeDocument/2006/relationships/image" Target="/ppt/media/image4.jpeg" Id="R656b439ba03b4963" /><Relationship Type="http://schemas.openxmlformats.org/officeDocument/2006/relationships/notesSlide" Target="/ppt/notesSlides/notesSlide1.xml" Id="Rae94dbc0578c46c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B21EDD7-69AD-4AE1-8966-2F30C1134E25}"/>
              </a:ext>
            </a:extLst>
          </p:cNvPr>
          <p:cNvSpPr>
            <a:spLocks xmlns:a="http://schemas.openxmlformats.org/drawingml/2006/main" noGrp="1"/>
          </p:cNvSpPr>
          <p:nvPr/>
        </p:nvSpPr>
        <p:spPr>
          <a:xfrm xmlns:a="http://schemas.openxmlformats.org/drawingml/2006/main">
            <a:off x="571500" y="333375"/>
            <a:ext cx="1714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002B49"/>
                </a:solidFill>
                <a:latin typeface="Nimbus Sans"/>
                <a:ea typeface="Nimbus Sans"/>
                <a:cs typeface="Nimbus Sans"/>
              </a:defRPr>
            </a:pPr>
            <a:r>
              <a:rPr sz="4125" b="1">
                <a:solidFill>
                  <a:srgbClr val="002B49"/>
                </a:solidFill>
                <a:latin typeface="Nimbus Sans"/>
                <a:ea typeface="Nimbus Sans"/>
                <a:cs typeface="Nimbus Sans"/>
              </a:rPr>
              <a:t>Full-Surface Scanning. Targeted Defect Reinspection.</a:t>
            </a:r>
          </a:p>
        </p:txBody>
      </p:sp>
      <p:sp>
        <p:nvSpPr>
          <p:cNvPr id="2" name="">
            <a:extLst xmlns:a="http://schemas.openxmlformats.org/drawingml/2006/main">
              <a:ext uri="{FF2B5EF4-FFF2-40B4-BE49-F238E27FC236}">
                <a16:creationId xmlns:a16="http://schemas.microsoft.com/office/drawing/2014/main" id="{78E4F840-9568-4E37-94E0-755145B7A912}"/>
              </a:ext>
            </a:extLst>
          </p:cNvPr>
          <p:cNvSpPr>
            <a:spLocks xmlns:a="http://schemas.openxmlformats.org/drawingml/2006/main" noGrp="1"/>
          </p:cNvSpPr>
          <p:nvPr/>
        </p:nvSpPr>
        <p:spPr>
          <a:xfrm xmlns:a="http://schemas.openxmlformats.org/drawingml/2006/main">
            <a:off x="571500" y="1228725"/>
            <a:ext cx="17145000" cy="1171575"/>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48E2973-4590-4D7B-A95A-FBF1F5DF547D}"/>
              </a:ext>
            </a:extLst>
          </p:cNvPr>
          <p:cNvSpPr>
            <a:spLocks xmlns:a="http://schemas.openxmlformats.org/drawingml/2006/main" noGrp="1"/>
          </p:cNvSpPr>
          <p:nvPr/>
        </p:nvSpPr>
        <p:spPr>
          <a:xfrm xmlns:a="http://schemas.openxmlformats.org/drawingml/2006/main">
            <a:off x="809625" y="1362075"/>
            <a:ext cx="1666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Nimbus Sans"/>
                <a:ea typeface="Nimbus Sans"/>
                <a:cs typeface="Nimbus Sans"/>
              </a:defRPr>
            </a:pPr>
            <a:r>
              <a:rPr sz="3000" b="1">
                <a:solidFill>
                  <a:srgbClr val="FFFFFF"/>
                </a:solidFill>
                <a:latin typeface="Nimbus Sans"/>
                <a:ea typeface="Nimbus Sans"/>
                <a:cs typeface="Nimbus Sans"/>
              </a:rPr>
              <a:t>IN COLLABORATION WITH IRT JULES VERNE</a:t>
            </a:r>
          </a:p>
        </p:txBody>
      </p:sp>
      <p:sp>
        <p:nvSpPr>
          <p:cNvPr id="4" name="">
            <a:extLst xmlns:a="http://schemas.openxmlformats.org/drawingml/2006/main">
              <a:ext uri="{FF2B5EF4-FFF2-40B4-BE49-F238E27FC236}">
                <a16:creationId xmlns:a16="http://schemas.microsoft.com/office/drawing/2014/main" id="{F85E7880-629A-4194-BBDD-D050F90BEAAA}"/>
              </a:ext>
            </a:extLst>
          </p:cNvPr>
          <p:cNvSpPr>
            <a:spLocks xmlns:a="http://schemas.openxmlformats.org/drawingml/2006/main" noGrp="1"/>
          </p:cNvSpPr>
          <p:nvPr/>
        </p:nvSpPr>
        <p:spPr>
          <a:xfrm xmlns:a="http://schemas.openxmlformats.org/drawingml/2006/main">
            <a:off x="809625" y="1933575"/>
            <a:ext cx="1666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5EBF4"/>
                </a:solidFill>
                <a:latin typeface="Nimbus Sans"/>
                <a:ea typeface="Nimbus Sans"/>
                <a:cs typeface="Nimbus Sans"/>
              </a:defRPr>
            </a:pPr>
            <a:r>
              <a:rPr sz="2175" b="0">
                <a:solidFill>
                  <a:srgbClr val="D5EBF4"/>
                </a:solidFill>
                <a:latin typeface="Nimbus Sans"/>
                <a:ea typeface="Nimbus Sans"/>
                <a:cs typeface="Nimbus Sans"/>
              </a:rPr>
              <a:t>Developing a reusable motion planning framework for aircraft inspection</a:t>
            </a:r>
          </a:p>
        </p:txBody>
      </p:sp>
      <p:sp>
        <p:nvSpPr>
          <p:cNvPr id="5" name="">
            <a:extLst xmlns:a="http://schemas.openxmlformats.org/drawingml/2006/main">
              <a:ext uri="{FF2B5EF4-FFF2-40B4-BE49-F238E27FC236}">
                <a16:creationId xmlns:a16="http://schemas.microsoft.com/office/drawing/2014/main" id="{89CB5DF7-6747-4863-87B9-E334A082D3CD}"/>
              </a:ext>
            </a:extLst>
          </p:cNvPr>
          <p:cNvSpPr>
            <a:spLocks xmlns:a="http://schemas.openxmlformats.org/drawingml/2006/main" noGrp="1"/>
          </p:cNvSpPr>
          <p:nvPr/>
        </p:nvSpPr>
        <p:spPr>
          <a:xfrm xmlns:a="http://schemas.openxmlformats.org/drawingml/2006/main">
            <a:off x="9601200" y="28003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2B49"/>
                </a:solidFill>
                <a:latin typeface="Nimbus Sans"/>
                <a:ea typeface="Nimbus Sans"/>
                <a:cs typeface="Nimbus Sans"/>
              </a:defRPr>
            </a:pPr>
            <a:r>
              <a:rPr sz="2025" b="1">
                <a:solidFill>
                  <a:srgbClr val="002B49"/>
                </a:solidFill>
                <a:latin typeface="Nimbus Sans"/>
                <a:ea typeface="Nimbus Sans"/>
                <a:cs typeface="Nimbus Sans"/>
              </a:rPr>
              <a:t>Connected to the inspection system</a:t>
            </a:r>
          </a:p>
        </p:txBody>
      </p:sp>
      <p:sp>
        <p:nvSpPr>
          <p:cNvPr id="6" name="">
            <a:extLst xmlns:a="http://schemas.openxmlformats.org/drawingml/2006/main">
              <a:ext uri="{FF2B5EF4-FFF2-40B4-BE49-F238E27FC236}">
                <a16:creationId xmlns:a16="http://schemas.microsoft.com/office/drawing/2014/main" id="{568A4E00-26AA-45FA-A39F-D35750FA765A}"/>
              </a:ext>
            </a:extLst>
          </p:cNvPr>
          <p:cNvSpPr>
            <a:spLocks xmlns:a="http://schemas.openxmlformats.org/drawingml/2006/main" noGrp="1"/>
          </p:cNvSpPr>
          <p:nvPr/>
        </p:nvSpPr>
        <p:spPr>
          <a:xfrm xmlns:a="http://schemas.openxmlformats.org/drawingml/2006/main">
            <a:off x="9601200" y="3200400"/>
            <a:ext cx="8001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Scan data and defects in; validated motion and status out</a:t>
            </a:r>
          </a:p>
        </p:txBody>
      </p:sp>
      <p:sp>
        <p:nvSpPr>
          <p:cNvPr id="7" name="">
            <a:extLst xmlns:a="http://schemas.openxmlformats.org/drawingml/2006/main">
              <a:ext uri="{FF2B5EF4-FFF2-40B4-BE49-F238E27FC236}">
                <a16:creationId xmlns:a16="http://schemas.microsoft.com/office/drawing/2014/main" id="{9DB0FCDA-599B-4D4E-9A3B-866954EE9E6B}"/>
              </a:ext>
            </a:extLst>
          </p:cNvPr>
          <p:cNvSpPr>
            <a:spLocks xmlns:a="http://schemas.openxmlformats.org/drawingml/2006/main" noGrp="1"/>
          </p:cNvSpPr>
          <p:nvPr/>
        </p:nvSpPr>
        <p:spPr>
          <a:xfrm xmlns:a="http://schemas.openxmlformats.org/drawingml/2006/main">
            <a:off x="476250" y="2724150"/>
            <a:ext cx="8734425" cy="5229225"/>
          </a:xfrm>
          <a:prstGeom xmlns:a="http://schemas.openxmlformats.org/drawingml/2006/main" prst="rect">
            <a:avLst/>
          </a:prstGeom>
          <a:solidFill xmlns:a="http://schemas.openxmlformats.org/drawingml/2006/main">
            <a:srgbClr val="F4F8FB"/>
          </a:solidFill>
          <a:ln xmlns:a="http://schemas.openxmlformats.org/drawingml/2006/main" w="19050">
            <a:solidFill>
              <a:srgbClr val="ACBECD"/>
            </a:solidFill>
          </a:ln>
        </p:spPr>
      </p:sp>
      <p:sp>
        <p:nvSpPr>
          <p:cNvPr id="8" name="">
            <a:extLst xmlns:a="http://schemas.openxmlformats.org/drawingml/2006/main">
              <a:ext uri="{FF2B5EF4-FFF2-40B4-BE49-F238E27FC236}">
                <a16:creationId xmlns:a16="http://schemas.microsoft.com/office/drawing/2014/main" id="{D9FE9F95-E81E-4254-BC42-05C9D9CD102F}"/>
              </a:ext>
            </a:extLst>
          </p:cNvPr>
          <p:cNvSpPr>
            <a:spLocks xmlns:a="http://schemas.openxmlformats.org/drawingml/2006/main" noGrp="1"/>
          </p:cNvSpPr>
          <p:nvPr/>
        </p:nvSpPr>
        <p:spPr>
          <a:xfrm xmlns:a="http://schemas.openxmlformats.org/drawingml/2006/main">
            <a:off x="723900" y="2867025"/>
            <a:ext cx="83248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6A8"/>
                </a:solidFill>
                <a:latin typeface="Nimbus Sans"/>
                <a:ea typeface="Nimbus Sans"/>
                <a:cs typeface="Nimbus Sans"/>
              </a:defRPr>
            </a:pPr>
            <a:r>
              <a:rPr sz="2025" b="1">
                <a:solidFill>
                  <a:srgbClr val="0076A8"/>
                </a:solidFill>
                <a:latin typeface="Nimbus Sans"/>
                <a:ea typeface="Nimbus Sans"/>
                <a:cs typeface="Nimbus Sans"/>
              </a:rPr>
              <a:t>COMMON PLANNING FRAMEWORK (IN DEVELOPMENT)</a:t>
            </a:r>
          </a:p>
        </p:txBody>
      </p:sp>
      <p:sp>
        <p:nvSpPr>
          <p:cNvPr id="9" name="">
            <a:extLst xmlns:a="http://schemas.openxmlformats.org/drawingml/2006/main">
              <a:ext uri="{FF2B5EF4-FFF2-40B4-BE49-F238E27FC236}">
                <a16:creationId xmlns:a16="http://schemas.microsoft.com/office/drawing/2014/main" id="{8924A4D8-EB1D-450E-A7BC-BE432B5B1AC3}"/>
              </a:ext>
            </a:extLst>
          </p:cNvPr>
          <p:cNvSpPr>
            <a:spLocks xmlns:a="http://schemas.openxmlformats.org/drawingml/2006/main" noGrp="1"/>
          </p:cNvSpPr>
          <p:nvPr/>
        </p:nvSpPr>
        <p:spPr>
          <a:xfrm xmlns:a="http://schemas.openxmlformats.org/drawingml/2006/main">
            <a:off x="723900" y="3219450"/>
            <a:ext cx="832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6A8"/>
                </a:solidFill>
                <a:latin typeface="Nimbus Sans"/>
                <a:ea typeface="Nimbus Sans"/>
                <a:cs typeface="Nimbus Sans"/>
              </a:defRPr>
            </a:pPr>
            <a:r>
              <a:rPr sz="1725" b="1">
                <a:solidFill>
                  <a:srgbClr val="0076A8"/>
                </a:solidFill>
                <a:latin typeface="Nimbus Sans"/>
                <a:ea typeface="Nimbus Sans"/>
                <a:cs typeface="Nimbus Sans"/>
              </a:rPr>
              <a:t>IRT JV contribution: toolpath generation + robot motion planning</a:t>
            </a:r>
          </a:p>
        </p:txBody>
      </p:sp>
      <p:sp>
        <p:nvSpPr>
          <p:cNvPr id="10" name="">
            <a:extLst xmlns:a="http://schemas.openxmlformats.org/drawingml/2006/main">
              <a:ext uri="{FF2B5EF4-FFF2-40B4-BE49-F238E27FC236}">
                <a16:creationId xmlns:a16="http://schemas.microsoft.com/office/drawing/2014/main" id="{6F634969-D8EE-4AE0-94DB-660BF54AB5F4}"/>
              </a:ext>
            </a:extLst>
          </p:cNvPr>
          <p:cNvSpPr>
            <a:spLocks xmlns:a="http://schemas.openxmlformats.org/drawingml/2006/main" noGrp="1"/>
          </p:cNvSpPr>
          <p:nvPr/>
        </p:nvSpPr>
        <p:spPr>
          <a:xfrm xmlns:a="http://schemas.openxmlformats.org/drawingml/2006/main">
            <a:off x="723900" y="3590925"/>
            <a:ext cx="385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1  Generate scan paths</a:t>
            </a:r>
          </a:p>
        </p:txBody>
      </p:sp>
      <p:sp>
        <p:nvSpPr>
          <p:cNvPr id="11" name="">
            <a:extLst xmlns:a="http://schemas.openxmlformats.org/drawingml/2006/main">
              <a:ext uri="{FF2B5EF4-FFF2-40B4-BE49-F238E27FC236}">
                <a16:creationId xmlns:a16="http://schemas.microsoft.com/office/drawing/2014/main" id="{D6EA811E-19E3-4E1A-92D7-D827D2F70D39}"/>
              </a:ext>
            </a:extLst>
          </p:cNvPr>
          <p:cNvSpPr>
            <a:spLocks xmlns:a="http://schemas.openxmlformats.org/drawingml/2006/main" noGrp="1"/>
          </p:cNvSpPr>
          <p:nvPr/>
        </p:nvSpPr>
        <p:spPr>
          <a:xfrm xmlns:a="http://schemas.openxmlformats.org/drawingml/2006/main">
            <a:off x="5019675" y="3590925"/>
            <a:ext cx="4010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2  Optimize route and motion</a:t>
            </a:r>
          </a:p>
        </p:txBody>
      </p:sp>
      <p:sp>
        <p:nvSpPr>
          <p:cNvPr id="12" name="">
            <a:extLst xmlns:a="http://schemas.openxmlformats.org/drawingml/2006/main">
              <a:ext uri="{FF2B5EF4-FFF2-40B4-BE49-F238E27FC236}">
                <a16:creationId xmlns:a16="http://schemas.microsoft.com/office/drawing/2014/main" id="{C3F5C1E2-BE6E-458C-88B0-79EC3789BA6C}"/>
              </a:ext>
            </a:extLst>
          </p:cNvPr>
          <p:cNvSpPr>
            <a:spLocks xmlns:a="http://schemas.openxmlformats.org/drawingml/2006/main" noGrp="1"/>
          </p:cNvSpPr>
          <p:nvPr/>
        </p:nvSpPr>
        <p:spPr>
          <a:xfrm xmlns:a="http://schemas.openxmlformats.org/drawingml/2006/main">
            <a:off x="9601200" y="3590925"/>
            <a:ext cx="3914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2"/>
                </a:solidFill>
                <a:latin typeface="Nimbus Sans"/>
                <a:ea typeface="Nimbus Sans"/>
                <a:cs typeface="Nimbus Sans"/>
              </a:defRPr>
            </a:pPr>
            <a:r>
              <a:rPr sz="2325" b="1">
                <a:solidFill>
                  <a:srgbClr val="007F82"/>
                </a:solidFill>
                <a:latin typeface="Nimbus Sans"/>
                <a:ea typeface="Nimbus Sans"/>
                <a:cs typeface="Nimbus Sans"/>
              </a:rPr>
              <a:t>3  Validate in digital twin</a:t>
            </a:r>
          </a:p>
        </p:txBody>
      </p:sp>
      <p:sp>
        <p:nvSpPr>
          <p:cNvPr id="13" name="">
            <a:extLst xmlns:a="http://schemas.openxmlformats.org/drawingml/2006/main">
              <a:ext uri="{FF2B5EF4-FFF2-40B4-BE49-F238E27FC236}">
                <a16:creationId xmlns:a16="http://schemas.microsoft.com/office/drawing/2014/main" id="{A8CE93F3-2176-4AB4-897C-18668BC6A195}"/>
              </a:ext>
            </a:extLst>
          </p:cNvPr>
          <p:cNvSpPr>
            <a:spLocks xmlns:a="http://schemas.openxmlformats.org/drawingml/2006/main" noGrp="1"/>
          </p:cNvSpPr>
          <p:nvPr/>
        </p:nvSpPr>
        <p:spPr>
          <a:xfrm xmlns:a="http://schemas.openxmlformats.org/drawingml/2006/main">
            <a:off x="13982700" y="3590925"/>
            <a:ext cx="3781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4  Inspect with FANUC</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962239dc14b74ce1"/>
          <a:stretch xmlns:a="http://schemas.openxmlformats.org/drawingml/2006/main"/>
        </p:blipFill>
        <p:spPr>
          <a:xfrm xmlns:a="http://schemas.openxmlformats.org/drawingml/2006/main">
            <a:off x="723900" y="4043363"/>
            <a:ext cx="3810000" cy="1905000"/>
          </a:xfrm>
          <a:prstGeom xmlns:a="http://schemas.openxmlformats.org/drawingml/2006/main" prst="rect">
            <a:avLst/>
          </a:prstGeom>
        </p:spPr>
      </p:pic>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84a5669c961343ec"/>
          <a:stretch xmlns:a="http://schemas.openxmlformats.org/drawingml/2006/main"/>
        </p:blipFill>
        <p:spPr>
          <a:xfrm xmlns:a="http://schemas.openxmlformats.org/drawingml/2006/main">
            <a:off x="6025302" y="3971925"/>
            <a:ext cx="1893996" cy="2057400"/>
          </a:xfrm>
          <a:prstGeom xmlns:a="http://schemas.openxmlformats.org/drawingml/2006/main" prst="rect">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3ba9f1ea06084757"/>
          <a:stretch xmlns:a="http://schemas.openxmlformats.org/drawingml/2006/main"/>
        </p:blipFill>
        <p:spPr>
          <a:xfrm xmlns:a="http://schemas.openxmlformats.org/drawingml/2006/main">
            <a:off x="10051806" y="4019550"/>
            <a:ext cx="3004038" cy="1952625"/>
          </a:xfrm>
          <a:prstGeom xmlns:a="http://schemas.openxmlformats.org/drawingml/2006/main" prst="rect">
            <a:avLst/>
          </a:prstGeom>
        </p:spPr>
      </p:pic>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656b439ba03b4963"/>
          <a:stretch xmlns:a="http://schemas.openxmlformats.org/drawingml/2006/main"/>
        </p:blipFill>
        <p:spPr>
          <a:xfrm xmlns:a="http://schemas.openxmlformats.org/drawingml/2006/main">
            <a:off x="15073904" y="3895725"/>
            <a:ext cx="1494242" cy="22383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23448CF4-4A65-4111-B47A-C17B3A0A64B9}"/>
              </a:ext>
            </a:extLst>
          </p:cNvPr>
          <p:cNvSpPr>
            <a:spLocks xmlns:a="http://schemas.openxmlformats.org/drawingml/2006/main" noGrp="1"/>
          </p:cNvSpPr>
          <p:nvPr/>
        </p:nvSpPr>
        <p:spPr>
          <a:xfrm xmlns:a="http://schemas.openxmlformats.org/drawingml/2006/main">
            <a:off x="460057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187A104-0F16-40EA-9E9C-900D83C91C9C}"/>
              </a:ext>
            </a:extLst>
          </p:cNvPr>
          <p:cNvSpPr>
            <a:spLocks xmlns:a="http://schemas.openxmlformats.org/drawingml/2006/main" noGrp="1"/>
          </p:cNvSpPr>
          <p:nvPr/>
        </p:nvSpPr>
        <p:spPr>
          <a:xfrm xmlns:a="http://schemas.openxmlformats.org/drawingml/2006/main">
            <a:off x="92297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D57F458-A37E-48EA-A493-E0CB0CA63943}"/>
              </a:ext>
            </a:extLst>
          </p:cNvPr>
          <p:cNvSpPr>
            <a:spLocks xmlns:a="http://schemas.openxmlformats.org/drawingml/2006/main" noGrp="1"/>
          </p:cNvSpPr>
          <p:nvPr/>
        </p:nvSpPr>
        <p:spPr>
          <a:xfrm xmlns:a="http://schemas.openxmlformats.org/drawingml/2006/main">
            <a:off x="135731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433EFD6-9708-45D7-8C1B-51FC3C9C8635}"/>
              </a:ext>
            </a:extLst>
          </p:cNvPr>
          <p:cNvSpPr>
            <a:spLocks xmlns:a="http://schemas.openxmlformats.org/drawingml/2006/main" noGrp="1"/>
          </p:cNvSpPr>
          <p:nvPr/>
        </p:nvSpPr>
        <p:spPr>
          <a:xfrm xmlns:a="http://schemas.openxmlformats.org/drawingml/2006/main">
            <a:off x="723900" y="6115050"/>
            <a:ext cx="3914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6A8"/>
                </a:solidFill>
                <a:latin typeface="Nimbus Sans"/>
                <a:ea typeface="Nimbus Sans"/>
                <a:cs typeface="Nimbus Sans"/>
              </a:defRPr>
            </a:pPr>
            <a:r>
              <a:rPr sz="1650" b="1">
                <a:solidFill>
                  <a:srgbClr val="0076A8"/>
                </a:solidFill>
                <a:latin typeface="Nimbus Sans"/>
                <a:ea typeface="Nimbus Sans"/>
                <a:cs typeface="Nimbus Sans"/>
              </a:rPr>
              <a:t>Open CASCADE + point-cloud processing</a:t>
            </a:r>
          </a:p>
        </p:txBody>
      </p:sp>
      <p:sp>
        <p:nvSpPr>
          <p:cNvPr id="22" name="">
            <a:extLst xmlns:a="http://schemas.openxmlformats.org/drawingml/2006/main">
              <a:ext uri="{FF2B5EF4-FFF2-40B4-BE49-F238E27FC236}">
                <a16:creationId xmlns:a16="http://schemas.microsoft.com/office/drawing/2014/main" id="{426689D4-7D1F-4280-AF40-4B864001EC42}"/>
              </a:ext>
            </a:extLst>
          </p:cNvPr>
          <p:cNvSpPr>
            <a:spLocks xmlns:a="http://schemas.openxmlformats.org/drawingml/2006/main" noGrp="1"/>
          </p:cNvSpPr>
          <p:nvPr/>
        </p:nvSpPr>
        <p:spPr>
          <a:xfrm xmlns:a="http://schemas.openxmlformats.org/drawingml/2006/main">
            <a:off x="723900" y="6696075"/>
            <a:ext cx="39147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Generate paths on measured surfaces.</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No complete CAD model required.</a:t>
            </a:r>
          </a:p>
        </p:txBody>
      </p:sp>
      <p:sp>
        <p:nvSpPr>
          <p:cNvPr id="23" name="">
            <a:extLst xmlns:a="http://schemas.openxmlformats.org/drawingml/2006/main">
              <a:ext uri="{FF2B5EF4-FFF2-40B4-BE49-F238E27FC236}">
                <a16:creationId xmlns:a16="http://schemas.microsoft.com/office/drawing/2014/main" id="{10C7CB69-70E0-47BC-B14A-BB3F33B051D5}"/>
              </a:ext>
            </a:extLst>
          </p:cNvPr>
          <p:cNvSpPr>
            <a:spLocks xmlns:a="http://schemas.openxmlformats.org/drawingml/2006/main" noGrp="1"/>
          </p:cNvSpPr>
          <p:nvPr/>
        </p:nvSpPr>
        <p:spPr>
          <a:xfrm xmlns:a="http://schemas.openxmlformats.org/drawingml/2006/main">
            <a:off x="5019675" y="6115050"/>
            <a:ext cx="3962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6A8"/>
                </a:solidFill>
                <a:latin typeface="Nimbus Sans"/>
                <a:ea typeface="Nimbus Sans"/>
                <a:cs typeface="Nimbus Sans"/>
              </a:defRPr>
            </a:pPr>
            <a:r>
              <a:rPr sz="1725" b="1">
                <a:solidFill>
                  <a:srgbClr val="0076A8"/>
                </a:solidFill>
                <a:latin typeface="Nimbus Sans"/>
                <a:ea typeface="Nimbus Sans"/>
                <a:cs typeface="Nimbus Sans"/>
              </a:rPr>
              <a:t>Robot motion planning: Tesseract</a:t>
            </a:r>
          </a:p>
        </p:txBody>
      </p:sp>
      <p:sp>
        <p:nvSpPr>
          <p:cNvPr id="24" name="">
            <a:extLst xmlns:a="http://schemas.openxmlformats.org/drawingml/2006/main">
              <a:ext uri="{FF2B5EF4-FFF2-40B4-BE49-F238E27FC236}">
                <a16:creationId xmlns:a16="http://schemas.microsoft.com/office/drawing/2014/main" id="{8432C7F8-6390-4B89-AD36-9EBEA5A76D66}"/>
              </a:ext>
            </a:extLst>
          </p:cNvPr>
          <p:cNvSpPr>
            <a:spLocks xmlns:a="http://schemas.openxmlformats.org/drawingml/2006/main" noGrp="1"/>
          </p:cNvSpPr>
          <p:nvPr/>
        </p:nvSpPr>
        <p:spPr>
          <a:xfrm xmlns:a="http://schemas.openxmlformats.org/drawingml/2006/main">
            <a:off x="5019675" y="6696075"/>
            <a:ext cx="3962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GTSP optimizes 100+ defect visits.</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Generate robot motion and local</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scan paths automatically.</a:t>
            </a:r>
          </a:p>
        </p:txBody>
      </p:sp>
      <p:sp>
        <p:nvSpPr>
          <p:cNvPr id="25" name="">
            <a:extLst xmlns:a="http://schemas.openxmlformats.org/drawingml/2006/main">
              <a:ext uri="{FF2B5EF4-FFF2-40B4-BE49-F238E27FC236}">
                <a16:creationId xmlns:a16="http://schemas.microsoft.com/office/drawing/2014/main" id="{102B1E77-F5C1-4A6C-9752-9D27E929574F}"/>
              </a:ext>
            </a:extLst>
          </p:cNvPr>
          <p:cNvSpPr>
            <a:spLocks xmlns:a="http://schemas.openxmlformats.org/drawingml/2006/main" noGrp="1"/>
          </p:cNvSpPr>
          <p:nvPr/>
        </p:nvSpPr>
        <p:spPr>
          <a:xfrm xmlns:a="http://schemas.openxmlformats.org/drawingml/2006/main">
            <a:off x="9601200" y="611505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82"/>
                </a:solidFill>
                <a:latin typeface="Nimbus Sans"/>
                <a:ea typeface="Nimbus Sans"/>
                <a:cs typeface="Nimbus Sans"/>
              </a:defRPr>
            </a:pPr>
            <a:r>
              <a:rPr sz="1725" b="1">
                <a:solidFill>
                  <a:srgbClr val="007F82"/>
                </a:solidFill>
                <a:latin typeface="Nimbus Sans"/>
                <a:ea typeface="Nimbus Sans"/>
                <a:cs typeface="Nimbus Sans"/>
              </a:rPr>
              <a:t>Integration with NVIDIA Isaac Sim</a:t>
            </a:r>
          </a:p>
        </p:txBody>
      </p:sp>
      <p:sp>
        <p:nvSpPr>
          <p:cNvPr id="26" name="">
            <a:extLst xmlns:a="http://schemas.openxmlformats.org/drawingml/2006/main">
              <a:ext uri="{FF2B5EF4-FFF2-40B4-BE49-F238E27FC236}">
                <a16:creationId xmlns:a16="http://schemas.microsoft.com/office/drawing/2014/main" id="{D8552133-EAF3-44FC-8DBB-F03B9C265857}"/>
              </a:ext>
            </a:extLst>
          </p:cNvPr>
          <p:cNvSpPr>
            <a:spLocks xmlns:a="http://schemas.openxmlformats.org/drawingml/2006/main" noGrp="1"/>
          </p:cNvSpPr>
          <p:nvPr/>
        </p:nvSpPr>
        <p:spPr>
          <a:xfrm xmlns:a="http://schemas.openxmlformats.org/drawingml/2006/main">
            <a:off x="9601200" y="6696075"/>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Validate coverage, reachability and</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collision risks. Feed results back</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before robot execution.</a:t>
            </a:r>
          </a:p>
        </p:txBody>
      </p:sp>
      <p:sp>
        <p:nvSpPr>
          <p:cNvPr id="27" name="">
            <a:extLst xmlns:a="http://schemas.openxmlformats.org/drawingml/2006/main">
              <a:ext uri="{FF2B5EF4-FFF2-40B4-BE49-F238E27FC236}">
                <a16:creationId xmlns:a16="http://schemas.microsoft.com/office/drawing/2014/main" id="{00DF6A8D-69DD-402D-AC4E-BE72C4611EC8}"/>
              </a:ext>
            </a:extLst>
          </p:cNvPr>
          <p:cNvSpPr>
            <a:spLocks xmlns:a="http://schemas.openxmlformats.org/drawingml/2006/main" noGrp="1"/>
          </p:cNvSpPr>
          <p:nvPr/>
        </p:nvSpPr>
        <p:spPr>
          <a:xfrm xmlns:a="http://schemas.openxmlformats.org/drawingml/2006/main">
            <a:off x="13982700" y="6696075"/>
            <a:ext cx="38385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Execute approved surface scans.</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Revisit only flagged regions</a:t>
            </a:r>
          </a:p>
          <a:p xmlns:a="http://schemas.openxmlformats.org/drawingml/2006/main">
            <a:pPr>
              <a:defRPr sz="1800" b="0">
                <a:solidFill>
                  <a:srgbClr val="41576A"/>
                </a:solidFill>
                <a:latin typeface="Nimbus Sans"/>
                <a:ea typeface="Nimbus Sans"/>
                <a:cs typeface="Nimbus Sans"/>
              </a:defRPr>
            </a:pPr>
            <a:r>
              <a:rPr sz="1800" b="0">
                <a:solidFill>
                  <a:srgbClr val="41576A"/>
                </a:solidFill>
                <a:latin typeface="Nimbus Sans"/>
                <a:ea typeface="Nimbus Sans"/>
                <a:cs typeface="Nimbus Sans"/>
              </a:rPr>
              <a:t>for detailed defect analysis.</a:t>
            </a:r>
          </a:p>
        </p:txBody>
      </p:sp>
      <p:sp>
        <p:nvSpPr>
          <p:cNvPr id="28" name="">
            <a:extLst xmlns:a="http://schemas.openxmlformats.org/drawingml/2006/main">
              <a:ext uri="{FF2B5EF4-FFF2-40B4-BE49-F238E27FC236}">
                <a16:creationId xmlns:a16="http://schemas.microsoft.com/office/drawing/2014/main" id="{25A2031D-50F0-433E-836E-3B7D1B97AD6B}"/>
              </a:ext>
            </a:extLst>
          </p:cNvPr>
          <p:cNvSpPr>
            <a:spLocks xmlns:a="http://schemas.openxmlformats.org/drawingml/2006/main" noGrp="1"/>
          </p:cNvSpPr>
          <p:nvPr/>
        </p:nvSpPr>
        <p:spPr>
          <a:xfrm xmlns:a="http://schemas.openxmlformats.org/drawingml/2006/main">
            <a:off x="723900" y="7648575"/>
            <a:ext cx="833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B49"/>
                </a:solidFill>
                <a:latin typeface="Nimbus Sans"/>
                <a:ea typeface="Nimbus Sans"/>
                <a:cs typeface="Nimbus Sans"/>
              </a:defRPr>
            </a:pPr>
            <a:r>
              <a:rPr sz="1725" b="1">
                <a:solidFill>
                  <a:srgbClr val="002B49"/>
                </a:solidFill>
                <a:latin typeface="Nimbus Sans"/>
                <a:ea typeface="Nimbus Sans"/>
                <a:cs typeface="Nimbus Sans"/>
              </a:rPr>
              <a:t>Selectable planners: IRT JV / HPP     Future AI: RL, VLA</a:t>
            </a:r>
          </a:p>
        </p:txBody>
      </p:sp>
      <p:sp>
        <p:nvSpPr>
          <p:cNvPr id="29" name="">
            <a:extLst xmlns:a="http://schemas.openxmlformats.org/drawingml/2006/main">
              <a:ext uri="{FF2B5EF4-FFF2-40B4-BE49-F238E27FC236}">
                <a16:creationId xmlns:a16="http://schemas.microsoft.com/office/drawing/2014/main" id="{6A892CC7-73B5-4AD7-9A2A-52A586AAA2F1}"/>
              </a:ext>
            </a:extLst>
          </p:cNvPr>
          <p:cNvSpPr>
            <a:spLocks xmlns:a="http://schemas.openxmlformats.org/drawingml/2006/main" noGrp="1"/>
          </p:cNvSpPr>
          <p:nvPr/>
        </p:nvSpPr>
        <p:spPr>
          <a:xfrm xmlns:a="http://schemas.openxmlformats.org/drawingml/2006/main">
            <a:off x="7277100" y="8115300"/>
            <a:ext cx="4210050" cy="142875"/>
          </a:xfrm>
          <a:prstGeom xmlns:a="http://schemas.openxmlformats.org/drawingml/2006/main" prst="leftArrow">
            <a:avLst/>
          </a:prstGeom>
          <a:solidFill xmlns:a="http://schemas.openxmlformats.org/drawingml/2006/main">
            <a:srgbClr val="007F82"/>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BC9077A-973C-4CAB-8237-DA0412D1F102}"/>
              </a:ext>
            </a:extLst>
          </p:cNvPr>
          <p:cNvSpPr>
            <a:spLocks xmlns:a="http://schemas.openxmlformats.org/drawingml/2006/main" noGrp="1"/>
          </p:cNvSpPr>
          <p:nvPr/>
        </p:nvSpPr>
        <p:spPr>
          <a:xfrm xmlns:a="http://schemas.openxmlformats.org/drawingml/2006/main">
            <a:off x="7439025" y="8305800"/>
            <a:ext cx="471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F82"/>
                </a:solidFill>
                <a:latin typeface="Nimbus Sans"/>
                <a:ea typeface="Nimbus Sans"/>
                <a:cs typeface="Nimbus Sans"/>
              </a:defRPr>
            </a:pPr>
            <a:r>
              <a:rPr sz="1650" b="1">
                <a:solidFill>
                  <a:srgbClr val="007F82"/>
                </a:solidFill>
                <a:latin typeface="Nimbus Sans"/>
                <a:ea typeface="Nimbus Sans"/>
                <a:cs typeface="Nimbus Sans"/>
              </a:rPr>
              <a:t>Simulation feedback refines the plan</a:t>
            </a:r>
          </a:p>
        </p:txBody>
      </p:sp>
      <p:sp>
        <p:nvSpPr>
          <p:cNvPr id="31" name="">
            <a:extLst xmlns:a="http://schemas.openxmlformats.org/drawingml/2006/main">
              <a:ext uri="{FF2B5EF4-FFF2-40B4-BE49-F238E27FC236}">
                <a16:creationId xmlns:a16="http://schemas.microsoft.com/office/drawing/2014/main" id="{659AABB9-9344-43FC-98CE-CB71421A7425}"/>
              </a:ext>
            </a:extLst>
          </p:cNvPr>
          <p:cNvSpPr>
            <a:spLocks xmlns:a="http://schemas.openxmlformats.org/drawingml/2006/main" noGrp="1"/>
          </p:cNvSpPr>
          <p:nvPr/>
        </p:nvSpPr>
        <p:spPr>
          <a:xfrm xmlns:a="http://schemas.openxmlformats.org/drawingml/2006/main">
            <a:off x="590550" y="824865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B49"/>
                </a:solidFill>
                <a:latin typeface="Nimbus Sans"/>
                <a:ea typeface="Nimbus Sans"/>
                <a:cs typeface="Nimbus Sans"/>
              </a:defRPr>
            </a:pPr>
            <a:r>
              <a:rPr sz="1950" b="1">
                <a:solidFill>
                  <a:srgbClr val="002B49"/>
                </a:solidFill>
                <a:latin typeface="Nimbus Sans"/>
                <a:ea typeface="Nimbus Sans"/>
                <a:cs typeface="Nimbus Sans"/>
              </a:rPr>
              <a:t>HPP–IRT JV benchmarking completed</a:t>
            </a:r>
          </a:p>
        </p:txBody>
      </p:sp>
      <p:sp>
        <p:nvSpPr>
          <p:cNvPr id="32" name="">
            <a:extLst xmlns:a="http://schemas.openxmlformats.org/drawingml/2006/main">
              <a:ext uri="{FF2B5EF4-FFF2-40B4-BE49-F238E27FC236}">
                <a16:creationId xmlns:a16="http://schemas.microsoft.com/office/drawing/2014/main" id="{7F471103-658B-4688-BF06-F7DD92C9491A}"/>
              </a:ext>
            </a:extLst>
          </p:cNvPr>
          <p:cNvSpPr>
            <a:spLocks xmlns:a="http://schemas.openxmlformats.org/drawingml/2006/main" noGrp="1"/>
          </p:cNvSpPr>
          <p:nvPr/>
        </p:nvSpPr>
        <p:spPr>
          <a:xfrm xmlns:a="http://schemas.openxmlformats.org/drawingml/2006/main">
            <a:off x="571500" y="8753475"/>
            <a:ext cx="17145000" cy="0"/>
          </a:xfrm>
          <a:prstGeom xmlns:a="http://schemas.openxmlformats.org/drawingml/2006/main" prst="line">
            <a:avLst/>
          </a:prstGeom>
          <a:noFill xmlns:a="http://schemas.openxmlformats.org/drawingml/2006/main"/>
          <a:ln xmlns:a="http://schemas.openxmlformats.org/drawingml/2006/main" w="19050">
            <a:solidFill>
              <a:srgbClr val="CEDCE6"/>
            </a:solidFill>
          </a:ln>
        </p:spPr>
      </p:sp>
      <p:sp>
        <p:nvSpPr>
          <p:cNvPr id="33" name="">
            <a:extLst xmlns:a="http://schemas.openxmlformats.org/drawingml/2006/main">
              <a:ext uri="{FF2B5EF4-FFF2-40B4-BE49-F238E27FC236}">
                <a16:creationId xmlns:a16="http://schemas.microsoft.com/office/drawing/2014/main" id="{C87614EC-FBBA-40FD-B21A-A7EC9F205951}"/>
              </a:ext>
            </a:extLst>
          </p:cNvPr>
          <p:cNvSpPr>
            <a:spLocks xmlns:a="http://schemas.openxmlformats.org/drawingml/2006/main" noGrp="1"/>
          </p:cNvSpPr>
          <p:nvPr/>
        </p:nvSpPr>
        <p:spPr>
          <a:xfrm xmlns:a="http://schemas.openxmlformats.org/drawingml/2006/main">
            <a:off x="571500" y="8915400"/>
            <a:ext cx="5267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2B49"/>
                </a:solidFill>
                <a:latin typeface="Nimbus Sans"/>
                <a:ea typeface="Nimbus Sans"/>
                <a:cs typeface="Nimbus Sans"/>
              </a:defRPr>
            </a:pPr>
            <a:r>
              <a:rPr sz="2400" b="1">
                <a:solidFill>
                  <a:srgbClr val="002B49"/>
                </a:solidFill>
                <a:latin typeface="Nimbus Sans"/>
                <a:ea typeface="Nimbus Sans"/>
                <a:cs typeface="Nimbus Sans"/>
              </a:rPr>
              <a:t>Less manual programming</a:t>
            </a:r>
          </a:p>
        </p:txBody>
      </p:sp>
      <p:sp>
        <p:nvSpPr>
          <p:cNvPr id="34" name="">
            <a:extLst xmlns:a="http://schemas.openxmlformats.org/drawingml/2006/main">
              <a:ext uri="{FF2B5EF4-FFF2-40B4-BE49-F238E27FC236}">
                <a16:creationId xmlns:a16="http://schemas.microsoft.com/office/drawing/2014/main" id="{CC43560A-9077-4147-AC8D-0ACC877FD390}"/>
              </a:ext>
            </a:extLst>
          </p:cNvPr>
          <p:cNvSpPr>
            <a:spLocks xmlns:a="http://schemas.openxmlformats.org/drawingml/2006/main" noGrp="1"/>
          </p:cNvSpPr>
          <p:nvPr/>
        </p:nvSpPr>
        <p:spPr>
          <a:xfrm xmlns:a="http://schemas.openxmlformats.org/drawingml/2006/main">
            <a:off x="571500" y="9391650"/>
            <a:ext cx="5353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Adapt to new parts using measured geometry</a:t>
            </a:r>
          </a:p>
        </p:txBody>
      </p:sp>
      <p:sp>
        <p:nvSpPr>
          <p:cNvPr id="35" name="">
            <a:extLst xmlns:a="http://schemas.openxmlformats.org/drawingml/2006/main">
              <a:ext uri="{FF2B5EF4-FFF2-40B4-BE49-F238E27FC236}">
                <a16:creationId xmlns:a16="http://schemas.microsoft.com/office/drawing/2014/main" id="{341694DF-F894-4BB5-81BE-69351D5B0AAD}"/>
              </a:ext>
            </a:extLst>
          </p:cNvPr>
          <p:cNvSpPr>
            <a:spLocks xmlns:a="http://schemas.openxmlformats.org/drawingml/2006/main" noGrp="1"/>
          </p:cNvSpPr>
          <p:nvPr/>
        </p:nvSpPr>
        <p:spPr>
          <a:xfrm xmlns:a="http://schemas.openxmlformats.org/drawingml/2006/main">
            <a:off x="6334125" y="8915400"/>
            <a:ext cx="5581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Less travel and repeat scanning</a:t>
            </a:r>
          </a:p>
        </p:txBody>
      </p:sp>
      <p:sp>
        <p:nvSpPr>
          <p:cNvPr id="36" name="">
            <a:extLst xmlns:a="http://schemas.openxmlformats.org/drawingml/2006/main">
              <a:ext uri="{FF2B5EF4-FFF2-40B4-BE49-F238E27FC236}">
                <a16:creationId xmlns:a16="http://schemas.microsoft.com/office/drawing/2014/main" id="{B7E000A3-1B65-427B-816A-75AF805855FC}"/>
              </a:ext>
            </a:extLst>
          </p:cNvPr>
          <p:cNvSpPr>
            <a:spLocks xmlns:a="http://schemas.openxmlformats.org/drawingml/2006/main" noGrp="1"/>
          </p:cNvSpPr>
          <p:nvPr/>
        </p:nvSpPr>
        <p:spPr>
          <a:xfrm xmlns:a="http://schemas.openxmlformats.org/drawingml/2006/main">
            <a:off x="6334125" y="9391650"/>
            <a:ext cx="558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Optimize the route and focus follow-up scans</a:t>
            </a:r>
          </a:p>
        </p:txBody>
      </p:sp>
      <p:sp>
        <p:nvSpPr>
          <p:cNvPr id="37" name="">
            <a:extLst xmlns:a="http://schemas.openxmlformats.org/drawingml/2006/main">
              <a:ext uri="{FF2B5EF4-FFF2-40B4-BE49-F238E27FC236}">
                <a16:creationId xmlns:a16="http://schemas.microsoft.com/office/drawing/2014/main" id="{99803A37-4272-4FB7-9C22-8206A8816E5A}"/>
              </a:ext>
            </a:extLst>
          </p:cNvPr>
          <p:cNvSpPr>
            <a:spLocks xmlns:a="http://schemas.openxmlformats.org/drawingml/2006/main" noGrp="1"/>
          </p:cNvSpPr>
          <p:nvPr/>
        </p:nvSpPr>
        <p:spPr>
          <a:xfrm xmlns:a="http://schemas.openxmlformats.org/drawingml/2006/main">
            <a:off x="12192000" y="89154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Reuse beyond one robot or task</a:t>
            </a:r>
          </a:p>
        </p:txBody>
      </p:sp>
      <p:sp>
        <p:nvSpPr>
          <p:cNvPr id="38" name="">
            <a:extLst xmlns:a="http://schemas.openxmlformats.org/drawingml/2006/main">
              <a:ext uri="{FF2B5EF4-FFF2-40B4-BE49-F238E27FC236}">
                <a16:creationId xmlns:a16="http://schemas.microsoft.com/office/drawing/2014/main" id="{64A0EFD1-04BA-4BAD-B8A3-59565F4BF1D1}"/>
              </a:ext>
            </a:extLst>
          </p:cNvPr>
          <p:cNvSpPr>
            <a:spLocks xmlns:a="http://schemas.openxmlformats.org/drawingml/2006/main" noGrp="1"/>
          </p:cNvSpPr>
          <p:nvPr/>
        </p:nvSpPr>
        <p:spPr>
          <a:xfrm xmlns:a="http://schemas.openxmlformats.org/drawingml/2006/main">
            <a:off x="12192000" y="9391650"/>
            <a:ext cx="5581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Common components with selectable planners</a:t>
            </a:r>
          </a:p>
        </p:txBody>
      </p:sp>
      <p:sp>
        <p:nvSpPr>
          <p:cNvPr id="39" name="">
            <a:extLst xmlns:a="http://schemas.openxmlformats.org/drawingml/2006/main">
              <a:ext uri="{FF2B5EF4-FFF2-40B4-BE49-F238E27FC236}">
                <a16:creationId xmlns:a16="http://schemas.microsoft.com/office/drawing/2014/main" id="{0D53BF0A-C607-4D88-B3B6-CBF9444E91B3}"/>
              </a:ext>
            </a:extLst>
          </p:cNvPr>
          <p:cNvSpPr>
            <a:spLocks xmlns:a="http://schemas.openxmlformats.org/drawingml/2006/main" noGrp="1"/>
          </p:cNvSpPr>
          <p:nvPr/>
        </p:nvSpPr>
        <p:spPr>
          <a:xfrm xmlns:a="http://schemas.openxmlformats.org/drawingml/2006/main">
            <a:off x="571500" y="10001250"/>
            <a:ext cx="1714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76A"/>
                </a:solidFill>
                <a:latin typeface="Nimbus Sans"/>
                <a:ea typeface="Nimbus Sans"/>
                <a:cs typeface="Nimbus Sans"/>
              </a:defRPr>
            </a:pPr>
            <a:r>
              <a:rPr sz="1350" b="0">
                <a:solidFill>
                  <a:srgbClr val="41576A"/>
                </a:solidFill>
                <a:latin typeface="Nimbus Sans"/>
                <a:ea typeface="Nimbus Sans"/>
                <a:cs typeface="Nimbus Sans"/>
              </a:rPr>
              <a:t>Representative visuals: scanning illustration, RoboDK, NVIDIA Isaac Sim and FANUC.</a:t>
            </a:r>
          </a:p>
        </p:txBody>
      </p:sp>
    </p:spTree>
    <p:extLst>
      <p:ext uri="{BB962C8B-B14F-4D97-AF65-F5344CB8AC3E}">
        <p14:creationId xmlns:p14="http://schemas.microsoft.com/office/powerpoint/2010/main" val="11823902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2026-09-30T06:46:12.5850000Z</dcterms:created>
  <dcterms:modified xsi:type="dcterms:W3CDTF">2026-09-30T06:46:12.5850000Z</dcterms:modified>
</coreProperties>
</file>